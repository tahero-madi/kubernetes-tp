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Lst>
  <p:notesMasterIdLst>
    <p:notesMasterId r:id="rId2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notesMaster" Target="notesMasters/notesMaster1.xml"/><Relationship Id="rId217" Type="http://schemas.openxmlformats.org/officeDocument/2006/relationships/presProps" Target="presProps.xml"/><Relationship Id="rId218" Type="http://schemas.openxmlformats.org/officeDocument/2006/relationships/viewProps" Target="viewProps.xml"/><Relationship Id="rId219" Type="http://schemas.openxmlformats.org/officeDocument/2006/relationships/theme" Target="theme/theme1.xml"/><Relationship Id="rId2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Laissez cette diapositive affichée pendant l'arrivée du groupe. Vérifiez que chacun a accès à ses trois VM avant de commencer. [DIRE] Bonjour à toutes et à tous, et bienvenue dans la formation Kubernetes – Mise en œuvre, référence 2-072. Nous allons passer trois jours ensemble, du mercredi 14 au vendredi 16 octobre. L'image à droite résume le programme : un sentier en lacets qui monte vers un sommet. Chaque point est une étape. Trois jours, seize modules, treize travaux pratiques. On part d'un conteneur isolé sur une machine, et on arrive à un cluster complet, installé par vos soins, avec une application qui tourne, se met à jour, se répare et se sécurise. Avant d'entrer dans le sujet, un tour de table rapide : votre prénom, votre rôle, et votre expérience des conteneurs. Avez-vous déjà utilisé Docker ? Avez-vous déjà touché à Kubernetes, même en lecture ? [ASTUCE] Notez mentalement qui a déjà pratiqué Docker : ce sont vos relais pendant les TP du jour 1. [TRANSITION] Voyons d'abord ce que vous saurez faire à la fin de ces trois 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l'issue des trois jours, vous saurez faire quatre choses. Un : expliquer les concepts fondamentaux de Kubernetes et son fonctionnement interne. Pas seulement taper des commandes, mais comprendre ce qui se passe derrière : qui décide, qui exécute, où est stocké l'état. Deux : installer et configurer un cluster fonctionnel avec kubeadm. Vous le ferez vous-mêmes dès cet après-midi, sur trois machines virtuelles. Trois : automatiser la gestion des ressources avec des fichiers YAML. C'est le quotidien de Kubernetes : on décrit ce qu'on veut dans un fichier, et le système s'en occupe. Quatre : appliquer les bonnes pratiques d'exploitation : ressources, sécurité, montée en charge, stockage. C'est le contenu du jour 3. Côté prérequis, je pars du principe que vous connaissez les bases de l'administration Linux, le shell, les paquets, les services systemd, le réseau IP, et que vous avez déjà lancé un conteneur. Si un point vous manque, dites-le moi tout de suite : on le rattrapera au fil de l'eau. [DEMANDER] Y a-t-il un objectif qui vous intéresse plus particulièrement pour votre travail ? Notez les réponses au tableau : vous y reviendrez au bilan du jour 3. [TRANSITION] Voici l'environnement sur lequel nous allons travailler.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Tous les exemples et tous les TP utilisent le même environnement de référence. Kubernetes en version 1.37, sortie le 26 août 2026 : c'est la version la plus récente. Les nœuds tournent sous Ubuntu 24.04 LTS, avec les cgroups v2. Nous verrons pourquoi c'est important au module 1. Le runtime de conteneurs est containerd 2.x. Pas Docker : Kubernetes n'en a pas besoin, et nous verrons pourquoi. L'installation se fait avec kubeadm, l'outil officiel du projet. Le réseau des pods est assuré par Calico 3.31, sur la plage 10.244.0.0/16 avec une encapsulation VXLAN. Les Services utilisent la plage 10.96.0.0/12, la valeur par défaut de kubeadm. Chacun d'entre vous dispose de trois VM : k8s-cp, le control plane, et deux workers, k8s-w1 et k8s-w2. Enfin, une application fil rouge nous suivra pendant les trois jours : podinfo, une petite application web avec une API, et Redis, qui lui sert de cache. Nous la déploierons, la configurerons, la mettrons à jour, la casserons, la réparerons et la sécuriserons. [ASTUCE] Gardez cette diapositive sous la main : elle sert de référence quand un stagiaire demande une plage d'adresses ou une version. [TRANSITION] Voici comment ces trois jours s'organisent.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programme tient en trois jours, avec une logique de progression. Jour 1, mercredi : comprendre et installer. Les conteneurs, l'architecture de Kubernetes, sa place dans l'écosystème Cloud, puis l'installation du cluster avec kubeadm et la gestion des nœuds. Trois TP : préparer les nœuds, initialiser le cluster, gérer les nœuds. Jour 2, jeudi : décrire et exploiter. Le YAML, les objets de base, Pods, Deployments et Services, la configuration, le cycle de vie des applications et le diagnostic. Quatre TP, dont le déploiement de l'application fil rouge et une chasse aux pannes. Jour 3, vendredi : encadrer, sécuriser, faire grandir. Les ressources, les labels et les stratégies de déploiement, les opérateurs et Helm, l'autoscaling, la sécurité et le stockage persistant. Cinq TP, puis un atelier où vous appliquerez tout cela à vos propres applications. Le rythme est toujours le même : un peu de théorie, puis la pratique. Environ la moitié du temps se passe sur vos machines. [TRANSITION] Avant de commencer, quelques repères pour lire les diapositives.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Ce support utilise quatre types de diapositives, que vous reconnaîtrez à leur couleur. Les pages bleu nuit ouvrent chaque module : son numéro, son objectif, ses TP, et votre position sur le parcours. Les pages couleur sable sont les travaux pratiques : l'horaire, la durée, la consigne et un point de contrôle. Le point de contrôle vous dit quand le TP est réussi. Les pages « À retenir » terminent chaque module, avec des questions de révision. Nous y répondrons ensemble. Une seule page orange : l'idée clé de la formation. Vous la verrez au module 2. En bas de chaque page, un petit sentier : un point par module, groupés par jour. Le point orange est le module en cours, les points pleins sont déjà vus, les points vides restent à venir, et le triangle est l'atelier final. Dans les blocs de commandes, une étiquette indique où lancer la commande : [cp] sur le control plane, où kubectl est configuré ; [tous] sur les trois nœuds ; [w1] sur le premier worker. Sans étiquette, c'est sur k8s-cp. Le dièse marque un commentaire ou le résultat attendu. [TRANSITION] C'est parti pour le jour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Jour 1 : comprendre et installer. Ce soir, vous aurez un cluster de trois nœuds, installé par vous-mêmes et opérationnel. Le programme de la journée : d'abord trois modules de fond, les conteneurs, l'architecture, l'écosystème Cloud. Puis le module 4 sur les prérequis de kubeadm, et à 10:50 le TP1, 70 minutes : préparer les nœuds et lancer vos premiers conteneurs avec containerd. Après la pause, la suite du module 4 : kubeadm init, le réseau et l'ajout des workers. À 13:15, le TP2, 75 minutes : initialiser le cluster. C'est le gros morceau de la journée. Puis le module 5 sur la gestion des nœuds, et à 14:35 le TP3, 60 minutes. On termine à 15:35 par un quiz de 10 questions, un débrief, et un snapshot de vos VM. Ce snapshot est important : il vous permettra de repartir d'un cluster propre demain matin si quelque chose casse. [TRANSITION] Commençons par la base : qu'est-ce qu'un conteneur, et pourquoi a-t-on besoin d'un orchestrateur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Poser les bases : ce qu'est vraiment un conteneur, ce qu'apporte une image, et pourquoi un hôte seul ne suffit plus. Ce module prépare le TP1 de 10:50. [DIRE] Module 1 : des conteneurs à l'orchestration. L'idée de ce module tient en deux phrases. Un conteneur isole un processus sur un hôte. Kubernetes, lui, pilote des centaines de conteneurs répartis sur plusieurs machines, en ramenant sans cesse l'état réel vers l'état que vous avez décrit. Retenez cette deuxième phrase : nous allons la décortiquer pendant trois jours. Si certains d'entre vous connaissent déjà bien Docker, ce module sera en partie un rappel. Mais nous allons regarder sous le capot, ce que Docker cache, et c'est exactement ce dont Kubernetes se sert. [TRANSITION] Pour comprendre d'où vient le conteneur, remontons un peu dans le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générations d'hébergement se sont succédé. Première génération : le serveur physique. Une application par machine, pour éviter les conflits de bibliothèques. Résultat : des serveurs sous-utilisés, et des semaines pour en commander un nouveau. Deuxième génération : la machine virtuelle. Un hyperviseur découpe le serveur physique en machines complètes, chacune avec son propre noyau. L'isolation est forte, mais chaque VM embarque un système d'exploitation entier : on compte en gigaoctets, et le démarrage prend des minutes. Troisième génération : le conteneur. Les applications partagent le noyau de l'hôte ; seul l'espace utilisateur, les bibliothèques et les binaires, est propre à chacune. On compte en mégaoctets, et ça démarre en une seconde. Attention, ces générations ne s'excluent pas : elles se combinent. Dans cette formation, vos conteneurs tournent dans des VM Cloud. C'est d'ailleurs le cas de la plupart des clusters en production. [DEMANDER] Dans votre service, qu'est-ce qui tourne aujourd'hui sur des VM ? Sur des conteneurs ? [TRANSITION] Comparons les deux architectures côte à côte.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Désignez les deux piles de bas en haut. [DIRE] À gauche, les machines virtuelles. En bas, le serveur physique, puis l'hyperviseur. Au-dessus, chaque VM a son propre OS invité, avec un noyau complet, puis ses bibliothèques, puis l'application. Trois applications, trois noyaux. L'isolation est forte, mais chaque VM pèse plusieurs gigaoctets et met des minutes à démarrer. À droite, les conteneurs. Le serveur physique, un seul OS hôte avec un seul noyau, partagé par tous. Au-dessus, le moteur de conteneurs, ici containerd. Puis, pour chaque application, uniquement ses bibliothèques et son code. L'isolation est assurée par le noyau lui-même, grâce aux namespaces et aux cgroups. Quelques mégaoctets, et une seconde pour démarrer. La conséquence pratique : un conteneur ne peut pas embarquer un autre noyau. Un conteneur Linux tourne sur un noyau Linux, et il partage ce noyau avec ses voisins. [SI ON VOUS DEMANDE] « Alors un conteneur est moins sûr qu'une VM ? » L'isolation est plus légère, oui, puisque le noyau est partagé. C'est pour cela qu'au module 15 nous interdirons aux conteneurs de tourner en root ou d'accéder à l'hôte. [TRANSITION] Justement : qu'est-ce qu'un conteneur, vu du noyau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Voici le point le plus important du module : un conteneur n'est qu'un processus. Il n'existe pas d'objet « conteneur » dans le noyau Linux. C'est un processus ordinaire, plus trois mécanismes. Premier mécanisme, les namespaces. Ils donnent au processus sa propre vue du système : ses propres processus, son réseau, ses points de montage, son nom d'hôte. Dans un conteneur, le processus principal se voit comme le PID 1. Deuxième mécanisme, les cgroups. Ils limitent et mesurent ce que le processus consomme : CPU, mémoire, entrées-sorties, nombre de processus. C'est la base des requests et des limits que nous verrons au module 11. Ubuntu 24.04 utilise les cgroups v2, et depuis la version 1.35, le kubelet refuse par défaut un nœud en cgroups v1. Troisième mécanisme, overlayfs. Le conteneur voit un système de fichiers en couches : les couches de l'image, en lecture seule, plus une couche inscriptible qui lui est propre. Tout ce qu'il écrit disparaît avec lui. D'où les volumes, au module 16. [DÉMO] Si vous avez un terminal Linux, montrez la commande en bas : sudo unshare --pid --fork --mount-proc bash. Puis ps aux : seuls bash et ps apparaissent, et bash a le PID 1. Vous venez de créer un namespace pid, sans aucun outil de conteneur. [TRANSITION] Un processus isolé, c'est bien. Mais d'où viennent ses fichiers ? De l'image.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Une image, ce sont des couches de fichiers en lecture seule et une configuration : la commande à lancer, les variables, le port. Son format est standardisé par l'OCI, l'Open Container Initiative. C'est ce qui la rend portable entre Docker, containerd, CRI-O et Podman. [MONTRER] Décomposez la référence au centre, morceau par morceau. Une référence d'image complète se lit ainsi : ghcr.io, c'est le registre ; stefanprodan, l'espace ; podinfo, le nom ; 6.7.0, le tag. On peut aussi ajouter une empreinte, @sha256, qui désigne un contenu exact. Trois règles à retenir. Sans registre précisé, c'est Docker Hub. Quand vous écrivez nginx, le système comprend docker.io/library/nginx:latest. Il existe bien d'autres registres : ghcr.io, quay.io, registry.k8s.io, ou des registres d'entreprise comme Harbor ou GitLab. Un tag est une étiquette déplaçable : quelqu'un peut republier 6.7.0 avec un autre contenu. Une empreinte, elle, est immuable. Et jamais latest en production. Avec latest, vous ne savez plus quelle version tourne, et deux nœuds peuvent exécuter des versions différentes de la même application. [DEMANDER] Que désigne exactement redis:7-alpine ? Réponse : docker.io/library/redis:7-alpine, l'image redis, tag 7-alpine, sur Docker Hub. [TRANSITION] Qui télécharge ces images et lance les conteneurs ? Ce n'est pas forcément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Clarifions qui fait quoi, car le mot Docker recouvre plusieurs choses. [MONTRER] Suivez les flèches de haut en bas. En haut, deux points d'entrée. À gauche, docker et son démon dockerd : c'est l'interface pour les humains, pour construire, lancer, publier des images. À droite, le kubelet, l'agent présent sur chaque nœud Kubernetes. Les deux délèguent au même composant : containerd. C'est lui qui télécharge les images et gère le cycle de vie des conteneurs. Le kubelet lui parle via le CRI, la Container Runtime Interface. containerd lance ensuite runc, qui crée réellement le processus avec ses namespaces et ses cgroups. Et on obtient le conteneur : un processus isolé, plus une couche en écriture. Le point clé : Kubernetes n'utilise pas Docker. Le kubelet appelle directement containerd et runc, encadrés en orange. Depuis la version 1.24, Kubernetes ne parle plus du tout au moteur Docker. Et depuis la 1.36, il exige containerd 2.0 ou plus. Rassurez-vous : vos images Docker fonctionnent sans changement, parce qu'elles respectent le format OCI. [SI ON VOUS DEMANDE] « Faut-il arrêter d'utiliser Docker ? » Non : Docker reste l'outil idéal pour construire et tester des images sur un poste. Simplement, les nœuds du cluster n'en ont pas besoin. [TRANSITION] Pourquoi alors un orchestrateur ? Regardons les limites d'un hôte seul.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Imaginez dix conteneurs répartis sur cinq serveurs, avec Docker seul. Tout se règle à la main. [MONTRER] Parcourez le tableau ligne par ligne, en insistant sur la colonne de droite. Le placement : sans orchestrateur, vous choisissez vous-même le serveur. Avec Kubernetes, le scheduler choisit selon les ressources et les contraintes. La panne d'un conteneur : vous écrivez un script, ou vous comptez sur restart: always. Kubernetes redémarre ou remplace automatiquement. La panne d'un serveur : vous relancez tout à la main ailleurs. Kubernetes recrée les pods sur les nœuds restants. La montée en charge : des copies et un répartiteur configurés à la main, contre kubectl scale ou l'autoscaling du module 14. La mise à jour sans coupure : conteneur par conteneur, contre le rolling update et le retour arrière du module 9. Trouver un service : des adresses IP en dur, contre un nom DNS stable et une répartition de charge, module 7. La configuration et les secrets : des fichiers copiés partout, contre les ConfigMaps et les Secrets du module 8. Le stockage : des disques montés à la main, contre des volumes demandés par déclaration, module 16. Et Docker Compose ? Il décrit très bien une application, mais sur une seule machine : ni multi-hôte, ni reprise après panne, ni mise à l'échelle. [ASTUCE] Ce tableau est aussi le plan des trois jours : chaque ligne renvoie à un module. [TRANSITION] Alors, Kubernetes, en bref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Kubernetes est une plateforme open source qui automatise le déploiement, la mise à l'échelle et l'exploitation d'applications conteneurisées sur un ensemble de machines, qu'on appelle le cluster. Le nom vient du grec kubernḗtēs, le timonier, celui qui tient la barre. D'où le logo en forme de gouvernail. Vous verrez souvent l'abréviation K8s : les huit lettres centrales remplacées par leur nombre. Un peu d'histoire. Dans les années 2000, Google exploite Borg, son orchestrateur interne. En 2014, Google annonce Kubernetes, qui reprend les idées de Borg. En juillet 2015 sort la version 1.0, et Kubernetes devient le premier projet de la CNCF, la Cloud Native Computing Foundation, au sein de la Linux Foundation. Aujourd'hui, le projet publie trois versions mineures par an, chacune maintenue environ 14 mois. C'est un projet communautaire organisé en groupes d'intérêt, les SIG : aucun éditeur ne le contrôle seul. Une règle pratique à retenir pour l'exploitation : on met à jour une version mineure à la fois. De 1.36 à 1.37, jamais de 1.35 directement à 1.37. [SI ON VOUS DEMANDE] « 14 mois, c'est court ? » Oui : c'est pourquoi un cluster doit être mis à jour régulièrement. Nous le reverrons dans les mesures de sécurité du module 15. [TRANSITION] Que fait-il exactement, et surtout, que ne fait-il pas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gauche, ce que Kubernetes apporte : le placement automatique, l'auto-réparation, la mise à l'échelle horizontale, les déploiements progressifs et les retours arrière, la découverte de services et la répartition de charge, la configuration et les secrets, l'orchestration du stockage, les traitements par lots, et une API extensible. Nous verrons chacun de ces points pendant la formation. À droite, ce qu'il ne fait pas, et c'est important pour vos attentes. Kubernetes ne construit pas vos images. Il ne fait pas d'intégration continue. Il ne collecte pas vos logs dans un outil central, et il ne fournit pas de supervision clés en main. Ces briques s'ajoutent autour de lui. Un exemple proche de vous : Onyxia, développée à l'INSEE pour le SSP Cloud. Chaque service que lance un utilisateur, RStudio, Jupyter, VS Code ou une base de données, devient un ensemble de pods dans un cluster Kubernetes. [DEMANDER] Certains d'entre vous ont-ils déjà utilisé le SSP Cloud ? Si oui, vous avez déjà utilisé Kubernetes sans le savoir. [TRANSITION] Avant de passer sous le capot, un rappel rapide des commandes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Voici les dix commandes Docker qui couvrent l'essentiel. Si vous les connaissez, c'est une révision ; sinon, c'est votre antisèche. docker run -d --name web -p 8080:80 nginx:1.27-alpine : lance un conteneur en arrière-plan, et publie son port 80 sur le port 8080 de la machine. docker ps liste les conteneurs en cours ; avec -a, aussi les conteneurs arrêtés. docker logs -f web affiche la sortie de l'application, en continu. docker exec -it web sh ouvre un shell dans le conteneur. docker stop puis docker start arrêtent et relancent le même conteneur. docker rm -f web supprime le conteneur, et tout ce qui a été écrit dedans. Avec -v, on monte un dossier du poste dans le conteneur : les données survivent alors au conteneur. docker build construit une image à partir du Dockerfile du dossier courant ; docker history montre ses couches ; docker push la publie dans un registre, après docker tag et docker login. Pour refaire ces exercices chez vous : Docker Desktop, Rancher Desktop ou Podman, avec les mêmes commandes, en remplaçant docker par podman. [ASTUCE] Notez le parallèle : logs, exec et la notion de ports existent à l'identique dans kubectl. Vous retrouverez ces réflexes au jour 2. [TRANSITION] Et pour que Kubernetes exploite bien une image, comment la construire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Dockerfile décrit la construction d'une image. Celui-ci part de l'image officielle nginx:1.27-alpine, copie les fichiers du site, ce qui crée une nouvelle couche, et documente le port d'écoute. La commande de démarrage est héritée de l'image nginx. Un piège classique : un commentaire occupe une ligne entière. Un dièse en fin d'instruction serait lu comme un argument. Cinq règles pour une bonne image destinée à Kubernetes. Une image de départ officielle et minimale : alpine, ou distroless. Une seule application par image, qui journalise sur la sortie standard. Kubernetes récupère cette sortie ; un fichier de log dans le conteneur, lui, est perdu. Un utilisateur non root, par exemple USER 10001. C'est exigé par le niveau de sécurité restricted, au module 15. Un tag de version explicite, jamais latest. Et aucune donnée sensible dans l'image : la configuration et les secrets arrivent au démarrage, avec les ConfigMaps et les Secrets du module 8. [SI ON VOUS DEMANDE] « Distroless, c'est quoi ? » Une image sans shell ni outils, juste l'application et ses dépendances. Plus sûre, mais plus difficile à diagnostiquer : nous verrons au module 10 comment y entrer avec kubectl debug. [TRANSITION] Dernière étape avant le TP : manipuler containerd directement, sans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Les nœuds Kubernetes n'ont pas Docker, seulement containerd. Son outil en ligne de commande, ctr, va nous montrer qu'un conteneur n'est qu'un processus de l'hôte. C'est exactement ce que vous ferez au TP1. [MONTRER] Déroulez les commandes une par une. On télécharge une image nginx, puis on lance un conteneur nommé web, en partageant le réseau de l'hôte. ctr tasks ls donne le PID de son processus principal. Avec ps, on voit que c'est un processus comme les autres, visible depuis l'hôte. lsns montre ses namespaces. Puis on entre dans le conteneur avec ctr tasks exec. Deux vérifications parlantes. cat /etc/os-release affiche Debian : ça vient de l'image. Mais uname -r affiche le noyau Ubuntu de l'hôte : le noyau est partagé. En bas, quatre outils à ne pas confondre. docker, le démon Docker, pour construire et tester sur un poste. ctr, containerd en direct, pour le diagnostic de bas niveau et la pédagogie. crictl, qui passe par le CRI comme le kubelet : c'est l'outil de diagnostic d'un nœud. Et nerdctl, qui offre la syntaxe de Docker sur un hôte containerd. Dernier détail : containerd range ses objets par espace de noms. default pour vos essais, k8s.io pour Kubernetes. Après le TP2, sudo ctr -n k8s.io containers ls vous montrera les conteneurs lancés par Kubernetes. [TRANSITION] Faisons le bilan du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Récapitulons les quatre idées du module, puis répondons ensemble aux questions. Un conteneur est un processus isolé par les namespaces, limité par les cgroups, qui voit un système de fichiers en couches. Une image OCI est portable entre Docker, containerd et CRI-O ; désignez-la par un tag précis, jamais latest en production. Kubernetes pilote containerd via le CRI ; il n'a pas besoin du moteur Docker. Kubernetes règle ce qu'un hôte seul ne règle pas : placement, pannes, mise à l'échelle, mises à jour, découverte de services. [QUESTIONS] Laissez le groupe répondre avant de donner la réponse. 1. Quel mécanisme empêche un conteneur de consommer toute la mémoire de l'hôte ? Réponse : les cgroups, qui plafonnent la mémoire d'un groupe de processus. 2. Que désigne redis:7-alpine ? Réponse : l'image redis, tag 7-alpine, sur Docker Hub, soit docker.io/library/redis:7-alpine. 3. Pourquoi une image construite avec Docker s'exécute-t-elle dans Kubernetes, qui n'utilise pas Docker ? Réponse : les images respectent le format OCI ; containerd les exécute pour le kubelet via le CRI. 4. Trois problèmes qu'un orchestrateur règle et pas Docker Compose ? Réponse : le placement sur plusieurs hôtes, la relance après panne d'un serveur, la mise à l'échelle, les mises à jour sans coupure, la découverte de services. [TRANSITION] Nous savons ce qu'est un conteneur. Voyons maintenant comment Kubernetes est construit.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Donner la carte mentale du cluster : qui décide, qui exécute, où est l'état. C'est le module le plus important pour comprendre tout le reste. Vous l'observerez en direct au TP2 de 13:15. [DIRE] Module 2 : l'architecture de Kubernetes. Un cluster, c'est un control plane qui décide, et des nœuds qui exécutent. Tout passe par un composant central, l'API server. Et chaque composant fonctionne de la même manière : il ramène en boucle la réalité vers l'état décrit. Si vous ne deviez retenir qu'un module de toute la formation, ce serait celui-ci. Quand quelque chose ne marchera pas au jour 2, c'est cette carte mentale qui vous permettra de savoir où chercher. [TRANSITION] Voici le cluster que vous allez construire.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Prenez le temps sur ce schéma : de haut en bas, puis de gauche à droite. [DIRE] Voici la vue d'ensemble du cluster des TP. Tout en haut, vous, avec kubectl et vos fichiers YAML. kubectl ne parle qu'à un seul composant : l'API server, en HTTPS, sur le port 6443. Au centre, le control plane, sur la machine k8s-cp. Quatre composants. L'API server, kube-apiserver, est le point d'entrée unique. C'est aussi le seul composant qui parle à etcd. etcd contient tout l'état du cluster. Le scheduler, kube-scheduler, choisit un nœud pour chaque pod. Le controller-manager, kube-controller-manager, exécute les boucles de contrôle. Sur ce même nœud tournent aussi un kubelet, containerd et kube-proxy : ils font tourner ces composants sous forme de pods statiques. Le cloud-controller-manager est grisé : il n'existe pas dans notre TP, car nous ne sommes pas chez un fournisseur Cloud. En bas, les deux workers, k8s-w1 et k8s-w2. Sur chacun : le kubelet qui lance les pods, containerd qui est le runtime, les pods eux-mêmes avec une IP chacun grâce au plugin réseau, et kube-proxy qui applique les règles des Services. Regardez le sens des flèches : les kubelets ne reçoivent pas d'ordres. Ils surveillent l'API server, c'est le watch, pour savoir quels pods lancer, et ils y remontent l'état. [TRANSITION] Zoomons sur le control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Les composants du control plane, avec leur rôle et leur port. kube-apiserver, port 6443 : le point d'entrée unique. Il expose l'API REST, authentifie, autorise, valide, puis écrit dans etcd. etcd, ports 2379 et 2380 : une base clé-valeur qui contient tout l'état du cluster. kube-scheduler, port 10259 : il choisit un nœud pour chaque pod qui n'en a pas. kube-controller-manager, port 10257 : il exécute les boucles de contrôle intégrées. Dans votre TP, ces quatre composants sont des pods statiques. Le cloud-controller-manager, qui fait le lien avec un fournisseur Cloud pour les répartiteurs, les disques et les nœuds, est absent. En bas, un point souvent mal compris : kube-controller-manager est un seul processus, mais il contient des dizaines de contrôleurs. Deployment, ReplicaSet, Job, Node qui surveille les nœuds qui ne répondent plus, EndpointSlice qui tient à jour les adresses derrière chaque Service, ServiceAccount, Namespace. Chacun surveille un type d'objet et agit. [ASTUCE] Les ports servent surtout en diagnostic : si un pare-feu bloque le 6443, plus rien ne fonctionne. [TRANSITION] Regardons de plus près trois d'entre 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L'API server d'abord. Toute requête traverse les mêmes étapes, dans cet ordre. Un : l'authentification, qui êtes-vous ? Deux : l'autorisation, avez-vous le droit ? C'est le RBAC du module 15. Trois : l'admission, qui peut ajouter des valeurs par défaut ou appliquer des politiques. Quatre : la validation, puis l'écriture dans etcd. Les autres composants s'abonnent aux changements : c'est le mécanisme de watch. etcd ensuite. C'est une base clé-valeur distribuée, qui utilise le consensus Raft. En haute disponibilité, on déploie 3 ou 5 membres, toujours un nombre impair, car etcd reste inscriptible tant qu'une majorité, le quorum, répond. Avec 3 membres, on peut en perdre un. etcd est sensible à la latence disque : SSD recommandés. Et retenez cette phrase : perdre etcd sans sauvegarde, c'est perdre le cluster. Le scheduler enfin. Pour chaque pod sans nœud, il travaille en deux temps. Le filtrage écarte les nœuds qui ne conviennent pas : pas assez de ressources, une taint non tolérée, une affinité non respectée, un port déjà pris. La notation classe les nœuds restants : équilibrage de charge, répartition des réplicas, image déjà présente. Puis il inscrit le nœud choisi dans spec.nodeName du pod. Il ne démarre rien lui-même. [SI ON VOUS DEMANDE] « Pourquoi pas 4 membres etcd ? » Avec 4 membres, le quorum est de 3 : on ne tolère toujours qu'une panne, comme avec 3. Le quatrième n'apporte rien. [TRANSITION] Descendons maintenant sur les nœuds.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composants sur chaque nœud. Le kubelet est un service systemd, sur le port 10250. C'est l'agent du nœud : il lit dans l'API les pods qui lui sont attribués, les fait créer par containerd via le CRI, configure leur réseau via le CNI, exécute les probes, et remonte leur état. Important : le kubelet n'est pas un pod. C'est lui qui fait tourner les pods, y compris les pods statiques décrits dans /etc/kubernetes/manifests. containerd, également un service systemd, est le runtime : il télécharge les images et démarre les conteneurs via runc. kube-proxy tourne sous forme de DaemonSet, un pod par nœud. Il traduit chaque Service en règles réseau sur le nœud. Plusieurs modes existent : iptables par défaut, nftables qui lui succède, ipvs qui est déprécié. Certains plugins réseau, comme Cilium ou Calico en mode eBPF, peuvent le remplacer entièrement. Dernier point : le control plane a lui aussi un kubelet et containerd, pour faire tourner ses pods statiques. Une taint l'empêche de recevoir vos applications. Nous verrons les taints au module 5. [DEMANDER] Pourquoi, d'après vous, le kubelet ne peut-il pas être un pod ? Laissez réfléchir : c'est une des questions de révision. [TRANSITION] Le cluster a encore besoin de deux add-ons pour fonctionner.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Premier add-on indispensable : le plugin réseau, le CNI. Kubernetes fixe les règles du réseau, mais ne les implémente pas. Trois règles. Chaque pod reçoit sa propre adresse IP. Tout pod joint tout autre pod, sur n'importe quel nœud, sans NAT. Et les agents d'un nœud joignent tous les pods de ce nœud. Ce sont des plugins qui implémentent ces règles : Calico, que nous utilisons, Cilium ou Flannel. Sans CNI, les nœuds restent NotReady et CoreDNS reste Pending. Vous le constaterez vous-mêmes au TP2, entre kubeadm init et l'installation de Calico. Ne vous inquiétez pas à ce moment-là : c'est normal. Deuxième add-on : CoreDNS, le DNS interne. Il traduit le nom d'un Service en son adresse IP. Par exemple, redis.fil-rouge.svc.cluster.local désigne le Service redis du namespace fil-rouge. CoreDNS tourne sous forme de Deployment dans le namespace kube-system. Et d'autres add-ons s'ajoutent selon les besoins : metrics-server pour les métriques au module 10, un contrôleur Ingress ou Gateway pour l'entrée HTTP, des pilotes de stockage CSI au module 16. [TRANSITION] Nous arrivons à l'idée la plus importante de la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CLÉ] Ralentissez. C'est la seule diapositive orange de la formation : laissez-lui le temps de s'installer. [DIRE] Voici l'idée la plus importante de ces trois jours. Vous décrivez l'état désiré. Des contrôleurs le réconcilient, en boucle. Chaque contrôleur de Kubernetes fait la même chose, sans fin. Un : il observe l'état réel, via l'API server. Deux : il le compare avec l'état désiré. Trois : il agit pour réduire l'écart. Puis il recommence. Dans chaque objet Kubernetes, vous retrouverez ces deux moitiés. La spec, c'est l'état désiré, celui que vous écrivez. Le status, c'est l'état observé, que Kubernetes remplit. Pourquoi est-ce si important ? Parce que c'est ce qui rend Kubernetes robuste. Si un événement est manqué, si un nœud redémarre, si un pod est supprimé par erreur, le prochain passage de la boucle corrige l'écart. Le système ne suit pas une liste d'ordres : il converge vers un état. [ASTUCE] Vous ferez référence à cette diapositive tout au long de la formation : le rolling update, l'autoscaling, cert-manager au jour 3, sont tous des boucles de réconciliation. [TRANSITION] Une analogie pour fixer l'idée.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Comparons deux façons de demander. Impératif : « Lance 3 conteneurs nginx. » C'est un ordre ponctuel. Si l'un s'arrête demain, personne ne le relance. Déclaratif, la façon de Kubernetes : « Je veux en permanence 3 réplicas de nginx. » Le système compare sans cesse ce qui existe à ce qui est demandé, et corrige. L'analogie du thermostat. Vous réglez 19 degrés. Le thermostat ne « chauffe pas pendant 2 heures » : il mesure et corrige en continu. Si vous ouvrez la fenêtre, il chauffe plus ; si le soleil entre, il chauffe moins. Conséquence très concrète : un pod supprimé à la main est aussitôt remplacé. Si vous voulez l'arrêter durablement, vous ne supprimez pas le pod : vous changez l'état désiré, par exemple replicas: 0. Une précision pour éviter une confusion plus tard. Au module 6, section 6.6, le mot « impératif » désignera la façon de taper une commande, kubectl create au lieu de kubectl apply. Mais même un Deployment créé par kubectl create reste un état désiré, réconcilié en permanence. [DEMANDER] Qui a déjà vu un service « revenir tout seul » après l'avoir arrêté ? C'est souvent une boucle de ce genre. [TRANSITION] Suivons maintenant une commande de bout en 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Que se passe-t-il quand vous tapez kubectl apply pour créer un Deployment de 3 réplicas ? Quatre étapes. Un : kubectl enregistre l'état désiré. Il envoie le YAML en HTTPS à l'API server, qui authentifie, vérifie les droits, passe l'admission, valide, puis enregistre dans etcd. À ce stade, rien ne tourne encore. Deux : les contrôleurs créent le ReplicaSet et les pods. Prévenu par le watch, le contrôleur Deployment crée un ReplicaSet. Celui-ci crée 3 pods, qui n'ont pas encore de nœud. Trois : le scheduler voit 3 pods non placés, choisit un nœud pour chacun, et l'inscrit dans le pod. Quatre : le kubelet du nœud concerné démarre le pod, dans cet ordre : les volumes via CSI, le sandbox et le réseau via CNI, puis l'image et les conteneurs. Il remonte l'état Running. Ensuite, l'EndpointSlice du Service et kube-proxy suivent. Le point essentiel est en bas : aucun composant ne transmet l'état à un autre. Tous lisent et écrivent dans l'API server. La seule liaison directe est celle entre le kubelet et containerd, sur le nœud. [ASTUCE] Ce parcours est la clé du diagnostic au module 10 : un pod Pending bloque à l'étape 3, un pod ContainerCreating à l'étape 4. [TRANSITION] Ce que nous avons créé, ce sont des objets de l'API. Voyons comment ils s'organisent.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Tout, dans Kubernetes, est un objet de l'API, identifié par un kind, comme Pod ou Deployment, et une apiVersion. Les objets sont rangés en groupes. v1 tout court, c'est le groupe core : Pod, Service, ConfigMap. apps/v1 pour Deployment. batch/v1 pour Job. networking.k8s.io/v1 pour NetworkPolicy. La version indique la maturité. v1alpha1 : expérimental, désactivé par défaut. v1beta1 : testé, mais peut encore changer. v1 : stable. Et chaque type a une portée. La plupart vivent dans un namespace : Pod, Service, Deployment. Quelques-uns concernent tout le cluster : Node, PersistentVolume, et le Namespace lui-même. [DÉMO] Trois commandes à connaître. kubectl api-resources liste tous les types, avec leur groupe et leur portée. Avec --namespaced=false, seulement les types de portée cluster. Et kubectl explain deployment affiche la documentation intégrée, sans quitter le terminal. [ASTUCE] Encouragez le réflexe kubectl explain : au jour 2, il évitera beaucoup d'allers-retours vers la documentation. [TRANSITION] Comment observer tout cela sur votre propre cluster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Voici les commandes pour observer l'architecture. Vous les lancerez au TP2, une fois le cluster en place. kubectl get nodes -o wide : les nœuds, leur version, leur runtime. kubectl get pods -n kube-system -o wide : les composants et les add-ons. Sur le control plane, ls /etc/kubernetes/manifests : les quatre pods statiques. Sur tous les nœuds, systemctl status kubelet : le kubelet est bien un service. sudo crictl ps : les conteneurs vus par containerd. Et kubectl get --raw='/readyz?verbose' donne l'état détaillé de l'API server. À droite, une question qu'on pose souvent : que se passe-t-il si le control plane tombe ? Les applications déjà lancées continuent de tourner : les kubelets et kube-proxy gardent leur dernière configuration. Mais plus aucune modification, plus de placement, plus d'auto-réparation. Votre cluster de TP n'a qu'un seul control plane : c'est un point unique de défaillance, acceptable pour apprendre. En production, on met 3 nœuds de control plane derrière un répartiteur de charge. [TRANSITION] Faisons le bilan du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Quatre idées à retenir. L'API server est le centre : seul à parler à etcd, tous les autres composants passent par lui. Le scheduler choisit un nœud ; le kubelet démarre réellement les conteneurs. Vous décrivez un état désiré, la spec ; des contrôleurs le réconcilient en boucle avec l'état réel, le status. etcd contient tout le cluster : il se sauvegarde, et se déploie en nombre impair en production. [QUESTIONS] Faites répondre le groupe, puis complétez. 1. Pourquoi le kubelet est-il un service systemd et non un pod ? Réponse : il doit tourner avant tout pod, y compris ceux du control plane, qu'il lance lui-même comme pods statiques. 2. Un pod reste en Pending : quel composant n'a pas fait son travail, et pourquoi peut-il refuser ? Réponse : le scheduler. Aucun nœud ne passe le filtrage : ressources, taint, affinité, volume. 3. Vous supprimez un pod d'un Deployment : qui intervient, dans quel ordre ? Réponse : le contrôleur ReplicaSet constate l'écart et crée un pod, le scheduler le place, le kubelet le démarre, l'EndpointSlice du Service est mis à jour. 4. Que deviennent les applications si le control plane s'arrête ? Réponse : elles continuent de tourner, mais plus aucune modification, placement ni auto-réparation. [TRANSITION] Nous connaissons l'intérieur du cluster. Prenons du recul : où trouve-t-on Kubernetes, et qui s'occupe de quoi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Situer Kubernetes dans le paysage : managé, auto-hébergé ou local, et ce que chaque choix laisse à votre charge. Module court, sans TP : il prépare le pourquoi de kubeadm. [DIRE] Module 3 : Kubernetes dans l'écosystème Cloud. Un message principal : le Kubernetes que vous allez installer avec kubeadm est le même que celui des offres Cloud. Les mêmes objets, la même API, les mêmes manifestes. Ce qui change d'une offre à l'autre, c'est la répartition des responsabilités : qui gère le control plane, qui sauvegarde etcd, qui fait les mises à jour. Nous allons voir trois façons d'obtenir un cluster : managé, auto-hébergé, et local sur votre poste. [TRANSITION] Commençons par ces trois familles.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façons d'obtenir un cluster. Le service managé : le fournisseur Cloud gère le control plane pour vous. Google GKE, Amazon EKS, Microsoft AKS ; en France, OVHcloud Managed Kubernetes ou Scaleway Kapsule. C'est le choix des équipes qui veulent se concentrer sur leurs applications. La distribution installée : vous gérez vous-même le control plane, avec l'outillage d'un éditeur. Red Hat OpenShift, SUSE Rancher avec RKE2, k3s, Talos Linux, ou kubeadm directement. On la trouve dans les centres de données internes, quand on a des besoins de maîtrise ou de souveraineté. Le cluster local : sur votre poste. minikube, kind, k3d, Docker Desktop, Rancher Desktop. Pour développer, tester et apprendre. Pour le secteur public, une précision en bas de la page : la doctrine « cloud au centre » de l'État et la qualification SecNumCloud de l'ANSSI orientent vers des offres de confiance ou des infrastructures internes. [DEMANDER] Et chez vous, quelle est la situation ? Un cluster existe-t-il déjà, managé ou interne ? Les réponses vous serviront pour l'atelier du jour 3. [TRANSITION] Concrètement, qu'est-ce qui change entre managé et auto-hébergé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Ce tableau répond à la question : qui fait quoi ? La haute disponibilité du control plane : en managé, c'est le fournisseur. En auto-hébergé, c'est vous : trois nœuds et un répartiteur de charge. La sauvegarde d'etcd : le fournisseur, ou vous. Les mises à jour de Kubernetes : un clic ou automatiques en managé ; à votre charge, mineure par mineure, en auto-hébergé. Le Service de type LoadBalancer : fourni en managé. En auto-hébergé, il faut l'ajouter, avec MetalLB par exemple. Le stockage dynamique : des disques Cloud prêts à l'emploi, contre une solution à ajouter, Ceph, NFS ou le pilote CSI de votre baie. L'ajout automatique de nœuds : disponible en managé, difficile sans virtualisation pilotable. Et la dernière ligne, la plus importante : les applications et la sécurité des workloads restent votre responsabilité dans les deux cas. [INSISTER] Manifestes, RBAC, quotas, NetworkPolicies : tout ce que nous verrons à partir du module 6 s'applique à l'identique sur un service managé. Ce que vous apprenez ici n'est pas lié à kubeadm. [TRANSITION] Alors pourquoi apprendre avec kubeadm plutôt qu'avec un service managé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raisons d'apprendre avec kubeadm. Un : c'est l'outil officiel du projet. Il crée un cluster conforme, et il sert de brique à de nombreux outils : Cluster API, plusieurs distributions. Deux : il montre ce que le managé cache. Les certificats, les pods statiques, etcd, le plugin réseau. Savoir ce qu'il y a sous le capot aide à diagnostiquer, même sur un cluster managé où vous n'y avez pas accès. Trois : il ne fait que l'essentiel. Pas de répartiteur de charge, pas de stockage, pas de supervision. C'est voulu : vous verrez exactement ce qu'il faut ajouter autour pour avoir une plateforme complète. [ASTUCE] Si un stagiaire trouve l'installation « trop manuelle » cet après-midi, rappelez cette diapositive : l'objectif est de comprendre, pas d'aller vite. [TRANSITION] Ce qu'il faut ajouter vient en grande partie de l'écosystème CNCF.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Kubernetes est au centre d'un écosystème, porté en grande partie par la CNCF. Voici les briques que vous croiserez le plus souvent, par fonction. Réseau des pods : Calico, Cilium, Flannel. Entrée HTTP : Ingress et la Gateway API, avec Envoy Gateway, Traefik ou Istio. Paquets et modèles : Helm et Kustomize, au module 13. GitOps, c'est-à-dire déployer depuis un dépôt Git : Argo CD, Flux. Métriques et alertes : Prometheus, Grafana, OpenTelemetry, au module 10. Logs : Loki, Fluent Bit. Stockage : Rook pour Ceph, Longhorn, et les pilotes CSI, au module 16. Sécurité et conformité : cert-manager, Kyverno, OPA Gatekeeper, Falco, Trivy. Montée en charge : KEDA, Karpenter, Cluster Autoscaler, au module 14. Registre d'images : Harbor. Inutile de tout retenir : nous en manipulerons plusieurs, et les autres serviront de repères. En bas, un point rassurant : le programme Certified Kubernetes. Un manifeste qui fonctionne sur une offre conforme fonctionne sur une autre, sauf si vous utilisez des extensions propres à un fournisseur. [TRANSITION] Pour s'entraîner sans cluster, il existe des outils locaux et des interfaces graphiques.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gauche, deux outils pour créer un cluster local en une commande. minikube crée un cluster d'un nœud, dans un conteneur ou une VM : minikube start, puis kubectl get nodes, puis minikube delete. kind fait tourner Kubernetes dans des conteneurs Docker. Il est très utilisé en intégration continue : kind create cluster, puis kind delete cluster. Ces outils servent à développer et tester des manifestes. Pas à l'exploitation, au réseau multi-nœuds ou à la mesure de performances. À droite, les interfaces graphiques. Attention : le Kubernetes Dashboard a été archivé le 21 janvier 2026, il n'a plus de correctifs de sécurité. Son successeur est Headlamp, une interface web extensible qui respecte les droits RBAC : je vous la montrerai en démonstration. k9s est une interface en mode texte, dans le terminal : vous la prendrez en main au TP9. Lens et son fork libre FreeLens sont des applications de bureau. Mais kubectl et les fichiers YAML restent la référence : eux seuls se versionnent et se rejouent. Enfin, les certifications de la Linux Foundation : KCNA, CKAD, CKA et CKS. Cette formation couvre une bonne partie du programme CKA. [TRANSITION] Le bilan de ce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Quatre idées à retenir. Un service managé prend en charge le control plane, pas vos applications ni leur sécurité. Les manifestes Kubernetes sont portables d'un cluster conforme à l'autre. kubeadm est l'outil de référence pour comprendre et monter un cluster ; il faut lui ajouter réseau, stockage et supervision. Le Kubernetes Dashboard est archivé depuis janvier 2026 : utilisez Headlamp en web, ou k9s dans le terminal. [QUESTIONS] 1. Deux responsabilités qui restent les vôtres sur un service managé ? Réponse, au choix : les applications, le RBAC, les quotas, les NetworkPolicies, la sécurité des images. 2. Pourquoi un Service de type LoadBalancer reste-t-il en attente sur un cluster kubeadm sans ajout ? Réponse : rien ne fournit d'adresse externe. Il faut un contrôleur de Cloud, ou une solution comme MetalLB. 3. Dans quel cas préférer kind ou minikube à un cluster de VM ? Réponse : le développement, les tests de manifestes, l'intégration continue, l'apprentissage rapide. [TRANSITION] Place à la pratique : nous allons installer notre propre cluster avec kubeadm.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Installer le cluster de bout en bout. Le module est coupé en deux par le TP1 de 10:50 (prérequis, runtime, binaires) et mène au TP2 de 13:15 (init, réseau, workers). [DIRE] Module 4 : installer un cluster avec kubeadm. Le chemin est toujours le même, et nous allons le suivre dans l'ordre. Préparer les nœuds. Installer le runtime de conteneurs et les binaires Kubernetes. Initialiser le control plane. Puis ajouter le réseau des pods et les workers. La première moitié du module vous mène au TP1, à 10:50 : préparer les nœuds. La seconde, au TP2, à 13:15 : initialiser le cluster. Un conseil avant de commencer : lisez attentivement les messages d'erreur de kubeadm. Ils sont généralement très explicites, et indiquent souvent la commande à lancer pour corriger. [TRANSITION] Voici le cluster que vous allez obtenir.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cluster cible : trois machines. k8s-cp, en 10.10.0.10 : le control plane, avec l'API server, etcd, le scheduler et le controller-manager. k8s-w1, en 10.10.0.20, et k8s-w2, en 10.10.0.30 : les deux workers, qui feront tourner vos applications. En bas, un point qu'il faut absolument comprendre : trois plages d'adresses, qui ne doivent jamais se chevaucher. Le réseau des VM, 10.10.0.0/24 : les adresses des nœuds eux-mêmes. Le réseau des pods, 10.244.0.0/16 : une adresse IP par pod, fournie par Calico. Le réseau des Services, 10.96.0.0/12 : les adresses virtuelles des Services, les ClusterIP, avec la valeur par défaut de kubeadm. [SI ON VOUS DEMANDE] « Que se passe-t-il si elles se chevauchent ? » Le routage devient ambigu : un paquet destiné à un pod peut partir vers une VM, ou l'inverse. Les symptômes sont aléatoires et très difficiles à diagnostiquer. D'où l'intérêt de bien les choisir avant kubeadm init, car on ne les change pas facilement après. [TRANSITION] Avant d'installer quoi que ce soit, chaque nœud doit respecter des prérequis.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Chaque prérequis a une raison d'être. Plutôt que de les appliquer comme une recette, comprenons-les. 2 vCPU et 2 Go de RAM pour le control plane : kubeadm le vérifie au démarrage et refuse en dessous. Un nom d'hôte, une adresse MAC et un machine-id uniques : le nom d'hôte devient le nom du nœud dans le cluster. Attention aux VM clonées. Le swap désactivé : par défaut, le kubelet refuse de démarrer si du swap est actif. Les modules noyau overlay et br_netfilter : overlay pour les fichiers en couches, br_netfilter pour qu'iptables voie le trafic qui passe par les ponts réseau. net.ipv4.ip_forward à 1 : le nœud doit router les paquets entre les pods et vers l'extérieur. net.bridge.bridge-nf-call-iptables à 1 : pour que les règles des Services s'appliquent au trafic ponté. Des ports ouverts entre les nœuds : 6443 pour l'API, 2379 et 2380 pour etcd, 10250 pour le kubelet, 10257 et 10259 pour le controller-manager et le scheduler, la plage 30000 à 32767 pour les NodePort, plus les ports du CNI. Une horloge synchronisée par NTP : une horloge décalée fait rejeter les certificats. Et un runtime compatible CRI, car Kubernetes ne lance pas les conteneurs lui-même. [ASTUCE] Au TP1, le point de contrôle vérifie justement le swap et ip_forward : ce sont les deux oublis les plus fréquents. [TRANSITION] Le runtime, justement.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Depuis la version 1.36, Kubernetes exige containerd 2.0 ou plus. Or Ubuntu 24.04 fournit encore la 1.7. On installe donc le paquet containerd.io depuis le dépôt Docker. Ensuite, on régénère la configuration. Pourquoi ? Parce que la configuration fournie par le paquet désactive l'interface CRI, celle dont le kubelet a besoin. containerd config default produit une configuration complète. Puis une modification essentielle : SystemdCgroup passe à true. Pourquoi ? Il ne doit y avoir qu'un seul gestionnaire des cgroups par machine. Le kubelet et le runtime doivent utiliser le même pilote : systemd. Sinon, le nœud devient instable sous charge. Avec containerd 2, le kubelet détecte d'ailleurs ce pilote automatiquement. Enfin, on redémarre containerd. À droite, crictl, l'outil de diagnostic côté nœud. Il parle au runtime sans passer par l'API server : il fonctionne donc même quand le control plane est en panne. Il faut installer le paquet cri-tools. Les commandes les plus utiles : crictl ps, pods, images et logs. [SI ON VOUS DEMANDE] « Pourquoi le dépôt Docker, alors qu'on n'utilise pas Docker ? » Docker publie le paquet containerd.io, à jour, qui contient containerd et runc. On n'installe pas le moteur Docker. [TRANSITION] Reste à installer les binaires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binaires Kubernetes, à ne pas confondre. kubeadm crée, joint, met à jour et réinitialise un cluster. Il s'installe sur tous les nœuds. Le kubelet est l'agent qui fait tourner les pods. Lui aussi sur tous les nœuds. kubectl est le client en ligne de commande de l'API. Il s'installe là où vous administrez : ici, sur k8s-cp. Deux points pratiques. Le dépôt de paquets est propre à chaque version mineure : pkgs.k8s.io, puis core, stable, v1.37. Pour passer en 1.38 un jour, il faudra changer l'adresse du dépôt. C'est voulu : on ne change pas de version mineure par accident. Et une fois installés, on bloque les trois paquets avec apt-mark hold. Une mise à jour système ne doit jamais changer la version de Kubernetes hors procédure. [TRANSITION] Vous avez tout ce qu'il faut pour le premier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LE TP] TP1, 70 minutes. Distribuez les consignes pas à pas. [DIRE] À vous de jouer. Le TP1 couvre les sections 4.2 à 4.4, plus la section 1.8 sur ctr. Sur k8s-cp, vous allez appliquer les prérequis, installer containerd et les trois binaires, puis manipuler un premier conteneur avec ctr, comme dans la démonstration du module 1. Ensuite, un script prépare les deux workers à l'identique, pour gagner du temps. Le point de contrôle : containerd en version 2.x, kubeadm en v1.37.x, le swap désactivé et ip_forward à 1. Quand vous avez ces quatre résultats, le TP est réussi. [PENDANT LE TP] Passez dans les rangs. Les erreurs les plus fréquentes : le swap réactivé après un redémarrage parce qu'il est encore dans /etc/fstab ; SystemdCgroup oublié ; la configuration de containerd non régénérée, qui laisse le CRI désactivé. Encouragez ceux qui ont fini à lancer la commande uname -r dans le conteneur ctr, pour vérifier que le noyau est partagé. [À LA FIN] Faites vérifier le point de contrôle à chacun avant la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Les nœuds sont prêts. Une seule commande initialise le control plane : kubeadm init, avec l'adresse sur laquelle l'API server écoute, et la plage des pods, à accorder avec Calico. Cette commande enchaîne des phases. Chacune peut d'ailleurs se lancer seule : kubeadm init phase --help les liste. preflight vérifie les prérequis et télécharge les images. Si le swap est actif, un port pris ou ip_forward oublié, c'est ici que ça s'arrête. certs crée les autorités et les certificats, dans /etc/kubernetes/pki. kubeconfig crée les fichiers d'accès des composants et de l'administrateur, les fichiers .conf de /etc/kubernetes. kubelet-start écrit la configuration du kubelet et le démarre. control-plane et etcd écrivent les manifestes des pods statiques dans /etc/kubernetes/manifests. upload-config enregistre la configuration dans l'API, dans la ConfigMap kubeadm-config. mark-control-plane ajoute le label et la taint du control plane : vos applications éviteront ce nœud. bootstrap-token crée le jeton qui permettra aux workers de rejoindre. Il est valable 24 heures. Et addon installe CoreDNS et kube-proxy. [ASTUCE] Faites remarquer que tout ce que nous avons vu au module 2 apparaît ici : la PKI, les pods statiques, etcd, la taint. kubeadm ne fait rien de magique. [TRANSITION] Quelles options pour cette commande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Les options principales de kubeadm init. --apiserver-advertise-address : l'adresse où l'API server écoute et se fait connaître. Par défaut, celle de la route par défaut ; mieux vaut la préciser. --pod-network-cidr : la plage des adresses de pods, à accorder avec le CNI. Pas de valeur par défaut. --service-cidr : la plage des Services, 10.96.0.0/12 par défaut. --control-plane-endpoint : un nom ou une IP stable, celle du répartiteur de charge. Indispensable en haute disponibilité, car il faut pouvoir ajouter d'autres control planes derrière. --upload-certs : partage les certificats pour ajouter d'autres control planes. En production, on ne tape pas une longue ligne de commande : on écrit un fichier de configuration versionné, et on lance kubeadm init --config kubeadm.yaml. La commande kubeadm config print init-defaults en donne un modèle complet. À droite, deux extraits : InitConfiguration avec l'adresse d'écoute, et ClusterConfiguration avec les deux plages réseau. [SI ON VOUS DEMANDE] « Et si j'ai oublié --control-plane-endpoint ? » On ne pourra pas facilement passer en haute disponibilité ensuite. C'est une décision à prendre avant l'init. [TRANSITION] La phase certs a créé une PKI complète. Regardons-la.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Tous les échanges entre composants du cluster sont chiffrés et authentifiés par TLS. Les autorités se trouvent dans /etc/kubernetes/pki. ca.crt et ca.key : l'autorité principale, qui signe les certificats de l'API server, des kubelets et des administrateurs. etcd/ca.crt : une autorité dédiée à etcd. front-proxy-ca.crt : pour les extensions de l'API. sa.key et sa.pub : la paire de clés qui signe les jetons des ServiceAccounts. Une précision importante en orange : le trafic de vos applications n'est pas chiffré automatiquement. Entre podinfo et Redis, il circule en clair. Et deux durées à retenir. Les certificats des composants sont valables 1 an ; les autorités, 10 ans. Conséquence : un cluster jamais mis à jour cesse de fonctionner au bout d'un an. kubeadm upgrade renouvelle les certificats. Sinon, kubeadm certs check-expiration permet de vérifier, et kubeadm certs renew all de renouveler, puis il faut redémarrer les pods statiques. [ASTUCE] C'est une panne classique en production : un cluster oublié qui cesse de répondre un an après son installation. Conseillez de surveiller l'expiration. [TRANSITION] Parmi les fichiers générés, il y a celui qui vous donne accès au cluster : le kubeconfig.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Comment kubectl sait-il à quel cluster parler, et sous quelle identité ? Grâce au fichier kubeconfig : par défaut ~/.kube/config, ou le fichier désigné par la variable KUBECONFIG. Il contient trois listes. clusters : où se trouve le cluster, son adresse https://10.10.0.10:6443, et avec quelle autorité de certification le vérifier. users : qui vous êtes, avec quel certificat client. contexts : l'association d'un cluster, d'un user, et éventuellement d'un namespace par défaut. current-context indique le contexte actif. Les commandes utiles : kubectl config get-contexts pour lister, use-context pour changer, et set-context --current --namespace=fil-rouge pour changer le namespace par défaut. Ce sera très pratique au jour 2. [INSISTER] admin.conf donne tous les droits sur le cluster, et super-admin.conf contourne même le RBAC. Ces fichiers ne se copient pas et ne se partagent pas. Pour donner accès à quelqu'un, on crée des identités limitées par RBAC : c'est le module 15. [TRANSITION] Revenons aux pods statiques et à l'ajout des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gauche, les pods statiques. Ce sont des fichiers YAML dans /etc/kubernetes/manifests, que le kubelet exécute directement, sans passer par l'API server. C'est ainsi qu'on résout le problème de l'œuf et de la poule : l'API server ne peut pas se créer via l'API, puisqu'elle n'existe pas encore. kubectl n'en montre que des reflets, par exemple kube-apiserver-k8s-cp. Les modifier avec kubectl n'a pas d'effet durable. Pour changer une option, on édite le fichier kube-apiserver.yaml, et le kubelet redémarre le pod. Et retirer le fichier du répertoire arrête le composant. À droite, l'ajout des workers avec kubeadm join. Trois éléments dans cette commande. Le jeton authentifie le nouveau nœud ; il expire après 24 heures. L'empreinte de la CA, --discovery-token-ca-cert-hash : le nœud vérifie qu'il parle au bon cluster, et non à un imposteur. Puis le TLS bootstrapping : le kubelet demande son certificat, qui est approuvé automatiquement. Si le jeton a expiré, kubeadm token create --print-join-command en génère un nouveau, avec la commande complète. [TRANSITION] Après kubeadm init, les nœuds restent NotReady. Il manque le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Juste après kubeadm init, les nœuds sont NotReady : aucun plugin réseau n'est installé. Calico va faire trois choses. Un : attribuer les adresses. Il découpe la plage 10.244.0.0/16 en blocs /26 de 64 adresses, qu'il distribue aux nœuds. Deux : router entre les nœuds, soit directement, soit en encapsulant les paquets des pods dans des paquets entre nœuds. Trois : appliquer les politiques réseau, les NetworkPolicies du module 15. Le tableau compare les modes d'encapsulation. Aucune encapsulation, en BGP direct : les nœuds s'annoncent les routes des pods. Adapté à un réseau maîtrisé, sans filtrage d'adresses. IP-in-IP : un paquet IP dans un paquet IP. Pour les réseaux qui laissent passer le protocole IP numéro 4. VXLAN : une trame dans un paquet UDP, sur le port 4789. Adapté aux Clouds publics et aux réseaux filtrés : c'est le choix du TP. VXLANCrossSubnet : VXLAN seulement entre sous-réseaux. C'est le défaut de Calico, mais il peut être bloqué par l'anti-usurpation des Clouds. [SI ON VOUS DEMANDE] « Pourquoi VXLAN dans le TP ? » Les réseaux Cloud rejettent souvent les paquets dont l'adresse source est inconnue, comme une adresse de pod. VXLAN encapsule le trafic des pods entre des adresses de nœuds, que le réseau connaît. [TRANSITION] Comment Calico s'installe-t-il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Dans le TP, Calico est installé par son opérateur, l'opérateur Tigera. Trois étapes : ses définitions de ressources, puis l'opérateur lui-même, puis un objet Installation qui décrit le réseau voulu. L'opérateur déploie et maintient Calico à partir de cet objet. C'est votre premier exemple d'opérateur, un mécanisme que nous détaillerons au module 13. Vous décrivez ce que vous voulez, et un contrôleur s'en occupe : la réconciliation du module 2, encore une fois. Trois commandes pour vérifier : kubectl get tigerastatus pour l'état global, kubectl get pods -n calico-system pour les pods, et kubectl get installation default -o yaml pour voir le réseau déclaré. En bas, trois plugins comparés. Flannel : très simple, mais il n'applique pas les NetworkPolicies. Calico, notre choix : mature, avec BGP, VXLAN et eBPF en option. Il applique les NetworkPolicies, plus ses propres politiques étendues. Cilium : basé sur eBPF, avec une forte observabilité réseau. Il peut remplacer kube-proxy, et applique les NetworkPolicies jusqu'à la couche 7. [TRANSITION] Vous avez tout ce qu'il faut pour initialiser votre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LE TP] TP2, 75 minutes, sections 4.5 à 4.11. C'est le TP le plus important de la journée. [DIRE] Vous allez initialiser le cluster avec kubeadm init, configurer kubectl, installer Calico, puis joindre les deux workers. Trois commandes de vérification à la fin. kubectl get nodes -o wide : trois nœuds Ready, en v1.37.x, avec containerd 2.x. kubectl get pods -A : tout en Running. Et un test du DNS interne : un pod busybox temporaire qui fait nslookup kubernetes.default. Le point de contrôle : trois nœuds Ready, les pods de kube-system et calico-system en Running, et le DNS interne qui répond. [PRÉVENIR] Juste après kubeadm init, les nœuds sont NotReady et CoreDNS est Pending : c'est normal, il manque Calico. Ne réinitialisez pas ! [PENDANT LE TP] Erreurs fréquentes : une erreur preflight (swap, ip_forward) ; la commande de join copiée avec un retour à la ligne cassé ; le kubeconfig non copié dans ~/.kube/config, qui donne une erreur de connexion à localhost:8080. En cas d'échec de l'init, kubeadm reset -f permet de recommencer proprement : c'est la diapositive suivante. [À LA FIN] Profitez du moment où les pods passent en Running pour refaire les commandes d'observation du module 2 : les pods statiques, kube-system, crictl 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opérations de maintenance à connaître. Réinitialiser un nœud : kubeadm reset -f, puis supprimer la configuration réseau du CNI et votre kubeconfig. On l'utilise après une erreur d'initialisation, ou pour recommencer. Mettre à jour : une version mineure à la fois, dans cet ordre. Un, sur le control plane : pointer le dépôt vers la nouvelle version, mettre à jour kubeadm, lancer kubeadm upgrade plan, puis upgrade apply avec la version cible. Deux, toujours sur le control plane : drain, mise à jour de kubelet et kubectl, redémarrage du kubelet, uncordon. Trois, sur chaque worker, l'un après l'autre : kubeadm upgrade node, puis drain, mise à jour du kubelet, uncordon. Nous verrons drain et uncordon au module 5. Sauvegarder etcd : le binaire etcdctl est présent dans le pod etcd. On l'exécute avec kubectl exec, en lui donnant l'adresse d'etcd et les certificats, et la commande snapshot save. Le fichier est créé sur k8s-cp, dans /var/lib/etcd. Copiez-le hors du nœud : une sauvegarde qui reste sur la machine sauvegardée ne protège de rien. [ASTUCE] Rappelez la phrase du module 2 : perdre etcd sans sauvegarde, c'est perdre le cluster. [TRANSITION] Le bilan du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Cinq idées à retenir. kubeadm vérifie les prérequis, crée la PKI, écrit les pods statiques du control plane, installe CoreDNS et kube-proxy ; le réseau des pods est à ajouter. Le kubelet et containerd doivent utiliser le même pilote de cgroups : systemd. Les certificats des composants expirent au bout d'un an : mettez à jour régulièrement, ou renouvelez-les. admin.conf donne tous les droits ; on ne le distribue pas. Sauvegardez etcd : c'est tout votre cluster. [QUESTIONS] 1. Pourquoi les nœuds sont-ils NotReady juste après kubeadm init ? Réponse : aucun plugin CNI n'est installé, il n'y a pas encore de réseau des pods. 2. Le rôle de --discovery-token-ca-cert-hash ? Réponse : le nœud vérifie qu'il rejoint le bon cluster en comparant l'empreinte de la CA, ce qui empêche l'usurpation. 3. Comment modifier une option de démarrage de l'API server ? Réponse : en éditant /etc/kubernetes/manifests/kube-apiserver.yaml ; le kubelet redémarre alors le pod. 4. Pourquoi apt-mark hold ? Réponse : pour qu'une mise à jour système ne change jamais la version de Kubernetes hors procédure. 5. Pourquoi VXLAN plutôt que le routage direct ? Réponse : les réseaux Cloud rejettent souvent les paquets aux adresses sources inconnues ; VXLAN encapsule le trafic des pods entre adresses de nœuds. [TRANSITION] Le cluster tourne. Apprenons à gérer ses nœuds.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Prendre en main kubectl et les nœuds : les décrire, les protéger, les vider pour maintenance. Mène au TP3 de 14:35, dernier TP de la journée. [DIRE] Module 5 : gérer les nœuds. Un nœud se décrit par ses labels. Il se protège par des taints. Il se vide avant une maintenance avec drain, et se remet en service avec uncordon. Et c'est aussi le module où nous prenons vraiment en main kubectl, l'outil que vous utiliserez pendant les trois jours, et ensuite au quotidien. [TRANSITION] Commençons par kubectl.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Toutes les commandes kubectl suivent la même grammaire : kubectl, un verbe, un type, éventuellement un nom, et des options. Les verbes essentiels. get liste des objets. describe donne un détail lisible, avec les événements : c'est le premier réflexe de diagnostic. apply crée ou met à jour depuis un fichier. create crée, mais échoue si l'objet existe déjà. delete supprime. edit modifie en direct dans un éditeur. logs affiche les journaux d'un conteneur, exec lance une commande dans un conteneur, explain documente un champ. label et annotate ajoutent ou retirent des métadonnées. cordon et drain servent à la maintenance des nœuds, avec uncordon pour revenir. En bas, quelques exemples : lister les pods avec leurs IP et leurs nœuds, décrire un nœud, appliquer un fichier, suivre des logs, ouvrir un shell, vider un nœud. [ASTUCE] Faites remarquer la ressemblance avec les commandes Docker du module 1 : logs, exec. Les réflexes se transfèrent. [TRANSITION] Quelques options rendent kubectl beaucoup plus confortable.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Les options qui reviennent tout le temps. -n pour choisir un namespace, -A pour tous les namespaces. -o wide ajoute des colonnes, comme l'IP et le nœud. -o yaml ou -o json affichent l'objet complet. -o name ne donne que les noms. -o jsonpath ou -o custom-columns extraient des champs précis. -w suit les changements en direct : très pratique pendant un déploiement. -l filtre par label, et --show-labels affiche les labels. Et les noms courts : po pour pods, deploy, svc, ns, no pour nodes, cm pour configmaps, pvc. kubectl api-resources donne la liste complète. En bas, le confort indispensable, à mettre dans votre ~/.bashrc : la complétion par tabulation, un alias k pour kubectl, et la complétion qui fonctionne aussi avec l'alias. [CONSEIL] Faites-le installer tout de suite à chacun : trois lignes qui feront gagner beaucoup de temps pendant les trois jours. [TRANSITION] Utilisons kubectl pour lire l'état d'un nœud.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kubectl describe node donne une vue complète d'un nœud. Les sections à lire, de haut en bas. Labels : son identité, son nom, son OS, son architecture, son rôle. Taints : ce que le nœud repousse. Conditions : Ready, MemoryPressure, DiskPressure, PIDPressure. Une pression à True déclenche des évictions de pods. Capacity et Allocatable : la capacité brute, et ce qui reste pour les pods une fois retirées les réserves du système. Allocated resources : la somme des requests et des limits des pods placés. Attention, c'est ce chiffre que regarde le scheduler, pas la consommation réelle. Nous y reviendrons au module 11. Events : les derniers événements du nœud. À droite, ce qui se passe si un nœud ne répond plus. Après quelques dizaines de secondes, il passe NotReady et reçoit la taint node.kubernetes.io/unreachable. Ses pods tolèrent cette taint pendant 300 secondes, puis ils sont évincés et recréés ailleurs. Conclusion : environ 5 minutes d'indisponibilité pour un pod à un seul réplica. D'où la règle : au moins deux réplicas, répartis sur deux nœuds. [TRANSITION] Les labels des nœuds servent à les décrire, et à choisir où placer les pods.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Chaque nœud porte des labels posés automatiquement, et vous pouvez ajouter les vôtres pour décrire le matériel ou l'usage. Les labels automatiques : kubernetes.io/hostname, le nom du nœud ; kubernetes.io/os et arch, par exemple linux et amd64 ; node-role.kubernetes.io/control-plane, présent sur k8s-cp avec une valeur vide ; et chez les fournisseurs Cloud, topology.kubernetes.io/zone et region. En bas, les commandes. kubectl label node k8s-w2 disque=ssd ajoute un label. Ajouter node-role.kubernetes.io/worker avec une valeur vide fait apparaître « worker » dans la colonne ROLES de kubectl get nodes : c'est purement cosmétique, mais pratique. kubectl get nodes -L disque affiche le label en colonne. Et un tiret final, disque-, retire le label. [ASTUCE] Le tiret final pour retirer revient partout : labels, annotations, taints. Signalez-le, c'est une source de confusion. [TRANSITION] À quoi servent ces labels ? À choisir où tournent les pods.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Quatre mécanismes pour choisir où tournent les pods, du plus simple au plus fin. Un, nodeSelector : le pod ne va que sur les nœuds qui portent tous les labels indiqués. Simple et suffisant dans beaucoup de cas. Deux, nodeAffinity : la même idée, avec des opérateurs comme In, NotIn, Exists ou Gt, et deux niveaux, obligatoire ou souhaité. Trois, l'affinité et l'anti-affinité de pods : placer un pod près d'autres pods, ou loin d'eux. Très utile pour répartir les réplicas. Quatre, les contraintes de répartition, topologySpreadConstraints : un écart maximal de réplicas entre nœuds ou entre zones. L'exemple de droite est une nodeAffinity obligatoire : le pod ne va que sur des nœuds dont le label disque vaut ssd ou nvme. Le nom est très long : requiredDuringSchedulingIgnoredDuringExecution. Il se lit en deux parties. Required, obligatoire, au moment du placement. Ignored during execution : si le label change après coup, les pods déjà lancés ne sont pas déplacés. Preferred, à l'inverse, exprime un souhait, avec un poids. [TRANSITION] Le cas d'usage le plus fréquent : répartir les réplicas.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L'usage le plus courant du placement : faire en sorte qu'une panne de nœud n'emporte pas tous les réplicas d'une application. À gauche, l'anti-affinité de pods. Ici, en mode preferred avec un poids de 100 : on préfère placer le pod loin des autres pods qui portent le label app: podinfo. Que veut dire « loin » ? C'est la topologyKey qui le définit : kubernetes.io/hostname, donc sur un autre nœud. Avec la clé de zone, ce serait dans une autre zone. À droite, les contraintes de répartition. maxSkew: 1 signifie au plus un réplica d'écart entre nœuds. whenUnsatisfiable: ScheduleAnyway : si c'est impossible, on place quand même. C'est plus précis que l'anti-affinité quand il y a plus de réplicas que de nœuds : avec 3 réplicas et 2 workers, l'anti-affinité ne peut pas tous les séparer, alors que la contrainte de répartition vise explicitement un écart d'au plus 1 : deux réplicas d'un côté, un de l'autre. [DEMANDER] 3 réplicas, 2 workers : quelle règle pour qu'ils ne finissent pas tous sur le même nœud ? Réponse : une anti-affinité de pods, ou une contrainte de répartition sur kubernetes.io/hostname. [TRANSITION] Les labels attirent les pods. Pour les repousser, on utilise les taints.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Une taint posée sur un nœud repousse les pods. Une tolérance posée sur un pod l'autorise à ignorer une taint précise. Attention, une tolérance n'attire pas : elle autorise seulement. Pour dédier un nœud à une application, il faut les deux : une taint pour repousser les autres, et une affinité pour attirer la bonne application. Trois effets possibles. NoSchedule : aucun nouveau pod sans tolérance ; les pods présents restent. PreferNoSchedule : le scheduler évite le nœud s'il a le choix. NoExecute : les pods sans tolérance sont en plus expulsés s'ils tournent déjà sur le nœud. Les commandes : kubectl taint nodes k8s-w2 dedie=calcul:NoSchedule pose la taint ; avec un tiret final, on la retire. Et dans le pod, la tolérance reprend la même clé, la même valeur et le même effet. Vous en avez déjà rencontré deux : node-role.kubernetes.io/control-plane:NoSchedule, qui tient vos applications à l'écart du control plane, et node.kubernetes.io/not-ready, posée tant que le nœud n'est pas prêt. Les DaemonSets système, comme Calico ou kube-proxy, les tolèrent : ils tournent partout, y compris sur le control plane. [TRANSITION] Et pour intervenir sur un nœud sans couper les applications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commandes pour la maintenance d'un nœud. cordon rend le nœud non planifiable : plus aucun nouveau pod n'y arrive, mais les pods présents restent. drain fait un cordon, puis évince les pods gérés par un contrôleur, qui sont recréés ailleurs. uncordon remet le nœud en service. Les options de drain. --ignore-daemonsets, parce que ces pods reviendraient aussitôt. --delete-emptydir-data, pour accepter de perdre les volumes temporaires emptyDir. --force évince aussi les pods sans contrôleur, qui ne seront recréés nulle part : à utiliser en connaissance de cause. --timeout abandonne si l'éviction traîne. La procédure type : drain, intervention, vérifier que le nœud est Ready, puis uncordon. Un nœud à la fois. Pour retirer définitivement un worker : drain, kubectl delete node, puis kubeadm reset -f sur le nœud. À droite, le PodDisruptionBudget. Il protège une application pendant les maintenances : ici, au moins 2 pods podinfo disponibles. drain attend plutôt que de descendre sous ce minimum. [TRANSITION] Mettons tout cela en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LE TP] TP3, 60 minutes, sections 5.1 à 5.6. [DIRE] Dernier TP de la journée. Vous allez étiqueter les nœuds, poser puis retirer une taint, vider et remettre en service un worker, puis déployer et exposer un premier nginx. Le point de contrôle : la page nginx s'affiche via le NodePort, et k8s-w2 est de nouveau planifiable. Pour la suite : à 15:35, quiz de 10 questions, débrief de la journée, et snapshot des VM. [PENDANT LE TP] Points de vigilance : le drain qui refuse à cause des DaemonSets, il faut --ignore-daemonsets ; l'oubli de l'uncordon, qui laisse k8s-w2 en SchedulingDisabled ; le tiret final pour retirer la taint. Pendant le drain, faites observer avec kubectl get pods -o wide -w que les pods sont recréés sur l'autre worker. [À LA FIN] Vérifiez que chacun a bien fait uncordon avant le snapshot : un nœud resté cordonné ferait des surprises demain matin.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Quatre idées à retenir. kubectl describe node montre les conditions, la capacité, les ressources réservées et les événements : c'est le premier réflexe face à un nœud suspect. nodeSelector et les affinités attirent les pods ; les taints les repoussent ; les tolérances les autorisent. Avant toute maintenance : drain, puis uncordon. Un PodDisruptionBudget protège les applications critiques. Une panne de nœud fait évincer ses pods au bout d'environ 5 minutes : prévoyez au moins 2 réplicas répartis. [QUESTIONS] 1. Quelle différence entre cordon et drain ? Réponse : cordon empêche les nouveaux placements ; drain fait un cordon puis évince les pods. 2. Pourquoi une tolérance seule ne suffit-elle pas à dédier un nœud ? Réponse : une tolérance autorise sans attirer ; il faut y ajouter une affinité vers le nœud. 3. 3 réplicas, 2 workers : quelle règle ? Réponse : une anti-affinité de pods, ou une contrainte de répartition sur kubernetes.io/hostname. 4. Pourquoi les pods Calico tournent-ils sur le control plane ? Réponse : ce sont des DaemonSets qui tolèrent la taint du control plane. [CLÔTURE DU JOUR 1] Enchaînez sur le quiz de 10 questions, le débrief, puis le snapshot des VM. Rappelez que demain, nous passons du cluster aux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Commencez par un tour rapide : tout le monde a-t-il retrouvé un cluster à trois nœuds Ready ? Si un cluster est cassé, restaurez le snapshot d'hier soir avant de démarrer. [DIRE] Bonjour à tous. Hier, nous avons construit le cluster. Aujourd'hui, jour 2 : décrire et exploiter. Nous passons du cluster aux applications. Le fil de la journée : du manifeste YAML à l'application fil rouge. Nous allons la décrire, la configurer, la mettre à jour, et la dépanner. Le programme. Module 6 sur le YAML, et à 09:30 un TP court de 35 minutes : vos premiers manifestes. Puis les modules 7 et 8, Pods, Deployments, Services, ConfigMaps et Secrets, qui mènent au TP5 à 10:30, 70 minutes : déployer l'application fil rouge. L'après-midi, le module 9 sur le cycle de vie, avec le TP6 à 13:00 : mises à jour et probes. Puis le module 10 sur le diagnostic, avec le TP7 à 14:30 : une chasse aux pannes, en binômes. À 15:30, un temps de rattrapage pour ceux qui ont pris du retard, puis un quiz à 15:45. [TRANSITION] Commençons par la langue de Kubernetes : le 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Savoir lire, écrire et corriger un manifeste. Module court avant le TP4 de 09:30 (35 minutes). [DIRE] Module 6 : YAML et manifestes. Un manifeste est un fichier YAML qui décrit l'état désiré d'un ou plusieurs objets. On l'applique avec kubectl apply -f, et on le versionne dans Git. C'est la traduction concrète de la réconciliation d'hier : le manifeste, c'est l'état désiré. Et parce que c'est un fichier, il se relit, se partage, se compare et se rejoue. [TRANSITION] Commençons par la syntaxe.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L'API de Kubernetes échange du JSON. YAML est un sur-ensemble plus lisible du JSON, que kubectl convertit avant l'envoi. Six règles suffisent. Un : une paire s'écrit clé, deux-points, espace, valeur. L'espace après les deux-points est obligatoire. Deux : l'imbrication se fait par l'indentation, avec des espaces uniquement. Une tabulation provoque une erreur. La convention : 2 espaces. Trois : un élément de liste commence par un tiret suivi d'un espace. Quatre : dictionnaires et listes s'imbriquent librement. Cinq : le dièse commence un commentaire. Six : trois tirets séparent plusieurs objets dans un même fichier. [MONTRER] À droite, l'exemple. metadata est un dictionnaire, avec un dictionnaire imbriqué, labels. containers est une liste de dictionnaires : chaque tiret ouvre un nouveau conteneur. Et la notation compacte entre accolades est équivalente. Pour le texte sur plusieurs lignes : la barre verticale garde les retours à la ligne, le chevron les replie, et barre-tiret retire le dernier retour. Dans le doute, des guillemets doubles. [ASTUCE] Conseillez un éditeur qui affiche les espaces et les tabulations, ou l'extension YAML de VS Code : elle signale ces erreurs avant même kubectl. [TRANSITION] La syntaxe est simple. Le vrai piège, c'est le typage.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YAML devine le type des valeurs, et il se trompe parfois. Ce tableau recense les pièges. true et false sont des booléens ; pour du texte, des guillemets. yes, no, on, off sont aussi des booléens, car Kubernetes utilise YAML 1.1. Un label actif: yes deviendrait un booléen. 1.10 est compris comme le nombre décimal 1,1. Une version 1.10 écrite sans guillemets devient 1.1. 6.7 est un nombre décimal, pas du texte. 0644 est un nombre en octal, 420 en décimal. C'est utile pour les permissions, avec defaultMode. Le tilde, null ou une valeur vide signifient l'absence de valeur ; pour une chaîne vide, deux guillemets. Une expression cron comme */5 * * * * provoque une erreur : l'étoile débute un alias YAML. Il faut des guillemets. Et clé: a: b est ambigu à cause du second deux-points. La règle simple, en bas : des guillemets pour les labels, les annotations et les variables d'environnement, qui doivent être des chaînes. Pas de guillemets pour les ports, les réplicas et les tailles, qui doivent être des nombres. "9898" entre guillemets serait refusé par containerPort. [TRANSITION] Voyons maintenant la structure commune à tous les objets.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Tout objet Kubernetes a la même anatomie, en quatre parties. apiVersion : le groupe et la version de l'API. kind : le type d'objet. metadata : l'identité. name, unique par type et par namespace. namespace, sinon c'est le namespace courant. labels, pour sélectionner, nous y reviendrons au module 12. annotations, pour documenter ou configurer un outil. spec : l'état désiré, propre à chaque kind. Pour un Pod, la liste des conteneurs. Et en commentaire, status : l'état observé, rempli par Kubernetes. Vous ne l'écrivez jamais. À droite, les règles de nommage : la norme DNS, en minuscules, chiffres et tirets, commençant et finissant par un caractère alphanumérique ; 253 caractères au plus, 63 pour un Service. Podinfo avec une majuscule ou pod_info avec un tiret bas sont refusés. Enfin, le serveur ajoute des champs : uid, resourceVersion, generation, creationTimestamp, parfois ownerReferences et finalizers. Si vous exportez un objet avec -o yaml, ne recopiez pas ces champs dans vos fichiers. [TRANSITION] Comment connaître les champs disponibles sans les apprendre par cœur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Inutile d'apprendre les schémas par cœur : la documentation est dans le cluster. kubectl explain pod.spec affiche les champs de ce niveau, avec leur type et leur description. On descend champ par champ : pod.spec.containers.resources. Et avec --recursive, on obtient toute l'arborescence d'un coup. Deuxième astuce, encore plus utile : partir d'un squelette correct, généré sans rien créer. L'option --dry-run=client -o yaml demande à kubectl de construire l'objet et de l'afficher, sans l'envoyer. Les exemples en bas : un Deployment de 3 réplicas redirigé dans web.yaml ; un Pod avec kubectl run ; une ConfigMap ; un Job ; un Service avec kubectl expose. [DÉMO] Montrez la première commande en direct, puis ouvrez web.yaml : tout est là, labels et selector cohérents compris. Il ne reste qu'à compléter. [ASTUCE] Cette technique répond aussi à une question de révision : comment obtenir un squelette de CronJob ? Avec kubectl create cronjob et --dry-run=client -o yaml. [TRANSITION] Il existe d'ailleurs plusieurs façons de créer des objets. Laquelle choisir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façons de créer des objets. Les commandes impératives : run, create, scale, set image. Avantage : c'est rapide pour tester. Inconvénient : aucune trace, rien de reproductible. Les fichiers en mode impératif : create -f, replace -f. On a une trace écrite, mais create échoue si l'objet existe déjà, et replace écrase tout. Les fichiers en mode déclaratif : apply -f. Il crée ou met à jour, il est idempotent, c'est-à-dire qu'on peut le relancer sans risque, et il se versionne. La contrepartie : de la discipline. Le fichier fait foi. Comment apply sait-il quoi changer ? Il compare trois versions : votre fichier, la dernière version appliquée, gardée dans une annotation, et l'objet réel. Puis il n'envoie que les changements. Avec --server-side, c'est le serveur qui fait ce calcul, et il détecte les conflits entre outils. La bonne pratique, en bas. L'impératif sert à explorer et à dépanner. Toute modification durable passe par le fichier, puis apply. Et une correction d'urgence faite avec set image ou edit doit être reportée dans le fichier, sinon le prochain apply l'annule. Poussé au bout, ce principe s'appelle GitOps : Argo CD ou Flux appliquent automatiquement ce qui est dans Git. [DEMANDER] Qui a déjà vécu une correction en production écrasée par un redéploiement ? C'est exactement ce piège. [TRANSITION] Concrètement, comment travaille-t-on avec des fichiers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Les commandes du quotidien avec des fichiers. kubectl apply -f sur un fichier. apply -f point : tout le dossier, par ordre alphabétique. -R pour les sous-dossiers. kubectl diff -f montre ce qu'apply changerait, avant de le faire. C'est le réflexe à prendre. apply avec --dry-run=server fait une validation complète par l'API server, sans rien écrire. Et delete -f supprime les objets décrits dans le fichier. Une astuce simple : préfixez les fichiers par un numéro, 00-namespace.yaml, 10-redis.yaml. Comme apply -f point suit l'ordre alphabétique, le namespace est créé avant ce qui en dépend. À droite, Kustomize. Il est intégré à kubectl, et permet de décliner une même base par environnement sans copier les fichiers : un autre namespace, un autre tag d'image, un patch pour passer à 5 réplicas. L'exemple : un overlay de production qui reprend la base, change le namespace et le tag de podinfo. kubectl kustomize affiche le résultat, apply -k l'applique. [TRANSITION] Et quand ça ne marche pas, comment lire les messages d'erreur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Les messages d'erreur YAML sont souvent cryptiques. Voici les plus fréquents et leur cause. Ce tableau vous servira directement au TP4. found character that cannot start any token : une tabulation dans l'indentation. mapping values are not allowed in this context : une indentation incohérente, ou un deux-points en trop dans une valeur. did not find expected '-' indicator : un élément de liste mal aligné. unknown field "spec.contianers" : une faute de frappe dans un nom de champ. cannot unmarshal number into string : une valeur de label ou de variable d'environnement sans guillemets. Le piège du typage. cannot unmarshal string into int32 : l'inverse, un port ou un nombre entre guillemets. the namespace from the provided object does not match : le namespace dans le fichier diffère de celui passé avec -n. field is immutable : un champ non modifiable, comme le selector d'un Deployment. Il faut supprimer et recréer l'objet. Pour contrôler avant d'appliquer : yamllint pour la syntaxe, kubeconform pour le schéma, kubectl diff pour l'impact. Et une organisation simple : un dossier par application, les manifestes dans Git, et jamais de Secret en clair dans le dépôt. [TRANSITION] À vous de jouer.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LE TP] TP4, 35 minutes, sur le module 6. [DIRE] Un TP court pour vous mettre en jambes. Trois choses : créer le namespace fil-rouge, écrire un premier Pod à la main, puis corriger deux fichiers YAML cassés à l'aide du tableau des erreurs fréquentes. Le point de contrôle : votre contexte courant pointe sur fil-rouge, et les fichiers corrigés passent kubectl apply --dry-run=server. [PENDANT LE TP] Encouragez l'usage de kubectl explain et de --dry-run=client -o yaml plutôt que la copie depuis Internet. Pour le changement de namespace par défaut, la commande est kubectl config set-context --current --namespace=fil-rouge (vue au module 4). Pour les fichiers cassés, faites lire le message d'erreur à voix haute et chercher la ligne correspondante dans le tableau. [À LA FIN] Demandez à un binôme de raconter l'erreur qu'il a trouvée et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Cinq idées à retenir. Indentation par espaces, jamais de tabulation ; un tiret pour les listes ; trois tirets entre les objets. Mettez entre guillemets les valeurs de labels, d'annotations et de variables d'environnement. Tout objet comporte apiVersion, kind, metadata, spec ; status est écrit par Kubernetes. kubectl explain et --dry-run=client -o yaml évitent d'apprendre les schémas par cœur. Le fichier fait foi : modifiez-le, puis kubectl diff et kubectl apply. [QUESTIONS] 1. Pourquoi version: 1.10 pose-t-il problème dans les labels ? Réponse : 1.10 est lu comme le nombre 1,1 ; un label doit être une chaîne : "1.10". 2. create -f ou apply -f quand l'objet existe déjà ? Réponse : create échoue, l'objet existe déjà ; apply le met à jour. 3. Comment obtenir un squelette de CronJob correct ? Réponse : kubectl create cronjob test --image=&lt;image&gt; --schedule="*/5 * * * *" --dry-run=client -o yaml. 4. Image corrigée avec kubectl set image : que risquez-vous au prochain apply ? Réponse : le prochain apply remet l'image du fichier ; il faut reporter la correction dans le fichier. [TRANSITION] Nous savons écrire des manifestes. Voyons les objets qui font tourner une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Comprendre le trio Pod, Deployment, Service, et la façon dont l'application fil rouge s'assemble. Avec le module 8, il mène au TP5 de 10:30. [DIRE] Module 7 : Pods, Deployments, Services. On ne déploie presque jamais un pod seul. Un Deployment maintient le bon nombre de pods identiques. Un Service leur donne une adresse et un nom stables. Retenez cette répartition des rôles : le Deployment s'occupe du nombre et de la version des pods ; le Service s'occupe de les rendre joignables. Ce sont deux objets indépendants, reliés par des labels. [TRANSITION] Commençons par la brique de base : le Pod.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Pod est la plus petite unité que Kubernetes déploie. Pas le conteneur : le Pod. Un Pod contient un ou plusieurs conteneurs, qui partagent trois choses. Le réseau : une seule adresse IP pour tout le pod. Les conteneurs se joignent par localhost, et par conséquent ils ne peuvent pas écouter sur le même port. Les volumes déclarés dans le pod. Un cycle de vie : ils sont placés sur le même nœud et supprimés ensemble. [MONTRER] Le schéma : un conteneur principal, celui de l'application, et un conteneur facultatif à côté, le sidecar, par exemple un agent de logs ou un proxy. Le point essentiel est dans l'encadré en bas : un pod est éphémère. S'il meurt, ou si son nœud tombe, il est remplacé par un nouveau pod, avec un autre nom et une autre adresse IP. Il n'est pas réparé. C'est pour cela qu'on le confie toujours à un contrôleur, comme un Deployment. [DEMANDER] Deux conteneurs d'un même pod peuvent-ils écouter tous les deux sur le port 8080 ? Réponse : non, ils partagent la même pile réseau ; un port ne peut être ouvert qu'une fois. [TRANSITION] Regardons un pod à plusieurs conteneurs, et son cycle de vie.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Cet exemple de pod montre deux types de conteneurs. Un conteneur d'initialisation, dans initContainers. Il s'exécute jusqu'au bout avant les autres. Ici, il attend que Redis réponde sur le port 6379, en boucle, avant de laisser démarrer l'application. On s'en sert pour attendre une base ou préparer un fichier. Puis le conteneur principal, podinfo, sur le port 9898. Un sidecar s'écrit aujourd'hui comme un init container avec restartPolicy: Always : il démarre avant l'application, reste actif pendant toute sa vie, et s'arrête après elle. Les phases d'un pod : Pending, puis Running, puis Succeeded ou Failed. Chaque conteneur a aussi son propre état : Waiting, avec une raison comme ContainerCreating, ImagePullBackOff ou CrashLoopBackOff ; Running ; ou Terminated. Ces raisons seront votre premier indice de diagnostic au module 10. Enfin, l'arrêt propre. Kubernetes envoie SIGTERM au processus, attend un délai de grâce de 30 secondes, puis envoie SIGKILL. L'application doit intercepter SIGTERM pour terminer proprement ses requêtes. Un crochet preStop peut s'exécuter avant l'envoi du signal. [SI ON VOUS DEMANDE] « Que se passe-t-il si l'application ignore SIGTERM ? » Elle est tuée brutalement au bout de 30 secondes. Les requêtes en cours sont perdues. [TRANSITION] Le contrôleur qui gère les pods : le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Voici un Deployment. Trois champs essentiels dans sa spec. replicas : le nombre de pods voulus, ici 3. selector : les pods que ce Deployment gère, ceux qui portent le label app: podinfo. Ce champ n'est pas modifiable après création. template : le modèle des pods à créer. Ses labels doivent correspondre au selector. C'est l'erreur la plus fréquente : si les deux ne correspondent pas, l'API refuse le Deployment. [MONTRER] La hiérarchie à droite. Le Deployment podinfo crée un ReplicaSet, dont le nom porte un suffixe, et le ReplicaSet crée les pods, avec un second suffixe. Il y a un ReplicaSet par version du modèle : c'est ce qui permettra les mises à jour progressives et les retours arrière au module 9. Deux commandes : kubectl get deploy,rs,pods -l app=podinfo montre les trois niveaux d'un coup ; kubectl scale change le nombre de réplicas. Et quelques paramètres à connaître : revisionHistoryLimit, 10 anciens ReplicaSets conservés par défaut ; minReadySeconds ; et progressDeadlineSeconds, 600 secondes, au-delà desquelles une mise à jour bloquée est signalée. [DÉMO] Supprimez un pod du Deployment avec kubectl delete pod, puis kubectl get pods -w : un remplaçant apparaît aussitôt. C'est la réconciliation du module 2, en direct. [TRANSITION] Ces objets vivent dans des namespaces.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namespace est un espace de noms qui regroupe des objets. Deux Services peuvent s'appeler redis dans deux namespaces différents. C'est aussi l'unité de gestion : les quotas au module 11, les droits RBAC et les politiques de sécurité au module 15 s'appliquent par namespace. Quatre namespaces existent dès l'installation. default : les objets créés sans namespace précisé. kube-system : les composants du cluster. kube-public : lisible par tous, même sans authentification. kube-node-lease : les battements de cœur des nœuds. Les commandes : lister, créer, changer le namespace par défaut de votre contexte, et -A pour voir tous les namespaces. [INSISTER] Deux mises en garde. Un namespace n'isole pas le réseau : un pod de equipe-a joint un pod de equipe-b, sauf si des NetworkPolicies l'interdisent. Et supprimer un namespace supprime tout ce qu'il contient, sans confirmation. [TRANSITION] Nos pods changent d'adresse à chaque remplacement. Comment les joindre ? Avec un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Service apporte trois choses stables devant des pods qui changent. Une adresse IP stable, la ClusterIP, prise dans la plage 10.96.0.0/12. Un nom DNS stable, résolu par CoreDNS. Une répartition de charge entre les pods prêts qui correspondent à son selector. Comment ça marche ? Le contrôleur EndpointSlice tient à jour la liste des adresses des pods. kube-proxy en déduit, sur chaque nœud, les règles qui redirigent la ClusterIP vers un pod. Ce sont deux composants que nous avons vus au module 2. Le tableau présente les types de Service. ClusterIP, le défaut : accessible depuis l'intérieur du cluster. Pour les échanges entre composants, comme podinfo vers Redis. NodePort : accessible de l'extérieur, sur un port entre 30000 et 32767 de chaque nœud. Pour les tests et les labos. LoadBalancer : accessible de l'extérieur via un répartiteur Cloud. Pour la production sur un service managé. Sur notre cluster kubeadm, il resterait en attente, comme vu au module 3. ExternalName : un alias DNS vers un nom externe, par exemple une base hébergée hors du cluster. Headless, avec clusterIP: None : le DNS renvoie directement les IP des pods. Pour les bases de données en StatefulSet, au module 16. [TRANSITION] Avec les Services viennent plusieurs numéros de port, souvent confondus.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Quatre numéros de port à ne pas confondre. Suivons une requête de l'extérieur vers l'application. nodePort, ici 30080 : le port ouvert sur chaque nœud, pour un Service NodePort. port, 9898 : le port de la ClusterIP, celui qu'appellent les clients à l'intérieur du cluster. targetPort : le port du pod visé. Il peut être donné par numéro, ou par nom, ici http, le nom déclaré dans le conteneur. containerPort, 9898 : là où l'application écoute. Ce champ est informatif. [MONTRER] Dans le YAML, repérez le selector, app: podinfo : le Service envoie le trafic aux pods prêts qui portent ce label. En bas à gauche, la panne classique : un Service sans endpoint. Deux causes : un selector qui ne correspond à aucun label de pod, ou des pods qui ne sont pas prêts. Pour vérifier, la commande kubectl get endpointslices avec le label kubernetes.io/service-name=podinfo : si la liste est vide, le Service ne mène nulle part. [DEMANDER] Que se passe-t-il si le selector d'un Service ne correspond à aucun pod ? Réponse : le Service n'a aucun endpoint, les connexions échouent. [TRANSITION] Et pour joindre un Service par son nom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nom DNS complet d'un Service se lit de gauche à droite : le nom du Service, redis ; son namespace, fil-rouge ; puis le suffixe du cluster, svc.cluster.local. Selon l'endroit d'où l'on appelle, on peut raccourcir. Depuis un pod du même namespace fil-rouge : redis suffit. Depuis un autre namespace : redis.fil-rouge. Et le nom complet fonctionne de partout. Ces formes courtes viennent des domaines de recherche inscrits dans /etc/resolv.conf de chaque pod. Pour un Service headless, le nom renvoie la liste des IP des pods. [DÉMO] La commande en bas lance un pod busybox temporaire. Dans le pod : cat /etc/resolv.conf montre les domaines de recherche ; nslookup redis.fil-rouge résout le Service ; wget interroge podinfo par son nom. [DEMANDER] Quel nom pour joindre le Service redis de fil-rouge depuis le namespace equipe-a ? Réponse : redis.fil-rouge, ou le nom complet redis.fil-rouge.svc.cluster.local. [TRANSITION] Pour exposer une application en HTTP à l'extérieur, un NodePort par application ne suffit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NodePort par application ne passe pas à l'échelle : des dizaines de ports à retenir et à ouvrir. La solution : une seule entrée HTTP qui route vers les Services, selon le nom d'hôte et le chemin. Deux API existent. Ingress : l'API historique, simple et très répandue. Elle ne fait rien seule, il faut installer un contrôleur Ingress. Et son API n'évolue plus. La Gateway API, recommandée : son successeur, stable depuis 2023. Elle gère la répartition pondérée, les en-têtes, plusieurs protocoles. Et elle sépare les rôles : l'équipe plateforme définit la Gateway, les équipes applicatives définissent leurs HTTPRoute. [MONTRER] L'exemple : une HTTPRoute dans fil-rouge, rattachée à la passerelle principale du namespace infra, pour le nom podinfo.exemple.fr, qui envoie vers le Service podinfo sur le port 9898. En bas, une astuce de dépannage, sans rien exposer : kubectl port-forward svc/podinfo 9898:9898, puis http://localhost:9898 depuis la machine où tourne kubectl. [SI ON VOUS DEMANDE] « Faut-il migrer nos Ingress ? » Pas d'urgence : Ingress fonctionne et reste supporté. Mais pour un nouveau projet, la Gateway API est le choix recommandé. [TRANSITION] Assemblons maintenant l'application fil rouge.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Suivez le trajet d'une requête de gauche à droite. [DIRE] Voici l'application fil rouge, celle que vous déploierez au TP5. Un client HTTP, curl ou un navigateur, appelle un nœud sur le port 30080. Les règles de kube-proxy redirigent vers l'un des trois pods podinfo, dans le namespace fil-rouge. podinfo est un Deployment de 3 réplicas. Il est lancé avec l'option --cache-server=tcp://redis:6379 : il joint Redis par son nom DNS court, redis, puisqu'il est dans le même namespace. Il est exposé par un Service NodePort sur 30080. Redis est un Deployment d'un réplica, derrière un Service ClusterIP sur le port 6379 : il n'est joignable que de l'intérieur du cluster. Dans les TP, on teste avec curl depuis k8s-cp. [ASTUCE] Cette application va nous suivre jusqu'au jour 3 : nous la mettrons à jour au module 9, la casserons au module 10, la sécuriserons au module 15, et rendrons Redis persistant au module 16. Dites-le : ça donne du sens au fil rouge. [TRANSITION] Le bilan du module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Cinq idées à retenir. Un pod regroupe un ou plusieurs conteneurs qui partagent IP et volumes ; éphémère, il est toujours géré par un contrôleur. Deployment, puis ReplicaSet, puis Pods : les labels du modèle doivent correspondre au selector. Un Service donne une IP, un nom DNS et une répartition de charge stables devant des pods qui changent. port, c'est celui du Service ; targetPort, celui du conteneur ; nodePort, celui du nœud. Un namespace range et délègue, mais n'isole pas le réseau. [QUESTIONS] 1. Deux conteneurs d'un même pod sur le port 8080 ? Réponse : non, ils partagent la même pile réseau ; un port ne peut être ouvert qu'une fois. 2. Un selector qui ne correspond à aucun pod ? Réponse : le Service n'a aucun endpoint, les connexions échouent. 3. Joindre redis de fil-rouge depuis equipe-a ? Réponse : redis.fil-rouge, ou redis.fil-rouge.svc.cluster.local. 4. Pourquoi un pod seul est-il déconseillé ? Réponse : s'il meurt ou si son nœud tombe, rien ne le recrée. 5. NodePort ou LoadBalancer ? Réponse : NodePort ouvre un port sur chaque nœud ; LoadBalancer demande en plus un répartiteur externe au fournisseur. [TRANSITION] Notre application tourne. Comment la configurer sans reconstruire l'image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Séparer l'image de sa configuration, et comprendre ce que protège vraiment un Secret. Termine la préparation du TP5 de 10:30. [DIRE] Module 8 : la configuration, avec les ConfigMaps et les Secrets. L'idée : la même image tourne en recette et en production. Seuls changent les ConfigMaps et les Secrets qu'on lui fournit. Et un avertissement dès le départ, que nous détaillerons : un Secret n'est qu'encodé, pas chiffré. Sa protection repose sur les droits d'accès et sur le chiffrement, que vous devez mettre en place. [TRANSITION] Pourquoi séparer l'image de sa configuration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Une seule image, podinfo:6.7.1, tourne dans deux environnements. En recette, elle reçoit une ConfigMap de paramètres et un Secret avec les mots de passe de recette. En production, les mêmes objets, avec les valeurs de production. Pourquoi ne pas reconstruire une image par environnement ? Parce que c'est lent et risqué : l'image testée en recette ne serait plus celle qu'on déploie en production. On perdrait tout l'intérêt des tests. C'est l'un des principes des « 12 facteurs », une méthode de conception d'applications pour le Cloud : une image unique, et sa configuration injectée au démarrage, en variables d'environnement ou en fichiers. [DEMANDER] Dans vos applications actuelles, où se trouve la configuration ? Dans l'image, sur le serveur, dans un outil de déploiement ? Notez les réponses : elles serviront à l'atelier du jour 3. [TRANSITION] Commençons par les ConfigMaps.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Une ConfigMap contient des paires clé-valeur non sensibles, 1 Mio au plus au total. On peut la créer en ligne de commande de trois façons : --from-literal pour des valeurs directes ; --from-file pour un fichier entier, la clé étant le nom du fichier ; --from-env-file pour un fichier de type CLE=valeur, une clé par ligne. Ou en YAML, comme à droite. La ConfigMap podinfo-config contient deux valeurs courtes, le message d'accueil et la couleur de l'interface, et un fichier entier, config.yaml, écrit avec la barre verticale pour garder les retours à la ligne. Une valeur peut donc être courte, ou contenir un fichier complet. En bas, une option recommandée : immutable: true. La ConfigMap ne peut plus être modifiée, seulement remplacée par une nouvelle, podinfo-config-v2 par exemple. Avantages : moins d'accidents, et moins de charge pour l'API server, qui n'a plus à surveiller ses changements. [TRANSITION] Comment un pod lit-il cette ConfigMap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façons de consommer une ConfigMap. Un, env avec configMapKeyRef : une clé devient une variable d'environnement, avec le nom de votre choix. Ici, la clé PODINFO_UI_MESSAGE devient la variable MESSAGE. Deux, envFrom : toutes les clés deviennent des variables d'un coup. Trois, un volume : chaque clé devient un fichier dans le répertoire monté, ici /etc/podinfo. À droite, la question essentielle : que se passe-t-il si la ConfigMap change ? Avec env ou envFrom : rien, jamais. Les variables sont lues au démarrage du conteneur. Avec un volume : les fichiers sont mis à jour après un délai de l'ordre de la minute. Mais l'application doit relire ses fichiers pour en tenir compte. Avec un volume monté avec subPath : jamais. La méthode fiable dans tous les cas : kubectl rollout restart deployment podinfo. Les pods sont recréés progressivement, et lisent la nouvelle configuration. [ASTUCE] Vous le constaterez au TP5 : on modifie la ConfigMap, rien ne change, puis rollout restart, et le nouveau message apparaît. [TRANSITION] Pour les données sensibles, on utilise un objet proche : le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Secret fonctionne comme une ConfigMap, mais pour les données sensibles. Trois différences : il est monté en mémoire, dans un tmpfs, jamais écrit sur le disque du nœud ; il n'est envoyé qu'aux nœuds qui en ont besoin ; et il peut être chiffré dans etcd. Trois commandes de création. generic pour des données libres. tls pour un certificat et sa clé privée. docker-registry pour les identifiants d'un registre privé. Le tableau des types. Opaque, le défaut : des données libres. kubernetes.io/tls : un certificat et une clé. kubernetes.io/dockerconfigjson : les identifiants d'un registre. basic-auth et ssh-auth : des identifiants structurés. En YAML, deux champs possibles. stringData accepte du texte en clair, que l'API encode. data attend des valeurs déjà encodées en base64. On consomme un Secret exactement comme une ConfigMap : env, envFrom ou volume. Pour un registre privé, on le référence dans le pod avec imagePullSecrets. [TRANSITION] Mais que protège vraiment un Secret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IMPORTANT] Insistez : c'est une idée fausse très répandue. [DIRE] Première chose à savoir : base64 n'est pas un chiffrement. La commande en haut le prouve : kubectl get secret, on extrait la valeur, on la passe dans base64 -d, et on lit le jeton en clair. N'importe qui ayant le droit de lire le Secret peut le faire. Les risques, à gauche. Par défaut, les Secrets sont stockés en clair dans etcd : une sauvegarde volée les révèle tous. Qui peut créer un pod dans un namespace peut y monter n'importe quel Secret, donc le lire. En variable d'environnement, un Secret peut fuiter dans les logs ou les rapports d'erreur. Les protections, à droite, par ordre de priorité. Un : le RBAC. Réserver get, list et watch sur les Secrets à qui en a besoin. Attention, list suffit à tout lire. Deux : le chiffrement au repos dans etcd, avec une clé locale, ou mieux, un KMS externe. Trois : un coffre-fort externe, comme Vault, synchronisé avec External Secrets Operator ou le pilote Secrets Store CSI. Quatre : rien en clair dans Git. Sealed Secrets ou SOPS chiffrent les Secrets avant de les versionner. Cinq : des fichiers plutôt que des variables pour les plus sensibles. [SI ON VOUS DEMANDE] « Pourquoi list est-il aussi sensible que get ? » Parce que list renvoie les objets complets, valeurs comprises. [TRANSITION] Dernier mécanisme de configuration : l'API Downward.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L'API Downward permet à un conteneur de connaître ses propres métadonnées, sans interroger l'API server. Dans l'exemple, quatre variables : le nom du pod, son namespace, le nœud sur lequel il tourne, et sa limite mémoire. Les trois premières avec fieldRef, la dernière avec resourceFieldRef. À quoi ça sert ? À écrire le nom du pod dans les logs, à adapter l'application à sa limite mémoire, par exemple pour la taille d'un cache ou d'un heap Java. Une variable peut aussi alimenter les arguments du conteneur, avec la syntaxe dollar-parenthèse : args: ["--message=$(MESSAGE)"]. À droite, ce que vous ferez dans l'application fil rouge. podinfo lit son message d'accueil et sa couleur dans la ConfigMap podinfo-config, et un jeton fictif dans le Secret podinfo-secret, via envFrom. Et vous constaterez qu'une modification de la ConfigMap reste invisible jusqu'au kubectl rollout restart. [TRANSITION] Vous avez tout pour déployer l'application fil rouge.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LE TP] TP5, 70 minutes : sections 7.3 à 7.8 et 8.2 à 8.6. Le TP central de la matinée. [DIRE] Vous allez déployer l'application fil rouge dans le namespace fil-rouge : Redis et podinfo, leurs Services, une ConfigMap et un Secret. Le point de contrôle : 3 pods podinfo et 1 pod Redis en Running, l'interface affichée sur le port 30080, et une écriture puis une lecture dans le cache. [PENDANT LE TP] Les erreurs les plus fréquentes : des labels du template qui ne correspondent pas au selector ; un targetPort faux, qui donne un Service sans endpoint ; le namespace oublié, qui envoie les objets dans default ; et le Secret créé après le Deployment, qui laisse les pods en CreateContainerConfigError. Pour chaque problème, faites appliquer le réflexe kubectl describe pod, puis kubectl get endpointslices. [POUR CEUX QUI ONT FINI] Faites-leur modifier le message de la ConfigMap, constater que rien ne change, puis lancer kubectl rollout restart deployment podinfo. [À LA FIN] Ouvrez l'interface podinfo à l'écran et rafraîchissez : le nom du pod affiché change, la répartition de charge est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Quatre idées à retenir. ConfigMap pour les paramètres, Secret pour les données sensibles : une seule image pour tous les environnements. Variables d'environnement : lues au démarrage seulement. Volumes : mis à jour, sauf avec subPath. Un Secret est encodé, pas chiffré : protégez-le par le RBAC, le chiffrement d'etcd et un coffre-fort externe. Ne versionnez jamais un Secret en clair. [QUESTIONS] 1. ConfigMap modifiée, consommée par envFrom : que voient les pods en cours ? Réponse : rien, les variables sont lues au démarrage. Il faut kubectl rollout restart. 2. Pourquoi le droit list sur les Secrets est-il aussi sensible que get ? Réponse : list renvoie les objets complets, valeurs comprises. 3. data ou stringData ? Réponse : data attend des valeurs en base64 ; stringData du texte clair, encodé par l'API. 4. Deux façons d'éviter les Secrets en clair dans Git ? Réponse : Sealed Secrets, SOPS, ou un coffre-fort externe synchronisé par External Secrets Operator. [TRANSITION] L'application est en place. Faisons-la vivre : mises à jour, probes, puis diagnostic.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Mettre à jour une application sans coupure, savoir revenir en arrière, et dire à Kubernetes quand un pod est prêt. Puis les autres formes de travail : Job, CronJob, DaemonSet. Mène au TP6 de 13:00 (70 minutes). [DIRE] Module 9 : le cycle de vie des applications. Un Deployment met à jour ses pods pas à pas, et sait revenir en arrière. Les probes lui disent quand un pod est prêt, ou quand il est bloqué. Et pour ce qui n'est pas une application web qui tourne en continu, il existe d'autres contrôleurs : Job, CronJob et DaemonSet. C'est ici que Kubernetes montre sa valeur en exploitation : des mises à jour qui ne coupent pas le service. [TRANSITION] Comment un Deployment remplace-t-il ses pods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rollout, c'est-à-dire une mise à jour progressive, se déclenche dès que le modèle de pod change : l'image, une variable, un label du modèle, les ressources. Attention : changer le nombre de réplicas n'en déclenche pas, c'est une simple mise à l'échelle. Deux paramètres règlent la vitesse du remplacement. maxSurge : combien de pods en plus du nombre voulu, au maximum. maxUnavailable : combien de pods peuvent manquer, au maximum. [MONTRER] L'exemple : 4 réplicas, avec les valeurs par défaut de 25 %. maxSurge est arrondi au supérieur : 25 % de 4, c'est 1, donc au plus 5 pods. maxUnavailable est arrondi à l'inférieur : 1 aussi, donc au moins 3 pods disponibles à tout moment. À droite, trois réglages typiques. maxSurge 1 et maxUnavailable 0 : jamais moins de pods que voulu. Mais il faut de la place dans le cluster pour un pod de plus. maxSurge 0 et maxUnavailable 1 : aucune ressource en plus, mais la capacité est réduite d'un pod pendant la mise à jour. Le défaut, 25 % et 25 % : un compromis entre vitesse et capacité. En bas, l'autre stratégie : Recreate. On arrête tout, puis on recrée tout. Il y a donc une coupure. On la réserve aux cas où deux versions ne peuvent pas coexister, ou quand un volume ne peut être monté que par un seul pod à la fois. [DEMANDER] Avec 10 réplicas et les valeurs par défaut : combien de pods au maximum, combien disponibles au minimum ? Laissez chercher : la réponse est au bilan. [TRANSITION] Comment déclencher et suivre une mise à jour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Les commandes pour piloter une mise à jour. kubectl set image change l'image : cela déclenche le rollout. Pour garder une trace, on annote avec kubernetes.io/change-cause : le motif s'affichera dans l'historique. kubectl rollout status suit la mise à jour jusqu'au bout. rollout history liste les révisions et leur cause ; avec --revision, le détail d'une révision. rollout undo revient à la révision précédente ; avec --to-revision, à une révision précise. rollout pause et resume permettent de grouper plusieurs changements en un seul rollout. Et rollout restart redémarre progressivement tous les pods, sans changer le modèle. C'est la commande vue au module 8 pour relire une ConfigMap. À gauche en bas, les révisions. Chaque révision correspond à un ReplicaSet conservé, 10 par défaut. Un retour arrière ne reconstruit rien : il réactive simplement l'ancien ReplicaSet. C'est pour cela qu'il est si rapide. À droite, la mise à jour bloquée. Si les nouveaux pods ne deviennent jamais prêts, par exemple une image introuvable, les anciens continuent de servir. Après 600 secondes, le Deployment signale ProgressDeadlineExceeded. Mais attention : Kubernetes ne revient pas en arrière tout seul. C'est à vous de lancer rollout undo. [ASTUCE] Rappelez que set image est une commande impérative : la nouvelle version doit être reportée dans le fichier, sinon le prochain apply reviendra à l'ancienne (module 6). [TRANSITION] Comment Kubernetes sait-il qu'un nouveau pod est prêt ? Grâce aux probes.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Une probe est un test que le kubelet exécute régulièrement sur un conteneur. Il en existe trois, et chacune répond à une question différente. La startupProbe : l'application a-t-elle fini de démarrer ? Tant qu'elle échoue, les autres probes attendent. Au-delà du seuil d'échecs, le conteneur est redémarré. La readinessProbe : l'application peut-elle recevoir du trafic maintenant ? En cas d'échec, le pod est retiré des Services, mais il n'est pas redémarré. Il reviendra dans la répartition dès qu'il sera de nouveau prêt. La livenessProbe : l'application est-elle bloquée sans espoir de rétablissement ? En cas d'échec, le conteneur est redémarré. C'est la plus brutale, d'où la carte sombre. Quatre mécanismes de test, en bas : httpGet, réussi si le code de réponse est entre 200 et 399 ; tcpSocket, réussi si le port accepte la connexion ; exec, réussi si la commande renvoie 0 ; et grpc. [ASTUCE] Une façon de retenir : startup protège le démarrage, readiness gère le trafic, liveness redémarre. [TRANSITION] Comment les configurer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Voici les trois probes configurées sur podinfo. La startupProbe interroge /healthz toutes les 2 secondes, et tolère 30 échecs : l'application a jusqu'à 60 secondes pour démarrer. La readinessProbe interroge /readyz toutes les 5 secondes. La livenessProbe interroge /healthz toutes les 10 secondes, et redémarre le conteneur après 3 échecs consécutifs. À droite, les paramètres communs et leurs valeurs par défaut. initialDelaySeconds, 0 : l'attente avant le premier test. periodSeconds, 10 : l'intervalle entre deux tests. timeoutSeconds, 1 : le délai de réponse. Une seconde, c'est court pour une application chargée. failureThreshold, 3 : le nombre d'échecs consécutifs avant de conclure à un échec. successThreshold, 1 : le nombre de succès consécutifs avant de conclure à un succès. [SI ON VOUS DEMANDE] « Pourquoi deux chemins, /healthz et /readyz ? » Parce que les deux questions sont différentes. /healthz répond « le processus vit », /readyz répond « je peux servir des requêtes maintenant ». podinfo les distingue, c'est une bonne pratique à demander aux développeurs. [TRANSITION] Quelques règles pratiques pour bien les utiliser.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IMPORTANT] La règle de la carte du haut est une source classique d'incidents graves. [DIRE] Une liveness ne teste que le processus lui-même, jamais une dépendance. Imaginez une liveness qui vérifie la base de données. La base tombe : toutes les liveness échouent, et Kubernetes redémarre tous les pods, en boucle. L'application ne revient pas, et l'incident s'aggrave. Trois autres règles. La readiness, elle, peut tenir compte de ce dont l'application a besoin : un cache chargé, une connexion établie. Si la dépendance manque, le pod sort simplement de la répartition. Pour un démarrage lent : une startupProbe, plutôt qu'un long initialDelaySeconds sur la liveness. Sans readiness, un pod reçoit du trafic avant d'être prêt : des erreurs à chaque mise à jour. En bas à gauche, l'état CrashLoopBackOff. Un conteneur en erreur est relancé avec un délai croissant : 10 secondes, 20, 40, jusqu'à un plafond de 5 minutes. La colonne RESTARTS compte les redémarrages. En bas à droite, comment obtenir zéro erreur pendant un rollout. À l'arrivée d'un nouveau pod, la readiness retient le trafic tant qu'il n'est pas prêt. Au départ d'un ancien pod, une courte pause preStop laisse aux règles réseau le temps de se mettre à jour, avant que le processus reçoive SIGTERM. [TRANSITION] Changeons de forme de travail : les tâches qui se terminent.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Deployment fait tourner une application en continu. Un Job, lui, exécute un ou plusieurs pods jusqu'à leur terme : traitement par lots, calcul, migration, sauvegarde. Un Job réussi n'est pas relancé. [MONTRER] Les paramètres du Job, ligne par ligne. completions: 5 : il faut 5 exécutions réussies au total. parallelism: 2 : 2 pods en même temps. backoffLimit: 4 : le nombre d'échecs tolérés avant d'abandonner, 6 par défaut. activeDeadlineSeconds: 3600 : la durée maximale du Job, une heure. ttlSecondsAfterFinished: 86400 : le Job est supprimé automatiquement 24 heures après la fin. Et dans le modèle de pod, restartPolicy: Never, ou OnFailure, mais jamais Always : un pod qui redémarre toujours ne se terminerait jamais. À droite, kubectl get jobs pour suivre, et kubectl logs job/calcul-indices pour lire le résultat. En bas, pour découper un travail : un Job indexé, avec completionMode: Indexed, donne à chaque pod un numéro dans la variable JOB_COMPLETION_INDEX. Chaque pod traite ainsi sa part des données. [DEMANDER] Quels traitements de votre service tournent aujourd'hui en tâche planifiée ou en batch ? Ce sont des candidats aux Jobs et CronJobs. [TRANSITION] Et pour une tâche planifiée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CronJob crée un Job selon un planning, comme la crontab de Linux. [MONTRER] La lecture du planning, en haut : 30, la minute ; 2, l'heure ; étoile, tous les jours du mois ; étoile, tous les mois ; 1-5, du lundi au vendredi. Soit : à 2 h 30, les jours ouvrés. Dans le YAML, quatre points à retenir. Le schedule entre guillemets, c'est indispensable : sans guillemets, l'étoile serait comprise comme un alias YAML. C'est le piège vu au module 6. timeZone: "Europe/Paris" : sinon, c'est le fuseau du control plane qui s'applique. concurrencyPolicy: Forbid : que faire si l'exécution précédente n'est pas finie ? Allow lance quand même, Forbid saute l'exécution, Replace remplace l'ancienne. successfulJobsHistoryLimit et failedJobsHistoryLimit : combien de Jobs terminés garder pour consultation. Et jobTemplate, le modèle du Job à créer. À droite, les commandes utiles. kubectl get cronjobs. Pour tester sans attendre 2 h 30 : kubectl create job test --from=cronjob/export-nocturne déclenche une exécution immédiate. Et kubectl patch avec suspend: true suspend le CronJob, par exemple pendant une maintenance. [TRANSITION] Quel contrôleur choisir pour quel besoin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gauche, le tableau de choix. Il suffit de partir du besoin. Une application web ou une API sans état : un Deployment. Une base de données, ou un service qui a besoin d'une identité et d'un stockage stables : un StatefulSet. Nous le verrons au module 16. Un pod sur chaque nœud : un DaemonSet. Une tâche qui se termine : un Job. Une tâche planifiée : un CronJob. À droite, le DaemonSet, que nous n'avons pas encore détaillé. Il fait tourner un pod sur chaque nœud, ou sur chaque nœud sélectionné par un nodeSelector. Quand un nœud rejoint le cluster, il reçoit automatiquement son pod. Vous en utilisez déjà : calico-node et kube-proxy sont des DaemonSets. Les autres usages typiques sont les agents de collecte de logs et les exportateurs de métriques système. [DÉMO] kubectl get daemonsets -A montre les DaemonSets du cluster. Et kubectl get pods -n calico-system -o wide -l k8s-app=calico-node montre un pod calico-node par nœud, y compris sur le control plane, grâce à sa tolérance (module 5). [TRANSITION] Passons à la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LE TP] TP6, 70 minutes, sections 9.1 à 9.4. [DIRE] Trois étapes. D'abord, mettre à jour podinfo en version 6.7.1, et suivre le rollout. Ensuite, provoquer volontairement une mise à jour ratée, par exemple avec un tag d'image qui n'existe pas, et revenir en arrière. Enfin, ajouter des readiness et liveness probes. Le point de contrôle : podinfo en 6.7.1, 3 pods sur 3 READY, et au moins 3 révisions dans rollout history. [PENDANT LE TP] Pendant la mise à jour ratée, faites observer deux choses : l'application continue de répondre, parce que les anciens pods restent en place ; et Kubernetes ne revient pas en arrière seul. Faites lancer kubectl get pods -w dans un second terminal pendant chaque rollout : voir les pods se remplacer un par un est très parlant. Rappelez d'annoter change-cause pour avoir un historique lisible. [ERREURS FRÉQUENTES] Une probe sur le mauvais port ou le mauvais chemin, qui laisse les pods en 0/1 ou en redémarrage ; une indentation fausse sous httpGet. [À LA FIN] Demandez : pourquoi l'application répondait-elle encore pendant la mise à jour ratée ? C'est la question 2 du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Cinq idées à retenir. Toute modification du modèle de pod déclenche un rollout ; kubectl rollout undo réactive l'ancien ReplicaSet. maxSurge et maxUnavailable règlent le compromis entre vitesse, capacité et ressources. Readiness retire du trafic, liveness redémarre, startup protège les démarrages lents. Une liveness ne teste jamais une dépendance. Kubernetes ne revient pas en arrière tout seul après une mise à jour ratée. Job pour une tâche finie, CronJob pour une tâche planifiée, avec le planning entre guillemets, DaemonSet pour un pod par nœud. [QUESTIONS] 1. 10 réplicas, valeurs par défaut : combien de pods au maximum, combien disponibles au minimum ? Réponse : au plus 13 pods, 10 plus 25 % arrondi à 3 ; au moins 8 disponibles, 25 % arrondi à 2. 2. Pourquoi l'application répond-elle toujours pendant un rollout vers une image introuvable ? Réponse : grâce à maxUnavailable, d'anciens pods prêts restent en place ; les nouveaux, jamais prêts, ne reçoivent pas de trafic. 3. Une liveness qui interroge la base de données, et la base tombe ? Réponse : tous les pods redémarrent en boucle, et l'incident s'aggrave. 4. Exécuter immédiatement un CronJob ? Réponse : kubectl create job test --from=cronjob/&lt;nom&gt;. [TRANSITION] Quand quelque chose ne va pas, comment trouver la cause ? C'est le module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Donner une méthode de diagnostic systématique, et les outils pour aller plus loin. Mène au TP7 de 14:30, une chasse aux pannes en binômes. [DIRE] Module 10 : surveiller et diagnostiquer. Une bonne nouvelle : presque toutes les pannes se résolvent avec quatre commandes, dans cet ordre. get, describe, logs, events. Ce module donne la méthode, le sens de chaque état d'un pod, puis les outils pour aller plus loin : debug, métriques, diagnostic réseau et nœud. [ASTUCE] Si vous ne deviez retenir qu'une diapositive de ce module, ce serait la suivante. Elle servira dès le TP7, et ensuite dans votre quotidien. [TRANSITION] La méthode.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Quatre commandes, toujours dans le même ordre. Un, kubectl get : quel objet est en anomalie ? Lisez les colonnes READY, STATUS et RESTARTS. Deux, kubectl describe : lisez la section Events, tout en bas de la sortie. Elle donne la cause dans la majorité des cas. C'est le réflexe numéro un. Trois, kubectl logs : ce que l'application a écrit. Y compris avant son dernier plantage, avec l'option --previous. Quatre, kubectl events : la chronologie de tout le namespace, pour les problèmes qui touchent plusieurs objets. Et cinq, si besoin : exec, port-forward ou debug, pour observer de l'intérieur. En bas, une seconde méthode, pour les problèmes d'accès. On descend la chaîne, dans l'ordre. Le Service. L'EndpointSlice : le Service a-t-il des pods derrière lui ? Les pods : sont-ils prêts ? Le conteneur : répond-il sur le bon port ? Puis le nœud. [ASTUCE] Cette chaîne reprend exactement le parcours d'une requête vu au module 7 : Service, EndpointSlice, kube-proxy, pod. Un diagnostic, c'est remonter ce parcours. [TRANSITION] La première commande, get, donne un état. Que signifie-t-il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En haut, la sortie de kubectl get pods. Trois pods, trois situations. Le premier : 1/1 Running, tout va bien. Le deuxième : Running, mais READY à 0/1, en orange. Le conteneur tourne, mais il n'est pas prêt : sa readiness échoue. Ce pod ne reçoit pas de trafic. C'est un piège classique : Running ne veut pas dire que tout va bien. Le troisième : CrashLoopBackOff, avec 6 redémarrages, le dernier il y a 2 minutes. La colonne READY compte les conteneurs prêts sur le total. Le tableau donne, pour chaque état, sa signification, ses causes fréquentes, et la première commande à lancer. Pending : le pod n'est pas encore placé sur un nœud. Causes : ressources insuffisantes, taint non tolérée, nodeSelector impossible, volume non lié, quota. Première commande : describe pod, et chercher l'événement FailedScheduling. ContainerCreating : placé, mais le conteneur est en préparation. Téléchargement d'image long, volume impossible à monter, problème CNI. describe pod. ErrImagePull ou ImagePullBackOff : l'image ne peut pas être téléchargée. Tag inexistant, registre privé sans identifiants, limite de téléchargement, pas d'accès Internet. describe pod donne le message du registre. CrashLoopBackOff : le conteneur démarre puis s'arrête en boucle. Erreur applicative, configuration manquante, liveness trop stricte. Première commande : logs --previous. [ASTUCE] Faites le lien avec le parcours d'un apply du module 2 : Pending bloque au scheduler, ContainerCreating au kubelet, CrashLoopBackOff dans l'application. [TRANSITION] Les autres états à reconnaître.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Suite du tableau, avec des états moins fréquents mais importants. CreateContainerConfigError : la configuration du conteneur ne peut pas être construite. Presque toujours une ConfigMap ou un Secret référencé qui n'existe pas. describe pod. RunContainerError ou StartError : le runtime n'a pas pu lancer la commande. Exécutable introuvable, ou problème de droits. OOMKilled, visible dans Last State : le conteneur a été tué pour avoir dépassé sa limite mémoire. Limite trop basse, ou fuite mémoire. describe pod et kubectl top pod. Nous approfondirons au module 11. Running mais 0/1 : la readiness échoue. Application pas prête, mauvais chemin ou mauvais port de probe. describe pod affiche « Readiness probe failed ». Terminating qui dure : la suppression est bloquée. Nœud injoignable, ou finalizer non levé, nous verrons les finalizers au module 13. Evicted : le pod a été expulsé par le kubelet, à cause d'une pression mémoire ou disque sur le nœud. describe node. Et Completed : terminé avec succès. C'est normal pour un Job. [CONSEIL] Proposez aux stagiaires de photographier ces deux tableaux : ils serviront de corrigé mental pendant le TP7. [TRANSITION] La troisième et la quatrième commande : logs et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Les logs d'abord. Kubernetes récupère ce que les conteneurs écrivent sur leur sortie standard et leur sortie d'erreur. Une application conteneurisée doit donc journaliser sur la console, pas dans un fichier. Les commandes, de haut en bas : les logs d'un pod ; -f pour suivre en direct, ici un pod du Deployment ; -l pour tous les pods d'un label, avec --prefix pour afficher leur nom ; --previous pour l'instance précédente, avant le plantage ; -c pour choisir un conteneur dans un pod qui en a plusieurs ; et --since, --tail, --timestamps pour cadrer la période. Les logs sont stockés sur le nœud, avec une rotation par taille, et ils disparaissent avec le pod. En production, un agent comme Fluent Bit les envoie vers un système central, Loki ou Elasticsearch, pour les conserver et les rechercher. Les événements ensuite. Ils racontent ce que les composants ont fait : placement, téléchargement d'image, démarrage, échec de probe, éviction. Ils sont conservés une heure par défaut. kubectl events donne la chronologie du namespace ; --types=Warning seulement les avertissements ; --for un objet précis ; -A -w tout le cluster, en direct. L'ancienne forme, kubectl get events --sort-by, est équivalente. [SI ON VOUS DEMANDE] « Pourquoi kubectl logs ne montre rien sur un pod en CrashLoopBackOff ? » Le conteneur courant vient de redémarrer et n'a encore rien écrit : il faut --previous. [TRANSITION] Et quand il faut observer de l'intérieur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En haut, les commandes pour entrer dans un pod. kubectl exec -it, avec sh : un shell dans le conteneur. exec avec env : les variables réellement reçues. Très utile pour vérifier une ConfigMap. kubectl cp copie un fichier depuis le pod. kubectl port-forward permet de joindre le pod depuis votre machine, sans rien exposer. Mais beaucoup d'images de production ne contiennent ni shell ni outils : ce sont les images distroless vues au module 1. Dans ce cas, kubectl exec échoue. La solution : kubectl debug. Il ajoute dans le pod un conteneur éphémère, équipé d'outils, ici busybox. Ce conteneur partage le réseau du pod, et avec --target, il peut voir les processus du conteneur ciblé. [MONTRER] Le schéma à gauche : le pod contient podinfo, sans shell, et le conteneur de debug ajouté à côté. Deux autres usages de kubectl debug. debug node ouvre un shell sur un nœud, avec son disque monté sous /host : pratique quand on n'a pas d'accès SSH. Et --copy-to crée une copie du pod avec une autre commande, pour investiguer sans toucher à l'original. [TRANSITION] Pour aller au-delà de l'instant, il faut des métriques.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metrics-server est l'add-on qui donne la consommation du moment. Il collecte, toutes les quinze secondes environ, la consommation CPU et mémoire auprès des kubelets. Il alimente kubectl top, et l'autoscaling du module 14. Et il ne garde aucun historique : c'est l'instant présent. Les unités, au milieu. Le CPU s'exprime en millicores : 250m, c'est un quart de cœur. La mémoire en Mi ou Gi, mebioctets et gibioctets. En bas, l'installation et l'usage. On l'installe avec un kubectl apply du manifeste officiel. Une subtilité sur kubeadm : les certificats des kubelets sont auto-signés, il faut ajouter l'option --kubelet-insecure-tls. C'est ce que vous ferez au TP7. Ensuite, kubectl top nodes, kubectl top pods triés par mémoire, et top pod --containers pour le détail par conteneur. [INSISTER] metrics-server est indispensable pour l'autoscaling de demain. Le point de contrôle du TP7 vérifie qu'il fonctionne. [TRANSITION] En production, on va plus loin.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En production, on déploie une chaîne de supervision complète, souvent installée avec le chart Helm kube-prometheus-stack. [MONTRER] Suivez le flux de gauche à droite. À gauche, les sources de métriques. node-exporter, un DaemonSet, donne les métriques système de chaque nœud. kube-state-metrics donne l'état des objets Kubernetes : réplicas voulus et disponibles, pods en erreur. Et les applications et les composants exposent leurs propres métriques. Au centre, Prometheus collecte et stocke ces métriques. À droite, les usages. Grafana affiche les tableaux de bord. Alertmanager envoie les alertes, par messagerie ou vers l'astreinte. En bas, que surveiller ? Pour une application, trois questions : combien de requêtes, combien d'erreurs, quel temps de réponse. Pour l'infrastructure : l'utilisation, la saturation et les erreurs de chaque ressource. [SI ON VOUS DEMANDE] « Et les logs ? » Ce n'est pas la même chaîne : Fluent Bit vers Loki ou Elasticsearch, vu sur la diapositive des logs. Grafana sait afficher les deux. [TRANSITION] Revenons au diagnostic, côté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Quand un Service ne répond pas, on descend la chaîne avec ces commandes. kubectl get endpointslices avec le label du Service : le Service a-t-il des pods derrière lui ? Si c'est vide, le problème est entre le Service et les pods. kubectl get pods avec --show-labels : les labels des pods correspondent-ils au selector du Service ? Puis on lance un pod de test busybox, temporaire. Depuis ce pod, trois tests, dans l'ordre. nslookup podinfo : le DNS répond-il ? wget vers http://podinfo:9898 : le Service répond-il ? nc -zv vers l'IP d'un pod, sur le port 9898 : le pod répond-il directement ? En bas, comment interpréter les résultats. Si le pod répond en direct mais pas via le Service : vérifiez le selector ou le targetPort. Si rien ne répond depuis un autre namespace : cherchez une NetworkPolicy, au module 15. Si le DNS échoue : regardez l'état des pods CoreDNS dans kube-system. [TRANSITION] Et quand c'est un nœud qui pose problème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Deux niveaux de diagnostic pour un nœud. Depuis kubectl, la commande kubectl describe node. Elle montre les conditions, MemoryPressure, DiskPressure, Ready, la capacité, les pods placés, et les événements du nœud. C'est ce que nous avons vu au module 5. Sur le nœud lui-même, en SSH, quand kubectl ne suffit plus. systemctl status kubelet : le kubelet tourne-t-il ? journalctl -u kubelet -f : ses messages, en direct. journalctl -u containerd pour le runtime, sur les dix dernières minutes par exemple. sudo crictl ps -a : les conteneurs, y compris arrêtés. crictl fonctionne même si le control plane est en panne. df -h sur /var/lib/containerd : l'espace disque occupé par les images. Un disque plein est une cause fréquente de pression et d'évictions. [RÈGLE] Un nœud NotReady : regardez d'abord le kubelet, puis containerd. Dans la grande majorité des cas, la cause est là. [TRANSITION] À vous de jouer les détectives.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LE TP] TP7, 60 minutes, en binômes. Avant de lancer, déployez les pannes préparées sur les clusters. [DIRE] Première étape : installer metrics-server. Puis vous allez diagnostiquer, en binômes, des pannes que j'ai déployées sur votre cluster, avec la méthode de ce module : get, describe, logs, events. Les 4 premières pannes sont pour tout le monde, les 2 dernières sont en bonus. Une règle du jeu : le tableau des pannes, sur la diapositive suivante, sert de corrigé. Ne le lisez qu'après. Le point de contrôle : kubectl top nodes répond. C'est indispensable pour l'autoscaling de demain. [PENDANT LE TP] Ne donnez pas les réponses. Posez plutôt la question suivante de la méthode : « qu'indique la colonne STATUS ? », « qu'y a-t-il dans les Events ? », « l'EndpointSlice est-il vide ? ». Faites noter, pour chaque panne, le symptôme, la commande qui a révélé la cause, et la correction. [FIN DE JOURNÉE] Rappelez le programme : à 15:30, temps de rattrapage, puis quiz à 15:45.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À afficher seulement après le TP7. Faites raconter chaque panne par un binôme différent avant de montrer la ligne. [DIRE] Reprenons les six pannes, avec leur symptôme, ce qui les révèle, et la correction. Un tag d'image inexistant : ImagePullBackOff. describe pod indique image not found. On corrige le tag. Des labels différents entre le Service et les pods : le Service ne répond pas. L'EndpointSlice est vide. On aligne le selector et les labels. Une demande de 8 CPU : le pod reste Pending. describe pod indique Insufficient cpu. On réduit la demande. Nous verrons demain pourquoi le scheduler raisonne sur les demandes. Une commande erronée : CrashLoopBackOff. describe pod indique executable file not found. On corrige la commande. Une ConfigMap absente : CreateContainerConfigError. describe pod indique configmap not found. On crée la ConfigMap, ou on corrige la référence. Une readiness sur le mauvais port : Running, mais 0/1. describe pod indique connection refused. On corrige le port de la probe. [À FAIRE REMARQUER] Dans cinq cas sur six, c'est describe pod, section Events, qui donne la cause. La sixième, on la trouve en descendant la chaîne réseau. [TRANSITION] Le bilan du module, et de la journée.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Cinq idées à retenir. get, describe avec sa section Events, logs --previous, events : dans cet ordre. Chaque état de pod oriente vers une famille de causes ; Pending concerne le placement, CrashLoopBackOff l'application. Les logs disparaissent avec le pod : centralisez-les en production. kubectl debug ajoute des outils à un pod qui n'en a pas. metrics-server donne l'instant présent ; Prometheus et Grafana donnent l'historique et les alertes. [QUESTIONS] 1. Un pod en CrashLoopBackOff : pourquoi kubectl logs peut-il ne rien montrer ? Réponse : le conteneur courant vient de redémarrer et n'a encore rien écrit ; utilisez --previous. 2. Un pod reste Pending : trois causes et la commande qui les distingue ? Réponse : ressources insuffisantes, taint non tolérée, PVC non lié, nodeSelector impossible ; kubectl describe pod affiche la raison, FailedScheduling. 3. Le Service ne répond pas, mais curl sur l'IP d'un pod fonctionne : où chercher ? Réponse : dans le selector du Service, les labels des pods et le targetPort ; vérifier l'EndpointSlice. 4. Un shell dans un pod sans shell ? Réponse : kubectl debug, qui ajoute un conteneur éphémère équipé. [CLÔTURE DU JOUR 2] Temps de rattrapage à 15:30, puis quiz à 15:45. Demain : encadrer, sécuriser et faire grandir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Vérifiez que l'application fil rouge tourne toujours chez chacun, et que kubectl top nodes répond : l'autoscaling de ce matin en dépend. [DIRE] Bonjour à tous. Dernier jour : encadrer, sécuriser, faire grandir. Nous allons préparer l'application pour la production : ressources, extensions, autoscaling, sécurité et persistance. Et nous terminerons par la migration de vos propres applications. Le programme est dense, avec un TP par module. Modules 11 et 12, ressources puis labels et stratégies de déploiement, avec le TP8 à 09:25, 45 minutes : quotas et labels. Module 13, contrôleurs, opérateurs et Helm, avec le TP9 à 10:25, 30 minutes, guidé : Helm et cert-manager. Module 14, l'autoscaling, avec le TP10 à 11:15, 30 minutes. Module 15, la sécurité, avec le TP11 à 13:20, 50 minutes. Module 16, les volumes, avec le TP12 à 14:15, 45 minutes : rendre Redis persistant. Puis l'atelier de synthèse, avec le TP13 à 15:00 : appliquer tout cela à vos propres applications. Et à 15:30, la fin de la formation : QCM final, bilan et évaluation à chaud. [TRANSITION] Commençons par les ressources.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Comprendre requests et limits, leurs effets sur le placement et en cas de dépassement, et encadrer un namespace avec LimitRange et ResourceQuota. Préparé ici, pratiqué au TP8 de 09:25. [DIRE] Module 11 : gérer les ressources. Deux notions au cœur du module. Les requests réservent des ressources et guident le placement. Les limits plafonnent la consommation. Et au niveau d'un namespace entier, deux objets encadrent les équipes : une LimitRange fixe des valeurs par défaut, une ResourceQuota fixe un budget total. Bien réglés, ces mécanismes évitent qu'une application mal dimensionnée dégrade tout le cluster. [DEMANDER] Qui a déjà vu un serveur saturé par une seule application qui consommait toute la mémoire ? C'est exactement ce que ce module évite. [TRANSITION] Commençons par la différence entre requests et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gauche, un conteneur avec ses ressources. Deux blocs. requests : ce qui est réservé. 100m de CPU, soit 0,1 cœur, et 128 Mi de mémoire. limits : le plafond. Au plus un demi-cœur de CPU, et 128 Mi de mémoire. Au-delà de la limite mémoire : arrêt immédiat. Le tableau à droite résume la différence. Qui les utilise ? Les requests sont utilisées par le scheduler ; les limits par le noyau, via les cgroups du module 1. Ce qu'elles signifient : la request, c'est ce dont le conteneur a besoin pour bien fonctionner ; la limit, ce qu'il ne doit jamais dépasser. L'effet sur le placement : un pod ne va que sur un nœud où la somme des requests reste sous la capacité allouable. Les limits n'ont aucun effet sur le placement. En fonctionnement : la request garantit une part de CPU quand le nœud est saturé. Dépasser la limit CPU ralentit ; dépasser la limit mémoire arrête le conteneur. En bas, les unités. CPU : 1, c'est un vCPU ; 500m, c'est un demi. Mémoire : préférez les suffixes binaires Mi et Gi aux décimaux M et G. Et n'oubliez jamais l'unité : memory: 128 signifie 128 octets ! Et le point essentiel, à droite : le scheduler raisonne sur les requests déclarées, pas sur la consommation réelle. Un nœud à 10 % de CPU peut être « plein » si ses pods ont tout réservé. [TRANSITION] Que se passe-t-il exactement quand on dépasse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Lisez ce tableau colonne par colonne, de gauche à droite : plus on va à droite, plus c'est grave. [DIRE] Deux lignes : le CPU et la mémoire. Trois zones : jusqu'à la request, entre la request et la limit, au-delà de la limit. Pour le CPU. Jusqu'à la request : une part garantie quand le nœud est saturé. Entre request et limit : autorisé, si le nœud a du CPU libre. Au-delà de la limit : le conteneur est bridé, c'est le throttling. Il ralentit, mais il continue. Pour la mémoire. Jusqu'à la request : réservée au conteneur. Entre request et limit : autorisé, mais le pod devient candidat à l'éviction si le nœud manque de mémoire. Au-delà de la limit : le conteneur est tué. OOMKilled, code de sortie 137, puis redémarré. Pourquoi cette différence ? En bas : le CPU est une ressource compressible, on peut en donner moins à un processus, il ira simplement plus lentement. La mémoire ne l'est pas : on ne peut pas reprendre de la mémoire déjà allouée sans arrêter le processus. [ASTUCE] Vous provoquerez un OOMKilled volontairement au TP8 : observez la colonne RESTARTS et la section Last State de describe pod. [TRANSITION] Quand un nœud manque de mémoire, quels pods sont expulsés en premier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Kubernetes range chaque pod dans une classe de qualité de service, une classe QoS, selon ce qu'il déclare. Cette classe fixe l'ordre d'éviction quand un nœud manque de mémoire. Numéro 1, expulsé en premier : BestEffort. Le pod ne déclare aucune request ni limit. Numéro 2, expulsé en second : Burstable. Au moins une request ou une limit, sans remplir la condition de Guaranteed. Parmi eux, ceux qui dépassent le plus leurs requests partent d'abord. Numéro 3, expulsé en dernier : Guaranteed. Chaque conteneur a des requests égales à ses limits, pour le CPU et pour la mémoire. En bas, la commande pour voir la classe de chaque pod, avec custom-columns. [DEMANDER] Quelle est la classe QoS d'un pod qui déclare seulement requests.memory: 128Mi ? Réponse : Burstable. Il a une request, mais pas de limits égales. [CONSEIL] Les applications critiques, comme une base de données, gagnent à être en Guaranteed. [TRANSITION] Comment bien choisir ces valeurs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Cinq règles pour bien dimensionner. Un : toujours déclarer des requests. Sans elles, le scheduler empile les pods à l'aveugle, et l'autoscaling du module 14 ne fonctionne pas. Deux : mesurer avant de fixer. Observer la consommation réelle avec kubectl top ou Prometheus, sur une période représentative, puis fixer les requests un peu au-dessus de l'usage habituel. Trois : pour la mémoire, limit égale à la request. Le pod ne consomme jamais plus que ce qui lui est réservé, et les arrêts pour manque de mémoire deviennent prévisibles. Quatre : pour le CPU, une limit généreuse, ou pas de limit. Une limit CPU trop basse ralentit l'application même quand le nœud est inactif. Beaucoup d'équipes ne fixent que la request CPU ; d'autres imposent une limit pour la prévisibilité. Choisissez en connaissance de cause. Cinq : pour les applications Java, Node.js et Python, vérifiez que leur gestion mémoire tient compte de la limit du conteneur. Sinon, elles la dépassent et sont tuées. La carte sombre : le surengagement. La somme des limits d'un nœud peut dépasser sa capacité. C'est acceptable pour le CPU, risqué pour la mémoire. Et une nouveauté : les versions récentes permettent de modifier les requests et limits d'un pod en fonctionnement, sans le recréer. [SI ON VOUS DEMANDE] « Faut-il mettre une limit CPU ou non ? » Il n'y a pas de réponse universelle, c'est la règle quatre : sans limit, l'application profite du CPU libre ; avec, son comportement est plus prévisible. L'important est la request. [TRANSITION] Comment imposer ces règles à toute une équipe ? Avec une LimitRange.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Une LimitRange s'applique à un namespace. Elle donne des valeurs par défaut et des bornes à chaque conteneur. [MONTRER] Le YAML à gauche, pour le namespace equipe-a. defaultRequest : la request ajoutée si le conteneur n'en déclare pas, 100m de CPU et 128 Mi de mémoire. default : la limit ajoutée si elle est absente, 200m et 128 Mi. max : au-delà, le pod est refusé. 1 CPU et 512 Mi. min : en dessous, refusé aussi. À droite, ses trois comportements. Elle ajoute les valeurs manquantes, à la création de chaque pod. Elle refuse les valeurs qui sortent des bornes min et max. Et elle n'agit pas sur les pods déjà créés : seulement sur les nouveaux. [ASTUCE] Notez le defaultRequest mémoire de 128 Mi : il est au cœur du calcul du TP8, deux diapositives plus loin. [TRANSITION] La LimitRange agit pod par pod. Pour un budget global, il faut une ResourceQuota.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Une ResourceQuota plafonne la consommation totale d'un namespace : ressources de calcul, stockage, et nombre d'objets. [MONTRER] Le YAML : au total, 1 CPU et 1 Gi de mémoire en requests ; 2 CPU et 2 Gi en limits ; 10 pods ; 5 Services ; 4 volumes persistants ; 20 Gi de stockage ; 5 Deployments. kubectl describe quota affiche, pour chaque ligne, le consommé et l'autorisé. En bas, deux comportements à connaître, sources de surprises. Premier : dès qu'un quota porte sur le CPU ou la mémoire, tout pod du namespace doit déclarer ces ressources, sinon il est refusé. C'est pourquoi on associe toujours une LimitRange, qui fournit des valeurs par défaut. Second : un dépassement de quota ne fait pas échouer le Deployment de façon visible. Le ReplicaSet n'arrive simplement pas à créer ses pods, et l'erreur n'apparaît que dans ses événements : exceeded quota. Le réflexe : kubectl describe replicaset. [TRANSITION] Ces deux objets combinés donnent un résultat parfois surprenant. C'est le calcul du TP8.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calcul du TP8, à garder en tête. Chaque pod reçoit par défaut une request de 128 Mi, fournie par la LimitRange. Le quota autorise 1 Gi de requests mémoire au total. 1 Gi divisé par 128 Mi : 8. Le Deployment plafonne donc à 8 pods. [MONTRER] En bas, les 15 pods demandés : 8 sont créés, en bleu nuit. Les 7 autres sont refusés, avec l'erreur exceeded quota dans les événements du ReplicaSet. Et remarquez : le quota autorisait 10 pods. Ce plafond n'est jamais atteint, c'est la mémoire qui bloque avant. [INSISTER] C'est le point de contrôle du TP8 : chacun doit savoir expliquer ce calcul. Une ResourceQuota s'épuise sur la ressource la plus contrainte, pas forcément sur le nombre de pods. [TRANSITION] Comment organiser tout cela pour plusieurs équipes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modèle d'organisation simple et éprouvé : chaque équipe, ou chaque environnement, reçoit un namespace équipé de cinq objets. Une ResourceQuota : le budget total. Module 11. Une LimitRange : les valeurs par défaut et les bornes. Module 11. Un RoleBinding : les droits de l'équipe, limités à son namespace. Module 15. Une NetworkPolicy : l'isolation réseau par défaut. Module 15. Et des labels Pod Security : le niveau de sécurité imposé aux pods. Module 15 également. Avec ces cinq objets, une équipe est autonome dans son namespace, sans pouvoir déborder sur celui des autres, ni en ressources, ni en droits, ni en réseau. [DEMANDER] Comment découperiez-vous les namespaces chez vous : par équipe, par application, par environnement ? Il n'y a pas de réponse unique ; la question servira à l'atelier. [TRANSITION] Dernier mécanisme du module : les priorités.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Une PriorityClass donne une priorité aux pods. Quand le cluster est plein, le scheduler peut expulser des pods moins prioritaires pour placer un pod plus prioritaire. C'est la préemption. [MONTRER] À droite, une PriorityClass production-critique, avec une valeur de 100000. Plus la valeur est haute, plus la priorité est forte. globalDefault: false : elle ne s'applique pas par défaut à tous les pods. Puis, dans le modèle de pod, on la référence avec priorityClassName. En bas à gauche : deux classes sont réservées au cluster, system-cluster-critical et system-node-critical. Elles protègent les composants du cluster, comme CoreDNS ou le plugin réseau. [ASTUCE] Vous retrouverez la préemption au module 14 : des pods « réservoirs » de très basse priorité occupent de la place, et sont expulsés dès qu'un vrai pod en a besoin. [TRANSITION] Le bilan du module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Cinq idées à retenir. Requests : la réservation utilisée pour le placement ; limits : le plafond appliqué par le noyau. Dépasser sa limit CPU ralentit ; dépasser sa limit mémoire tue, OOMKilled. Les classes QoS fixent l'ordre d'éviction : BestEffort, puis Burstable, puis Guaranteed. LimitRange fournit les valeurs par défaut, ResourceQuota le budget ; les deux vont ensemble. Mesurez avant de dimensionner ; pour la mémoire, limit égale à request. [QUESTIONS] 1. Un nœud affiche 15 % de CPU utilisé mais refuse un pod pour « Insufficient cpu » ? Réponse : le scheduler compte les requests réservées, pas la consommation réelle. 2. La classe QoS d'un pod qui déclare seulement requests.memory: 128Mi ? Réponse : Burstable. 3. Pourquoi un pod sans ressources est-il refusé dans un namespace avec un quota CPU ? Réponse : avec un quota CPU, tout pod doit déclarer ses ressources CPU ; sans LimitRange pour les fournir, il est refusé. 4. Le symptôme d'un dépassement de limit mémoire ? Réponse : le conteneur est tué, OOMKilled, code 137, puis redémarré ; RESTARTS augmente. [TRANSITION] Le TP8 viendra après le module 12, qui traite des labels. Voyons-les maintenant.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Maîtriser labels, sélecteurs et annotations, puis s'en servir pour les stratégies de déploiement blue/green et canary. Démonstration blue/green, puis TP8 à 09:25. [DIRE] Module 12 : labels, annotations et stratégies de déploiement. Les labels sont le lien entre tous les objets. Un Service trouve ses pods, un Deployment ses réplicas, une NetworkPolicy ses cibles : toujours par un sélecteur de labels. Et maîtriser ce mécanisme suffit pour mettre en œuvre, avec les seuls objets natifs, des déploiements blue/green et canary. Je vous montrerai une bascule blue/green en démonstration avant le TP. [TRANSITION] Qu'est-ce qu'un label, exactement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label est une paire clé-valeur attachée à un objet, destinée à l'identifier et à le sélectionner. [MONTRER] L'anatomie d'un label, en trois parties. Le préfixe, facultatif, en forme de nom de domaine, suivi d'une barre oblique : app.kubernetes.io/. Les préfixes kubernetes.io/ et k8s.io/ sont réservés au projet. Le nom : 63 caractères au plus, avec des lettres, des chiffres, des tirets, des tirets bas et des points. Puis la valeur : les mêmes règles, et elle peut être vide. C'est toujours une chaîne : "true", "6.7", entre guillemets. Le piège du typage du module 6. En bas, les commandes. kubectl label avec -l ajoute un label à tous les pods sélectionnés. --overwrite modifie une valeur existante. Un tiret final retire le label. --show-labels affiche les labels, et -L les affiche en colonnes. [TRANSITION] Quels labels utiliser ? Le projet en recommande un jeu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projet recommande un jeu de labels communs, compris par de nombreux outils : Helm, les tableaux de bord, Headlamp. Tous sous le préfixe app.kubernetes.io. name : le nom de l'application, par exemple podinfo. instance : une instance particulière, podinfo-recette. version : la version de l'application, "6.7.1", entre guillemets. component : son rôle dans l'architecture, frontend ou cache. part-of : l'application plus large dont elle fait partie, fil-rouge. managed-by : l'outil qui la gère, helm ou kubectl. En bas : ajoutez aussi vos propres labels d'organisation, par exemple environnement: recette, equipe: diffusion, tier: donnees. Ils serviront pour filtrer, pour les NetworkPolicies, pour les tableaux de bord. [CONSEIL] Définir une convention de labels commune à toutes les équipes est l'une des premières décisions à prendre lors de l'adoption de Kubernetes. [TRANSITION] Pour exploiter les labels, on utilise des sélecteurs.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Deux familles de sélecteurs. Les sélecteurs d'égalité : égal, double égal, différent. Par exemple : -l app=podinfo,tier!=cache, la virgule voulant dire « et ». Les sélecteurs d'ensemble : in, notin, et l'existence. Par exemple : -l 'environnement in (recette,prod),!obsolete'. Les pods dont l'environnement vaut recette ou prod, et qui n'ont pas le label obsolete. Notez les guillemets simples, indispensables dans le shell. Dans les manifestes, deux formes. À gauche, la forme complète, acceptée par les objets récents : Deployment, ReplicaSet, NetworkPolicy, PodDisruptionBudget, Job. Avec matchLabels pour l'égalité, et matchExpressions pour les ensembles, ici environnement In recette ou prod. À droite, la forme du Service : un simple dictionnaire, l'égalité uniquement. Les objets plus anciens ne connaissent que l'égalité. [DEMANDER] Comment écrire le sélecteur des pods dont l'environnement vaut recette ou prod, sans le label obsolete ? C'est celui de la carte de droite : -l 'environnement in (recette,prod),!obsolete'. [TRANSITION] Qui utilise ces sélecteurs ? Presque tout le monde.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même mécanisme sert partout. Chaque objet trouve ses cibles par un sélecteur de labels. Un Service sélectionne les pods vers lesquels envoyer le trafic. Un Deployment, un ReplicaSet, un StatefulSet, un DaemonSet sélectionnent les pods qu'ils gèrent. Une NetworkPolicy sélectionne les pods protégés, et les sources autorisées. Un PodDisruptionBudget sélectionne les pods protégés pendant les maintenances. nodeSelector et les affinités sélectionnent des nœuds. Et kubectl -l sélectionne ce que vous affichez ou modifiez. [ASTUCE] Conséquence pratique : une faute de frappe dans un label casse silencieusement le lien entre deux objets. C'est la panne « Service sans endpoint » du TP7. Les labels méritent autant de soin que le code. [TRANSITION] Les labels ont un cousin, non sélectionnable : les annotations.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Une annotation est aussi une paire clé-valeur, mais elle n'est pas sélectionnable. Elle sert à documenter l'objet ou à configurer un outil. Sa valeur peut être longue : jusqu'à 256 Kio pour l'ensemble des annotations d'un objet. Le tableau montre des annotations que vous avez déjà croisées. kubernetes.io/change-cause : posée par vous, elle donne le motif d'une révision dans rollout history. Module 9. deployment.kubernetes.io/revision : posée par le contrôleur Deployment, le numéro de révision. kubectl.kubernetes.io/last-applied-configuration : posée par kubectl apply, la dernière version appliquée, pour calculer les différences. C'est le mécanisme vu au module 6. kubectl.kubernetes.io/restartedAt : posée par rollout restart. En changeant le modèle de pod, elle force un nouveau rollout. C'est ainsi que fonctionne rollout restart. Et description ou contact : de la documentation libre. En bas, comment poser une annotation, et comment les lire avec jsonpath. [TRANSITION] Quelques pièges et une astuce avec les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Deux pièges, et une astuce. Premier piège : le sélecteur d'un Deployment ne se modifie pas après création. Il est figé. Choisissez-le minimal et stable : app: podinfo. Jamais un label de version, qui changerait à chaque mise à jour et casserait le Deployment. Deuxième piège : deux Deployments dont les sélecteurs se recouvrent se disputent les mêmes pods. Chaque sélecteur doit être unique. L'astuce : mettre un pod en quarantaine. Vous changez un de ses labels pour qu'il sorte du sélecteur. Que se passe-t-il ? Le ReplicaSet ne le compte plus, et crée un remplaçant. Le Service ne lui envoie plus de trafic. Et le pod isolé reste disponible pour l'analyse : logs, exec, debug. La commande en bas : kubectl label pod, avec app=quarantaine et --overwrite. [SI ON VOUS DEMANDE] « Et ensuite, que faire du pod en quarantaine ? » Une fois l'analyse terminée, on le supprime simplement : plus aucun contrôleur ne le gère. [TRANSITION] Passons aux stratégies de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Quatre stratégies de déploiement. Les petits carrés montrent l'évolution : bleu nuit pour l'ancienne version, orange pour la nouvelle, pointillés pour l'absence de pod. Recreate : tout arrêter, puis tout démarrer. Il y a une coupure. Aucune ressource en plus. Retour arrière : un redéploiement. Rolling update, la stratégie par défaut des Deployments : remplacer progressivement. Pas de coupure, quelques pods en plus. Retour arrière : rollout undo, lui aussi progressif. Blue/green : deux versions complètes en parallèle, et une bascule instantanée du trafic. Pas de coupure, mais le double de ressources. Le retour arrière est instantané : on rebascule. Canary : une petite part du trafic sur la nouvelle version, puis on augmente. Pas de coupure, quelques pods en plus, retour arrière instantané. [DEMANDER] Quel est l'inconvénient principal du blue/green ? Réponse : il faut le double de ressources pendant la bascule. [TRANSITION] Voyons comment faire un blue/green avec un simple Service. C'est la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C'est la démonstration annoncée avant le TP8. Préparez les deux Deployments à l'avance et ouvrez l'interface sur le port 30081. [DIRE] Deux Deployments complets, distingués par un label version. podinfo-blue, en version 6.7.0, avec le label version: blue. podinfo-green, en version 6.7.1, avec version: green. Les deux partagent le label app: podinfo-bg. Le Service podinfo-bg sélectionne l'un ou l'autre. Son selector contient app: podinfo-bg et version: blue : il envoie tout le trafic aux pods blue. Les pods green tournent, mais ne reçoivent rien. [MONTRER] La bascule, en bas : un kubectl patch qui change le selector du Service vers version: green. Instantanément, tout le trafic part sur la nouvelle version. Rafraîchissez l'interface : la version affichée change. Et le retour arrière, c'est la même commande avec blue. [À RETENIR] La bascule consiste uniquement à changer le sélecteur d'un Service. Aucun pod n'est créé ni supprimé au moment de la bascule : c'est pour cela qu'elle est instantanée. [TRANSITION] Le canary repose sur la même idée, mais en partageant le trafic.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canary avec des réplicas. Le Service sélectionne un label commun aux deux versions : app: podinfo. Deux Deployments. podinfo-stable : 9 réplicas, avec les labels app: podinfo et piste: stable. podinfo-canary : 1 réplica, avec app: podinfo et piste: canary. Le Service répartit le trafic entre les 10 pods. Résultat : environ 10 % des requêtes vont à la version canary. Si elle se comporte bien, on augmente progressivement ses réplicas. La limite : la proportion dépend du nombre de pods. Avec 10 pods, on ne peut pas faire mieux qu'1 sur 10. À droite, la solution pour un pourcentage précis, indépendant des réplicas : la Gateway API, vue au module 7. Une HTTPRoute avec deux backends pondérés : 95 pour la version stable, 5 pour la canary. Et en bas : pour automatiser l'augmentation progressive et le retour arrière selon des indicateurs, comme le taux d'erreurs ou la latence, on utilise un outil de « progressive delivery » : Argo Rollouts ou Flagger. [TRANSITION] Place au TP8, qui couvre les modules 11 et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LE TP] TP8, 45 minutes : sections 11.1 à 11.6 et 12.1 à 12.3. La démonstration blue/green a lieu juste avant. [DIRE] Trois parties. D'abord, encadrer un namespace d'équipe avec une ResourceQuota et une LimitRange. Ensuite, provoquer volontairement un OOMKilled. Enfin, poser des labels et des annotations sur l'application fil rouge. Le point de contrôle : savoir expliquer pourquoi le Deployment plafonne à 8 pods. C'est le calcul vu tout à l'heure : 1 Gi de quota divisé par 128 Mi de request par défaut. [PENDANT LE TP] Quand le Deployment s'arrête à 8 pods, laissez chercher : où est l'erreur ? Guidez vers kubectl describe replicaset et l'événement exceeded quota, puis kubectl describe quota. Pour l'OOMKilled, faites observer RESTARTS et la section Last State de describe pod, avec le code de sortie 137. [À LA FIN] Demandez à un stagiaire d'expliquer le calcul à voix haute, pour tout le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Quatre idées à retenir. Les labels servent à identifier et sélectionner ; les annotations à documenter et configurer des outils. Adoptez les labels recommandés app.kubernetes.io. Le sélecteur d'un Deployment est définitif : minimal, stable, sans version. Blue/green, c'est changer le sélecteur d'un Service ; canary, c'est partager un label entre deux Deployments, ou pondérer avec la Gateway API. [QUESTIONS] 1. Pourquoi ne pas mettre version: "6.7.0" dans le sélecteur d'un Deployment ? Réponse : le sélecteur est définitif, alors que la version change à chaque mise à jour. 2. Que se passe-t-il si vous changez le label app d'un pod géré par un ReplicaSet ? Réponse : le pod sort du ReplicaSet, qui crée un remplaçant ; le pod isolé reste, sans trafic. 3. Le sélecteur environnement recette ou prod, sans obsolete ? Réponse : -l 'environnement in (recette,prod),!obsolete'. 4. L'inconvénient principal du blue/green ? Réponse : il faut le double de ressources pendant la bascule. [TRANSITION] Kubernetes sait s'étendre. Voyons comment, avec les opérateurs et Helm.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Comprendre comment Kubernetes s'étend : contrôleurs, CRD, opérateurs ; et installer des applications avec Helm. TP9 guidé à 10:25 : Helm et cert-manager. [DIRE] Module 13 : contrôleurs, opérateurs et Helm. Kubernetes s'étend avec ses propres mécanismes. Une CRD ajoute un nouveau type d'objet à l'API. Un contrôleur le fait vivre. L'ensemble forme un opérateur, qui automatise l'exploitation d'un logiciel. Helm, de son côté, empaquette et installe des applications. Les deux se complètent : on installe souvent un opérateur avec Helm. C'est d'ailleurs ce que vous ferez au TP9, avec cert-manager. [TRANSITION] Tout repose sur un patron que vous connaissez déjà : le contrôleur.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contrôleur est un programme qui surveille certains objets via l'API server, et agit pour que la réalité corresponde à leur spec. C'est la boucle de réconciliation du module 2. Trois propriétés le rendent robuste. Un : il réagit à un état, pas à un événement. S'il manque une notification, il corrige au passage suivant. Deux : ses actions sont idempotentes. Les rejouer ne crée pas de doublon. Trois : il écrit le résultat dans le status de l'objet, que vous pouvez lire. À droite, des contrôleurs intégrés que vous connaissez maintenant, avec ce qu'ils surveillent et ce sur quoi ils agissent. Le contrôleur Deployment surveille les Deployments, et agit sur les ReplicaSets. Le ReplicaSet surveille les ReplicaSets et les pods, et crée ou supprime des pods. Job et CronJob agissent sur les pods et les Jobs. Le contrôleur Node surveille les battements de cœur des nœuds, et agit sur leurs conditions, leurs taints, et les évictions. C'est lui qui a posé la taint unreachable au module 5. EndpointSlice surveille les Services et les pods, et tient à jour les EndpointSlices. Namespace surveille les namespaces en suppression, et supprime tous leurs objets. [TRANSITION] Ces contrôleurs créent des objets qui leur appartiennent. Que se passe-t-il quand on supprime le propriétaire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gauche, la propriété et la suppression en cascade. Un objet créé par un contrôleur porte une référence à son propriétaire, dans le champ ownerReferences. Le ReplicaSet pointe vers son Deployment, chaque pod vers son ReplicaSet. Supprimer le propriétaire supprime ses dépendants. Effacer un Deployment efface ses ReplicaSets et ses pods. Si on veut l'éviter, l'option --cascade=orphan conserve les dépendants. À droite, les finalizers. Un objet peut porter des finalizers : sa suppression est alors différée jusqu'à ce que les contrôleurs concernés aient terminé leur nettoyage. Par exemple, libérer un disque Cloud avant de supprimer l'objet qui le représente. En bas, la conséquence pratique : un objet bloqué en état Terminating a souvent un finalizer dont le contrôleur a disparu, par exemple un opérateur désinstallé. Personne n'est plus là pour lever le finalizer. [DEMANDER] Vous vous souvenez de l'état « Terminating qui dure » du module 10 ? Voici l'une de ses causes. [TRANSITION] On peut aller plus loin : créer ses propres types d'objets.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Une CustomResourceDefinition, ou CRD, déclare un nouveau type d'objet. L'API server le stocke, le valide selon son schéma, et le sert comme un type natif : kubectl get, le RBAC, le watch fonctionnent comme pour un Pod. [MONTRER] À gauche, une CRD qui définit un type Sauvegarde. Son nom suit la forme pluriel point groupe : sauvegardes.formation.exemple.fr. Le groupe, formation.exemple.fr. La portée, Namespaced. Les noms : le kind Sauvegarde, le pluriel, le singulier, et un nom court, svg. Une version v1, servie et stockée. Et un schéma de validation : base et planification sont des chaînes obligatoires, retention un entier d'au moins 1. À droite, un objet de ce nouveau type : une Sauvegarde nommée base-diffusion, pour la base diffusion, à 3 heures du matin, avec 7 jours de rétention. Et les commandes : on applique la CRD, puis l'objet ; kubectl get sauvegardes, ou get svg, fonctionne ; et kubectl explain documente le type, à partir du schéma. [INSISTER] L'encadré en bas : une CRD seule ne fait que stocker des données. Rien ne sauvegarde réellement la base. Il faut un contrôleur qui lise ces objets et agisse. [TRANSITION] Une CRD plus un contrôleur : c'est un opérateur.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opérateur, c'est une ou plusieurs CRD, plus un contrôleur. Le contrôleur code le savoir-faire d'un administrateur expérimenté de ce logiciel : installer, configurer, mettre à jour, sauvegarder, basculer en cas de panne. L'exemple en bas résume l'idée. Vous déclarez : « Je veux un cluster PostgreSQL de 3 instances avec une sauvegarde quotidienne. » L'opérateur s'occupe du reste. À droite, des exemples d'opérateurs répandus. Tigera, pour Calico : vous l'utilisez depuis le jour 1, avec les ressources Installation et APIServer. cert-manager, pour les certificats TLS : Issuer, ClusterIssuer, Certificate. Ce sera le TP9. CloudNativePG, pour PostgreSQL : Cluster, Backup, ScheduledBackup. Prometheus Operator, pour la supervision : Prometheus, ServiceMonitor, PrometheusRule. Strimzi, pour Apache Kafka. Et Rook, pour le stockage Ceph. [TRANSITION] Tous les opérateurs ne se valent pas. Comment choisir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gauche, les cinq niveaux de maturité définis par l'Operator Framework. Les marches montent avec l'automatisation. Niveau 1 : installation simple. Niveau 2 : mises à jour transparentes. Niveau 3 : cycle de vie complet, avec sauvegarde et restauration. Niveau 4 : supervision approfondie. Niveau 5 : pilotage automatique, avec des ajustements et des réparations autonomes. À droite, où les trouver : OperatorHub.io et Artifact Hub. Et pour en écrire : Kubebuilder ou Operator SDK en Go, kopf en Python. En bas, l'avertissement. Avant d'adopter un opérateur, vérifiez sa maturité, sa communauté, et les droits qu'il demande. Un opérateur tourne souvent avec des permissions étendues sur tout le cluster, et il devient un composant de plus à maintenir. [SI ON VOUS DEMANDE] « Faut-il écrire nos propres opérateurs ? » Rarement au début. Commencez par utiliser des opérateurs existants et matures ; écrire un opérateur est un projet de développement à part entière. [TRANSITION] Un exemple concret : cert-manager, que vous installerez au TP9.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cert-manager délivre et renouvelle des certificats TLS. Vous décrivez l'autorité et le certificat voulu ; il produit le Secret. [MONTRER] Le flux au centre. Deux ressources en entrée : un ClusterIssuer, l'autorité, et un Certificate, le certificat voulu. Le contrôleur cert-manager les lit. Et il produit un Secret de type kubernetes.io/tls, qu'il renouvelle avant expiration. À gauche, le YAML. Le ClusterIssuer autosigne utilise selfSigned : c'est suffisant pour le TP. En production, on utilise acme, avec Let's Encrypt, ou l'autorité interne de l'organisation. Puis le Certificate podinfo-tls, dans fil-rouge : le Secret à produire, le nom DNS du certificat, et la référence à l'autorité. [MOMENT CLÉ] L'encadré en bas, c'est l'expérience du TP9. Supprimez le Secret podinfo-tls : quelques secondes plus tard, il est recréé. C'est la réconciliation du module 2, appliquée par un contrôleur qui ne fait pas partie de Kubernetes. Revenez si besoin sur la diapositive orange du jour 1. [TRANSITION] cert-manager s'installe avec Helm. Voyons ce qu'est Helm.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Helm installe une application complète, ses Deployments, Services, ConfigMaps, droits RBAC, en une seule commande, avec des paramètres. Le vocabulaire, à gauche. Un chart : un paquet, des modèles de manifestes et leurs valeurs par défaut. Les values : les paramètres qui remplissent les modèles, dans values.yaml, ou passés avec -f ou --set. Une release : une installation d'un chart dans un cluster, avec un nom. Une révision : chaque installation ou mise à jour d'une release. Elles permettent le retour arrière. Un dépôt : un serveur qui publie des charts, en HTTP ou dans un registre OCI. À droite, la structure d'un chart. Chart.yaml contient le nom et les versions, celle du chart et celle de l'application. values.yaml contient les valeurs par défaut. Et le dossier templates contient les modèles, avec des variables entre doubles accolades, comme .Values.replicaCount. [ANALOGIE] Helm est à Kubernetes ce qu'apt est à Ubuntu : un gestionnaire de paquets, avec des dépôts, des versions et des mises à jour. [TRANSITION] Les commandes au quotidien.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Les commandes Helm, dans l'ordre d'utilisation. helm repo add déclare un dépôt, ici jetstack, celui de cert-manager. helm repo update rafraîchit l'index. helm search repo cherche un chart. helm show values affiche les paramètres disponibles : on les redirige dans un fichier pour les adapter. helm install installe : ici cert-manager, dans le namespace cert-manager, créé au passage, avec le paramètre crds.enabled=true. helm upgrade --install installe ou met à jour : c'est la commande idempotente, à préférer dans les scripts. helm list -A liste les releases installées. helm history montre les révisions. helm rollback revient à une révision. helm template affiche les manifestes qu'un chart va créer, sans rien installer. Très utile pour comprendre ce qu'on installe. Et helm uninstall désinstalle. En bas, deux encadrés. La bonne pratique : versionnez vos fichiers de values dans Git, et fixez la version du chart avec --version. Sans version, helm upgrade installe la dernière publiée, peut-être incompatible. Et Helm 4, sorti fin 2025 : les commandes ci-dessus sont les mêmes qu'avec Helm 3. [TRANSITION] Helm, Kustomize, opérateur : lequel choisir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outils, trois usages. Kustomize, vu au module 6 : il superpose des correctifs sur des manifestes simples, sans modèles. Idéal pour vos propres applications, déclinées par environnement. Helm : des modèles paramétrables, versionnés et distribués. Idéal pour installer des logiciels tiers, ou pour distribuer une application à d'autres équipes. L'opérateur : un contrôleur qui exploite en continu. Idéal pour les logiciels avec état et des opérations complexes : bases de données, files de messages. La phrase en bas résume la différence essentielle : Helm installe une fois ; un opérateur surveille et agit en permanence. [DEMANDER] Une base PostgreSQL : chart Helm ou opérateur ? C'est une question de révision. Le chart l'installe, puis c'est à vous de gérer les bascules, les sauvegardes et les mises à jour. L'opérateur, lui, s'en charge en continu. [TRANSITION] Place au TP9, guidé.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LE TP] TP9, 30 minutes, guidé : sections 13.4 et 13.5. Faites-le pas à pas avec le groupe, à l'écran. [DIRE] Nous allons le faire ensemble. Installer Helm, déployer cert-manager avec son chart, émettre un certificat, et observer sa réconciliation. Puis prendre en main k9s, l'interface en mode texte. Le point de contrôle : le Certificate est READY à True, et son Secret réapparaît après suppression. [DÉROULÉ] Installez Helm ; ajoutez le dépôt jetstack ; installez cert-manager avec crds.enabled=true ; attendez que ses pods soient Running ; appliquez le ClusterIssuer et le Certificate ; vérifiez avec kubectl get certificate ; supprimez le Secret podinfo-tls et regardez-le revenir. Puis lancez k9s : les deux-points pour changer de type de ressource, entrée pour descendre, l pour les logs, d pour describe. [PENDANT LE TP] Si l'application du ClusterIssuer échoue avec une erreur de webhook, cert-manager n'est pas encore prêt : attendez que ses pods soient Running, puis réessayez. Si le Certificate reste à False : kubectl describe certificate, et lisez les événements.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Quatre idées à retenir. Un contrôleur observe, compare, agit, et écrit le résultat dans status. Une CRD ajoute un type à l'API ; sans contrôleur, elle ne fait que stocker. Opérateur égale CRD plus contrôleur qui automatise l'exploitation d'un logiciel. Vous en utilisez déjà un : Tigera. Helm empaquette et installe ; fixez les versions de charts et versionnez vos values. [QUESTIONS] 1. Pourquoi un objet peut-il rester indéfiniment en suppression ? Réponse : un finalizer attend un contrôleur qui ne répond plus ou a été désinstallé. 2. Une CRD et des objets créés, mais rien ne se passe ? Réponse : aucun contrôleur ne gère ce type ; la CRD ne fait que stocker. 3. Chart Helm ou opérateur pour PostgreSQL ? Réponse : le chart installe une fois ; l'opérateur surveille et agit en continu : bascule, sauvegardes, mises à jour. 4. Voir les manifestes d'un chart sans rien installer ? Réponse : helm template. [TRANSITION] Notre application sait se mettre à jour et se réparer. Apprenons-lui à grandir avec la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Adapter la capacité à la charge : HPA, VPA, KEDA et autoscaling des nœuds. Mène au TP10 de 11:15 (30 minutes). Prérequis : metrics-server, installé au TP7. [DIRE] Module 14 : l'autoscaling des pods et des nœuds. Kubernetes peut adapter la capacité à la charge sur trois axes : le nombre de pods, avec le HorizontalPodAutoscaler ; la taille des pods, avec le VerticalPodAutoscaler ; et le nombre de nœuds, avec le Cluster Autoscaler ou Karpenter. Tous reposent sur deux conditions : des requests bien déclarées, vues au module 11, et des métriques fiables, vues au module 10. [TRANSITION] Commençons par la vue d'ensemble.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axes, et un quatrième outil qui est une variante du premier. Horizontal : le HorizontalPodAutoscaler, ou HPA, intégré à Kubernetes. Il change le nombre de réplicas. Délai typique : de quelques secondes à une minute. Vertical : le VerticalPodAutoscaler, ou VPA, à installer. Il change les requests et les limits des pods. Délai : au prochain redémarrage du pod, ou en place. Événementiel : KEDA, à installer. Il change le nombre de réplicas, jusqu'à zéro, selon une source externe, comme une file de messages. Délai : quelques secondes. Cluster : le Cluster Autoscaler ou Karpenter. Ils changent le nombre de nœuds. Délai : plusieurs minutes, le temps de créer une machine. [ASTUCE] Les petits schémas en haut des cartes résument chaque axe : plus de pods, des pods plus gros, de zéro à plusieurs, plus de nœuds. [TRANSITION] Le plus utilisé, de loin : le HPA. Comment calcule-t-il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Toutes les 15 secondes, le contrôleur HPA lit les métriques des pods ciblés et applique une formule simple. Réplicas voulus égale réplicas actuels, multiplié par la valeur mesurée divisée par la valeur cible, arrondi à l'entier supérieur. [MONTRER] L'exemple : 2 réplicas, mesurés à 90 % de CPU, pour une cible de 50 %. 2 fois 90 divisé par 50 : 3,6. Arrondi à l'entier supérieur : 4 réplicas. En bas, trois précisions importantes. Toutes les 15 secondes, le contrôleur recalcule. Une tolérance de 10 % : un écart plus faible à la cible ne déclenche rien. Cela évite les oscillations. Et le point essentiel, sur la carte sombre : le pourcentage d'utilisation est calculé par rapport aux requests. Un pod qui demande 200m et consomme 100m est à 50 %. Sans request, l'HPA affiche unknown, et ne fait rien. [DEMANDER] 3 réplicas à 80 % de CPU, cible 40 % : combien de réplicas l'HPA demande-t-il ? Réponse : 3 fois 80 divisé par 40, soit 6 réplicas. [TRANSITION] Comment l'écrire en YAML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gauche, un HPA sur le Deployment php-apache, celui du TP10. scaleTargetRef désigne ce qu'il pilote : le Deployment php-apache. minReplicas: 1 et maxReplicas: 8 : les bornes. L'HPA ne descendra jamais sous 1, ni ne montera au-dessus de 8. metrics : une métrique de type Resource, le CPU, avec une cible d'utilisation moyenne de 50 %. À droite, la section behavior, facultative : elle règle la vitesse de montée et de descente. scaleUp : pas de fenêtre de stabilisation, et au plus doubler le nombre de réplicas toutes les 15 secondes. scaleDown : une fenêtre de stabilisation de 120 secondes, au lieu de 300 par défaut, et au plus un pod retiré par minute. En bas à droite, le comportement par défaut. La montée est rapide. La descente attend 5 minutes : l'HPA retient la plus haute recommandation de cette fenêtre, pour ne pas retirer des pods à la première accalmie. [ASTUCE] Au TP10, prévenez le groupe : après l'arrêt de la charge, la redescente prend environ 5 minutes. C'est normal, pas une panne. [TRANSITION] Quelles métriques peut-on utiliser, et quels pièges éviter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tableau liste les types de métriques. Resource : le CPU ou la mémoire moyens des pods, fournis par metrics-server. ContainerResource : le CPU d'un seul conteneur du pod, sans le sidecar. Toujours metrics-server. Pods : par exemple des requêtes par seconde par pod. Ce sont des métriques personnalisées, via un adaptateur Prometheus. Object : par exemple la longueur d'une file d'attente décrite par un objet. External : par exemple les messages en attente dans une file externe, via KEDA ou un adaptateur. À droite, deux pièges. La mémoire est souvent un mauvais déclencheur. Beaucoup d'environnements d'exécution, comme Java ou Go, ne rendent pas la mémoire après un pic : l'HPA ne redescend jamais. Et retirez le champ replicas du manifeste du Deployment. Sinon, chaque kubectl apply remet le nombre de réplicas à la valeur du fichier, à l'encontre de l'HPA. En bas, les commandes. kubectl get hpa -w suit la cible, la valeur mesurée et les réplicas. kubectl describe hpa affiche les conditions, AbleToScale, ScalingActive, ScalingLimited, et les événements. Et kubectl autoscale crée un HPA en une commande, en mode impératif. [TRANSITION] Après l'horizontal, le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VerticalPodAutoscaler vient du projet kubernetes/autoscaler, et s'installe à part. Il observe la consommation réelle et recommande, ou applique, des requests adaptées. Quatre modes. Off : il calcule des recommandations sans rien modifier. C'est l'outil idéal pour dimensionner, la règle « mesurer avant de fixer » du module 11. Initial : il applique les recommandations seulement à la création des pods. Recreate : il recrée les pods dont les requests s'éloignent trop de la recommandation. InPlaceOrRecreate : il ajuste les pods en place quand c'est possible, sinon il les recrée. Disponible dans les versions récentes. À droite, un VPA en mode Off sur podinfo. kubectl describe vpa affiche la section Recommendation : une borne basse, une cible, et une borne haute. L'avertissement en bas : ne combinez pas VPA et HPA sur la même métrique, CPU ou mémoire. Chacun défait le travail de l'autre, et le système oscille. Le mode Off du VPA reste compatible avec tout. [CONSEIL] Le mode Off est un excellent point de départ en production : quelques jours d'observation donnent des requests fondées sur des mesures, sans aucun risque. [TRANSITION] Une autre façon de déclencher : sur événements, avec KEDA.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KEDA est un projet de la CNCF. Il déclenche la mise à l'échelle à partir de dizaines de sources : des files de messages comme Kafka ou RabbitMQ, des listes Redis, des requêtes Prometheus, des bases de données, ou un calendrier. Sa particularité : il sait descendre à zéro réplica quand il n'y a rien à traiter. Et il crée lui-même l'HPA correspondant. [MONTRER] À droite, un ScaledObject. Il pilote podinfo, entre 0 et 10 réplicas, avec un déclencheur de type cron, dans le fuseau Europe/Paris. Du lundi au vendredi, de 8 heures à 19 heures, 4 réplicas ; zéro le reste du temps. Le graphique en bas à gauche montre une journée ouvrée : rien la nuit, 4 réplicas de 8 heures à 19 heures. [DEMANDER] Avez-vous des applications utilisées uniquement aux heures de bureau, ou des traitements alimentés par une file de messages ? Ce sont les cas d'usage typiques de KEDA. [TRANSITION] Et quand les pods eux-mêmes ne trouvent plus de place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Quand l'HPA demande des pods que le cluster ne peut pas placer, ils restent Pending. Un autoscaler de cluster réagit alors en ajoutant des nœuds. Le Cluster Autoscaler ajoute un nœud à un groupe de nœuds prédéfini quand des pods sont en attente faute de ressources. Il retire aussi les nœuds sous-utilisés après une période d'observation, en déplaçant leurs pods. Il fonctionne avec la plupart des fournisseurs Cloud et avec Cluster API. Karpenter choisit et crée directement des machines dimensionnées pour les pods en attente, sans groupes prédéfinis. Il consolide aussi le cluster, en remplaçant plusieurs petits nœuds par un plus gros. Le point commun, sur la carte sombre : les deux raisonnent sur les requests des pods en attente. Sans requests, ils ne savent pas quelle capacité ajouter. Et en bas à droite, notre situation : sur nos VM kubeadm, rien ne peut créer de VM à la demande. L'autoscaling des nœuds n'est donc pas possible. Il faut une couche qui sache provisionner des machines : un fournisseur Cloud, ou Cluster API avec un fournisseur OpenStack ou vSphere, par exemple. [TRANSITION] Mettons bout à bout tout ce que nous venons de voir.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La chaîne complète, en cinq étapes. Un : la charge augmente ; l'utilisation CPU des pods dépasse la cible. Deux : l'HPA ajoute des réplicas, en quelques secondes. Trois : les nouveaux pods ne trouvent pas de place, ils restent Pending. Quatre : le Cluster Autoscaler ajoute un nœud. Cela prend quelques minutes : la création de la VM, son démarrage, son adhésion au cluster. Cinq : le scheduler place les pods sur le nouveau nœud, et ils deviennent prêts. L'étape quatre, en orange, est la plus lente. D'où le conseil de l'encadré : comme l'ajout d'un nœud prend plusieurs minutes, gardez une marge de capacité. Une technique courante : des pods « réservoirs », de très basse priorité, occupent de la place. Dès qu'un vrai pod en a besoin, ils sont préemptés, c'est le mécanisme des PriorityClass du module 11. Le vrai pod démarre aussitôt, et les réservoirs, devenus Pending, déclenchent l'ajout d'un nœud en arrière-plan. [TRANSITION] Que faut-il pour qu'une application passe vraiment à l'échelle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Six prérequis, à vérifier avant d'activer l'autoscaling sur une application. Cette liste est faite pour être cochée. metrics-server installé et fonctionnel : kubectl top pods doit répondre. Des requests CPU et mémoire réalistes sur tous les conteneurs : l'HPA calcule par rapport à elles. Une application sans état local : n'importe quel réplica doit pouvoir servir n'importe quelle requête. Si les sessions sont stockées en mémoire d'un pod, ajouter des pods ne servira à rien. Une readiness probe : les nouveaux pods ne reçoivent du trafic qu'une fois prêts. minReplicas d'au moins 2 pour la disponibilité, et un PodDisruptionBudget. Et le champ replicas retiré du manifeste du Deployment. [ASTUCE] Cette liste rassemble des notions de presque tous les modules : 9, 10, 11, 5. C'est une bonne occasion de vérifier que le groupe fait les liens. [TRANSITION] À vous de faire monter un HPA.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LE TP] TP10, 30 minutes, section 14.2. [DIRE] Vous allez créer un HPA à 50 % de CPU sur l'application php-apache, générer de la charge, puis observer la montée, et la redescente, des réplicas. Le point de contrôle : l'HPA dépasse 3 réplicas sous charge. [PENDANT LE TP] Faites ouvrir deux terminaux : l'un génère la charge, l'autre suit kubectl get hpa -w. Si la colonne des cibles affiche unknown : vérifiez que metrics-server répond (kubectl top pods) et que le Deployment déclare une request CPU. Après l'arrêt de la charge, rappelez que la redescente prend environ 5 minutes : c'est la fenêtre de stabilisation. [À LA FIN] Faites appliquer la formule à voix haute sur une valeur réellement observée : réplicas actuels multipliés par mesure sur 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Quatre idées à retenir. L'HPA multiplie les pods selon une métrique, calculée par rapport aux requests ; il monte vite et descend après 5 minutes. Le VPA recommande ou applique des requests ; en mode Off, c'est un outil de dimensionnement. KEDA déclenche sur des événements externes, et descend à zéro. L'autoscaling des nœuds demande une infrastructure pilotable ; il réagit aux pods Pending. [QUESTIONS] 1. 3 réplicas à 80 % de CPU, cible 40 % ? Réponse : 3 fois 80 divisé par 40, soit 6 réplicas. 2. Pourquoi l'HPA affiche-t-il unknown pour le CPU ? Réponse : les pods n'ont pas de request CPU, ou metrics-server ne fonctionne pas. 3. Pourquoi ne pas laisser replicas: 3 dans un Deployment piloté par un HPA ? Réponse : chaque kubectl apply remet 3 réplicas, à l'encontre de l'HPA. 4. Pourquoi pas d'autoscaling des nœuds sur le cluster du TP ? Réponse : rien ne peut créer de VM à la demande dans cet environnement. [TRANSITION] Place à la sécurité, avec le TP11 à 13:20.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Sécuriser le cluster par couches : qui accède à l'API (authentification, RBAC), ce que les pods ont le droit de faire (Pod Security, securityContext), qui parle à qui (NetworkPolicies). Module le plus dense de la journée ; TP11 à 13:20 (50 minutes). [DIRE] Module 15 : la sécurité. Par défaut, un cluster Kubernetes est permissif. Tout pod peut joindre tout pod. Un conteneur peut tourner en root. Et un compte trop large ouvre tout. On le sécurise par couches. Le RBAC limite qui peut faire quoi via l'API. Pod Security limite ce que les pods ont le droit de faire sur le nœud. Et les NetworkPolicies limitent qui parle à qui. [TRANSITION] Commençons par la vue d'ensemble de ces couches.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projet Kubernetes décrit quatre couches emboîtées, chacune dépendant de la précédente. Une faille dans une couche extérieure compromet toutes celles qu'elle contient. La couche extérieure : le Cloud ou le centre de données. Un accès réseau à l'API restreint, des nœuds durcis, le chiffrement des disques. Puis le cluster : le RBAC, Pod Security, les NetworkPolicies, le chiffrement d'etcd, les journaux d'audit, les mises à jour. C'est l'essentiel de ce module. Puis le conteneur : des images minimales et analysées, un utilisateur non root, un système de fichiers en lecture seule. Les règles de la bonne image du module 1. Au cœur, le code : des dépendances à jour, des secrets hors du code, du TLS entre les services. [ASTUCE] Rappelez la remarque du module 4 : le trafic entre podinfo et Redis circule en clair. Le chiffrer relève de la couche « code », ou d'un maillage de services ; Kubernetes ne le fait pas seul. [TRANSITION] Première question de sécurité pour l'API : qui êtes-vous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point surprenant : Kubernetes ne stocke aucun compte utilisateur. Il n'y a pas de commande pour créer un utilisateur. Il fait confiance à des mécanismes externes, au nombre de trois. Les certificats clients X.509. Le champ CN du certificat donne le nom d'utilisateur, le champ O ses groupes. C'est ce qu'utilise admin.conf. Les jetons OIDC, émis par un fournisseur d'identité : Keycloak, Microsoft Entra ID, Google. C'est la solution recommandée pour les humains, car elle s'appuie sur l'annuaire de l'organisation : un départ ou un changement d'équipe est pris en compte automatiquement. Les jetons de ServiceAccount : l'identité des programmes qui tournent dans le cluster. Nous les verrons plus loin. [DEMANDER] Votre organisation dispose-t-elle d'un fournisseur d'identité compatible OIDC ? Si oui, c'est la piste à privilégier pour les accès humains à un futur cluster. [TRANSITION] Voyons comment créer un certificat pour une personne. C'est l'une des étapes du TP11.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Créer un certificat pour une personne, ici alice, via l'API de signature du cluster. Quatre étapes, à suivre à droite. Un : la clé et la demande. openssl genrsa crée une clé privée ; openssl req crée une demande de signature, avec CN=alice, son nom d'utilisateur, et O=equipe-diffusion, son groupe. Deux : la demande est soumise à l'API, sous la forme d'un objet CertificateSigningRequest. On y place la demande encodée en base64, le signataire kubernetes.io/kube-apiserver-client, une durée de validité de 30 jours, et l'usage client auth. Trois : un administrateur l'approuve, avec kubectl certificate approve alice. Quatre : on récupère le certificat signé, dans le status de l'objet, et on le décode dans alice.crt. Avec alice.key et alice.crt, on construit un kubeconfig pour alice. Mais attention : à ce stade, alice est authentifiée, pas autorisée. Elle ne peut encore rien faire. [TRANSITION] Ce qu'alice a le droit de faire, c'est le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RBAC, pour Role-Based Access Control. Premier principe : il n'accorde que des permissions. Il n'y a pas de règle d'interdiction. Tout ce qui n'est pas explicitement permis est refusé. [MONTRER] Le tableau croise deux dimensions : la portée, en lignes, et le rôle de l'objet, en colonnes. Dans un namespace : un Role définit des permissions, une liste de verbes sur des ressources. Un RoleBinding accorde un Role, ou un ClusterRole, à des sujets, dans ce namespace. Pour tout le cluster : un ClusterRole définit des permissions, pour tout le cluster, ou réutilisables dans chaque namespace. Un ClusterRoleBinding accorde un ClusterRole, partout. En bas, le vocabulaire. Les verbes de lecture : get, list, watch. Les verbes d'écriture : create, update, patch, delete, deletecollection. Et les sujets : User, Group, ServiceAccount. [ASTUCE] Une phrase pour retenir : le Role dit « quoi », le Binding dit « à qui » et « où ». [TRANSITION] Un exemple concret.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gauche, le Role : quoi. Il s'appelle lecture, dans le namespace fil-rouge. Deux règles. La première porte sur le groupe core, noté par deux guillemets vides : les pods, leurs logs, et les Services, avec les verbes get, list et watch. La seconde porte sur le groupe apps : les Deployments, en lecture également. En résumé : lecture des pods, de leurs logs, des Services et des Deployments, dans fil-rouge. À droite, le RoleBinding : à qui. Il s'appelle equipe-diffusion-lecture, dans fil-rouge. Deux sujets : le groupe equipe-diffusion, le O du certificat d'alice ; et le ServiceAccount lecteur, du namespace fil-rouge. roleRef désigne le Role lecture. Alice, membre du groupe equipe-diffusion, peut donc désormais lire dans fil-rouge, et rien d'autre. [TRANSITION] Pour déléguer un namespace entier à une équipe, il y a plus simple que d'écrire des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Kubernetes fournit quatre ClusterRoles prêts à l'emploi. view : la lecture, sans les Secrets. edit : la lecture et l'écriture des applications. admin : tout dans un namespace, y compris ses droits. cluster-admin : tout, partout. L'astuce : accordés par un RoleBinding, et non un ClusterRoleBinding, ils sont limités à un namespace. C'est le modèle le plus courant pour déléguer un namespace à une équipe. [MONTRER] Les commandes. La première crée un RoleBinding qui donne le ClusterRole edit au groupe equipe-a, dans le namespace equipe-a. Les deux suivantes vérifient les droits : kubectl auth can-i delete pods, en se faisant passer pour le ServiceAccount lecteur ; et auth can-i --list, tout ce qu'alice peut faire. En bas, des droits plus dangereux qu'ils n'en ont l'air. list ou watch sur les Secrets révèle leur contenu, comme vu au module 8. create sur les pods permet de monter n'importe quel Secret ou ServiceAccount du namespace, donc d'obtenir leurs droits. Et les verbes escalate, bind et impersonate, ainsi que le joker étoile, ouvrent la porte à l'élévation de privilèges. [TRANSITION] Les programmes aussi ont une identité : le ServiceAccount.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ServiceAccount est l'identité d'un pod auprès de l'API. Chaque namespace a un ServiceAccount nommé default, utilisé si le pod n'en précise pas. Trois points. Un jeton à durée de vie limitée : le kubelet monte dans chaque pod un jeton, renouvelé automatiquement, dans /var/run/secrets/kubernetes.io/serviceaccount. Pas d'appel à l'API, pas de jeton : une application qui n'appelle pas l'API n'a pas besoin de ce jeton. automountServiceAccountToken: false le supprime, et réduit la surface d'attaque. Un appel à l'API, un compte dédié : une application qui appelle l'API, comme un opérateur ou un outil d'intégration continue, reçoit son propre ServiceAccount, avec un Role minimal. À droite, le ServiceAccount podinfo, sans montage automatique du jeton, et sa référence dans le modèle de pod avec serviceAccountName. En bas, kubectl create token crée un jeton temporaire, ici valable une heure, pour un outil ou un test. [TRANSITION] Après l'API, les pods : que leur permet-on de faire sur le nœud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Les Pod Security Standards définissent trois niveaux de sécurité. Ils sont appliqués par le contrôleur d'admission Pod Security Admission, intégré à Kubernetes. privileged : il n'interdit rien. Réservé aux composants système, comme le CNI ou le stockage. baseline : il interdit les conteneurs privilégiés, l'accès au réseau ou aux processus de l'hôte, les volumes hostPath, les ports de l'hôte, et les capacités noyau dangereuses. Pour les applications courantes, et pour une migration progressive. restricted : tout ce qui précède, plus l'exécution en root, l'élévation de privilèges, les capacités non retirées, et l'absence de profil seccomp. C'est la cible pour vos applications. En bas, les trois modes, chacun posé par un label sur le namespace. enforce : le pod qui viole le niveau est refusé. audit : le pod est accepté, et la violation est notée dans le journal d'audit. warn : le pod est accepté, et l'utilisateur voit un avertissement. [CONSEIL] Une migration en douceur : commencer par warn et audit en restricted, observer, corriger les manifestes, puis passer en enforce. [TRANSITION] Comment poser ces labels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En haut, la commande qui impose le niveau restricted au namespace equipe-a, avec un avertissement : deux labels, enforce et warn, tous deux à restricted. Au milieu, une commande très utile avant d'imposer un niveau : kubectl label avec --dry-run=server. Elle liste les pods existants qui seraient en infraction, sans rien changer. On voit ainsi l'impact avant de basculer. En bas, pour des règles plus fines que les trois niveaux : registres d'images autorisés, labels obligatoires, interdiction du tag latest. Pour cela, on ajoute un moteur de politiques. Les ValidatingAdmissionPolicies, natives dans Kubernetes, avec des règles écrites en langage CEL. Kyverno, qui écrit ses politiques en YAML. OPA Gatekeeper, avec le langage Rego. [SI ON VOUS DEMANDE] « Lequel choisir ? » Les ValidatingAdmissionPolicies n'ajoutent aucun composant ; Kyverno est souvent jugé plus accessible ; Gatekeeper est très répandu dans les grandes organisations. Le choix dépend surtout de l'outillage existant. [TRANSITION] Concrètement, comment rendre un pod conforme au niveau restricted ? Avec le securityContext.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securityContext déclare comment le conteneur s'exécute. Voici un pod conforme au niveau restricted. Deux niveaux, en orange. Au niveau du pod, s'appliquant à tous les conteneurs : runAsNonRoot: true ; runAsUser et runAsGroup 10001, des identifiants numériques imposés ; fsGroup 10001, le groupe propriétaire des volumes montés ; et seccompProfile RuntimeDefault, qui filtre les appels système dangereux. Au niveau du conteneur : allowPrivilegeEscalation: false ; readOnlyRootFilesystem: true, facultatif pour restricted mais recommandé ; et capabilities, avec drop ALL, qui retire toutes les capacités noyau. Le niveau pod s'applique à tous les conteneurs ; le niveau conteneur le complète. [DEMANDER] Un pod est refusé avec le message « violates PodSecurity restricted:latest ». Que faut-il ajouter à son manifeste ? Réponse : un securityContext avec runAsNonRoot: true, allowPrivilegeEscalation: false, capabilities.drop ALL et seccompProfile RuntimeDefault. [TRANSITION] Le détail de chaque champ.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rôle de chaque champ. runAsNonRoot : refuse de démarrer si le processus tournait en root. L'image doit donc prévoir un utilisateur non root, la règle USER 10001 du module 1. runAsUser et runAsGroup : imposent des identifiants numériques au processus. allowPrivilegeEscalation: false : empêche un processus d'acquérir plus de droits que son parent, par exemple via un binaire setuid. capabilities.drop ALL : retire toutes les capacités noyau. On peut en réajouter une, comme NET_BIND_SERVICE, pour écouter sur un port inférieur à 1024. readOnlyRootFilesystem : le système de fichiers du conteneur passe en lecture seule. Si l'application doit écrire des fichiers temporaires, on lui monte un volume emptyDir. Et en orange, privileged: true : un accès quasi complet à l'hôte. À proscrire hors composants système. [ASTUCE] Les erreurs les plus fréquentes au passage en restricted : une image qui tourne en root par défaut, comme beaucoup d'images nginx, et une application qui écrit dans son propre répertoire avec readOnlyRootFilesystem. [TRANSITION] Dernière couche : le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gauche, les règles du jeu des NetworkPolicies. Par défaut, tout pod peut joindre tout pod. Dès qu'une policy sélectionne un pod pour une direction, entrée ou sortie, seul le trafic autorisé passe dans cette direction. Les policies s'additionnent : il n'y a ni ordre, ni règle de refus. Et elles n'ont d'effet que si le CNI les applique. Calico : oui. C'est pour cela que le choix du CNI comptait au module 4. Au centre, l'exemple 1 : un refus par défaut en entrée. podSelector vide, c'est-à-dire tous les pods du namespace, et le type Ingress, sans aucune règle d'autorisation. Le namespace devient une liste blanche : rien n'entre sans autorisation. À droite, l'exemple 2 : seul podinfo joint Redis. La policy sélectionne la cible, les pods app: redis. Elle autorise en entrée une seule source, les pods app: podinfo, sur le port TCP 6379. [ASTUCE] Avec ces deux policies, Redis n'est plus joignable que par podinfo. C'est exactement le point de contrôle du TP11 : un pod intrus ne joint pas Redis. [TRANSITION] Et pour autoriser un autre namespace, ou filtrer la sortie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Exemple 3, en haut à gauche : autoriser un autre namespace. Chaque namespace porte automatiquement le label kubernetes.io/metadata.name, avec son nom. Pour autoriser la supervision, on utilise un namespaceSelector sur ce label. Exemple 4, en bas : restreindre aussi la sortie. Attention, piège : un refus en sortie empêche aussi de résoudre les noms DNS. Plus aucun nom de Service ne fonctionne. Il faut donc réautoriser kube-dns, en UDP et en TCP sur le port 53. [MONTRER] À droite, la policy complète, sortie-dns-seulement. podSelector vide, tous les pods. Type Egress. Une seule destination autorisée : les pods k8s-app: kube-dns, du namespace kube-system, sur le port 53 en UDP et en TCP. [DEMANDER] Après une policy de refus en sortie, plus aucun nom de service ne se résout. Pourquoi ? Réponse : le refus en sortie bloque les requêtes DNS vers CoreDNS ; il faut autoriser UDP et TCP 53 vers les pods kube-dns. [TRANSITION] Dans cet exemple se cache un piège subtil : un tiret.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IMPORTANT] Prenez le temps : ce piège est classique et difficile à voir. [DIRE] Comparez les deux YAML. La seule différence est un tiret devant podSelector. À gauche, un seul tiret : une seule source. namespaceSelector et podSelector sont dans le même élément de liste. La source doit satisfaire les deux conditions : les pods kube-dns du namespace kube-system. C'est un « et ». À droite, deux tirets : deux sources distinctes. Tous les pods de kube-system, ou les pods kube-dns du namespace de la policy, ici fil-rouge, où il n'y en a aucun. C'est un « ou ». Pourquoi le second cas ne vise-t-il pas kube-system ? Parce qu'un podSelector seul ne regarde que son propre namespace. En bas, les commandes de test. kubectl get networkpolicies liste les policies. Et un pod intrus, busybox, qui tente nc vers redis sur le port 6379 : s'il échoue alors que l'application fonctionne, l'isolation est correcte. [DEMANDER] La question 5 du bilan porte exactement là-dessus. Faites reformuler la différence par un stagiaire. [TRANSITION] Au-delà de ces mécanismes, quelles autres mesures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Sept autres mesures, qui complètent la sécurité du cluster. Mettre à jour le cluster régulièrement : chaque version mineure n'est maintenue qu'environ 14 mois. Restreindre l'accès réseau à l'API server, sur le port 6443, aux postes d'administration et à la chaîne de déploiement. Chiffrer les Secrets dans etcd, comme vu au module 8, et protéger les sauvegardes d'etcd. Activer les journaux d'audit de l'API server, pour savoir qui a fait quoi. Analyser les images, avec Trivy, et vérifier leur provenance avec les signatures Sigstore et cosign. Détecter les comportements anormaux à l'exécution, avec Falco : un shell ouvert dans un conteneur de production, par exemple. Contrôler la configuration du cluster avec le référentiel CIS Kubernetes Benchmark, grâce à l'outil kube-bench. [CONSEIL] Pour prioriser : mises à jour, accès à l'API et RBAC d'abord. Ce sont les mesures qui évitent le plus d'incidents. [TRANSITION] Passons à la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LE TP] TP11, 50 minutes, sections 15.2 à 15.7. [DIRE] Quatre étapes. Créer un compte en lecture seule. Imposer Pod Security restricted. Isoler Redis par des NetworkPolicies. Puis créer l'utilisatrice alice, avec son certificat. Le point de contrôle : le compte lecteur ne peut rien supprimer, et un pod intrus ne joint pas Redis, alors que l'application, elle, fonctionne toujours. [PENDANT LE TP] Faites vérifier chaque étape avec kubectl auth can-i. Au passage en restricted, des pods existants peuvent être signalés : lancer d'abord la commande --dry-run=server. Pour les NetworkPolicies, testez toujours dans les deux sens : l'intrus est bloqué, et podinfo joint encore Redis. Si l'application casse, vérifiez les labels des podSelector et la sortie DNS. [À LA FIN] Montrez la différence entre un utilisateur authentifié et autorisé avec alice : authentifiée dès l'étape 4 du certificat, mais sans droits tant qu'aucun RoleBinding ne la concerne.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Cinq idées à retenir. Kubernetes n'a pas de comptes utilisateurs : certificats ou OIDC pour les humains, ServiceAccounts pour les programmes. RBAC n'accorde que des permissions ; déléguez un namespace avec un RoleBinding vers edit ou admin. Lire les Secrets ou créer des pods sont des droits sensibles. Pod Security Admission impose baseline ou restricted par un label de namespace ; visez restricted. Une NetworkPolicy transforme le « tout est permis » en liste blanche pour les pods qu'elle sélectionne ; n'oubliez pas le DNS en sortie. [QUESTIONS] 1. Donner à une équipe tous les droits dans son namespace, et rien ailleurs ? Réponse : un RoleBinding dans son namespace, vers le ClusterRole admin, ou edit, pour le groupe de l'équipe. 2. Pourquoi créer des pods permet-il de lire les Secrets ? Réponse : un pod peut monter n'importe quel Secret de son namespace, et en afficher le contenu. 3. « violates PodSecurity restricted:latest » ? Réponse : un securityContext avec runAsNonRoot: true, allowPrivilegeEscalation: false, capabilities.drop ALL et seccompProfile.type RuntimeDefault. 4. Plus aucun nom ne se résout après un refus en sortie ? Réponse : le DNS vers CoreDNS est bloqué ; il faut autoriser UDP et TCP 53 vers les pods kube-dns. 5. namespaceSelector et podSelector, même élément ou deux éléments ? Réponse : même élément, c'est un « et » : ces pods, dans ces namespaces. Deux éléments, c'est un « ou » ; un podSelector seul ne vise alors que le namespace de la policy. [TRANSITION] Dernier module : les données qui doivent survivre aux pods.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Rendre des données persistantes : volumes, PV, PVC, StorageClass, puis le StatefulSet pour les bases de données. Mène au TP12 de 14:15 (45 minutes), où Redis devient persistant. [DIRE] Module 16 : les volumes et les données persistantes. Dernier module avant l'atelier. Le problème de départ : le système de fichiers d'un conteneur disparaît avec lui. C'est la couche inscriptible du module 1. La solution : le pod demande un volume persistant par un PersistentVolumeClaim. Kubernetes lui associe un PersistentVolume, fourni à la main ou créé à la demande par une StorageClass. Et pour les bases de données, le StatefulSet ajoute une identité et un volume propres à chaque réplica. [TRANSITION] Commençons par le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raisons de perdre des données écrites dans un conteneur. Un : le conteneur redémarre, après un plantage ou un échec de liveness. Sa couche inscriptible est remise à zéro. Deux : le pod est remplacé, par une suppression, une mise à jour, une éviction. Trois : le pod change de nœud. Il est recréé sur un autre nœud, loin de ses fichiers. En bas, ce que vous constaterez au TP12 : une clé écrite dans Redis disparaît dès que le pod Redis est remplacé. Jusqu'ici, notre cache n'était pas persistant, et ce n'était pas grave pour un cache. Pour une base de données, ce serait inacceptable. [DEMANDER] Dans nos TP, combien de fois les pods ont-ils été remplacés depuis hier ? À chaque rollout, à chaque drain. Tout ce qu'ils avaient écrit a disparu. [TRANSITION] Kubernetes propose plusieurs types de volumes.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volume est déclaré au niveau du pod, dans volumes, et monté dans un ou plusieurs conteneurs, avec volumeMounts. Cinq types, avec leur durée de vie. emptyDir : la durée de vie du pod. Il survit aux redémarrages du conteneur, mais pas à la suppression du pod. Pour les fichiers temporaires, un cache, ou l'échange entre les conteneurs d'un pod. configMap, secret, downwardAPI, projected : la durée de vie de l'objet source. Pour la configuration en fichiers, au module 8. persistentVolumeClaim : une durée de vie indépendante du pod. C'est le type pour les données persistantes, et le cœur de ce module. Le volume éphémère générique : la durée de vie du pod, mais sur un vrai stockage. Pour un grand espace de travail temporaire. hostPath : la durée de vie du nœud. Réservé aux composants système, et interdit par Pod Security baseline, comme vu au module 15. [TRANSITION] Comment déclarer et monter un volume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exemple avec emptyDir, pour comprendre la mécanique, qui est la même pour tous les types. Un : au niveau du pod, volumes déclare le volume et lui donne un nom, ici travail. C'est un emptyDir, limité à 500 Mi. Le commentaire précise qu'avec medium: Memory, on obtient un disque en mémoire. Deux : dans le conteneur, volumeMounts le monte, par son nom, sur le chemin /travail. Le conteneur écrit la date dans /travail/debut.txt, puis attend une heure. La carte sombre résume emptyDir : il est créé vide au démarrage du pod, et effacé à sa suppression. Il survit aux redémarrages du conteneur. [ASTUCE] Le lien par le nom, travail, entre volumes et volumeMounts est l'erreur la plus fréquente : un nom différent, et le pod est refusé. [TRANSITION] Pour des données qui survivent au pod, il faut trois objets.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objets, avec une analogie pour chacun. La StorageClass : le catalogue. Quel type de disque, chez quel fournisseur. Portée : le cluster. Créée par l'administrateur. Le PersistentVolume, ou PV : un disque disponible. Portée : le cluster. Créé par l'administrateur, ou automatiquement par le provisionneur. Le PersistentVolumeClaim, ou PVC : un bon de commande. « 10 Gi, en lecture-écriture. » Portée : un namespace. Créé par le développeur. Un PV et un PVC sont liés un pour un. [INSISTER] L'encadré en bas : le pod ne référence que le PVC. Il ignore tout du stockage réel, et le manifeste reste portable d'un cluster à l'autre. Le développeur commande, l'administrateur fournit. [TRANSITION] Comment le PV est-il fourni ? Deux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Deux modes de provisionnement. Statique, à gauche. L'administrateur crée des PV à l'avance. Kubernetes associe chaque PVC à un PV compatible : taille, mode d'accès, classe. C'est ce que vous ferez au TP12. Dynamique, à droite. Le PVC nomme une StorageClass. Son provisionneur crée un disque, et le PV correspondant, à la volée. C'est le fonctionnement normal en production, en particulier sur les services managés. [SI ON VOUS DEMANDE] « Que se passe-t-il si aucun PV ne correspond, en statique ? » Le PVC reste Pending, et le pod qui l'utilise aussi. C'est une cause de Pending vue au module 10. [TRANSITION] Parmi les critères de compatibilité : le mode d'accès.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Quatre modes d'accès, souvent mal compris. RWO, ReadWriteOnce : lecture-écriture par un seul nœud. Attention, pas un seul pod : plusieurs pods du même nœud peuvent l'utiliser. RWOP, ReadWriteOncePod : lecture-écriture par un seul pod dans tout le cluster. ROX, ReadOnlyMany : lecture seule, par plusieurs nœuds. RWX, ReadWriteMany : lecture-écriture par plusieurs nœuds. Il faut un stockage de fichiers partagé, comme NFS ou CephFS. L'encadré en bas : un disque bloc, comme un disque Cloud ou Ceph RBD, n'offre que RWO ou RWOP. Pour RWX, il faut un système de fichiers réseau. [DEMANDER] Deux pods sur deux nœuds différents doivent écrire dans le même volume : quel mode, et quel stockage ? Réponse : ReadWriteMany, sur un stockage de fichiers partagé, NFS ou CephFS. [TRANSITION] D'autres paramètres comptent aussi.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paramètres importants. persistentVolumeReclaimPolicy : que devient le disque quand le PVC est supprimé ? Delete : le disque est détruit avec le PVC, c'est le défaut du provisionnement dynamique. Retain : le PV passe Released, et garde ses données jusqu'à une intervention manuelle. volumeBindingMode : quand le volume est-il choisi ? Immediate : dès la création du PVC. WaitForFirstConsumer : il attend le placement du pod, pour choisir un volume accessible depuis son nœud, ou sa zone. allowVolumeExpansion: true : un PVC peut ensuite être agrandi, en modifiant sa taille demandée. En bas, les états d'un PV. Available, libre. Bound, lié à un PVC. Released, le PVC a été supprimé mais les données sont conservées. Et Failed, en cas d'échec. [ASTUCE] Avec WaitForFirstConsumer, un PVC Pending est normal tant qu'aucun pod ne l'utilise. Ne cherchez pas de panne : c'est la réponse à la question 1 du bilan. [TRANSITION] Comment Kubernetes parle-t-il aux systèmes de stockage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Le stockage passe par des pilotes CSI, pour Container Storage Interface. Chaque solution fournit le sien : les disques des Clouds publics, Cinder pour OpenStack, vSphere, Ceph via Rook, NFS avec csi-driver-nfs, les baies NetApp, Longhorn. C'est le même principe que le CRI pour les conteneurs ou le CNI pour le réseau : une interface standard, et des pilotes interchangeables. [MONTRER] À droite, une StorageClass NFS, marquée comme classe par défaut grâce à l'annotation is-default-class. Le provisionneur nfs.csi.k8s.io, le serveur et le partage NFS, la politique Delete, le mode Immediate, et l'agrandissement autorisé. Un PVC qui ne précise pas de classe reçoit la classe par défaut. Et beaucoup de pilotes savent aussi prendre des instantanés, avec les objets VolumeSnapshot. En bas, les commandes. kubectl get storageclass ; kubectl get pv,pvc -A ; et kubectl describe pvc, qui affiche les événements de liaison et de provisionnement. [DEMANDER] Quel stockage avez-vous dans votre centre de données ? Une baie, du NFS, du Ceph ? Il existe probablement un pilote CSI. [TRANSITION] Dans le TP, sans stockage réseau, nous utiliserons un volume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Sans stockage réseau, le TP12 utilise un volume local : un répertoire de k8s-w1, déclaré à la main. Trois objets. À gauche, la StorageClass local-storage. Son provisionneur, kubernetes.io/no-provisioner, signifie qu'il n'y a pas de création automatique : c'est du provisionnement statique. Et volumeBindingMode: WaitForFirstConsumer. Au centre, le PV redis-pv. 1 Gi, en ReadWriteOnce, avec la politique Retain. Le chemin /mnt/data/redis, en orange. Et une nodeAffinity : ce PV n'existe que sur le nœud k8s-w1. À droite, le PVC redis-data, dans fil-rouge : il demande 1 Gi, en ReadWriteOnce, dans la classe local-storage. Il sera lié au PV redis-pv. [ASTUCE] La nodeAffinity du PV est la clé de la diapositive suivante : elle explique où Redis va tourner. [TRANSITION] Que change ce volume pour Redis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gauche, la situation sur le nœud k8s-w1 : le pod Redis, qui monte le volume sur /data, et en dessous, le répertoire /mnt/data/redis du nœud, qui est le PV. À droite, trois points. Une affinité de nœud : le PV porte une affinité vers k8s-w1. Tout pod qui l'utilise sera donc placé sur k8s-w1. Redis persistant : le Deployment monte le PVC sur /data, et active la persistance de Redis avec --appendonly yes. Redis écrit désormais ses données sur le disque. La stratégie Recreate : deux instances Redis ne doivent jamais écrire les mêmes fichiers en même temps. Avec un rolling update, l'ancien et le nouveau pod coexisteraient un moment. C'est l'un des cas d'usage de Recreate vus au module 9. En bas, la limite. Si k8s-w1 tombe, Redis ne peut redémarrer nulle part. Un volume local convient aux tests, ou aux bases qui répliquent elles-mêmes leurs données entre nœuds. En production, on préfère un stockage réseau. [DEMANDER] Pourquoi le pod Redis du TP12 est-il toujours placé sur k8s-w1 ? Réponse : le PV local porte une affinité de nœud vers k8s-w1. [TRANSITION] Pour les vraies bases de données, Kubernetes propose un contrôleur dédié : le StatefulSet.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Un Deployment traite ses pods comme interchangeables. Une base de données a besoin de plus. Le tableau compare. Le nom des pods : aléatoire avec un Deployment ; stable et ordonné avec un StatefulSet, redis-0, redis-1. Un nom DNS par pod : non avec un Deployment ; oui avec un StatefulSet, via un Service headless. Le volume : partagé par tous les pods d'un Deployment ; un PVC par pod avec un StatefulSet, créé depuis volumeClaimTemplates, et qui suit le pod. L'ordre de démarrage et d'arrêt : aucun avec un Deployment ; -0, puis -1, et ainsi de suite avec un StatefulSet, et l'arrêt en ordre inverse. [MONTRER] À droite : chaque réplica a son propre volume, data-redis-0 et data-redis-1. Si redis-0 est recréé, il retrouve le même nom, le même nom DNS, redis-0.redis.fil-rouge.svc.cluster.local, et le même volume. [DEMANDER] Qu'apporte un StatefulSet par rapport à un Deployment pour une base de données ? Réponse : des noms et un DNS stables par pod, un volume par réplica, et un démarrage ordonné. [TRANSITION] Voyons le YAML de Redis en StatefulSet.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gauche en haut, le Service headless : clusterIP: None. Il est requis par le StatefulSet, et donne à chaque pod son propre nom DNS. En dessous, le début du StatefulSet : serviceName: redis, en orange, qui le relie à ce Service headless. Puis un réplica, et le sélecteur. Au centre, la suite. Le modèle de pod, avec Redis et --appendonly yes, et le montage du volume data sur /data. Puis, en orange, volumeClaimTemplates : le modèle de PVC. Pour chaque réplica, le StatefulSet crée un PVC de 1 Gi, en ReadWriteOnce. À droite, deux points importants. Les PVC sont conservés : quand on réduit ou supprime un StatefulSet, ses PVC restent. Les données ne disparaissent pas par erreur. Il faut les supprimer explicitement. Pas de réplication : un StatefulSet ne réplique pas les données. C'est à la base de le faire, entre ses instances. D'où l'intérêt des opérateurs comme CloudNativePG, vus au module 13, qui savent configurer cette réplication. [TRANSITION] Des données persistantes appellent une question : comment les sauvegarder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Trois approches complémentaires. Les instantanés de volumes, avec les objets VolumeSnapshot : rapides, mais liés au système de stockage. Un instantané stocké sur la même baie ne protège pas d'une panne de la baie. Velero : il sauvegarde les objets Kubernetes et le contenu des volumes vers un stockage objet. Il sait restaurer un namespace, ou un cluster entier. Les sauvegardes natives des bases de données : dump, archivage des journaux. Elles sont souvent pilotées par l'opérateur de la base. [INSISTER] La règle de la bande orange : une sauvegarde n'existe vraiment que si la restauration a été testée. Planifiez des tests de restauration, comme vous planifiez les sauvegardes. [ASTUCE] Rappelez qu'etcd se sauvegarde à part, comme vu au module 4 : Velero sauvegarde les objets via l'API, la sauvegarde d'etcd protège le cluster lui-même. [TRANSITION] Rendons Redis persistant.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LE TP] TP12, 45 minutes, sections 16.3 et 16.5. [DIRE] Deux temps. D'abord, constater la perte des données de Redis : écrire une clé, supprimer le pod Redis, et constater que la clé a disparu. Ensuite, rendre les données persistantes, avec une StorageClass locale, un PV et un PVC. Le point de contrôle : la clé écrite dans Redis survit à la suppression de son pod. [PENDANT LE TP] Erreurs fréquentes : le répertoire /mnt/data/redis non créé sur k8s-w1 ; un PVC qui reste Pending tant qu'aucun pod ne l'utilise, normal avec WaitForFirstConsumer ; une classe ou une taille qui ne correspond pas entre PV et PVC ; la stratégie Recreate oubliée. Faites constater avec kubectl get pods -o wide que Redis tourne bien sur k8s-w1. [À LA FIN] Faites supprimer le pod Redis une dernière fois devant le groupe, et relire la clé : c'est le moment de satisfaction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Cinq idées à retenir. Le pod demande, avec le PVC ; l'administrateur ou la StorageClass fournit, avec le PV ; le manifeste reste portable. RWO signifie un seul nœud, pas un seul pod ; RWX exige un stockage de fichiers partagé. WaitForFirstConsumer choisit le volume après le placement du pod. StatefulSet : des noms stables, un DNS par pod, un volume par réplica ; la réplication reste l'affaire de l'application. Pas de données persistantes sans plan de sauvegarde et de restauration testé. [QUESTIONS] 1. Un PVC reste Pending en provisionnement statique : deux causes ? Réponse : aucun PV compatible, en taille, mode d'accès ou classe ; ou, avec WaitForFirstConsumer, aucun pod ne l'utilise encore, ce qui est normal. 2. Pourquoi Redis est-il toujours placé sur k8s-w1 ? Réponse : le PV local porte une affinité de nœud vers k8s-w1. 3. Deux pods sur deux nœuds qui écrivent dans le même volume ? Réponse : ReadWriteMany, sur un stockage de fichiers partagé, NFS ou CephFS. 4. L'apport du StatefulSet pour une base de données ? Réponse : des noms et un DNS stables par pod, un volume par réplica, et un démarrage ordonné. [TRANSITION] Nous avons atteint le dernier module. Place à l'atelier : appliquer tout cela à vos propres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Faire le lien entre les seize modules et les applications réelles des participants. La grille de onze questions est l'outil ; le TP13 de 15:00 (30 minutes) est l'application. [DIRE] Nous voici au sommet du parcours : l'atelier de synthèse. Migrer une application de VM vers Kubernetes. Regardez le sentier en bas : tous les modules sont parcourus, et le marqueur est sur le sommet. L'idée de cet atelier : migrer une application revient à répondre à onze questions. Et chaque réponse désigne un objet Kubernetes que vous avez vu pendant la formation. Le déroulé. Je vous présente d'abord la grille. Puis un exemple complet : un cluster Elasticsearch. Enfin, à 15:00, par équipe, vous appliquerez la grille à vos propres applications, et chaque groupe présentera en 3 minutes les objets retenus et le point le plus délicat. [PRÉPARER] Pendant la présentation de la grille, formez les équipes autour des projets réels : le cluster Elastic de l'équipe Observabilité, un service de l'équipe Secrets, une application de l'assistance utilisateurs. [TRANSITION] Voici la grille.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La grille, questions 1 à 6. Pour chaque question : ce qu'il faut regarder sur la VM actuelle, la réponse Kubernetes, et le module où nous l'avons vue. 1. L'application garde-t-elle un état local ? Regardez les fichiers écrits, les sessions en mémoire, une base embarquée. Sans état : un Deployment. Avec état : un StatefulSet, ou un opérateur. Modules 7, 13 et 16. 2. Où vont ses données, et en quelle quantité ? Les volumes, leur taille, les performances disque. Réponse : un PVC, une StorageClass, un mode d'accès, et une sauvegarde. Module 16. 3. Comment est-elle configurée ? Les fichiers de configuration, les variables. Réponse : des ConfigMaps, des fichiers montés. Module 8. 4. Quels secrets utilise-t-elle ? Mots de passe, certificats, jetons. Réponse : des Secrets, un coffre externe, le RBAC. Modules 8 et 15. 5. Comment sait-on qu'elle fonctionne ? La supervision actuelle, une URL de santé. Réponse : les trois probes, startup, readiness, liveness. Module 9. 6. De quelles ressources a-t-elle besoin ? Le CPU et la mémoire réellement consommés. Réponse : requests, limits, classe QoS. Module 11. [ASTUCE] Insistez sur la colonne « à regarder sur la VM » : la plupart des réponses s'obtiennent en observant l'existant, pas en devinant. [TRANSITION] La suite de la grille.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Questions 7 à 11. 7. Qui l'appelle, et qui appelle-t-elle ? Les flux réseau, les ports, les règles de pare-feu. Réponse : des Services, le DNS, une entrée HTTP, des NetworkPolicies. Modules 7 et 15. 8. Comment survit-elle à une panne, et comment passe-t-elle à l'échelle ? La redondance actuelle, les pics de charge. Réponse : des réplicas, une anti-affinité, un PodDisruptionBudget, un HPA. Modules 5 et 14. 9. Comment l'observe-t-on ? Les fichiers de logs, les métriques. Réponse : des logs sur la sortie standard, des métriques Prometheus. Module 10. 10. Quels droits lui faut-il sur la machine ? L'exécution en root, les ports bas, les accès système. Réponse : un securityContext, Pod Security. Module 15. 11. Comment est-elle livrée ? Des paquets, des scripts d'installation. Réponse : une image versionnée, Helm ou Kustomize, du GitOps. Modules 6 et 13. [CONSEIL] Le point le plus délicat est souvent la question 1, l'état local, ou la question 10, les droits : une application qui exige root ou écrit partout sur son disque demande des adaptations avant migration. [TRANSITION] Appliquons la grille à un cas réel : Elasticsearch.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Exemple : un cluster Elasticsearch. Elasticsearch a un état, ses index. Des besoins mémoire élevés. Et une topologie à respecter, avec plusieurs nœuds qui se répartissent les données. C'est le cas typique où un opérateur fait mieux qu'un StatefulSet écrit à la main. Elastic publie le sien : ECK, pour Elastic Cloud on Kubernetes. Et il s'installe avec Helm. [MONTRER] En bas, les trois commandes d'installation, que vous reconnaissez du module 13 : ajouter le dépôt elastic, le mettre à jour, puis installer le chart eck-operator dans le namespace elastic-system. À droite, ce que fait l'opérateur. On décrit le cluster voulu dans une ressource personnalisée. L'opérateur crée les StatefulSets, les Services, les Secrets, les certificats, et un PodDisruptionBudget. Puis il gère les mises à jour nœud par nœud. [DEMANDER] Avec la grille en tête : à quelles questions ECK répond-il à notre place ? Réponse attendue : l'état local, la livraison, une partie des secrets et de la disponibilité. [TRANSITION] À quoi ressemble cette ressource personnalisée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La ressource Elasticsearch, décrite pour ECK. À gauche : un cluster nommé logs, dans le namespace observabilite. La version est à renseigner. Un nodeSet nommé donnees, avec count: 3, trois nœuds Elasticsearch. Puis un modèle de pod pour le conteneur elasticsearch. À droite, la suite de ce conteneur. Les ressources : requests et limits identiques, 1 CPU et 4 Gi de mémoire. Le commentaire est important : Elasticsearch dimensionne son heap Java à partir de cette limite mémoire. Et des requests égales aux limits donnent la classe QoS Guaranteed, vue au module 11. Puis volumeClaimTemplates, le mécanisme du StatefulSet vu au module 16 : un volume par nœud Elasticsearch. Son nom, elasticsearch-data, est celui attendu par ECK pour le dossier des données. 100 Gi, en ReadWriteOnce, sur une classe de stockage rapide, à renseigner. [ASTUCE] Faites retrouver dans ce YAML les réponses aux questions 1, 2 et 6 de la grille : état, données, ressources. [TRANSITION] Quels sont les points d'attention pour cette migration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Cinq points d'attention. Le paramètre noyau. En production, Elasticsearch exige vm.max_map_count à au moins 262144 sur chaque nœud. On le règle sur les nœuds, ou par un conteneur d'initialisation privilégié. Pour des tests, node.store.allow_mmap: false permet de le contourner. C'est la question 10 de la grille, les droits sur la machine. La mémoire. La limite mémoire du conteneur fixe la taille du heap Java. Des requests égales aux limits, pour le CPU comme pour la mémoire, donnent la classe QoS Guaranteed. Le stockage. Un volume par nœud Elasticsearch, sur une classe de stockage performante. Prévoyez la capacité, et les snapshots Elasticsearch vers un stockage objet. La répartition. Les nœuds Elasticsearch doivent tourner sur des nœuds Kubernetes différents. ECK pose une anti-affinité préférée par défaut, à rendre obligatoire si besoin. C'est le module 5. La bascule. Migrez par snapshot et restauration, ou par réindexation, pendant que l'ancien cluster sur VM continue de servir. On ne coupe l'ancien qu'une fois le nouveau validé. [TRANSITION] À vous d'appliquer la grille à vos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L'ATELIER] TP13, 30 minutes : 15 minutes de travail en équipe, puis 3 minutes de présentation par équipe. [DIRE] Par équipe, remplissez la grille pour votre propre application. Trois sujets : le cluster Elastic de l'équipe Observabilité, un service de l'équipe Secrets, une application de l'assistance utilisateurs. Vous avez 15 minutes. Puis chaque équipe présente en 3 minutes deux choses : les objets Kubernetes retenus, et le point le plus délicat de la migration. Ensuite, à 15:30 : le QCM final, le bilan de la formation, et l'évaluation à chaud. [PENDANT L'ATELIER] Passez de groupe en groupe avec la grille. Relancez par les questions de la colonne « à regarder sur la VM ». Si un groupe bloque sur une question, renvoyez-le au module indiqué. [PRÉSENTATIONS] Tenez le chronomètre : 3 minutes par équipe. Après chaque présentation, posez une question : « et si un nœud tombe ? », « où sont les secrets ? ». [TRANSITION] Place au QCM final. Les annexes suivantes restent à disposition comme 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[USAGE] Annexe de référence, à ne pas présenter en détail. Affichez-la pour indiquer où trouver les commandes, ou pendant les TP en cas de besoin. [DIRE] Les annexes regroupent les commandes kubectl les plus utiles, classées par usage. Dans les commandes, &lt;ns&gt; désigne un namespace et &lt;p&gt; un pod. Cette première page : le contexte et la découverte, puis la lecture. Contexte et découverte : lister et changer de contexte, changer le namespace par défaut, l'état du cluster, la version, les types de ressources avec api-resources, et la documentation d'un champ avec explain. Lire : les pods avec leur IP et leur nœud, les principaux objets d'un namespace, les filtres par label, l'objet complet en YAML, l'extraction de champs avec jsonpath ou custom-columns, describe avec ses événements, les événements Warning, et top pour la consommation. [CONSEIL] Encouragez les participants à garder ces pages ouvertes pendant les premières semaines de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[USAGE] Annexe de référence. [DIRE] Deuxième page : créer et modifier, puis les déploiements. Créer et modifier : apply sur un fichier, un dossier ou un overlay Kustomize ; diff pour voir l'impact ; apply avec --dry-run=server pour valider ; delete -f ; create avec --dry-run=client -o yaml pour générer un squelette ; edit ; label et annotate ; et patch pour une modification ciblée, comme la bascule blue/green. Déploiements : scale, set image, et la famille rollout, avec status, history, undo et restart. [RAPPEL] La règle du module 6 vaut pour toutes ces commandes : une modification durable se reporte dans le fichier, sinon le prochain apply l'annule.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[USAGE] Annexe de référence. [DIRE] Troisième page : le diagnostic, les nœuds, la sécurité, et le côté nœud. Diagnostic : logs avec ses options, -c, -f, --previous, --since ; logs par label avec --prefix ; exec pour un shell ; port-forward ; debug pour un conteneur éphémère ; et run d'un pod temporaire busybox pour les tests réseau. Nœuds : cordon et uncordon ; drain avec ses options ; taint, avec un tiret final pour retirer. Sécurité : auth can-i pour vérifier un droit, en se faisant passer pour un ServiceAccount ; auth can-i --list ; et create token pour un jeton temporaire. Côté nœud, sans passer par l'API : crictl ps et logs ; journalctl pour le kubelet ; et kubeadm certs check-expiration, pour vérifier l'expiration des certificats vue au module 4. [RAPPEL] La méthode du module 10 : get, describe, logs, events. Ces commandes viennent ensuite.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Pour continuer après la formation, sept ressources. La documentation officielle de Kubernetes, sur kubernetes.io/docs : les concepts, les tâches, la référence de l'API. Une partie est traduite en français. Kubernetes the Hard Way : monter un cluster sans kubeadm, composant par composant. L'exercice idéal pour approfondir ce que nous avons vu au module 4. Killercoda : des laboratoires Kubernetes gratuits, dans le navigateur, dont des scénarios de préparation aux certifications. Le CNCF Landscape : la carte de tous les projets de l'écosystème. Artifact Hub et OperatorHub : les catalogues de charts Helm et d'opérateurs. Headlamp : l'interface web présentée en démonstration au jour 3. Et Onyxia : la plateforme de datascience de l'INSEE, bâtie sur Kubernetes. Son code est public : une bonne façon de voir Kubernetes utilisé en vrai, chez vous. [CONSEIL] Si certains visent une certification, rappelez que la formation couvre une bonne partie du programme CKA, et que Killercoda propose des scénarios de préparation.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Affichez cette diapositive pendant le QCM final et l'évaluation à chaud. [DIRE] Nous voici au sommet. Regardez le sentier à droite : le même qu'au premier matin, mais cette fois parcouru jusqu'au bout, avec le drapeau planté. Trois jours, seize modules, treize travaux pratiques. Vous êtes partis d'un conteneur isolé sur une machine. Vous avez installé un cluster de trois nœuds, déployé une application, vous l'avez mise à jour, cassée, réparée, encadrée, sécurisée, fait grandir, et rendue persistante. Si vous ne deviez retenir qu'une idée, ce serait celle du module 2 : vous décrivez l'état désiré, et des contrôleurs le réconcilient en boucle. Tout le reste en découle. Merci pour votre participation et vos questions. Place au QCM final, au bilan, et à l'évaluation à chaud. [BILAN] Revenez sur les attentes notées au tableau le premier jour : lesquelles sont couvertes ? Lesquelles méritent un approfondissement ? Rappelez que le support de cours reste une référence à relire, avec son glossaire et le corrigé des questions de révision en annexe.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9958"/>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0B0748"/>
                </a:solidFill>
                <a:latin typeface="Sora" pitchFamily="34" charset="0"/>
                <a:ea typeface="Sora" pitchFamily="34" charset="-122"/>
                <a:cs typeface="Sora"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645917"/>
            <a:ext cx="10566400" cy="4399283"/>
          </a:xfrm>
          <a:prstGeom prst="rect">
            <a:avLst/>
          </a:prstGeom>
          <a:noFill/>
          <a:ln/>
        </p:spPr>
        <p:txBody>
          <a:bodyPr wrap="square" lIns="0" tIns="0" rIns="0" bIns="0" rtlCol="0" anchor="t"/>
          <a:lstStyle>
            <a:lvl1pPr algn="l" indent="0" marL="0">
              <a:lnSpc>
                <a:spcPct val="140000"/>
              </a:lnSpc>
              <a:buNone/>
              <a:defRPr lang="en-US" sz="1600" dirty="0">
                <a:solidFill>
                  <a:srgbClr val="0B074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9958"/>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0B0748"/>
                </a:solidFill>
                <a:latin typeface="Sora" pitchFamily="34" charset="0"/>
                <a:ea typeface="Sora" pitchFamily="34" charset="-122"/>
                <a:cs typeface="Sora"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645917"/>
            <a:ext cx="10566400" cy="4399283"/>
          </a:xfrm>
          <a:prstGeom prst="rect">
            <a:avLst/>
          </a:prstGeom>
          <a:noFill/>
          <a:ln/>
        </p:spPr>
        <p:txBody>
          <a:bodyPr wrap="square" lIns="0" tIns="0" rIns="0" bIns="0" rtlCol="0" anchor="t"/>
          <a:lstStyle>
            <a:lvl1pPr algn="l" indent="0" marL="0">
              <a:lnSpc>
                <a:spcPct val="140000"/>
              </a:lnSpc>
              <a:buNone/>
              <a:defRPr lang="en-US" sz="1600" dirty="0">
                <a:solidFill>
                  <a:srgbClr val="0B074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2.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2.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2.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2.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2.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2.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2.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2.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2.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2.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2.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2.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2.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2.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2.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2.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2.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slideLayout" Target="../slideLayouts/slideLayout2.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2.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2.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slideLayout" Target="../slideLayouts/slideLayout2.xml"/><Relationship Id="rId8"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2.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slideLayout" Target="../slideLayouts/slideLayout2.xml"/><Relationship Id="rId9"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2.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2.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2.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2.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2.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2.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2.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slideLayout" Target="../slideLayouts/slideLayout2.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image" Target="../media/image-64-7.png"/><Relationship Id="rId8" Type="http://schemas.openxmlformats.org/officeDocument/2006/relationships/slideLayout" Target="../slideLayouts/slideLayout2.xml"/><Relationship Id="rId9"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image" Target="../media/image-65-6.png"/><Relationship Id="rId7" Type="http://schemas.openxmlformats.org/officeDocument/2006/relationships/slideLayout" Target="../slideLayouts/slideLayout2.xml"/><Relationship Id="rId8"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2.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2.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slideLayout" Target="../slideLayouts/slideLayout2.xml"/><Relationship Id="rId5"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2.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2.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slideLayout" Target="../slideLayouts/slideLayout2.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2.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slideLayout" Target="../slideLayouts/slideLayout2.xml"/><Relationship Id="rId6"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image" Target="../media/image-75-6.png"/><Relationship Id="rId7" Type="http://schemas.openxmlformats.org/officeDocument/2006/relationships/slideLayout" Target="../slideLayouts/slideLayout2.xml"/><Relationship Id="rId8"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image" Target="../media/image-76-4.png"/><Relationship Id="rId5" Type="http://schemas.openxmlformats.org/officeDocument/2006/relationships/image" Target="../media/image-76-5.png"/><Relationship Id="rId6" Type="http://schemas.openxmlformats.org/officeDocument/2006/relationships/image" Target="../media/image-76-6.png"/><Relationship Id="rId7" Type="http://schemas.openxmlformats.org/officeDocument/2006/relationships/image" Target="../media/image-76-7.png"/><Relationship Id="rId8" Type="http://schemas.openxmlformats.org/officeDocument/2006/relationships/slideLayout" Target="../slideLayouts/slideLayout2.xml"/><Relationship Id="rId9"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image" Target="../media/image-78-4.png"/><Relationship Id="rId5" Type="http://schemas.openxmlformats.org/officeDocument/2006/relationships/image" Target="../media/image-78-5.png"/><Relationship Id="rId6" Type="http://schemas.openxmlformats.org/officeDocument/2006/relationships/slideLayout" Target="../slideLayouts/slideLayout2.xml"/><Relationship Id="rId7"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2.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image" Target="../media/image-80-4.png"/><Relationship Id="rId5" Type="http://schemas.openxmlformats.org/officeDocument/2006/relationships/slideLayout" Target="../slideLayouts/slideLayout2.xml"/><Relationship Id="rId6"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slideLayout" Target="../slideLayouts/slideLayout2.xml"/><Relationship Id="rId5"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slideLayout" Target="../slideLayouts/slideLayout2.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image" Target="../media/image-83-3.png"/><Relationship Id="rId4" Type="http://schemas.openxmlformats.org/officeDocument/2006/relationships/image" Target="../media/image-83-4.png"/><Relationship Id="rId5" Type="http://schemas.openxmlformats.org/officeDocument/2006/relationships/image" Target="../media/image-83-5.png"/><Relationship Id="rId6" Type="http://schemas.openxmlformats.org/officeDocument/2006/relationships/slideLayout" Target="../slideLayouts/slideLayout2.xml"/><Relationship Id="rId7"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slideLayout" Target="../slideLayouts/slideLayout2.xml"/><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image" Target="../media/image-85-3.png"/><Relationship Id="rId4" Type="http://schemas.openxmlformats.org/officeDocument/2006/relationships/slideLayout" Target="../slideLayouts/slideLayout2.xml"/><Relationship Id="rId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image" Target="../media/image-86-4.png"/><Relationship Id="rId5" Type="http://schemas.openxmlformats.org/officeDocument/2006/relationships/image" Target="../media/image-86-5.png"/><Relationship Id="rId6" Type="http://schemas.openxmlformats.org/officeDocument/2006/relationships/image" Target="../media/image-86-6.png"/><Relationship Id="rId7" Type="http://schemas.openxmlformats.org/officeDocument/2006/relationships/image" Target="../media/image-86-7.png"/><Relationship Id="rId8" Type="http://schemas.openxmlformats.org/officeDocument/2006/relationships/image" Target="../media/image-86-8.png"/><Relationship Id="rId9" Type="http://schemas.openxmlformats.org/officeDocument/2006/relationships/slideLayout" Target="../slideLayouts/slideLayout2.xml"/><Relationship Id="rId10"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image" Target="../media/image-87-3.png"/><Relationship Id="rId4" Type="http://schemas.openxmlformats.org/officeDocument/2006/relationships/image" Target="../media/image-87-4.png"/><Relationship Id="rId5" Type="http://schemas.openxmlformats.org/officeDocument/2006/relationships/image" Target="../media/image-87-5.png"/><Relationship Id="rId6" Type="http://schemas.openxmlformats.org/officeDocument/2006/relationships/image" Target="../media/image-87-6.png"/><Relationship Id="rId7" Type="http://schemas.openxmlformats.org/officeDocument/2006/relationships/image" Target="../media/image-87-7.png"/><Relationship Id="rId8" Type="http://schemas.openxmlformats.org/officeDocument/2006/relationships/slideLayout" Target="../slideLayouts/slideLayout2.xml"/><Relationship Id="rId9"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2.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image" Target="../media/image-89-4.png"/><Relationship Id="rId5" Type="http://schemas.openxmlformats.org/officeDocument/2006/relationships/slideLayout" Target="../slideLayouts/slideLayout2.xml"/><Relationship Id="rId6"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slideLayout" Target="../slideLayouts/slideLayout2.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slideLayout" Target="../slideLayouts/slideLayout2.xml"/><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slideLayout" Target="../slideLayouts/slideLayout2.xml"/><Relationship Id="rId4"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image" Target="../media/image-93-3.png"/><Relationship Id="rId4" Type="http://schemas.openxmlformats.org/officeDocument/2006/relationships/image" Target="../media/image-93-4.png"/><Relationship Id="rId5" Type="http://schemas.openxmlformats.org/officeDocument/2006/relationships/image" Target="../media/image-93-5.png"/><Relationship Id="rId6" Type="http://schemas.openxmlformats.org/officeDocument/2006/relationships/slideLayout" Target="../slideLayouts/slideLayout2.xml"/><Relationship Id="rId7"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slideLayout" Target="../slideLayouts/slideLayout2.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image" Target="../media/image-95-3.png"/><Relationship Id="rId4" Type="http://schemas.openxmlformats.org/officeDocument/2006/relationships/image" Target="../media/image-95-4.png"/><Relationship Id="rId5" Type="http://schemas.openxmlformats.org/officeDocument/2006/relationships/image" Target="../media/image-95-5.png"/><Relationship Id="rId6" Type="http://schemas.openxmlformats.org/officeDocument/2006/relationships/image" Target="../media/image-95-6.png"/><Relationship Id="rId7" Type="http://schemas.openxmlformats.org/officeDocument/2006/relationships/slideLayout" Target="../slideLayouts/slideLayout2.xml"/><Relationship Id="rId8"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image" Target="../media/image-96-2.png"/><Relationship Id="rId3" Type="http://schemas.openxmlformats.org/officeDocument/2006/relationships/image" Target="../media/image-96-3.png"/><Relationship Id="rId4" Type="http://schemas.openxmlformats.org/officeDocument/2006/relationships/image" Target="../media/image-96-4.png"/><Relationship Id="rId5" Type="http://schemas.openxmlformats.org/officeDocument/2006/relationships/image" Target="../media/image-96-5.png"/><Relationship Id="rId6" Type="http://schemas.openxmlformats.org/officeDocument/2006/relationships/image" Target="../media/image-96-6.png"/><Relationship Id="rId7" Type="http://schemas.openxmlformats.org/officeDocument/2006/relationships/slideLayout" Target="../slideLayouts/slideLayout2.xml"/><Relationship Id="rId8"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2.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image" Target="../media/image-98-3.png"/><Relationship Id="rId4" Type="http://schemas.openxmlformats.org/officeDocument/2006/relationships/slideLayout" Target="../slideLayouts/slideLayout2.xml"/><Relationship Id="rId5"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slideLayout" Target="../slideLayouts/slideLayout2.xml"/><Relationship Id="rId4"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image" Target="../media/image-100-2.png"/><Relationship Id="rId3" Type="http://schemas.openxmlformats.org/officeDocument/2006/relationships/slideLayout" Target="../slideLayouts/slideLayout2.xml"/><Relationship Id="rId4"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image" Target="../media/image-101-2.png"/><Relationship Id="rId3" Type="http://schemas.openxmlformats.org/officeDocument/2006/relationships/slideLayout" Target="../slideLayouts/slideLayout2.xml"/><Relationship Id="rId4"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image" Target="../media/image-102-2.png"/><Relationship Id="rId3" Type="http://schemas.openxmlformats.org/officeDocument/2006/relationships/slideLayout" Target="../slideLayouts/slideLayout2.xml"/><Relationship Id="rId4"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image" Target="../media/image-103-2.png"/><Relationship Id="rId3" Type="http://schemas.openxmlformats.org/officeDocument/2006/relationships/slideLayout" Target="../slideLayouts/slideLayout2.xml"/><Relationship Id="rId4"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image" Target="../media/image-104-2.png"/><Relationship Id="rId3" Type="http://schemas.openxmlformats.org/officeDocument/2006/relationships/slideLayout" Target="../slideLayouts/slideLayout2.xml"/><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image" Target="../media/image-105-2.png"/><Relationship Id="rId3" Type="http://schemas.openxmlformats.org/officeDocument/2006/relationships/image" Target="../media/image-105-3.png"/><Relationship Id="rId4" Type="http://schemas.openxmlformats.org/officeDocument/2006/relationships/image" Target="../media/image-105-4.png"/><Relationship Id="rId5" Type="http://schemas.openxmlformats.org/officeDocument/2006/relationships/image" Target="../media/image-105-5.png"/><Relationship Id="rId6" Type="http://schemas.openxmlformats.org/officeDocument/2006/relationships/image" Target="../media/image-105-6.png"/><Relationship Id="rId7" Type="http://schemas.openxmlformats.org/officeDocument/2006/relationships/image" Target="../media/image-105-7.png"/><Relationship Id="rId8" Type="http://schemas.openxmlformats.org/officeDocument/2006/relationships/slideLayout" Target="../slideLayouts/slideLayout2.xml"/><Relationship Id="rId9"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image" Target="../media/image-106-2.png"/><Relationship Id="rId3" Type="http://schemas.openxmlformats.org/officeDocument/2006/relationships/image" Target="../media/image-106-3.png"/><Relationship Id="rId4" Type="http://schemas.openxmlformats.org/officeDocument/2006/relationships/image" Target="../media/image-106-4.png"/><Relationship Id="rId5" Type="http://schemas.openxmlformats.org/officeDocument/2006/relationships/image" Target="../media/image-106-5.png"/><Relationship Id="rId6" Type="http://schemas.openxmlformats.org/officeDocument/2006/relationships/image" Target="../media/image-106-6.png"/><Relationship Id="rId7" Type="http://schemas.openxmlformats.org/officeDocument/2006/relationships/slideLayout" Target="../slideLayouts/slideLayout2.xml"/><Relationship Id="rId8"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image" Target="../media/image-107-2.png"/><Relationship Id="rId3" Type="http://schemas.openxmlformats.org/officeDocument/2006/relationships/image" Target="../media/image-107-3.png"/><Relationship Id="rId4" Type="http://schemas.openxmlformats.org/officeDocument/2006/relationships/image" Target="../media/image-107-4.png"/><Relationship Id="rId5" Type="http://schemas.openxmlformats.org/officeDocument/2006/relationships/image" Target="../media/image-107-5.png"/><Relationship Id="rId6" Type="http://schemas.openxmlformats.org/officeDocument/2006/relationships/image" Target="../media/image-107-6.png"/><Relationship Id="rId7" Type="http://schemas.openxmlformats.org/officeDocument/2006/relationships/image" Target="../media/image-107-7.png"/><Relationship Id="rId8" Type="http://schemas.openxmlformats.org/officeDocument/2006/relationships/slideLayout" Target="../slideLayouts/slideLayout2.xml"/><Relationship Id="rId9"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2.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image" Target="../media/image-109-3.png"/><Relationship Id="rId4" Type="http://schemas.openxmlformats.org/officeDocument/2006/relationships/image" Target="../media/image-109-4.png"/><Relationship Id="rId5" Type="http://schemas.openxmlformats.org/officeDocument/2006/relationships/image" Target="../media/image-109-5.png"/><Relationship Id="rId6" Type="http://schemas.openxmlformats.org/officeDocument/2006/relationships/image" Target="../media/image-109-6.png"/><Relationship Id="rId7" Type="http://schemas.openxmlformats.org/officeDocument/2006/relationships/image" Target="../media/image-109-7.png"/><Relationship Id="rId8" Type="http://schemas.openxmlformats.org/officeDocument/2006/relationships/image" Target="../media/image-109-8.png"/><Relationship Id="rId9" Type="http://schemas.openxmlformats.org/officeDocument/2006/relationships/image" Target="../media/image-109-9.png"/><Relationship Id="rId10" Type="http://schemas.openxmlformats.org/officeDocument/2006/relationships/slideLayout" Target="../slideLayouts/slideLayout2.xml"/><Relationship Id="rId11"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image" Target="../media/image-110-2.png"/><Relationship Id="rId3" Type="http://schemas.openxmlformats.org/officeDocument/2006/relationships/slideLayout" Target="../slideLayouts/slideLayout2.xml"/><Relationship Id="rId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image" Target="../media/image-111-2.png"/><Relationship Id="rId3" Type="http://schemas.openxmlformats.org/officeDocument/2006/relationships/slideLayout" Target="../slideLayouts/slideLayout2.xml"/><Relationship Id="rId4"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image" Target="../media/image-112-2.png"/><Relationship Id="rId3" Type="http://schemas.openxmlformats.org/officeDocument/2006/relationships/slideLayout" Target="../slideLayouts/slideLayout2.xml"/><Relationship Id="rId4"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image" Target="../media/image-113-2.png"/><Relationship Id="rId3" Type="http://schemas.openxmlformats.org/officeDocument/2006/relationships/slideLayout" Target="../slideLayouts/slideLayout2.xml"/><Relationship Id="rId4"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image" Target="../media/image-114-2.png"/><Relationship Id="rId3" Type="http://schemas.openxmlformats.org/officeDocument/2006/relationships/slideLayout" Target="../slideLayouts/slideLayout2.xml"/><Relationship Id="rId4"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image" Target="../media/image-115-2.png"/><Relationship Id="rId3" Type="http://schemas.openxmlformats.org/officeDocument/2006/relationships/image" Target="../media/image-115-3.png"/><Relationship Id="rId4" Type="http://schemas.openxmlformats.org/officeDocument/2006/relationships/image" Target="../media/image-115-4.png"/><Relationship Id="rId5" Type="http://schemas.openxmlformats.org/officeDocument/2006/relationships/slideLayout" Target="../slideLayouts/slideLayout2.xml"/><Relationship Id="rId6"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image" Target="../media/image-116-2.png"/><Relationship Id="rId3" Type="http://schemas.openxmlformats.org/officeDocument/2006/relationships/image" Target="../media/image-116-3.png"/><Relationship Id="rId4" Type="http://schemas.openxmlformats.org/officeDocument/2006/relationships/image" Target="../media/image-116-4.png"/><Relationship Id="rId5" Type="http://schemas.openxmlformats.org/officeDocument/2006/relationships/image" Target="../media/image-116-5.png"/><Relationship Id="rId6" Type="http://schemas.openxmlformats.org/officeDocument/2006/relationships/slideLayout" Target="../slideLayouts/slideLayout2.xml"/><Relationship Id="rId7"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image" Target="../media/image-117-2.png"/><Relationship Id="rId3" Type="http://schemas.openxmlformats.org/officeDocument/2006/relationships/slideLayout" Target="../slideLayouts/slideLayout2.xml"/><Relationship Id="rId4"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image" Target="../media/image-118-2.png"/><Relationship Id="rId3" Type="http://schemas.openxmlformats.org/officeDocument/2006/relationships/image" Target="../media/image-118-3.png"/><Relationship Id="rId4" Type="http://schemas.openxmlformats.org/officeDocument/2006/relationships/image" Target="../media/image-118-4.png"/><Relationship Id="rId5" Type="http://schemas.openxmlformats.org/officeDocument/2006/relationships/image" Target="../media/image-118-5.png"/><Relationship Id="rId6" Type="http://schemas.openxmlformats.org/officeDocument/2006/relationships/image" Target="../media/image-118-6.png"/><Relationship Id="rId7" Type="http://schemas.openxmlformats.org/officeDocument/2006/relationships/slideLayout" Target="../slideLayouts/slideLayout2.xml"/><Relationship Id="rId8"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image" Target="../media/image-119-2.png"/><Relationship Id="rId3" Type="http://schemas.openxmlformats.org/officeDocument/2006/relationships/slideLayout" Target="../slideLayouts/slideLayout2.xml"/><Relationship Id="rId4"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image" Target="../media/image-120-2.png"/><Relationship Id="rId3" Type="http://schemas.openxmlformats.org/officeDocument/2006/relationships/image" Target="../media/image-120-3.png"/><Relationship Id="rId4" Type="http://schemas.openxmlformats.org/officeDocument/2006/relationships/image" Target="../media/image-120-4.png"/><Relationship Id="rId5" Type="http://schemas.openxmlformats.org/officeDocument/2006/relationships/image" Target="../media/image-120-5.png"/><Relationship Id="rId6" Type="http://schemas.openxmlformats.org/officeDocument/2006/relationships/image" Target="../media/image-120-6.png"/><Relationship Id="rId7" Type="http://schemas.openxmlformats.org/officeDocument/2006/relationships/image" Target="../media/image-120-7.png"/><Relationship Id="rId8" Type="http://schemas.openxmlformats.org/officeDocument/2006/relationships/slideLayout" Target="../slideLayouts/slideLayout2.xml"/><Relationship Id="rId9"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image" Target="../media/image-121-2.png"/><Relationship Id="rId3" Type="http://schemas.openxmlformats.org/officeDocument/2006/relationships/image" Target="../media/image-121-3.png"/><Relationship Id="rId4" Type="http://schemas.openxmlformats.org/officeDocument/2006/relationships/slideLayout" Target="../slideLayouts/slideLayout2.xml"/><Relationship Id="rId5"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2.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image" Target="../media/image-123-2.png"/><Relationship Id="rId3" Type="http://schemas.openxmlformats.org/officeDocument/2006/relationships/slideLayout" Target="../slideLayouts/slideLayout2.xml"/><Relationship Id="rId4"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image" Target="../media/image-124-2.png"/><Relationship Id="rId3" Type="http://schemas.openxmlformats.org/officeDocument/2006/relationships/slideLayout" Target="../slideLayouts/slideLayout2.xml"/><Relationship Id="rId4"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image" Target="../media/image-125-2.png"/><Relationship Id="rId3" Type="http://schemas.openxmlformats.org/officeDocument/2006/relationships/slideLayout" Target="../slideLayouts/slideLayout2.xml"/><Relationship Id="rId4"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image" Target="../media/image-126-2.png"/><Relationship Id="rId3" Type="http://schemas.openxmlformats.org/officeDocument/2006/relationships/slideLayout" Target="../slideLayouts/slideLayout2.xml"/><Relationship Id="rId4"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image" Target="../media/image-127-2.png"/><Relationship Id="rId3" Type="http://schemas.openxmlformats.org/officeDocument/2006/relationships/slideLayout" Target="../slideLayouts/slideLayout2.xml"/><Relationship Id="rId4"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image" Target="../media/image-128-2.png"/><Relationship Id="rId3" Type="http://schemas.openxmlformats.org/officeDocument/2006/relationships/slideLayout" Target="../slideLayouts/slideLayout2.xml"/><Relationship Id="rId4"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image" Target="../media/image-129-2.png"/><Relationship Id="rId3" Type="http://schemas.openxmlformats.org/officeDocument/2006/relationships/slideLayout" Target="../slideLayouts/slideLayout2.xml"/><Relationship Id="rId4"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image" Target="../media/image-130-2.png"/><Relationship Id="rId3" Type="http://schemas.openxmlformats.org/officeDocument/2006/relationships/slideLayout" Target="../slideLayouts/slideLayout2.xml"/><Relationship Id="rId4"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image" Target="../media/image-131-2.png"/><Relationship Id="rId3" Type="http://schemas.openxmlformats.org/officeDocument/2006/relationships/slideLayout" Target="../slideLayouts/slideLayout2.xml"/><Relationship Id="rId4"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image" Target="../media/image-132-2.png"/><Relationship Id="rId3" Type="http://schemas.openxmlformats.org/officeDocument/2006/relationships/image" Target="../media/image-132-3.png"/><Relationship Id="rId4" Type="http://schemas.openxmlformats.org/officeDocument/2006/relationships/image" Target="../media/image-132-4.png"/><Relationship Id="rId5" Type="http://schemas.openxmlformats.org/officeDocument/2006/relationships/image" Target="../media/image-132-5.png"/><Relationship Id="rId6" Type="http://schemas.openxmlformats.org/officeDocument/2006/relationships/image" Target="../media/image-132-6.png"/><Relationship Id="rId7" Type="http://schemas.openxmlformats.org/officeDocument/2006/relationships/image" Target="../media/image-132-7.png"/><Relationship Id="rId8" Type="http://schemas.openxmlformats.org/officeDocument/2006/relationships/slideLayout" Target="../slideLayouts/slideLayout2.xml"/><Relationship Id="rId9"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2.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image" Target="../media/image-134-2.png"/><Relationship Id="rId3" Type="http://schemas.openxmlformats.org/officeDocument/2006/relationships/slideLayout" Target="../slideLayouts/slideLayout2.xml"/><Relationship Id="rId4"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image" Target="../media/image-135-2.png"/><Relationship Id="rId3" Type="http://schemas.openxmlformats.org/officeDocument/2006/relationships/image" Target="../media/image-135-3.png"/><Relationship Id="rId4" Type="http://schemas.openxmlformats.org/officeDocument/2006/relationships/slideLayout" Target="../slideLayouts/slideLayout2.xml"/><Relationship Id="rId5"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image" Target="../media/image-136-2.png"/><Relationship Id="rId3" Type="http://schemas.openxmlformats.org/officeDocument/2006/relationships/slideLayout" Target="../slideLayouts/slideLayout2.xml"/><Relationship Id="rId4"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image" Target="../media/image-137-2.png"/><Relationship Id="rId3" Type="http://schemas.openxmlformats.org/officeDocument/2006/relationships/image" Target="../media/image-137-3.png"/><Relationship Id="rId4" Type="http://schemas.openxmlformats.org/officeDocument/2006/relationships/image" Target="../media/image-137-4.png"/><Relationship Id="rId5" Type="http://schemas.openxmlformats.org/officeDocument/2006/relationships/image" Target="../media/image-137-5.png"/><Relationship Id="rId6" Type="http://schemas.openxmlformats.org/officeDocument/2006/relationships/image" Target="../media/image-137-6.png"/><Relationship Id="rId7" Type="http://schemas.openxmlformats.org/officeDocument/2006/relationships/image" Target="../media/image-137-7.png"/><Relationship Id="rId8" Type="http://schemas.openxmlformats.org/officeDocument/2006/relationships/image" Target="../media/image-137-8.png"/><Relationship Id="rId9" Type="http://schemas.openxmlformats.org/officeDocument/2006/relationships/slideLayout" Target="../slideLayouts/slideLayout2.xml"/><Relationship Id="rId10"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image" Target="../media/image-138-2.png"/><Relationship Id="rId3" Type="http://schemas.openxmlformats.org/officeDocument/2006/relationships/slideLayout" Target="../slideLayouts/slideLayout2.xml"/><Relationship Id="rId4"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image" Target="../media/image-139-2.png"/><Relationship Id="rId3" Type="http://schemas.openxmlformats.org/officeDocument/2006/relationships/image" Target="../media/image-139-3.png"/><Relationship Id="rId4" Type="http://schemas.openxmlformats.org/officeDocument/2006/relationships/image" Target="../media/image-139-4.png"/><Relationship Id="rId5" Type="http://schemas.openxmlformats.org/officeDocument/2006/relationships/image" Target="../media/image-139-5.png"/><Relationship Id="rId6" Type="http://schemas.openxmlformats.org/officeDocument/2006/relationships/slideLayout" Target="../slideLayouts/slideLayout2.xml"/><Relationship Id="rId7"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image" Target="../media/image-140-2.png"/><Relationship Id="rId3" Type="http://schemas.openxmlformats.org/officeDocument/2006/relationships/slideLayout" Target="../slideLayouts/slideLayout2.xml"/><Relationship Id="rId4"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image" Target="../media/image-141-2.png"/><Relationship Id="rId3" Type="http://schemas.openxmlformats.org/officeDocument/2006/relationships/image" Target="../media/image-141-3.png"/><Relationship Id="rId4" Type="http://schemas.openxmlformats.org/officeDocument/2006/relationships/image" Target="../media/image-141-4.png"/><Relationship Id="rId5" Type="http://schemas.openxmlformats.org/officeDocument/2006/relationships/slideLayout" Target="../slideLayouts/slideLayout2.xml"/><Relationship Id="rId6"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png"/><Relationship Id="rId2" Type="http://schemas.openxmlformats.org/officeDocument/2006/relationships/image" Target="../media/image-142-2.png"/><Relationship Id="rId3" Type="http://schemas.openxmlformats.org/officeDocument/2006/relationships/slideLayout" Target="../slideLayouts/slideLayout2.xml"/><Relationship Id="rId4"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png"/><Relationship Id="rId2" Type="http://schemas.openxmlformats.org/officeDocument/2006/relationships/image" Target="../media/image-143-2.png"/><Relationship Id="rId3" Type="http://schemas.openxmlformats.org/officeDocument/2006/relationships/image" Target="../media/image-143-3.png"/><Relationship Id="rId4" Type="http://schemas.openxmlformats.org/officeDocument/2006/relationships/image" Target="../media/image-143-4.png"/><Relationship Id="rId5" Type="http://schemas.openxmlformats.org/officeDocument/2006/relationships/image" Target="../media/image-143-5.png"/><Relationship Id="rId6" Type="http://schemas.openxmlformats.org/officeDocument/2006/relationships/image" Target="../media/image-143-6.png"/><Relationship Id="rId7" Type="http://schemas.openxmlformats.org/officeDocument/2006/relationships/slideLayout" Target="../slideLayouts/slideLayout2.xml"/><Relationship Id="rId8"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image" Target="../media/image-144-2.png"/><Relationship Id="rId3" Type="http://schemas.openxmlformats.org/officeDocument/2006/relationships/image" Target="../media/image-144-3.png"/><Relationship Id="rId4" Type="http://schemas.openxmlformats.org/officeDocument/2006/relationships/image" Target="../media/image-144-4.png"/><Relationship Id="rId5" Type="http://schemas.openxmlformats.org/officeDocument/2006/relationships/image" Target="../media/image-144-5.png"/><Relationship Id="rId6" Type="http://schemas.openxmlformats.org/officeDocument/2006/relationships/image" Target="../media/image-144-6.png"/><Relationship Id="rId7" Type="http://schemas.openxmlformats.org/officeDocument/2006/relationships/slideLayout" Target="../slideLayouts/slideLayout2.xml"/><Relationship Id="rId8"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2.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image" Target="../media/image-146-2.png"/><Relationship Id="rId3" Type="http://schemas.openxmlformats.org/officeDocument/2006/relationships/slideLayout" Target="../slideLayouts/slideLayout2.xml"/><Relationship Id="rId4"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png"/><Relationship Id="rId2" Type="http://schemas.openxmlformats.org/officeDocument/2006/relationships/image" Target="../media/image-147-2.png"/><Relationship Id="rId3" Type="http://schemas.openxmlformats.org/officeDocument/2006/relationships/image" Target="../media/image-147-3.png"/><Relationship Id="rId4" Type="http://schemas.openxmlformats.org/officeDocument/2006/relationships/image" Target="../media/image-147-4.png"/><Relationship Id="rId5" Type="http://schemas.openxmlformats.org/officeDocument/2006/relationships/image" Target="../media/image-147-5.png"/><Relationship Id="rId6" Type="http://schemas.openxmlformats.org/officeDocument/2006/relationships/slideLayout" Target="../slideLayouts/slideLayout2.xml"/><Relationship Id="rId7"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png"/><Relationship Id="rId2" Type="http://schemas.openxmlformats.org/officeDocument/2006/relationships/image" Target="../media/image-148-2.png"/><Relationship Id="rId3" Type="http://schemas.openxmlformats.org/officeDocument/2006/relationships/slideLayout" Target="../slideLayouts/slideLayout2.xml"/><Relationship Id="rId4"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png"/><Relationship Id="rId2" Type="http://schemas.openxmlformats.org/officeDocument/2006/relationships/image" Target="../media/image-149-2.png"/><Relationship Id="rId3" Type="http://schemas.openxmlformats.org/officeDocument/2006/relationships/slideLayout" Target="../slideLayouts/slideLayout2.xml"/><Relationship Id="rId4"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png"/><Relationship Id="rId2" Type="http://schemas.openxmlformats.org/officeDocument/2006/relationships/image" Target="../media/image-150-2.png"/><Relationship Id="rId3" Type="http://schemas.openxmlformats.org/officeDocument/2006/relationships/slideLayout" Target="../slideLayouts/slideLayout2.xml"/><Relationship Id="rId4"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png"/><Relationship Id="rId2" Type="http://schemas.openxmlformats.org/officeDocument/2006/relationships/image" Target="../media/image-151-2.png"/><Relationship Id="rId3" Type="http://schemas.openxmlformats.org/officeDocument/2006/relationships/image" Target="../media/image-151-3.png"/><Relationship Id="rId4" Type="http://schemas.openxmlformats.org/officeDocument/2006/relationships/image" Target="../media/image-151-4.png"/><Relationship Id="rId5" Type="http://schemas.openxmlformats.org/officeDocument/2006/relationships/slideLayout" Target="../slideLayouts/slideLayout2.xml"/><Relationship Id="rId6"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png"/><Relationship Id="rId2" Type="http://schemas.openxmlformats.org/officeDocument/2006/relationships/image" Target="../media/image-152-2.png"/><Relationship Id="rId3" Type="http://schemas.openxmlformats.org/officeDocument/2006/relationships/slideLayout" Target="../slideLayouts/slideLayout2.xml"/><Relationship Id="rId4"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png"/><Relationship Id="rId2" Type="http://schemas.openxmlformats.org/officeDocument/2006/relationships/image" Target="../media/image-153-2.png"/><Relationship Id="rId3" Type="http://schemas.openxmlformats.org/officeDocument/2006/relationships/image" Target="../media/image-153-3.png"/><Relationship Id="rId4" Type="http://schemas.openxmlformats.org/officeDocument/2006/relationships/image" Target="../media/image-153-4.png"/><Relationship Id="rId5" Type="http://schemas.openxmlformats.org/officeDocument/2006/relationships/slideLayout" Target="../slideLayouts/slideLayout2.xml"/><Relationship Id="rId6"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image-154-1.png"/><Relationship Id="rId2" Type="http://schemas.openxmlformats.org/officeDocument/2006/relationships/image" Target="../media/image-154-2.png"/><Relationship Id="rId3" Type="http://schemas.openxmlformats.org/officeDocument/2006/relationships/slideLayout" Target="../slideLayouts/slideLayout2.xml"/><Relationship Id="rId4"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png"/><Relationship Id="rId2" Type="http://schemas.openxmlformats.org/officeDocument/2006/relationships/image" Target="../media/image-155-2.png"/><Relationship Id="rId3" Type="http://schemas.openxmlformats.org/officeDocument/2006/relationships/image" Target="../media/image-155-3.png"/><Relationship Id="rId4" Type="http://schemas.openxmlformats.org/officeDocument/2006/relationships/image" Target="../media/image-155-4.png"/><Relationship Id="rId5" Type="http://schemas.openxmlformats.org/officeDocument/2006/relationships/image" Target="../media/image-155-5.png"/><Relationship Id="rId6" Type="http://schemas.openxmlformats.org/officeDocument/2006/relationships/image" Target="../media/image-155-6.png"/><Relationship Id="rId7" Type="http://schemas.openxmlformats.org/officeDocument/2006/relationships/slideLayout" Target="../slideLayouts/slideLayout2.xml"/><Relationship Id="rId8"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image-156-1.png"/><Relationship Id="rId2" Type="http://schemas.openxmlformats.org/officeDocument/2006/relationships/image" Target="../media/image-156-2.png"/><Relationship Id="rId3" Type="http://schemas.openxmlformats.org/officeDocument/2006/relationships/image" Target="../media/image-156-3.png"/><Relationship Id="rId4" Type="http://schemas.openxmlformats.org/officeDocument/2006/relationships/image" Target="../media/image-156-4.png"/><Relationship Id="rId5" Type="http://schemas.openxmlformats.org/officeDocument/2006/relationships/image" Target="../media/image-156-5.png"/><Relationship Id="rId6" Type="http://schemas.openxmlformats.org/officeDocument/2006/relationships/image" Target="../media/image-156-6.png"/><Relationship Id="rId7" Type="http://schemas.openxmlformats.org/officeDocument/2006/relationships/slideLayout" Target="../slideLayouts/slideLayout2.xml"/><Relationship Id="rId8"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image-157-1.png"/><Relationship Id="rId2" Type="http://schemas.openxmlformats.org/officeDocument/2006/relationships/slideLayout" Target="../slideLayouts/slideLayout2.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image-158-1.png"/><Relationship Id="rId2" Type="http://schemas.openxmlformats.org/officeDocument/2006/relationships/image" Target="../media/image-158-2.png"/><Relationship Id="rId3" Type="http://schemas.openxmlformats.org/officeDocument/2006/relationships/slideLayout" Target="../slideLayouts/slideLayout2.xml"/><Relationship Id="rId4"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image-159-1.png"/><Relationship Id="rId2" Type="http://schemas.openxmlformats.org/officeDocument/2006/relationships/image" Target="../media/image-159-2.png"/><Relationship Id="rId3" Type="http://schemas.openxmlformats.org/officeDocument/2006/relationships/slideLayout" Target="../slideLayouts/slideLayout2.xml"/><Relationship Id="rId4"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image-160-1.png"/><Relationship Id="rId2" Type="http://schemas.openxmlformats.org/officeDocument/2006/relationships/image" Target="../media/image-160-2.png"/><Relationship Id="rId3" Type="http://schemas.openxmlformats.org/officeDocument/2006/relationships/slideLayout" Target="../slideLayouts/slideLayout2.xml"/><Relationship Id="rId4"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image-161-1.png"/><Relationship Id="rId2" Type="http://schemas.openxmlformats.org/officeDocument/2006/relationships/image" Target="../media/image-161-2.png"/><Relationship Id="rId3" Type="http://schemas.openxmlformats.org/officeDocument/2006/relationships/image" Target="../media/image-161-3.png"/><Relationship Id="rId4" Type="http://schemas.openxmlformats.org/officeDocument/2006/relationships/image" Target="../media/image-161-4.png"/><Relationship Id="rId5" Type="http://schemas.openxmlformats.org/officeDocument/2006/relationships/slideLayout" Target="../slideLayouts/slideLayout2.xml"/><Relationship Id="rId6"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image" Target="../media/image-162-1.png"/><Relationship Id="rId2" Type="http://schemas.openxmlformats.org/officeDocument/2006/relationships/image" Target="../media/image-162-2.png"/><Relationship Id="rId3" Type="http://schemas.openxmlformats.org/officeDocument/2006/relationships/image" Target="../media/image-162-3.png"/><Relationship Id="rId4" Type="http://schemas.openxmlformats.org/officeDocument/2006/relationships/slideLayout" Target="../slideLayouts/slideLayout2.xml"/><Relationship Id="rId5"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image-163-1.png"/><Relationship Id="rId2" Type="http://schemas.openxmlformats.org/officeDocument/2006/relationships/image" Target="../media/image-163-2.png"/><Relationship Id="rId3" Type="http://schemas.openxmlformats.org/officeDocument/2006/relationships/slideLayout" Target="../slideLayouts/slideLayout2.xml"/><Relationship Id="rId4"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image-164-1.png"/><Relationship Id="rId2" Type="http://schemas.openxmlformats.org/officeDocument/2006/relationships/image" Target="../media/image-164-2.png"/><Relationship Id="rId3" Type="http://schemas.openxmlformats.org/officeDocument/2006/relationships/slideLayout" Target="../slideLayouts/slideLayout2.xml"/><Relationship Id="rId4"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image" Target="../media/image-165-1.png"/><Relationship Id="rId2" Type="http://schemas.openxmlformats.org/officeDocument/2006/relationships/image" Target="../media/image-165-2.png"/><Relationship Id="rId3" Type="http://schemas.openxmlformats.org/officeDocument/2006/relationships/image" Target="../media/image-165-3.png"/><Relationship Id="rId4" Type="http://schemas.openxmlformats.org/officeDocument/2006/relationships/slideLayout" Target="../slideLayouts/slideLayout2.xml"/><Relationship Id="rId5"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image-166-1.png"/><Relationship Id="rId2" Type="http://schemas.openxmlformats.org/officeDocument/2006/relationships/image" Target="../media/image-166-2.png"/><Relationship Id="rId3" Type="http://schemas.openxmlformats.org/officeDocument/2006/relationships/slideLayout" Target="../slideLayouts/slideLayout2.xml"/><Relationship Id="rId4"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image-167-1.png"/><Relationship Id="rId2" Type="http://schemas.openxmlformats.org/officeDocument/2006/relationships/image" Target="../media/image-167-2.png"/><Relationship Id="rId3" Type="http://schemas.openxmlformats.org/officeDocument/2006/relationships/image" Target="../media/image-167-3.png"/><Relationship Id="rId4" Type="http://schemas.openxmlformats.org/officeDocument/2006/relationships/image" Target="../media/image-167-4.png"/><Relationship Id="rId5" Type="http://schemas.openxmlformats.org/officeDocument/2006/relationships/image" Target="../media/image-167-5.png"/><Relationship Id="rId6" Type="http://schemas.openxmlformats.org/officeDocument/2006/relationships/image" Target="../media/image-167-6.png"/><Relationship Id="rId7" Type="http://schemas.openxmlformats.org/officeDocument/2006/relationships/slideLayout" Target="../slideLayouts/slideLayout2.xml"/><Relationship Id="rId8"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image-168-1.png"/><Relationship Id="rId2" Type="http://schemas.openxmlformats.org/officeDocument/2006/relationships/image" Target="../media/image-168-2.png"/><Relationship Id="rId3" Type="http://schemas.openxmlformats.org/officeDocument/2006/relationships/image" Target="../media/image-168-3.png"/><Relationship Id="rId4" Type="http://schemas.openxmlformats.org/officeDocument/2006/relationships/image" Target="../media/image-168-4.png"/><Relationship Id="rId5" Type="http://schemas.openxmlformats.org/officeDocument/2006/relationships/image" Target="../media/image-168-5.png"/><Relationship Id="rId6" Type="http://schemas.openxmlformats.org/officeDocument/2006/relationships/image" Target="../media/image-168-6.png"/><Relationship Id="rId7" Type="http://schemas.openxmlformats.org/officeDocument/2006/relationships/slideLayout" Target="../slideLayouts/slideLayout2.xml"/><Relationship Id="rId8"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image-169-1.png"/><Relationship Id="rId2" Type="http://schemas.openxmlformats.org/officeDocument/2006/relationships/slideLayout" Target="../slideLayouts/slideLayout2.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image-170-1.png"/><Relationship Id="rId2" Type="http://schemas.openxmlformats.org/officeDocument/2006/relationships/image" Target="../media/image-170-2.png"/><Relationship Id="rId3" Type="http://schemas.openxmlformats.org/officeDocument/2006/relationships/slideLayout" Target="../slideLayouts/slideLayout2.xml"/><Relationship Id="rId4"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image-171-1.png"/><Relationship Id="rId2" Type="http://schemas.openxmlformats.org/officeDocument/2006/relationships/image" Target="../media/image-171-2.png"/><Relationship Id="rId3" Type="http://schemas.openxmlformats.org/officeDocument/2006/relationships/image" Target="../media/image-171-3.png"/><Relationship Id="rId4" Type="http://schemas.openxmlformats.org/officeDocument/2006/relationships/image" Target="../media/image-171-4.png"/><Relationship Id="rId5" Type="http://schemas.openxmlformats.org/officeDocument/2006/relationships/image" Target="../media/image-171-5.png"/><Relationship Id="rId6" Type="http://schemas.openxmlformats.org/officeDocument/2006/relationships/slideLayout" Target="../slideLayouts/slideLayout2.xml"/><Relationship Id="rId7"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image-172-1.png"/><Relationship Id="rId2" Type="http://schemas.openxmlformats.org/officeDocument/2006/relationships/image" Target="../media/image-172-2.png"/><Relationship Id="rId3" Type="http://schemas.openxmlformats.org/officeDocument/2006/relationships/slideLayout" Target="../slideLayouts/slideLayout2.xml"/><Relationship Id="rId4"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image" Target="../media/image-173-1.png"/><Relationship Id="rId2" Type="http://schemas.openxmlformats.org/officeDocument/2006/relationships/image" Target="../media/image-173-2.png"/><Relationship Id="rId3" Type="http://schemas.openxmlformats.org/officeDocument/2006/relationships/slideLayout" Target="../slideLayouts/slideLayout2.xml"/><Relationship Id="rId4"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image-174-1.png"/><Relationship Id="rId2" Type="http://schemas.openxmlformats.org/officeDocument/2006/relationships/image" Target="../media/image-174-2.png"/><Relationship Id="rId3" Type="http://schemas.openxmlformats.org/officeDocument/2006/relationships/slideLayout" Target="../slideLayouts/slideLayout2.xml"/><Relationship Id="rId4"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image-175-1.png"/><Relationship Id="rId2" Type="http://schemas.openxmlformats.org/officeDocument/2006/relationships/image" Target="../media/image-175-2.png"/><Relationship Id="rId3" Type="http://schemas.openxmlformats.org/officeDocument/2006/relationships/slideLayout" Target="../slideLayouts/slideLayout2.xml"/><Relationship Id="rId4"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image" Target="../media/image-176-1.png"/><Relationship Id="rId2" Type="http://schemas.openxmlformats.org/officeDocument/2006/relationships/image" Target="../media/image-176-2.png"/><Relationship Id="rId3" Type="http://schemas.openxmlformats.org/officeDocument/2006/relationships/slideLayout" Target="../slideLayouts/slideLayout2.xml"/><Relationship Id="rId4"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image" Target="../media/image-177-1.png"/><Relationship Id="rId2" Type="http://schemas.openxmlformats.org/officeDocument/2006/relationships/image" Target="../media/image-177-2.png"/><Relationship Id="rId3" Type="http://schemas.openxmlformats.org/officeDocument/2006/relationships/slideLayout" Target="../slideLayouts/slideLayout2.xml"/><Relationship Id="rId4"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image" Target="../media/image-178-1.png"/><Relationship Id="rId2" Type="http://schemas.openxmlformats.org/officeDocument/2006/relationships/image" Target="../media/image-178-2.png"/><Relationship Id="rId3" Type="http://schemas.openxmlformats.org/officeDocument/2006/relationships/image" Target="../media/image-178-3.png"/><Relationship Id="rId4" Type="http://schemas.openxmlformats.org/officeDocument/2006/relationships/slideLayout" Target="../slideLayouts/slideLayout2.xml"/><Relationship Id="rId5"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image" Target="../media/image-179-1.png"/><Relationship Id="rId2" Type="http://schemas.openxmlformats.org/officeDocument/2006/relationships/image" Target="../media/image-179-2.png"/><Relationship Id="rId3" Type="http://schemas.openxmlformats.org/officeDocument/2006/relationships/slideLayout" Target="../slideLayouts/slideLayout2.xml"/><Relationship Id="rId4"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image-180-1.png"/><Relationship Id="rId2" Type="http://schemas.openxmlformats.org/officeDocument/2006/relationships/image" Target="../media/image-180-2.png"/><Relationship Id="rId3" Type="http://schemas.openxmlformats.org/officeDocument/2006/relationships/slideLayout" Target="../slideLayouts/slideLayout2.xml"/><Relationship Id="rId4"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image" Target="../media/image-181-1.png"/><Relationship Id="rId2" Type="http://schemas.openxmlformats.org/officeDocument/2006/relationships/image" Target="../media/image-181-2.png"/><Relationship Id="rId3" Type="http://schemas.openxmlformats.org/officeDocument/2006/relationships/image" Target="../media/image-181-3.png"/><Relationship Id="rId4" Type="http://schemas.openxmlformats.org/officeDocument/2006/relationships/image" Target="../media/image-181-4.png"/><Relationship Id="rId5" Type="http://schemas.openxmlformats.org/officeDocument/2006/relationships/image" Target="../media/image-181-5.png"/><Relationship Id="rId6" Type="http://schemas.openxmlformats.org/officeDocument/2006/relationships/image" Target="../media/image-181-6.png"/><Relationship Id="rId7" Type="http://schemas.openxmlformats.org/officeDocument/2006/relationships/slideLayout" Target="../slideLayouts/slideLayout2.xml"/><Relationship Id="rId8"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image" Target="../media/image-182-1.png"/><Relationship Id="rId2" Type="http://schemas.openxmlformats.org/officeDocument/2006/relationships/image" Target="../media/image-182-2.png"/><Relationship Id="rId3" Type="http://schemas.openxmlformats.org/officeDocument/2006/relationships/image" Target="../media/image-182-3.png"/><Relationship Id="rId4" Type="http://schemas.openxmlformats.org/officeDocument/2006/relationships/slideLayout" Target="../slideLayouts/slideLayout2.xml"/><Relationship Id="rId5"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image" Target="../media/image-183-1.png"/><Relationship Id="rId2" Type="http://schemas.openxmlformats.org/officeDocument/2006/relationships/image" Target="../media/image-183-2.png"/><Relationship Id="rId3" Type="http://schemas.openxmlformats.org/officeDocument/2006/relationships/slideLayout" Target="../slideLayouts/slideLayout2.xml"/><Relationship Id="rId4"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image-184-1.png"/><Relationship Id="rId2" Type="http://schemas.openxmlformats.org/officeDocument/2006/relationships/image" Target="../media/image-184-2.png"/><Relationship Id="rId3" Type="http://schemas.openxmlformats.org/officeDocument/2006/relationships/image" Target="../media/image-184-3.png"/><Relationship Id="rId4" Type="http://schemas.openxmlformats.org/officeDocument/2006/relationships/image" Target="../media/image-184-4.png"/><Relationship Id="rId5" Type="http://schemas.openxmlformats.org/officeDocument/2006/relationships/image" Target="../media/image-184-5.png"/><Relationship Id="rId6" Type="http://schemas.openxmlformats.org/officeDocument/2006/relationships/image" Target="../media/image-184-6.png"/><Relationship Id="rId7" Type="http://schemas.openxmlformats.org/officeDocument/2006/relationships/image" Target="../media/image-184-7.png"/><Relationship Id="rId8" Type="http://schemas.openxmlformats.org/officeDocument/2006/relationships/image" Target="../media/image-184-8.png"/><Relationship Id="rId9" Type="http://schemas.openxmlformats.org/officeDocument/2006/relationships/image" Target="../media/image-184-9.png"/><Relationship Id="rId10" Type="http://schemas.openxmlformats.org/officeDocument/2006/relationships/slideLayout" Target="../slideLayouts/slideLayout2.xml"/><Relationship Id="rId11"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image" Target="../media/image-185-1.png"/><Relationship Id="rId2" Type="http://schemas.openxmlformats.org/officeDocument/2006/relationships/image" Target="../media/image-185-2.png"/><Relationship Id="rId3" Type="http://schemas.openxmlformats.org/officeDocument/2006/relationships/image" Target="../media/image-185-3.png"/><Relationship Id="rId4" Type="http://schemas.openxmlformats.org/officeDocument/2006/relationships/image" Target="../media/image-185-4.png"/><Relationship Id="rId5" Type="http://schemas.openxmlformats.org/officeDocument/2006/relationships/image" Target="../media/image-185-5.png"/><Relationship Id="rId6" Type="http://schemas.openxmlformats.org/officeDocument/2006/relationships/image" Target="../media/image-185-6.png"/><Relationship Id="rId7" Type="http://schemas.openxmlformats.org/officeDocument/2006/relationships/slideLayout" Target="../slideLayouts/slideLayout2.xml"/><Relationship Id="rId8"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image" Target="../media/image-186-1.png"/><Relationship Id="rId2" Type="http://schemas.openxmlformats.org/officeDocument/2006/relationships/image" Target="../media/image-186-2.png"/><Relationship Id="rId3" Type="http://schemas.openxmlformats.org/officeDocument/2006/relationships/image" Target="../media/image-186-3.png"/><Relationship Id="rId4" Type="http://schemas.openxmlformats.org/officeDocument/2006/relationships/image" Target="../media/image-186-4.png"/><Relationship Id="rId5" Type="http://schemas.openxmlformats.org/officeDocument/2006/relationships/image" Target="../media/image-186-5.png"/><Relationship Id="rId6" Type="http://schemas.openxmlformats.org/officeDocument/2006/relationships/image" Target="../media/image-186-6.png"/><Relationship Id="rId7" Type="http://schemas.openxmlformats.org/officeDocument/2006/relationships/image" Target="../media/image-186-7.png"/><Relationship Id="rId8" Type="http://schemas.openxmlformats.org/officeDocument/2006/relationships/slideLayout" Target="../slideLayouts/slideLayout2.xml"/><Relationship Id="rId9"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image" Target="../media/image-187-1.png"/><Relationship Id="rId2" Type="http://schemas.openxmlformats.org/officeDocument/2006/relationships/slideLayout" Target="../slideLayouts/slideLayout2.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image" Target="../media/image-188-1.png"/><Relationship Id="rId2" Type="http://schemas.openxmlformats.org/officeDocument/2006/relationships/image" Target="../media/image-188-2.png"/><Relationship Id="rId3" Type="http://schemas.openxmlformats.org/officeDocument/2006/relationships/image" Target="../media/image-188-3.png"/><Relationship Id="rId4" Type="http://schemas.openxmlformats.org/officeDocument/2006/relationships/image" Target="../media/image-188-4.png"/><Relationship Id="rId5" Type="http://schemas.openxmlformats.org/officeDocument/2006/relationships/image" Target="../media/image-188-5.png"/><Relationship Id="rId6" Type="http://schemas.openxmlformats.org/officeDocument/2006/relationships/image" Target="../media/image-188-6.png"/><Relationship Id="rId7" Type="http://schemas.openxmlformats.org/officeDocument/2006/relationships/slideLayout" Target="../slideLayouts/slideLayout2.xml"/><Relationship Id="rId8"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image" Target="../media/image-189-1.png"/><Relationship Id="rId2" Type="http://schemas.openxmlformats.org/officeDocument/2006/relationships/image" Target="../media/image-189-2.png"/><Relationship Id="rId3" Type="http://schemas.openxmlformats.org/officeDocument/2006/relationships/slideLayout" Target="../slideLayouts/slideLayout2.xml"/><Relationship Id="rId4"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image" Target="../media/image-190-1.png"/><Relationship Id="rId2" Type="http://schemas.openxmlformats.org/officeDocument/2006/relationships/image" Target="../media/image-190-2.png"/><Relationship Id="rId3" Type="http://schemas.openxmlformats.org/officeDocument/2006/relationships/slideLayout" Target="../slideLayouts/slideLayout2.xml"/><Relationship Id="rId4"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image" Target="../media/image-191-1.png"/><Relationship Id="rId2" Type="http://schemas.openxmlformats.org/officeDocument/2006/relationships/image" Target="../media/image-191-2.png"/><Relationship Id="rId3" Type="http://schemas.openxmlformats.org/officeDocument/2006/relationships/image" Target="../media/image-191-3.png"/><Relationship Id="rId4" Type="http://schemas.openxmlformats.org/officeDocument/2006/relationships/image" Target="../media/image-191-4.png"/><Relationship Id="rId5" Type="http://schemas.openxmlformats.org/officeDocument/2006/relationships/slideLayout" Target="../slideLayouts/slideLayout2.xml"/><Relationship Id="rId6"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image" Target="../media/image-192-1.png"/><Relationship Id="rId2" Type="http://schemas.openxmlformats.org/officeDocument/2006/relationships/image" Target="../media/image-192-2.png"/><Relationship Id="rId3" Type="http://schemas.openxmlformats.org/officeDocument/2006/relationships/image" Target="../media/image-192-3.png"/><Relationship Id="rId4" Type="http://schemas.openxmlformats.org/officeDocument/2006/relationships/image" Target="../media/image-192-4.png"/><Relationship Id="rId5" Type="http://schemas.openxmlformats.org/officeDocument/2006/relationships/slideLayout" Target="../slideLayouts/slideLayout2.xml"/><Relationship Id="rId6"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image" Target="../media/image-193-1.png"/><Relationship Id="rId2" Type="http://schemas.openxmlformats.org/officeDocument/2006/relationships/image" Target="../media/image-193-2.png"/><Relationship Id="rId3" Type="http://schemas.openxmlformats.org/officeDocument/2006/relationships/image" Target="../media/image-193-3.png"/><Relationship Id="rId4" Type="http://schemas.openxmlformats.org/officeDocument/2006/relationships/slideLayout" Target="../slideLayouts/slideLayout2.xml"/><Relationship Id="rId5"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image" Target="../media/image-194-1.png"/><Relationship Id="rId2" Type="http://schemas.openxmlformats.org/officeDocument/2006/relationships/image" Target="../media/image-194-2.png"/><Relationship Id="rId3" Type="http://schemas.openxmlformats.org/officeDocument/2006/relationships/image" Target="../media/image-194-3.png"/><Relationship Id="rId4" Type="http://schemas.openxmlformats.org/officeDocument/2006/relationships/image" Target="../media/image-194-4.png"/><Relationship Id="rId5" Type="http://schemas.openxmlformats.org/officeDocument/2006/relationships/slideLayout" Target="../slideLayouts/slideLayout2.xml"/><Relationship Id="rId6"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image" Target="../media/image-195-1.png"/><Relationship Id="rId2" Type="http://schemas.openxmlformats.org/officeDocument/2006/relationships/image" Target="../media/image-195-2.png"/><Relationship Id="rId3" Type="http://schemas.openxmlformats.org/officeDocument/2006/relationships/slideLayout" Target="../slideLayouts/slideLayout2.xml"/><Relationship Id="rId4"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image" Target="../media/image-196-1.png"/><Relationship Id="rId2" Type="http://schemas.openxmlformats.org/officeDocument/2006/relationships/image" Target="../media/image-196-2.png"/><Relationship Id="rId3" Type="http://schemas.openxmlformats.org/officeDocument/2006/relationships/slideLayout" Target="../slideLayouts/slideLayout2.xml"/><Relationship Id="rId4"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image" Target="../media/image-197-1.png"/><Relationship Id="rId2" Type="http://schemas.openxmlformats.org/officeDocument/2006/relationships/image" Target="../media/image-197-2.png"/><Relationship Id="rId3" Type="http://schemas.openxmlformats.org/officeDocument/2006/relationships/image" Target="../media/image-197-3.png"/><Relationship Id="rId4" Type="http://schemas.openxmlformats.org/officeDocument/2006/relationships/image" Target="../media/image-197-4.png"/><Relationship Id="rId5" Type="http://schemas.openxmlformats.org/officeDocument/2006/relationships/slideLayout" Target="../slideLayouts/slideLayout2.xml"/><Relationship Id="rId6"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image" Target="../media/image-198-1.png"/><Relationship Id="rId2" Type="http://schemas.openxmlformats.org/officeDocument/2006/relationships/image" Target="../media/image-198-2.png"/><Relationship Id="rId3" Type="http://schemas.openxmlformats.org/officeDocument/2006/relationships/image" Target="../media/image-198-3.png"/><Relationship Id="rId4" Type="http://schemas.openxmlformats.org/officeDocument/2006/relationships/image" Target="../media/image-198-4.png"/><Relationship Id="rId5" Type="http://schemas.openxmlformats.org/officeDocument/2006/relationships/slideLayout" Target="../slideLayouts/slideLayout2.xml"/><Relationship Id="rId6"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image" Target="../media/image-199-1.png"/><Relationship Id="rId2" Type="http://schemas.openxmlformats.org/officeDocument/2006/relationships/image" Target="../media/image-199-2.png"/><Relationship Id="rId3" Type="http://schemas.openxmlformats.org/officeDocument/2006/relationships/slideLayout" Target="../slideLayouts/slideLayout2.xml"/><Relationship Id="rId4"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image-200-1.png"/><Relationship Id="rId2" Type="http://schemas.openxmlformats.org/officeDocument/2006/relationships/image" Target="../media/image-200-2.png"/><Relationship Id="rId3" Type="http://schemas.openxmlformats.org/officeDocument/2006/relationships/image" Target="../media/image-200-3.png"/><Relationship Id="rId4" Type="http://schemas.openxmlformats.org/officeDocument/2006/relationships/image" Target="../media/image-200-4.png"/><Relationship Id="rId5" Type="http://schemas.openxmlformats.org/officeDocument/2006/relationships/image" Target="../media/image-200-5.png"/><Relationship Id="rId6" Type="http://schemas.openxmlformats.org/officeDocument/2006/relationships/image" Target="../media/image-200-6.png"/><Relationship Id="rId7" Type="http://schemas.openxmlformats.org/officeDocument/2006/relationships/slideLayout" Target="../slideLayouts/slideLayout2.xml"/><Relationship Id="rId8"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image-201-1.png"/><Relationship Id="rId2" Type="http://schemas.openxmlformats.org/officeDocument/2006/relationships/image" Target="../media/image-201-2.png"/><Relationship Id="rId3" Type="http://schemas.openxmlformats.org/officeDocument/2006/relationships/image" Target="../media/image-201-3.png"/><Relationship Id="rId4" Type="http://schemas.openxmlformats.org/officeDocument/2006/relationships/image" Target="../media/image-201-4.png"/><Relationship Id="rId5" Type="http://schemas.openxmlformats.org/officeDocument/2006/relationships/image" Target="../media/image-201-5.png"/><Relationship Id="rId6" Type="http://schemas.openxmlformats.org/officeDocument/2006/relationships/image" Target="../media/image-201-6.png"/><Relationship Id="rId7" Type="http://schemas.openxmlformats.org/officeDocument/2006/relationships/slideLayout" Target="../slideLayouts/slideLayout2.xml"/><Relationship Id="rId8"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image" Target="../media/image-202-1.png"/><Relationship Id="rId2" Type="http://schemas.openxmlformats.org/officeDocument/2006/relationships/image" Target="../media/image-202-2.png"/><Relationship Id="rId3" Type="http://schemas.openxmlformats.org/officeDocument/2006/relationships/image" Target="../media/image-202-3.png"/><Relationship Id="rId4" Type="http://schemas.openxmlformats.org/officeDocument/2006/relationships/image" Target="../media/image-202-4.png"/><Relationship Id="rId5" Type="http://schemas.openxmlformats.org/officeDocument/2006/relationships/image" Target="../media/image-202-5.png"/><Relationship Id="rId6" Type="http://schemas.openxmlformats.org/officeDocument/2006/relationships/image" Target="../media/image-202-6.png"/><Relationship Id="rId7" Type="http://schemas.openxmlformats.org/officeDocument/2006/relationships/image" Target="../media/image-202-7.png"/><Relationship Id="rId8" Type="http://schemas.openxmlformats.org/officeDocument/2006/relationships/slideLayout" Target="../slideLayouts/slideLayout2.xml"/><Relationship Id="rId9"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image" Target="../media/image-203-1.png"/><Relationship Id="rId2" Type="http://schemas.openxmlformats.org/officeDocument/2006/relationships/slideLayout" Target="../slideLayouts/slideLayout2.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image" Target="../media/image-204-1.png"/><Relationship Id="rId2" Type="http://schemas.openxmlformats.org/officeDocument/2006/relationships/image" Target="../media/image-204-2.png"/><Relationship Id="rId3" Type="http://schemas.openxmlformats.org/officeDocument/2006/relationships/slideLayout" Target="../slideLayouts/slideLayout2.xml"/><Relationship Id="rId4"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image" Target="../media/image-205-1.png"/><Relationship Id="rId2" Type="http://schemas.openxmlformats.org/officeDocument/2006/relationships/image" Target="../media/image-205-2.png"/><Relationship Id="rId3" Type="http://schemas.openxmlformats.org/officeDocument/2006/relationships/slideLayout" Target="../slideLayouts/slideLayout2.xml"/><Relationship Id="rId4"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image" Target="../media/image-206-1.png"/><Relationship Id="rId2" Type="http://schemas.openxmlformats.org/officeDocument/2006/relationships/image" Target="../media/image-206-2.png"/><Relationship Id="rId3" Type="http://schemas.openxmlformats.org/officeDocument/2006/relationships/slideLayout" Target="../slideLayouts/slideLayout2.xml"/><Relationship Id="rId4"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image" Target="../media/image-207-1.png"/><Relationship Id="rId2" Type="http://schemas.openxmlformats.org/officeDocument/2006/relationships/image" Target="../media/image-207-2.png"/><Relationship Id="rId3" Type="http://schemas.openxmlformats.org/officeDocument/2006/relationships/slideLayout" Target="../slideLayouts/slideLayout2.xml"/><Relationship Id="rId4"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image" Target="../media/image-208-1.png"/><Relationship Id="rId2" Type="http://schemas.openxmlformats.org/officeDocument/2006/relationships/image" Target="../media/image-208-2.png"/><Relationship Id="rId3" Type="http://schemas.openxmlformats.org/officeDocument/2006/relationships/image" Target="../media/image-208-3.png"/><Relationship Id="rId4" Type="http://schemas.openxmlformats.org/officeDocument/2006/relationships/image" Target="../media/image-208-4.png"/><Relationship Id="rId5" Type="http://schemas.openxmlformats.org/officeDocument/2006/relationships/image" Target="../media/image-208-5.png"/><Relationship Id="rId6" Type="http://schemas.openxmlformats.org/officeDocument/2006/relationships/image" Target="../media/image-208-6.png"/><Relationship Id="rId7" Type="http://schemas.openxmlformats.org/officeDocument/2006/relationships/image" Target="../media/image-208-7.png"/><Relationship Id="rId8" Type="http://schemas.openxmlformats.org/officeDocument/2006/relationships/slideLayout" Target="../slideLayouts/slideLayout2.xml"/><Relationship Id="rId9"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image" Target="../media/image-209-1.png"/><Relationship Id="rId2" Type="http://schemas.openxmlformats.org/officeDocument/2006/relationships/image" Target="../media/image-209-2.png"/><Relationship Id="rId3" Type="http://schemas.openxmlformats.org/officeDocument/2006/relationships/image" Target="../media/image-209-3.png"/><Relationship Id="rId4" Type="http://schemas.openxmlformats.org/officeDocument/2006/relationships/image" Target="../media/image-209-4.png"/><Relationship Id="rId5" Type="http://schemas.openxmlformats.org/officeDocument/2006/relationships/image" Target="../media/image-209-5.png"/><Relationship Id="rId6" Type="http://schemas.openxmlformats.org/officeDocument/2006/relationships/image" Target="../media/image-209-6.png"/><Relationship Id="rId7" Type="http://schemas.openxmlformats.org/officeDocument/2006/relationships/slideLayout" Target="../slideLayouts/slideLayout2.xml"/><Relationship Id="rId8"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image" Target="../media/image-210-1.png"/><Relationship Id="rId2" Type="http://schemas.openxmlformats.org/officeDocument/2006/relationships/image" Target="../media/image-210-2.png"/><Relationship Id="rId3" Type="http://schemas.openxmlformats.org/officeDocument/2006/relationships/slideLayout" Target="../slideLayouts/slideLayout2.xml"/><Relationship Id="rId4"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image" Target="../media/image-211-1.png"/><Relationship Id="rId2" Type="http://schemas.openxmlformats.org/officeDocument/2006/relationships/image" Target="../media/image-211-2.png"/><Relationship Id="rId3" Type="http://schemas.openxmlformats.org/officeDocument/2006/relationships/slideLayout" Target="../slideLayouts/slideLayout2.xml"/><Relationship Id="rId4"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image" Target="../media/image-212-1.png"/><Relationship Id="rId2" Type="http://schemas.openxmlformats.org/officeDocument/2006/relationships/image" Target="../media/image-212-2.png"/><Relationship Id="rId3" Type="http://schemas.openxmlformats.org/officeDocument/2006/relationships/slideLayout" Target="../slideLayouts/slideLayout2.xml"/><Relationship Id="rId4"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image" Target="../media/image-213-1.png"/><Relationship Id="rId2" Type="http://schemas.openxmlformats.org/officeDocument/2006/relationships/image" Target="../media/image-213-2.png"/><Relationship Id="rId3" Type="http://schemas.openxmlformats.org/officeDocument/2006/relationships/image" Target="../media/image-213-3.png"/><Relationship Id="rId4" Type="http://schemas.openxmlformats.org/officeDocument/2006/relationships/image" Target="../media/image-213-4.png"/><Relationship Id="rId5" Type="http://schemas.openxmlformats.org/officeDocument/2006/relationships/image" Target="../media/image-213-5.png"/><Relationship Id="rId6" Type="http://schemas.openxmlformats.org/officeDocument/2006/relationships/image" Target="../media/image-213-6.png"/><Relationship Id="rId7" Type="http://schemas.openxmlformats.org/officeDocument/2006/relationships/image" Target="../media/image-213-7.png"/><Relationship Id="rId8" Type="http://schemas.openxmlformats.org/officeDocument/2006/relationships/image" Target="../media/image-213-8.png"/><Relationship Id="rId9" Type="http://schemas.openxmlformats.org/officeDocument/2006/relationships/image" Target="../media/image-213-9.png"/><Relationship Id="rId10" Type="http://schemas.openxmlformats.org/officeDocument/2006/relationships/slideLayout" Target="../slideLayouts/slideLayout2.xml"/><Relationship Id="rId11"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image" Target="../media/image-214-1.png"/><Relationship Id="rId2" Type="http://schemas.openxmlformats.org/officeDocument/2006/relationships/image" Target="../media/image-214-2.png"/><Relationship Id="rId3" Type="http://schemas.openxmlformats.org/officeDocument/2006/relationships/slideLayout" Target="../slideLayouts/slideLayout2.xml"/><Relationship Id="rId4" Type="http://schemas.openxmlformats.org/officeDocument/2006/relationships/notesSlide" Target="../notesSlides/notesSlide2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4F9"/>
        </a:solidFill>
      </p:bgPr>
    </p:bg>
    <p:spTree>
      <p:nvGrpSpPr>
        <p:cNvPr id="1" name=""/>
        <p:cNvGrpSpPr/>
        <p:nvPr/>
      </p:nvGrpSpPr>
      <p:grpSpPr>
        <a:xfrm>
          <a:off x="0" y="0"/>
          <a:ext cx="0" cy="0"/>
          <a:chOff x="0" y="0"/>
          <a:chExt cx="0" cy="0"/>
        </a:xfrm>
      </p:grpSpPr>
      <p:pic>
        <p:nvPicPr>
          <p:cNvPr id="2" name="Image 0" descr="Un sentier en lacets mène au sommet d'une montagne : le parcours de la formation">    </p:cNvPr>
          <p:cNvPicPr>
            <a:picLocks noChangeAspect="1"/>
          </p:cNvPicPr>
          <p:nvPr/>
        </p:nvPicPr>
        <p:blipFill>
          <a:blip r:embed="rId1"/>
          <a:srcRect l="0" r="0" t="-6" b="-6"/>
          <a:stretch/>
        </p:blipFill>
        <p:spPr>
          <a:xfrm>
            <a:off x="7467600" y="0"/>
            <a:ext cx="4724400" cy="6858000"/>
          </a:xfrm>
          <a:prstGeom prst="rect">
            <a:avLst/>
          </a:prstGeom>
        </p:spPr>
      </p:pic>
      <p:sp>
        <p:nvSpPr>
          <p:cNvPr id="3" name="Text 0"/>
          <p:cNvSpPr/>
          <p:nvPr/>
        </p:nvSpPr>
        <p:spPr>
          <a:xfrm>
            <a:off x="7975600" y="660400"/>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LE PARCOURS</a:t>
            </a:r>
            <a:endParaRPr lang="en-US" sz="1200" dirty="0"/>
          </a:p>
        </p:txBody>
      </p:sp>
      <p:sp>
        <p:nvSpPr>
          <p:cNvPr id="4" name="Text 1"/>
          <p:cNvSpPr/>
          <p:nvPr/>
        </p:nvSpPr>
        <p:spPr>
          <a:xfrm>
            <a:off x="7975600" y="927100"/>
            <a:ext cx="3662680"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9B6E8"/>
                </a:solidFill>
                <a:latin typeface="IBM Plex Sans" pitchFamily="34" charset="0"/>
                <a:ea typeface="IBM Plex Sans" pitchFamily="34" charset="-122"/>
                <a:cs typeface="IBM Plex Sans" pitchFamily="34" charset="-120"/>
              </a:rPr>
              <a:t>3 jours · 16 modules</a:t>
            </a:r>
            <a:endParaRPr lang="en-US" sz="1600" dirty="0"/>
          </a:p>
          <a:p>
            <a:pPr algn="l" indent="0" marL="0">
              <a:lnSpc>
                <a:spcPts val="2160"/>
              </a:lnSpc>
              <a:buNone/>
            </a:pPr>
            <a:r>
              <a:rPr lang="en-US" sz="1600" dirty="0">
                <a:solidFill>
                  <a:srgbClr val="B9B6E8"/>
                </a:solidFill>
                <a:latin typeface="IBM Plex Sans" pitchFamily="34" charset="0"/>
                <a:ea typeface="IBM Plex Sans" pitchFamily="34" charset="-122"/>
                <a:cs typeface="IBM Plex Sans" pitchFamily="34" charset="-120"/>
              </a:rPr>
              <a:t>13 travaux pratiques</a:t>
            </a:r>
            <a:endParaRPr lang="en-US" sz="1600" dirty="0"/>
          </a:p>
        </p:txBody>
      </p:sp>
      <p:pic>
        <p:nvPicPr>
          <p:cNvPr id="5" name="Image 1" descr="Logo Ascent Formation">    </p:cNvPr>
          <p:cNvPicPr>
            <a:picLocks noChangeAspect="1"/>
          </p:cNvPicPr>
          <p:nvPr/>
        </p:nvPicPr>
        <p:blipFill>
          <a:blip r:embed="rId2"/>
          <a:srcRect l="0" r="0" t="-62" b="-62"/>
          <a:stretch/>
        </p:blipFill>
        <p:spPr>
          <a:xfrm>
            <a:off x="0" y="0"/>
            <a:ext cx="1473200" cy="1524000"/>
          </a:xfrm>
          <a:prstGeom prst="rect">
            <a:avLst/>
          </a:prstGeom>
        </p:spPr>
      </p:pic>
      <p:sp>
        <p:nvSpPr>
          <p:cNvPr id="6" name="Text 2"/>
          <p:cNvSpPr/>
          <p:nvPr>
            <p:ph type="title"/>
          </p:nvPr>
        </p:nvSpPr>
        <p:spPr>
          <a:xfrm>
            <a:off x="0" y="2886710"/>
            <a:ext cx="12557760" cy="1372658"/>
          </a:xfrm>
          <a:prstGeom prst="rect">
            <a:avLst/>
          </a:prstGeom>
          <a:noFill/>
          <a:ln/>
        </p:spPr>
        <p:txBody>
          <a:bodyPr wrap="square" lIns="0" tIns="0" rIns="0" bIns="0" rtlCol="0" anchor="t">
            <a:normAutofit/>
          </a:bodyPr>
          <a:lstStyle/>
          <a:p>
            <a:pPr algn="l" indent="0" marL="0">
              <a:lnSpc>
                <a:spcPts val="5304"/>
              </a:lnSpc>
              <a:buNone/>
            </a:pPr>
            <a:r>
              <a:rPr lang="en-US" sz="5200" b="1" i="0" spc="-150" kern="0" dirty="0">
                <a:solidFill>
                  <a:srgbClr val="0B0748"/>
                </a:solidFill>
                <a:latin typeface="Sora" pitchFamily="34" charset="0"/>
                <a:ea typeface="Sora" pitchFamily="34" charset="-122"/>
                <a:cs typeface="Sora" pitchFamily="34" charset="-120"/>
              </a:rPr>
              <a:t>Kubernetes –</a:t>
            </a:r>
            <a:endParaRPr lang="en-US" sz="5200" dirty="0"/>
          </a:p>
          <a:p>
            <a:pPr algn="l" indent="0" marL="0">
              <a:lnSpc>
                <a:spcPts val="5304"/>
              </a:lnSpc>
              <a:buNone/>
            </a:pPr>
            <a:r>
              <a:rPr lang="en-US" sz="5200" b="1" i="0" spc="-150" kern="0" dirty="0">
                <a:solidFill>
                  <a:srgbClr val="0B0748"/>
                </a:solidFill>
                <a:latin typeface="Sora" pitchFamily="34" charset="0"/>
                <a:ea typeface="Sora" pitchFamily="34" charset="-122"/>
                <a:cs typeface="Sora" pitchFamily="34" charset="-120"/>
              </a:rPr>
              <a:t>Mise en œuvre</a:t>
            </a:r>
            <a:endParaRPr lang="en-US" sz="5200" dirty="0"/>
          </a:p>
        </p:txBody>
      </p:sp>
      <p:sp>
        <p:nvSpPr>
          <p:cNvPr id="7" name="Text 3"/>
          <p:cNvSpPr/>
          <p:nvPr/>
        </p:nvSpPr>
        <p:spPr>
          <a:xfrm>
            <a:off x="0" y="4411768"/>
            <a:ext cx="1255776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3C6B"/>
                </a:solidFill>
                <a:latin typeface="IBM Plex Sans" pitchFamily="34" charset="0"/>
                <a:ea typeface="IBM Plex Sans" pitchFamily="34" charset="-122"/>
                <a:cs typeface="IBM Plex Sans" pitchFamily="34" charset="-120"/>
              </a:rPr>
              <a:t>Support de cours · Session INSEE, 14 – 16 octobre 2026</a:t>
            </a:r>
            <a:endParaRPr lang="en-US" sz="1600" dirty="0"/>
          </a:p>
        </p:txBody>
      </p:sp>
      <p:sp>
        <p:nvSpPr>
          <p:cNvPr id="8" name="Shape 4"/>
          <p:cNvSpPr/>
          <p:nvPr/>
        </p:nvSpPr>
        <p:spPr>
          <a:xfrm>
            <a:off x="0" y="6068483"/>
            <a:ext cx="12192000" cy="0"/>
          </a:xfrm>
          <a:prstGeom prst="line">
            <a:avLst/>
          </a:prstGeom>
          <a:noFill/>
          <a:ln w="19050">
            <a:solidFill>
              <a:srgbClr val="0B0748"/>
            </a:solidFill>
            <a:prstDash val="solid"/>
          </a:ln>
        </p:spPr>
      </p:sp>
      <p:sp>
        <p:nvSpPr>
          <p:cNvPr id="9" name="Text 5"/>
          <p:cNvSpPr/>
          <p:nvPr/>
        </p:nvSpPr>
        <p:spPr>
          <a:xfrm>
            <a:off x="0" y="6250940"/>
            <a:ext cx="380526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RÉFÉRENCE</a:t>
            </a:r>
            <a:endParaRPr lang="en-US" sz="1200" dirty="0"/>
          </a:p>
        </p:txBody>
      </p:sp>
      <p:sp>
        <p:nvSpPr>
          <p:cNvPr id="10" name="Text 6"/>
          <p:cNvSpPr/>
          <p:nvPr/>
        </p:nvSpPr>
        <p:spPr>
          <a:xfrm>
            <a:off x="0" y="6502400"/>
            <a:ext cx="380526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0748"/>
                </a:solidFill>
                <a:latin typeface="Sora" pitchFamily="34" charset="0"/>
                <a:ea typeface="Sora" pitchFamily="34" charset="-122"/>
                <a:cs typeface="Sora" pitchFamily="34" charset="-120"/>
              </a:rPr>
              <a:t>2-072</a:t>
            </a:r>
            <a:endParaRPr lang="en-US" sz="2000" dirty="0"/>
          </a:p>
        </p:txBody>
      </p:sp>
      <p:sp>
        <p:nvSpPr>
          <p:cNvPr id="11" name="Shape 7"/>
          <p:cNvSpPr/>
          <p:nvPr/>
        </p:nvSpPr>
        <p:spPr>
          <a:xfrm>
            <a:off x="3697605" y="6250940"/>
            <a:ext cx="0" cy="607060"/>
          </a:xfrm>
          <a:prstGeom prst="line">
            <a:avLst/>
          </a:prstGeom>
          <a:noFill/>
          <a:ln w="6350">
            <a:solidFill>
              <a:srgbClr val="D5D2E6"/>
            </a:solidFill>
            <a:prstDash val="solid"/>
          </a:ln>
        </p:spPr>
      </p:sp>
      <p:sp>
        <p:nvSpPr>
          <p:cNvPr id="12" name="Text 8"/>
          <p:cNvSpPr/>
          <p:nvPr/>
        </p:nvSpPr>
        <p:spPr>
          <a:xfrm>
            <a:off x="3879321" y="6250940"/>
            <a:ext cx="380526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LOT</a:t>
            </a:r>
            <a:endParaRPr lang="en-US" sz="1200" dirty="0"/>
          </a:p>
        </p:txBody>
      </p:sp>
      <p:sp>
        <p:nvSpPr>
          <p:cNvPr id="13" name="Text 9"/>
          <p:cNvSpPr/>
          <p:nvPr/>
        </p:nvSpPr>
        <p:spPr>
          <a:xfrm>
            <a:off x="3879321" y="6502400"/>
            <a:ext cx="380526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0748"/>
                </a:solidFill>
                <a:latin typeface="Sora" pitchFamily="34" charset="0"/>
                <a:ea typeface="Sora" pitchFamily="34" charset="-122"/>
                <a:cs typeface="Sora" pitchFamily="34" charset="-120"/>
              </a:rPr>
              <a:t>Lot 2</a:t>
            </a:r>
            <a:endParaRPr lang="en-US" sz="2000" dirty="0"/>
          </a:p>
        </p:txBody>
      </p:sp>
      <p:sp>
        <p:nvSpPr>
          <p:cNvPr id="14" name="Shape 10"/>
          <p:cNvSpPr/>
          <p:nvPr/>
        </p:nvSpPr>
        <p:spPr>
          <a:xfrm>
            <a:off x="7576926" y="6250940"/>
            <a:ext cx="0" cy="607060"/>
          </a:xfrm>
          <a:prstGeom prst="line">
            <a:avLst/>
          </a:prstGeom>
          <a:noFill/>
          <a:ln w="6350">
            <a:solidFill>
              <a:srgbClr val="D5D2E6"/>
            </a:solidFill>
            <a:prstDash val="solid"/>
          </a:ln>
        </p:spPr>
      </p:sp>
      <p:sp>
        <p:nvSpPr>
          <p:cNvPr id="15" name="Text 11"/>
          <p:cNvSpPr/>
          <p:nvPr/>
        </p:nvSpPr>
        <p:spPr>
          <a:xfrm>
            <a:off x="7758642" y="6250940"/>
            <a:ext cx="456635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DATE D'ÉDITION</a:t>
            </a:r>
            <a:endParaRPr lang="en-US" sz="1200" dirty="0"/>
          </a:p>
        </p:txBody>
      </p:sp>
      <p:sp>
        <p:nvSpPr>
          <p:cNvPr id="16" name="Text 12"/>
          <p:cNvSpPr/>
          <p:nvPr/>
        </p:nvSpPr>
        <p:spPr>
          <a:xfrm>
            <a:off x="7758642" y="6502400"/>
            <a:ext cx="456635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0748"/>
                </a:solidFill>
                <a:latin typeface="Sora" pitchFamily="34" charset="0"/>
                <a:ea typeface="Sora" pitchFamily="34" charset="-122"/>
                <a:cs typeface="Sora" pitchFamily="34" charset="-120"/>
              </a:rPr>
              <a:t>06/10/2026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PRÉSENTATION DE LA FORMATION</a:t>
            </a:r>
            <a:endParaRPr lang="en-US" sz="1200" dirty="0"/>
          </a:p>
        </p:txBody>
      </p:sp>
      <p:sp>
        <p:nvSpPr>
          <p:cNvPr id="3" name="Text 1"/>
          <p:cNvSpPr/>
          <p:nvPr>
            <p:ph type="title"/>
          </p:nvPr>
        </p:nvSpPr>
        <p:spPr>
          <a:xfrm>
            <a:off x="812800" y="94996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l'issue des trois jours, vous saurez</a:t>
            </a:r>
            <a:endParaRPr lang="en-US" sz="2800" dirty="0"/>
          </a:p>
        </p:txBody>
      </p:sp>
      <p:sp>
        <p:nvSpPr>
          <p:cNvPr id="4" name="Shape 2"/>
          <p:cNvSpPr/>
          <p:nvPr/>
        </p:nvSpPr>
        <p:spPr>
          <a:xfrm>
            <a:off x="815975" y="1598295"/>
            <a:ext cx="2501900" cy="3286019"/>
          </a:xfrm>
          <a:prstGeom prst="roundRect">
            <a:avLst>
              <a:gd name="adj" fmla="val 4949"/>
            </a:avLst>
          </a:prstGeom>
          <a:solidFill>
            <a:srgbClr val="FDFDFF"/>
          </a:solidFill>
          <a:ln w="6350">
            <a:solidFill>
              <a:srgbClr val="E1DFEE"/>
            </a:solidFill>
            <a:prstDash val="solid"/>
          </a:ln>
        </p:spPr>
      </p:sp>
      <p:sp>
        <p:nvSpPr>
          <p:cNvPr id="5" name="Text 3"/>
          <p:cNvSpPr/>
          <p:nvPr/>
        </p:nvSpPr>
        <p:spPr>
          <a:xfrm>
            <a:off x="1048491" y="1830811"/>
            <a:ext cx="508254"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E25A2C"/>
                </a:solidFill>
                <a:latin typeface="Sora" pitchFamily="34" charset="0"/>
                <a:ea typeface="Sora" pitchFamily="34" charset="-122"/>
                <a:cs typeface="Sora" pitchFamily="34" charset="-120"/>
              </a:rPr>
              <a:t>01</a:t>
            </a:r>
            <a:endParaRPr lang="en-US" sz="2800" dirty="0"/>
          </a:p>
        </p:txBody>
      </p:sp>
      <p:pic>
        <p:nvPicPr>
          <p:cNvPr id="6" name="Image 0" descr="Lightbulb">    </p:cNvPr>
          <p:cNvPicPr>
            <a:picLocks noChangeAspect="1"/>
          </p:cNvPicPr>
          <p:nvPr/>
        </p:nvPicPr>
        <p:blipFill>
          <a:blip r:embed="rId1"/>
          <a:srcRect l="0" r="0" t="0" b="0"/>
          <a:stretch/>
        </p:blipFill>
        <p:spPr>
          <a:xfrm>
            <a:off x="2780559" y="1856211"/>
            <a:ext cx="304800" cy="304800"/>
          </a:xfrm>
          <a:prstGeom prst="rect">
            <a:avLst/>
          </a:prstGeom>
        </p:spPr>
      </p:pic>
      <p:sp>
        <p:nvSpPr>
          <p:cNvPr id="7" name="Text 4"/>
          <p:cNvSpPr/>
          <p:nvPr/>
        </p:nvSpPr>
        <p:spPr>
          <a:xfrm>
            <a:off x="1048491" y="2364211"/>
            <a:ext cx="2097974" cy="1774190"/>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0B0748"/>
                </a:solidFill>
                <a:latin typeface="IBM Plex Sans" pitchFamily="34" charset="0"/>
                <a:ea typeface="IBM Plex Sans" pitchFamily="34" charset="-122"/>
                <a:cs typeface="IBM Plex Sans" pitchFamily="34" charset="-120"/>
              </a:rPr>
              <a:t>Expliquer</a:t>
            </a:r>
            <a:r>
              <a:rPr lang="en-US" sz="1700" dirty="0">
                <a:solidFill>
                  <a:srgbClr val="0B0748"/>
                </a:solidFill>
                <a:latin typeface="IBM Plex Sans" pitchFamily="34" charset="0"/>
                <a:ea typeface="IBM Plex Sans" pitchFamily="34" charset="-122"/>
                <a:cs typeface="IBM Plex Sans" pitchFamily="34" charset="-120"/>
              </a:rPr>
              <a:t> les concepts fondamentaux de Kubernetes et son fonctionnement interne.</a:t>
            </a:r>
            <a:endParaRPr lang="en-US" sz="1700" dirty="0"/>
          </a:p>
        </p:txBody>
      </p:sp>
      <p:sp>
        <p:nvSpPr>
          <p:cNvPr id="8" name="Shape 5"/>
          <p:cNvSpPr/>
          <p:nvPr/>
        </p:nvSpPr>
        <p:spPr>
          <a:xfrm>
            <a:off x="3502025" y="1598295"/>
            <a:ext cx="2501900" cy="3286019"/>
          </a:xfrm>
          <a:prstGeom prst="roundRect">
            <a:avLst>
              <a:gd name="adj" fmla="val 4949"/>
            </a:avLst>
          </a:prstGeom>
          <a:solidFill>
            <a:srgbClr val="FDFDFF"/>
          </a:solidFill>
          <a:ln w="6350">
            <a:solidFill>
              <a:srgbClr val="E1DFEE"/>
            </a:solidFill>
            <a:prstDash val="solid"/>
          </a:ln>
        </p:spPr>
      </p:sp>
      <p:sp>
        <p:nvSpPr>
          <p:cNvPr id="9" name="Text 6"/>
          <p:cNvSpPr/>
          <p:nvPr/>
        </p:nvSpPr>
        <p:spPr>
          <a:xfrm>
            <a:off x="3734541" y="1830811"/>
            <a:ext cx="59537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E25A2C"/>
                </a:solidFill>
                <a:latin typeface="Sora" pitchFamily="34" charset="0"/>
                <a:ea typeface="Sora" pitchFamily="34" charset="-122"/>
                <a:cs typeface="Sora" pitchFamily="34" charset="-120"/>
              </a:rPr>
              <a:t>02</a:t>
            </a:r>
            <a:endParaRPr lang="en-US" sz="2800" dirty="0"/>
          </a:p>
        </p:txBody>
      </p:sp>
      <p:pic>
        <p:nvPicPr>
          <p:cNvPr id="10" name="Image 1" descr="Wrench">    </p:cNvPr>
          <p:cNvPicPr>
            <a:picLocks noChangeAspect="1"/>
          </p:cNvPicPr>
          <p:nvPr/>
        </p:nvPicPr>
        <p:blipFill>
          <a:blip r:embed="rId2"/>
          <a:srcRect l="0" r="0" t="0" b="0"/>
          <a:stretch/>
        </p:blipFill>
        <p:spPr>
          <a:xfrm>
            <a:off x="5466609" y="1856211"/>
            <a:ext cx="304800" cy="304800"/>
          </a:xfrm>
          <a:prstGeom prst="rect">
            <a:avLst/>
          </a:prstGeom>
        </p:spPr>
      </p:pic>
      <p:sp>
        <p:nvSpPr>
          <p:cNvPr id="11" name="Text 7"/>
          <p:cNvSpPr/>
          <p:nvPr/>
        </p:nvSpPr>
        <p:spPr>
          <a:xfrm>
            <a:off x="3734541" y="2364211"/>
            <a:ext cx="2097974" cy="1482725"/>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0B0748"/>
                </a:solidFill>
                <a:latin typeface="IBM Plex Sans" pitchFamily="34" charset="0"/>
                <a:ea typeface="IBM Plex Sans" pitchFamily="34" charset="-122"/>
                <a:cs typeface="IBM Plex Sans" pitchFamily="34" charset="-120"/>
              </a:rPr>
              <a:t>Installer</a:t>
            </a:r>
            <a:r>
              <a:rPr lang="en-US" sz="1700" dirty="0">
                <a:solidFill>
                  <a:srgbClr val="0B0748"/>
                </a:solidFill>
                <a:latin typeface="IBM Plex Sans" pitchFamily="34" charset="0"/>
                <a:ea typeface="IBM Plex Sans" pitchFamily="34" charset="-122"/>
                <a:cs typeface="IBM Plex Sans" pitchFamily="34" charset="-120"/>
              </a:rPr>
              <a:t> et configurer un cluster Kubernetes fonctionnel avec kubeadm.</a:t>
            </a:r>
            <a:endParaRPr lang="en-US" sz="1700" dirty="0"/>
          </a:p>
        </p:txBody>
      </p:sp>
      <p:sp>
        <p:nvSpPr>
          <p:cNvPr id="12" name="Shape 8"/>
          <p:cNvSpPr/>
          <p:nvPr/>
        </p:nvSpPr>
        <p:spPr>
          <a:xfrm>
            <a:off x="6188075" y="1598295"/>
            <a:ext cx="2501900" cy="3286019"/>
          </a:xfrm>
          <a:prstGeom prst="roundRect">
            <a:avLst>
              <a:gd name="adj" fmla="val 4949"/>
            </a:avLst>
          </a:prstGeom>
          <a:solidFill>
            <a:srgbClr val="FDFDFF"/>
          </a:solidFill>
          <a:ln w="6350">
            <a:solidFill>
              <a:srgbClr val="E1DFEE"/>
            </a:solidFill>
            <a:prstDash val="solid"/>
          </a:ln>
        </p:spPr>
      </p:sp>
      <p:sp>
        <p:nvSpPr>
          <p:cNvPr id="13" name="Text 9"/>
          <p:cNvSpPr/>
          <p:nvPr/>
        </p:nvSpPr>
        <p:spPr>
          <a:xfrm>
            <a:off x="6420591" y="1830811"/>
            <a:ext cx="59537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E25A2C"/>
                </a:solidFill>
                <a:latin typeface="Sora" pitchFamily="34" charset="0"/>
                <a:ea typeface="Sora" pitchFamily="34" charset="-122"/>
                <a:cs typeface="Sora" pitchFamily="34" charset="-120"/>
              </a:rPr>
              <a:t>03</a:t>
            </a:r>
            <a:endParaRPr lang="en-US" sz="2800" dirty="0"/>
          </a:p>
        </p:txBody>
      </p:sp>
      <p:pic>
        <p:nvPicPr>
          <p:cNvPr id="14" name="Image 2" descr="Code">    </p:cNvPr>
          <p:cNvPicPr>
            <a:picLocks noChangeAspect="1"/>
          </p:cNvPicPr>
          <p:nvPr/>
        </p:nvPicPr>
        <p:blipFill>
          <a:blip r:embed="rId3"/>
          <a:srcRect l="0" r="0" t="0" b="0"/>
          <a:stretch/>
        </p:blipFill>
        <p:spPr>
          <a:xfrm>
            <a:off x="8152659" y="1856211"/>
            <a:ext cx="304800" cy="304800"/>
          </a:xfrm>
          <a:prstGeom prst="rect">
            <a:avLst/>
          </a:prstGeom>
        </p:spPr>
      </p:pic>
      <p:sp>
        <p:nvSpPr>
          <p:cNvPr id="15" name="Text 10"/>
          <p:cNvSpPr/>
          <p:nvPr/>
        </p:nvSpPr>
        <p:spPr>
          <a:xfrm>
            <a:off x="6420591" y="2364211"/>
            <a:ext cx="2097974" cy="1191260"/>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0B0748"/>
                </a:solidFill>
                <a:latin typeface="IBM Plex Sans" pitchFamily="34" charset="0"/>
                <a:ea typeface="IBM Plex Sans" pitchFamily="34" charset="-122"/>
                <a:cs typeface="IBM Plex Sans" pitchFamily="34" charset="-120"/>
              </a:rPr>
              <a:t>Automatiser</a:t>
            </a:r>
            <a:r>
              <a:rPr lang="en-US" sz="1700" dirty="0">
                <a:solidFill>
                  <a:srgbClr val="0B0748"/>
                </a:solidFill>
                <a:latin typeface="IBM Plex Sans" pitchFamily="34" charset="0"/>
                <a:ea typeface="IBM Plex Sans" pitchFamily="34" charset="-122"/>
                <a:cs typeface="IBM Plex Sans" pitchFamily="34" charset="-120"/>
              </a:rPr>
              <a:t> la gestion des ressources avec des fichiers YAML.</a:t>
            </a:r>
            <a:endParaRPr lang="en-US" sz="1700" dirty="0"/>
          </a:p>
        </p:txBody>
      </p:sp>
      <p:sp>
        <p:nvSpPr>
          <p:cNvPr id="16" name="Shape 11"/>
          <p:cNvSpPr/>
          <p:nvPr/>
        </p:nvSpPr>
        <p:spPr>
          <a:xfrm>
            <a:off x="8874125" y="1598295"/>
            <a:ext cx="2501900" cy="3286019"/>
          </a:xfrm>
          <a:prstGeom prst="roundRect">
            <a:avLst>
              <a:gd name="adj" fmla="val 4949"/>
            </a:avLst>
          </a:prstGeom>
          <a:solidFill>
            <a:srgbClr val="FDFDFF"/>
          </a:solidFill>
          <a:ln w="6350">
            <a:solidFill>
              <a:srgbClr val="E1DFEE"/>
            </a:solidFill>
            <a:prstDash val="solid"/>
          </a:ln>
        </p:spPr>
      </p:sp>
      <p:sp>
        <p:nvSpPr>
          <p:cNvPr id="17" name="Text 12"/>
          <p:cNvSpPr/>
          <p:nvPr/>
        </p:nvSpPr>
        <p:spPr>
          <a:xfrm>
            <a:off x="9106641" y="1830811"/>
            <a:ext cx="612394"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E25A2C"/>
                </a:solidFill>
                <a:latin typeface="Sora" pitchFamily="34" charset="0"/>
                <a:ea typeface="Sora" pitchFamily="34" charset="-122"/>
                <a:cs typeface="Sora" pitchFamily="34" charset="-120"/>
              </a:rPr>
              <a:t>04</a:t>
            </a:r>
            <a:endParaRPr lang="en-US" sz="2800" dirty="0"/>
          </a:p>
        </p:txBody>
      </p:sp>
      <p:pic>
        <p:nvPicPr>
          <p:cNvPr id="18" name="Image 3" descr="Verified">    </p:cNvPr>
          <p:cNvPicPr>
            <a:picLocks noChangeAspect="1"/>
          </p:cNvPicPr>
          <p:nvPr/>
        </p:nvPicPr>
        <p:blipFill>
          <a:blip r:embed="rId4"/>
          <a:srcRect l="0" r="0" t="0" b="0"/>
          <a:stretch/>
        </p:blipFill>
        <p:spPr>
          <a:xfrm>
            <a:off x="10838709" y="1856211"/>
            <a:ext cx="304800" cy="304800"/>
          </a:xfrm>
          <a:prstGeom prst="rect">
            <a:avLst/>
          </a:prstGeom>
        </p:spPr>
      </p:pic>
      <p:sp>
        <p:nvSpPr>
          <p:cNvPr id="19" name="Text 13"/>
          <p:cNvSpPr/>
          <p:nvPr/>
        </p:nvSpPr>
        <p:spPr>
          <a:xfrm>
            <a:off x="9106641" y="2364211"/>
            <a:ext cx="2097974" cy="1774190"/>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0B0748"/>
                </a:solidFill>
                <a:latin typeface="IBM Plex Sans" pitchFamily="34" charset="0"/>
                <a:ea typeface="IBM Plex Sans" pitchFamily="34" charset="-122"/>
                <a:cs typeface="IBM Plex Sans" pitchFamily="34" charset="-120"/>
              </a:rPr>
              <a:t>Appliquer</a:t>
            </a:r>
            <a:r>
              <a:rPr lang="en-US" sz="1700" dirty="0">
                <a:solidFill>
                  <a:srgbClr val="0B0748"/>
                </a:solidFill>
                <a:latin typeface="IBM Plex Sans" pitchFamily="34" charset="0"/>
                <a:ea typeface="IBM Plex Sans" pitchFamily="34" charset="-122"/>
                <a:cs typeface="IBM Plex Sans" pitchFamily="34" charset="-120"/>
              </a:rPr>
              <a:t> les bonnes pratiques d'exploitation : ressources, sécurité, montée en charge, stockage.</a:t>
            </a:r>
            <a:endParaRPr lang="en-US" sz="1700" dirty="0"/>
          </a:p>
        </p:txBody>
      </p:sp>
      <p:sp>
        <p:nvSpPr>
          <p:cNvPr id="20" name="Shape 14"/>
          <p:cNvSpPr/>
          <p:nvPr/>
        </p:nvSpPr>
        <p:spPr>
          <a:xfrm>
            <a:off x="812800" y="5147839"/>
            <a:ext cx="10566400" cy="0"/>
          </a:xfrm>
          <a:prstGeom prst="line">
            <a:avLst/>
          </a:prstGeom>
          <a:noFill/>
          <a:ln w="12700">
            <a:solidFill>
              <a:srgbClr val="0B0748"/>
            </a:solidFill>
            <a:prstDash val="solid"/>
          </a:ln>
        </p:spPr>
      </p:sp>
      <p:sp>
        <p:nvSpPr>
          <p:cNvPr id="21" name="Text 15"/>
          <p:cNvSpPr/>
          <p:nvPr/>
        </p:nvSpPr>
        <p:spPr>
          <a:xfrm>
            <a:off x="812800" y="5326380"/>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PRÉREQUIS</a:t>
            </a:r>
            <a:endParaRPr lang="en-US" sz="1200" dirty="0"/>
          </a:p>
        </p:txBody>
      </p:sp>
      <p:sp>
        <p:nvSpPr>
          <p:cNvPr id="22" name="Text 16"/>
          <p:cNvSpPr/>
          <p:nvPr/>
        </p:nvSpPr>
        <p:spPr>
          <a:xfrm>
            <a:off x="2463800" y="5326380"/>
            <a:ext cx="9182862"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Bases de l'administration Linux (shell, paquets, services systemd, réseau IP) et première expérience de Docker ou d'un outil équivalent : lancer un conteneur, lire une image, exposer un port.</a:t>
            </a:r>
            <a:endParaRPr lang="en-US" sz="1400" dirty="0"/>
          </a:p>
        </p:txBody>
      </p:sp>
      <p:pic>
        <p:nvPicPr>
          <p:cNvPr id="23"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24" name="Text 1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5" descr="Parcours de la formation : début">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PRÉSENTATION DE LA FORMATION</a:t>
            </a:r>
            <a:endParaRPr lang="en-US" sz="1200" dirty="0"/>
          </a:p>
        </p:txBody>
      </p:sp>
      <p:sp>
        <p:nvSpPr>
          <p:cNvPr id="3" name="Text 1"/>
          <p:cNvSpPr/>
          <p:nvPr>
            <p:ph type="title"/>
          </p:nvPr>
        </p:nvSpPr>
        <p:spPr>
          <a:xfrm>
            <a:off x="812800" y="94996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L'environnement de référence</a:t>
            </a:r>
            <a:endParaRPr lang="en-US" sz="2800" dirty="0"/>
          </a:p>
        </p:txBody>
      </p:sp>
      <p:sp>
        <p:nvSpPr>
          <p:cNvPr id="4" name="Shape 2"/>
          <p:cNvSpPr/>
          <p:nvPr/>
        </p:nvSpPr>
        <p:spPr>
          <a:xfrm>
            <a:off x="815975" y="1598295"/>
            <a:ext cx="2520950" cy="2040890"/>
          </a:xfrm>
          <a:prstGeom prst="roundRect">
            <a:avLst>
              <a:gd name="adj" fmla="val 6067"/>
            </a:avLst>
          </a:prstGeom>
          <a:solidFill>
            <a:srgbClr val="FDFDFF"/>
          </a:solidFill>
          <a:ln w="6350">
            <a:solidFill>
              <a:srgbClr val="E1DFEE"/>
            </a:solidFill>
            <a:prstDash val="solid"/>
          </a:ln>
        </p:spPr>
      </p:sp>
      <p:sp>
        <p:nvSpPr>
          <p:cNvPr id="5" name="Text 3"/>
          <p:cNvSpPr/>
          <p:nvPr/>
        </p:nvSpPr>
        <p:spPr>
          <a:xfrm>
            <a:off x="1023091" y="1805411"/>
            <a:ext cx="2169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KUBERNETES</a:t>
            </a:r>
            <a:endParaRPr lang="en-US" sz="1200" dirty="0"/>
          </a:p>
        </p:txBody>
      </p:sp>
      <p:sp>
        <p:nvSpPr>
          <p:cNvPr id="6" name="Text 4"/>
          <p:cNvSpPr/>
          <p:nvPr/>
        </p:nvSpPr>
        <p:spPr>
          <a:xfrm>
            <a:off x="1023091" y="2082271"/>
            <a:ext cx="216992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0748"/>
                </a:solidFill>
                <a:latin typeface="Sora" pitchFamily="34" charset="0"/>
                <a:ea typeface="Sora" pitchFamily="34" charset="-122"/>
                <a:cs typeface="Sora" pitchFamily="34" charset="-120"/>
              </a:rPr>
              <a:t>1.37</a:t>
            </a:r>
            <a:endParaRPr lang="en-US" sz="2000" dirty="0"/>
          </a:p>
        </p:txBody>
      </p:sp>
      <p:sp>
        <p:nvSpPr>
          <p:cNvPr id="7" name="Text 5"/>
          <p:cNvSpPr/>
          <p:nvPr/>
        </p:nvSpPr>
        <p:spPr>
          <a:xfrm>
            <a:off x="1023091" y="2501371"/>
            <a:ext cx="2169920"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sortie le 26 août 2026</a:t>
            </a:r>
            <a:endParaRPr lang="en-US" sz="1300" dirty="0"/>
          </a:p>
        </p:txBody>
      </p:sp>
      <p:sp>
        <p:nvSpPr>
          <p:cNvPr id="8" name="Shape 6"/>
          <p:cNvSpPr/>
          <p:nvPr/>
        </p:nvSpPr>
        <p:spPr>
          <a:xfrm>
            <a:off x="3495675" y="1598295"/>
            <a:ext cx="2520950" cy="2040890"/>
          </a:xfrm>
          <a:prstGeom prst="roundRect">
            <a:avLst>
              <a:gd name="adj" fmla="val 6067"/>
            </a:avLst>
          </a:prstGeom>
          <a:solidFill>
            <a:srgbClr val="FDFDFF"/>
          </a:solidFill>
          <a:ln w="6350">
            <a:solidFill>
              <a:srgbClr val="E1DFEE"/>
            </a:solidFill>
            <a:prstDash val="solid"/>
          </a:ln>
        </p:spPr>
      </p:sp>
      <p:sp>
        <p:nvSpPr>
          <p:cNvPr id="9" name="Text 7"/>
          <p:cNvSpPr/>
          <p:nvPr/>
        </p:nvSpPr>
        <p:spPr>
          <a:xfrm>
            <a:off x="3702791" y="1805411"/>
            <a:ext cx="2169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SYSTÈME DES NŒUDS</a:t>
            </a:r>
            <a:endParaRPr lang="en-US" sz="1200" dirty="0"/>
          </a:p>
        </p:txBody>
      </p:sp>
      <p:sp>
        <p:nvSpPr>
          <p:cNvPr id="10" name="Text 8"/>
          <p:cNvSpPr/>
          <p:nvPr/>
        </p:nvSpPr>
        <p:spPr>
          <a:xfrm>
            <a:off x="3702791" y="2082271"/>
            <a:ext cx="21699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Ubuntu 24.04 LTS</a:t>
            </a:r>
            <a:endParaRPr lang="en-US" sz="1600" dirty="0"/>
          </a:p>
        </p:txBody>
      </p:sp>
      <p:sp>
        <p:nvSpPr>
          <p:cNvPr id="11" name="Text 9"/>
          <p:cNvSpPr/>
          <p:nvPr/>
        </p:nvSpPr>
        <p:spPr>
          <a:xfrm>
            <a:off x="3702791" y="2430250"/>
            <a:ext cx="2169920"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cgroups v2</a:t>
            </a:r>
            <a:endParaRPr lang="en-US" sz="1300" dirty="0"/>
          </a:p>
        </p:txBody>
      </p:sp>
      <p:sp>
        <p:nvSpPr>
          <p:cNvPr id="12" name="Shape 10"/>
          <p:cNvSpPr/>
          <p:nvPr/>
        </p:nvSpPr>
        <p:spPr>
          <a:xfrm>
            <a:off x="6175375" y="1598295"/>
            <a:ext cx="2520950" cy="2040890"/>
          </a:xfrm>
          <a:prstGeom prst="roundRect">
            <a:avLst>
              <a:gd name="adj" fmla="val 6067"/>
            </a:avLst>
          </a:prstGeom>
          <a:solidFill>
            <a:srgbClr val="FDFDFF"/>
          </a:solidFill>
          <a:ln w="6350">
            <a:solidFill>
              <a:srgbClr val="E1DFEE"/>
            </a:solidFill>
            <a:prstDash val="solid"/>
          </a:ln>
        </p:spPr>
      </p:sp>
      <p:sp>
        <p:nvSpPr>
          <p:cNvPr id="13" name="Text 11"/>
          <p:cNvSpPr/>
          <p:nvPr/>
        </p:nvSpPr>
        <p:spPr>
          <a:xfrm>
            <a:off x="6382491" y="1805411"/>
            <a:ext cx="2169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RUNTIME</a:t>
            </a:r>
            <a:endParaRPr lang="en-US" sz="1200" dirty="0"/>
          </a:p>
        </p:txBody>
      </p:sp>
      <p:sp>
        <p:nvSpPr>
          <p:cNvPr id="14" name="Text 12"/>
          <p:cNvSpPr/>
          <p:nvPr/>
        </p:nvSpPr>
        <p:spPr>
          <a:xfrm>
            <a:off x="6382491" y="2082271"/>
            <a:ext cx="21699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containerd 2.x</a:t>
            </a:r>
            <a:endParaRPr lang="en-US" sz="1600" dirty="0"/>
          </a:p>
        </p:txBody>
      </p:sp>
      <p:sp>
        <p:nvSpPr>
          <p:cNvPr id="15" name="Text 13"/>
          <p:cNvSpPr/>
          <p:nvPr/>
        </p:nvSpPr>
        <p:spPr>
          <a:xfrm>
            <a:off x="6382491" y="2430250"/>
            <a:ext cx="216992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runtime de conteneurs compatible CRI</a:t>
            </a:r>
            <a:endParaRPr lang="en-US" sz="1300" dirty="0"/>
          </a:p>
        </p:txBody>
      </p:sp>
      <p:sp>
        <p:nvSpPr>
          <p:cNvPr id="16" name="Shape 14"/>
          <p:cNvSpPr/>
          <p:nvPr/>
        </p:nvSpPr>
        <p:spPr>
          <a:xfrm>
            <a:off x="8855075" y="1598295"/>
            <a:ext cx="2520950" cy="2040890"/>
          </a:xfrm>
          <a:prstGeom prst="roundRect">
            <a:avLst>
              <a:gd name="adj" fmla="val 6067"/>
            </a:avLst>
          </a:prstGeom>
          <a:solidFill>
            <a:srgbClr val="FDFDFF"/>
          </a:solidFill>
          <a:ln w="6350">
            <a:solidFill>
              <a:srgbClr val="E1DFEE"/>
            </a:solidFill>
            <a:prstDash val="solid"/>
          </a:ln>
        </p:spPr>
      </p:sp>
      <p:sp>
        <p:nvSpPr>
          <p:cNvPr id="17" name="Text 15"/>
          <p:cNvSpPr/>
          <p:nvPr/>
        </p:nvSpPr>
        <p:spPr>
          <a:xfrm>
            <a:off x="9062191" y="1805411"/>
            <a:ext cx="2169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INSTALLATION</a:t>
            </a:r>
            <a:endParaRPr lang="en-US" sz="1200" dirty="0"/>
          </a:p>
        </p:txBody>
      </p:sp>
      <p:sp>
        <p:nvSpPr>
          <p:cNvPr id="18" name="Text 16"/>
          <p:cNvSpPr/>
          <p:nvPr/>
        </p:nvSpPr>
        <p:spPr>
          <a:xfrm>
            <a:off x="9062191" y="2082271"/>
            <a:ext cx="21699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kubeadm</a:t>
            </a:r>
            <a:endParaRPr lang="en-US" sz="1600" dirty="0"/>
          </a:p>
        </p:txBody>
      </p:sp>
      <p:sp>
        <p:nvSpPr>
          <p:cNvPr id="19" name="Text 17"/>
          <p:cNvSpPr/>
          <p:nvPr/>
        </p:nvSpPr>
        <p:spPr>
          <a:xfrm>
            <a:off x="9062191" y="2430250"/>
            <a:ext cx="2169920"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l'outil officiel du projet</a:t>
            </a:r>
            <a:endParaRPr lang="en-US" sz="1300" dirty="0"/>
          </a:p>
        </p:txBody>
      </p:sp>
      <p:sp>
        <p:nvSpPr>
          <p:cNvPr id="20" name="Shape 18"/>
          <p:cNvSpPr/>
          <p:nvPr/>
        </p:nvSpPr>
        <p:spPr>
          <a:xfrm>
            <a:off x="815975" y="3797936"/>
            <a:ext cx="2520950" cy="2040890"/>
          </a:xfrm>
          <a:prstGeom prst="roundRect">
            <a:avLst>
              <a:gd name="adj" fmla="val 6067"/>
            </a:avLst>
          </a:prstGeom>
          <a:solidFill>
            <a:srgbClr val="FDFDFF"/>
          </a:solidFill>
          <a:ln w="6350">
            <a:solidFill>
              <a:srgbClr val="E1DFEE"/>
            </a:solidFill>
            <a:prstDash val="solid"/>
          </a:ln>
        </p:spPr>
      </p:sp>
      <p:sp>
        <p:nvSpPr>
          <p:cNvPr id="21" name="Text 19"/>
          <p:cNvSpPr/>
          <p:nvPr/>
        </p:nvSpPr>
        <p:spPr>
          <a:xfrm>
            <a:off x="1023091" y="4005050"/>
            <a:ext cx="2169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RÉSEAU DES PODS</a:t>
            </a:r>
            <a:endParaRPr lang="en-US" sz="1200" dirty="0"/>
          </a:p>
        </p:txBody>
      </p:sp>
      <p:sp>
        <p:nvSpPr>
          <p:cNvPr id="22" name="Text 20"/>
          <p:cNvSpPr/>
          <p:nvPr/>
        </p:nvSpPr>
        <p:spPr>
          <a:xfrm>
            <a:off x="1023091" y="4281911"/>
            <a:ext cx="21699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Calico 3.31</a:t>
            </a:r>
            <a:endParaRPr lang="en-US" sz="1600" dirty="0"/>
          </a:p>
        </p:txBody>
      </p:sp>
      <p:sp>
        <p:nvSpPr>
          <p:cNvPr id="23" name="Text 21"/>
          <p:cNvSpPr/>
          <p:nvPr/>
        </p:nvSpPr>
        <p:spPr>
          <a:xfrm>
            <a:off x="1023091" y="4629891"/>
            <a:ext cx="216992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10.244.0.0/16, encapsulation VXLAN</a:t>
            </a:r>
            <a:endParaRPr lang="en-US" sz="1300" dirty="0"/>
          </a:p>
        </p:txBody>
      </p:sp>
      <p:sp>
        <p:nvSpPr>
          <p:cNvPr id="24" name="Shape 22"/>
          <p:cNvSpPr/>
          <p:nvPr/>
        </p:nvSpPr>
        <p:spPr>
          <a:xfrm>
            <a:off x="3495675" y="3797936"/>
            <a:ext cx="2520950" cy="2040890"/>
          </a:xfrm>
          <a:prstGeom prst="roundRect">
            <a:avLst>
              <a:gd name="adj" fmla="val 6067"/>
            </a:avLst>
          </a:prstGeom>
          <a:solidFill>
            <a:srgbClr val="FDFDFF"/>
          </a:solidFill>
          <a:ln w="6350">
            <a:solidFill>
              <a:srgbClr val="E1DFEE"/>
            </a:solidFill>
            <a:prstDash val="solid"/>
          </a:ln>
        </p:spPr>
      </p:sp>
      <p:sp>
        <p:nvSpPr>
          <p:cNvPr id="25" name="Text 23"/>
          <p:cNvSpPr/>
          <p:nvPr/>
        </p:nvSpPr>
        <p:spPr>
          <a:xfrm>
            <a:off x="3702791" y="4005050"/>
            <a:ext cx="2169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PLAGE DES SERVICES</a:t>
            </a:r>
            <a:endParaRPr lang="en-US" sz="1200" dirty="0"/>
          </a:p>
        </p:txBody>
      </p:sp>
      <p:sp>
        <p:nvSpPr>
          <p:cNvPr id="26" name="Text 24"/>
          <p:cNvSpPr/>
          <p:nvPr/>
        </p:nvSpPr>
        <p:spPr>
          <a:xfrm>
            <a:off x="3702791" y="4281911"/>
            <a:ext cx="21699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10.96.0.0/12</a:t>
            </a:r>
            <a:endParaRPr lang="en-US" sz="1600" dirty="0"/>
          </a:p>
        </p:txBody>
      </p:sp>
      <p:sp>
        <p:nvSpPr>
          <p:cNvPr id="27" name="Text 25"/>
          <p:cNvSpPr/>
          <p:nvPr/>
        </p:nvSpPr>
        <p:spPr>
          <a:xfrm>
            <a:off x="3702791" y="4629891"/>
            <a:ext cx="216992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valeur par défaut de kubeadm</a:t>
            </a:r>
            <a:endParaRPr lang="en-US" sz="1300" dirty="0"/>
          </a:p>
        </p:txBody>
      </p:sp>
      <p:sp>
        <p:nvSpPr>
          <p:cNvPr id="28" name="Shape 26"/>
          <p:cNvSpPr/>
          <p:nvPr/>
        </p:nvSpPr>
        <p:spPr>
          <a:xfrm>
            <a:off x="6175375" y="3797936"/>
            <a:ext cx="2520950" cy="2040890"/>
          </a:xfrm>
          <a:prstGeom prst="roundRect">
            <a:avLst>
              <a:gd name="adj" fmla="val 6067"/>
            </a:avLst>
          </a:prstGeom>
          <a:solidFill>
            <a:srgbClr val="FDFDFF"/>
          </a:solidFill>
          <a:ln w="6350">
            <a:solidFill>
              <a:srgbClr val="E1DFEE"/>
            </a:solidFill>
            <a:prstDash val="solid"/>
          </a:ln>
        </p:spPr>
      </p:sp>
      <p:sp>
        <p:nvSpPr>
          <p:cNvPr id="29" name="Text 27"/>
          <p:cNvSpPr/>
          <p:nvPr/>
        </p:nvSpPr>
        <p:spPr>
          <a:xfrm>
            <a:off x="6382491" y="4005050"/>
            <a:ext cx="2169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VOS NŒUDS</a:t>
            </a:r>
            <a:endParaRPr lang="en-US" sz="1200" dirty="0"/>
          </a:p>
        </p:txBody>
      </p:sp>
      <p:sp>
        <p:nvSpPr>
          <p:cNvPr id="30" name="Text 28"/>
          <p:cNvSpPr/>
          <p:nvPr/>
        </p:nvSpPr>
        <p:spPr>
          <a:xfrm>
            <a:off x="6382491" y="4281911"/>
            <a:ext cx="21699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3 VM</a:t>
            </a:r>
            <a:endParaRPr lang="en-US" sz="1600" dirty="0"/>
          </a:p>
        </p:txBody>
      </p:sp>
      <p:sp>
        <p:nvSpPr>
          <p:cNvPr id="31" name="Text 29"/>
          <p:cNvSpPr/>
          <p:nvPr/>
        </p:nvSpPr>
        <p:spPr>
          <a:xfrm>
            <a:off x="6382491" y="4629891"/>
            <a:ext cx="216992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k8s-cp (control plane), k8s-w1 et k8s-w2 (workers)</a:t>
            </a:r>
            <a:endParaRPr lang="en-US" sz="1300" dirty="0"/>
          </a:p>
        </p:txBody>
      </p:sp>
      <p:sp>
        <p:nvSpPr>
          <p:cNvPr id="32" name="Shape 30"/>
          <p:cNvSpPr/>
          <p:nvPr/>
        </p:nvSpPr>
        <p:spPr>
          <a:xfrm>
            <a:off x="8851900" y="3794761"/>
            <a:ext cx="2527300" cy="2047240"/>
          </a:xfrm>
          <a:prstGeom prst="roundRect">
            <a:avLst>
              <a:gd name="adj" fmla="val 6203"/>
            </a:avLst>
          </a:prstGeom>
          <a:solidFill>
            <a:srgbClr val="0B0748"/>
          </a:solidFill>
          <a:ln/>
        </p:spPr>
      </p:sp>
      <p:sp>
        <p:nvSpPr>
          <p:cNvPr id="33" name="Text 31"/>
          <p:cNvSpPr/>
          <p:nvPr/>
        </p:nvSpPr>
        <p:spPr>
          <a:xfrm>
            <a:off x="9055100" y="3997961"/>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FIL ROUGE</a:t>
            </a:r>
            <a:endParaRPr lang="en-US" sz="1200" dirty="0"/>
          </a:p>
        </p:txBody>
      </p:sp>
      <p:sp>
        <p:nvSpPr>
          <p:cNvPr id="34" name="Text 32"/>
          <p:cNvSpPr/>
          <p:nvPr/>
        </p:nvSpPr>
        <p:spPr>
          <a:xfrm>
            <a:off x="9055100" y="4274820"/>
            <a:ext cx="218452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5F4F9"/>
                </a:solidFill>
                <a:latin typeface="Sora" pitchFamily="34" charset="0"/>
                <a:ea typeface="Sora" pitchFamily="34" charset="-122"/>
                <a:cs typeface="Sora" pitchFamily="34" charset="-120"/>
              </a:rPr>
              <a:t>podinfo + Redis</a:t>
            </a:r>
            <a:endParaRPr lang="en-US" sz="1600" dirty="0"/>
          </a:p>
        </p:txBody>
      </p:sp>
      <p:sp>
        <p:nvSpPr>
          <p:cNvPr id="35" name="Text 33"/>
          <p:cNvSpPr/>
          <p:nvPr/>
        </p:nvSpPr>
        <p:spPr>
          <a:xfrm>
            <a:off x="9055100" y="4622800"/>
            <a:ext cx="218452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9B6E8"/>
                </a:solidFill>
                <a:latin typeface="IBM Plex Sans" pitchFamily="34" charset="0"/>
                <a:ea typeface="IBM Plex Sans" pitchFamily="34" charset="-122"/>
                <a:cs typeface="IBM Plex Sans" pitchFamily="34" charset="-120"/>
              </a:rPr>
              <a:t>interface web et API, avec un cache</a:t>
            </a:r>
            <a:endParaRPr lang="en-US" sz="1300" dirty="0"/>
          </a:p>
        </p:txBody>
      </p:sp>
      <p:pic>
        <p:nvPicPr>
          <p:cNvPr id="36"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37" name="Text 34"/>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8" name="Image 1" descr="Parcours de la formation : début">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PRÉSENTATION DE LA FORMATION</a:t>
            </a:r>
            <a:endParaRPr lang="en-US" sz="1200" dirty="0"/>
          </a:p>
        </p:txBody>
      </p:sp>
      <p:sp>
        <p:nvSpPr>
          <p:cNvPr id="3" name="Text 1"/>
          <p:cNvSpPr/>
          <p:nvPr>
            <p:ph type="title"/>
          </p:nvPr>
        </p:nvSpPr>
        <p:spPr>
          <a:xfrm>
            <a:off x="812800" y="94996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Trois jours, seize modules, un atelier</a:t>
            </a:r>
            <a:endParaRPr lang="en-US" sz="2800" dirty="0"/>
          </a:p>
        </p:txBody>
      </p:sp>
      <p:sp>
        <p:nvSpPr>
          <p:cNvPr id="4" name="Shape 2"/>
          <p:cNvSpPr/>
          <p:nvPr/>
        </p:nvSpPr>
        <p:spPr>
          <a:xfrm>
            <a:off x="815975" y="1598295"/>
            <a:ext cx="3380317" cy="4240530"/>
          </a:xfrm>
          <a:prstGeom prst="roundRect">
            <a:avLst>
              <a:gd name="adj" fmla="val 3663"/>
            </a:avLst>
          </a:prstGeom>
          <a:solidFill>
            <a:srgbClr val="FDFDFF"/>
          </a:solidFill>
          <a:ln w="6350">
            <a:solidFill>
              <a:srgbClr val="E1DFEE"/>
            </a:solidFill>
            <a:prstDash val="solid"/>
          </a:ln>
        </p:spPr>
      </p:sp>
      <p:sp>
        <p:nvSpPr>
          <p:cNvPr id="5" name="Text 3"/>
          <p:cNvSpPr/>
          <p:nvPr/>
        </p:nvSpPr>
        <p:spPr>
          <a:xfrm>
            <a:off x="1048491" y="1805411"/>
            <a:ext cx="30027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JOUR 1 · MERCREDI 14</a:t>
            </a:r>
            <a:endParaRPr lang="en-US" sz="1200" dirty="0"/>
          </a:p>
        </p:txBody>
      </p:sp>
      <p:sp>
        <p:nvSpPr>
          <p:cNvPr id="6" name="Text 4"/>
          <p:cNvSpPr/>
          <p:nvPr/>
        </p:nvSpPr>
        <p:spPr>
          <a:xfrm>
            <a:off x="1048491" y="2094971"/>
            <a:ext cx="3002743"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0B0748"/>
                </a:solidFill>
                <a:latin typeface="Sora" pitchFamily="34" charset="0"/>
                <a:ea typeface="Sora" pitchFamily="34" charset="-122"/>
                <a:cs typeface="Sora" pitchFamily="34" charset="-120"/>
              </a:rPr>
              <a:t>Comprendre et installer</a:t>
            </a:r>
            <a:endParaRPr lang="en-US" sz="1700" dirty="0"/>
          </a:p>
        </p:txBody>
      </p:sp>
      <p:sp>
        <p:nvSpPr>
          <p:cNvPr id="7" name="Text 5"/>
          <p:cNvSpPr/>
          <p:nvPr/>
        </p:nvSpPr>
        <p:spPr>
          <a:xfrm>
            <a:off x="1048491" y="2470255"/>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01</a:t>
            </a:r>
            <a:endParaRPr lang="en-US" sz="1300" dirty="0"/>
          </a:p>
        </p:txBody>
      </p:sp>
      <p:sp>
        <p:nvSpPr>
          <p:cNvPr id="8" name="Text 6"/>
          <p:cNvSpPr/>
          <p:nvPr/>
        </p:nvSpPr>
        <p:spPr>
          <a:xfrm>
            <a:off x="1429491" y="2470255"/>
            <a:ext cx="2610313"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Des conteneurs à l'orchestration</a:t>
            </a:r>
            <a:endParaRPr lang="en-US" sz="1300" dirty="0"/>
          </a:p>
        </p:txBody>
      </p:sp>
      <p:sp>
        <p:nvSpPr>
          <p:cNvPr id="9" name="Text 7"/>
          <p:cNvSpPr/>
          <p:nvPr/>
        </p:nvSpPr>
        <p:spPr>
          <a:xfrm>
            <a:off x="1048491" y="2777596"/>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02</a:t>
            </a:r>
            <a:endParaRPr lang="en-US" sz="1300" dirty="0"/>
          </a:p>
        </p:txBody>
      </p:sp>
      <p:sp>
        <p:nvSpPr>
          <p:cNvPr id="10" name="Text 8"/>
          <p:cNvSpPr/>
          <p:nvPr/>
        </p:nvSpPr>
        <p:spPr>
          <a:xfrm>
            <a:off x="1429491" y="2777596"/>
            <a:ext cx="2610313"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Architecture de Kubernetes</a:t>
            </a:r>
            <a:endParaRPr lang="en-US" sz="1300" dirty="0"/>
          </a:p>
        </p:txBody>
      </p:sp>
      <p:sp>
        <p:nvSpPr>
          <p:cNvPr id="11" name="Text 9"/>
          <p:cNvSpPr/>
          <p:nvPr/>
        </p:nvSpPr>
        <p:spPr>
          <a:xfrm>
            <a:off x="1048491" y="3084936"/>
            <a:ext cx="330200" cy="454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03</a:t>
            </a:r>
            <a:endParaRPr lang="en-US" sz="1300" dirty="0"/>
          </a:p>
        </p:txBody>
      </p:sp>
      <p:sp>
        <p:nvSpPr>
          <p:cNvPr id="12" name="Text 10"/>
          <p:cNvSpPr/>
          <p:nvPr/>
        </p:nvSpPr>
        <p:spPr>
          <a:xfrm>
            <a:off x="1429491" y="3084936"/>
            <a:ext cx="2610313"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Kubernetes dans l'écosystème Cloud</a:t>
            </a:r>
            <a:endParaRPr lang="en-US" sz="1300" dirty="0"/>
          </a:p>
        </p:txBody>
      </p:sp>
      <p:sp>
        <p:nvSpPr>
          <p:cNvPr id="13" name="Text 11"/>
          <p:cNvSpPr/>
          <p:nvPr/>
        </p:nvSpPr>
        <p:spPr>
          <a:xfrm>
            <a:off x="1048491" y="3590396"/>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04</a:t>
            </a:r>
            <a:endParaRPr lang="en-US" sz="1300" dirty="0"/>
          </a:p>
        </p:txBody>
      </p:sp>
      <p:sp>
        <p:nvSpPr>
          <p:cNvPr id="14" name="Text 12"/>
          <p:cNvSpPr/>
          <p:nvPr/>
        </p:nvSpPr>
        <p:spPr>
          <a:xfrm>
            <a:off x="1429491" y="3590396"/>
            <a:ext cx="2763626"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Installer un cluster avec kubeadm</a:t>
            </a:r>
            <a:endParaRPr lang="en-US" sz="1300" dirty="0"/>
          </a:p>
        </p:txBody>
      </p:sp>
      <p:sp>
        <p:nvSpPr>
          <p:cNvPr id="15" name="Text 13"/>
          <p:cNvSpPr/>
          <p:nvPr/>
        </p:nvSpPr>
        <p:spPr>
          <a:xfrm>
            <a:off x="1048491" y="3897736"/>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05</a:t>
            </a:r>
            <a:endParaRPr lang="en-US" sz="1300" dirty="0"/>
          </a:p>
        </p:txBody>
      </p:sp>
      <p:sp>
        <p:nvSpPr>
          <p:cNvPr id="16" name="Text 14"/>
          <p:cNvSpPr/>
          <p:nvPr/>
        </p:nvSpPr>
        <p:spPr>
          <a:xfrm>
            <a:off x="1429491" y="3897736"/>
            <a:ext cx="2610313"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Gérer les nœuds</a:t>
            </a:r>
            <a:endParaRPr lang="en-US" sz="1300" dirty="0"/>
          </a:p>
        </p:txBody>
      </p:sp>
      <p:sp>
        <p:nvSpPr>
          <p:cNvPr id="17" name="Shape 15"/>
          <p:cNvSpPr/>
          <p:nvPr/>
        </p:nvSpPr>
        <p:spPr>
          <a:xfrm>
            <a:off x="1048491" y="5320454"/>
            <a:ext cx="2915285" cy="0"/>
          </a:xfrm>
          <a:prstGeom prst="line">
            <a:avLst/>
          </a:prstGeom>
          <a:noFill/>
          <a:ln w="6350">
            <a:solidFill>
              <a:srgbClr val="E1DFEE"/>
            </a:solidFill>
            <a:prstDash val="solid"/>
          </a:ln>
        </p:spPr>
      </p:sp>
      <p:sp>
        <p:nvSpPr>
          <p:cNvPr id="18" name="Text 16"/>
          <p:cNvSpPr/>
          <p:nvPr/>
        </p:nvSpPr>
        <p:spPr>
          <a:xfrm>
            <a:off x="1048491" y="5425969"/>
            <a:ext cx="3002743"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890"/>
                </a:solidFill>
                <a:latin typeface="IBM Plex Sans" pitchFamily="34" charset="0"/>
                <a:ea typeface="IBM Plex Sans" pitchFamily="34" charset="-122"/>
                <a:cs typeface="IBM Plex Sans" pitchFamily="34" charset="-120"/>
              </a:rPr>
              <a:t>TP1 à TP3 : nœuds, cluster, maintenance</a:t>
            </a:r>
            <a:endParaRPr lang="en-US" sz="1200" dirty="0"/>
          </a:p>
        </p:txBody>
      </p:sp>
      <p:sp>
        <p:nvSpPr>
          <p:cNvPr id="19" name="Shape 17"/>
          <p:cNvSpPr/>
          <p:nvPr/>
        </p:nvSpPr>
        <p:spPr>
          <a:xfrm>
            <a:off x="4405842" y="1598295"/>
            <a:ext cx="3380317" cy="4240530"/>
          </a:xfrm>
          <a:prstGeom prst="roundRect">
            <a:avLst>
              <a:gd name="adj" fmla="val 3663"/>
            </a:avLst>
          </a:prstGeom>
          <a:solidFill>
            <a:srgbClr val="FDFDFF"/>
          </a:solidFill>
          <a:ln w="6350">
            <a:solidFill>
              <a:srgbClr val="E1DFEE"/>
            </a:solidFill>
            <a:prstDash val="solid"/>
          </a:ln>
        </p:spPr>
      </p:sp>
      <p:sp>
        <p:nvSpPr>
          <p:cNvPr id="20" name="Text 18"/>
          <p:cNvSpPr/>
          <p:nvPr/>
        </p:nvSpPr>
        <p:spPr>
          <a:xfrm>
            <a:off x="4638358" y="1805411"/>
            <a:ext cx="300274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JOUR 2 · JEUDI 15</a:t>
            </a:r>
            <a:endParaRPr lang="en-US" sz="1200" dirty="0"/>
          </a:p>
        </p:txBody>
      </p:sp>
      <p:sp>
        <p:nvSpPr>
          <p:cNvPr id="21" name="Text 19"/>
          <p:cNvSpPr/>
          <p:nvPr/>
        </p:nvSpPr>
        <p:spPr>
          <a:xfrm>
            <a:off x="4638358" y="2094971"/>
            <a:ext cx="3002744"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0B0748"/>
                </a:solidFill>
                <a:latin typeface="Sora" pitchFamily="34" charset="0"/>
                <a:ea typeface="Sora" pitchFamily="34" charset="-122"/>
                <a:cs typeface="Sora" pitchFamily="34" charset="-120"/>
              </a:rPr>
              <a:t>Décrire et exploiter</a:t>
            </a:r>
            <a:endParaRPr lang="en-US" sz="1700" dirty="0"/>
          </a:p>
        </p:txBody>
      </p:sp>
      <p:sp>
        <p:nvSpPr>
          <p:cNvPr id="22" name="Text 20"/>
          <p:cNvSpPr/>
          <p:nvPr/>
        </p:nvSpPr>
        <p:spPr>
          <a:xfrm>
            <a:off x="4638358" y="2470255"/>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06</a:t>
            </a:r>
            <a:endParaRPr lang="en-US" sz="1300" dirty="0"/>
          </a:p>
        </p:txBody>
      </p:sp>
      <p:sp>
        <p:nvSpPr>
          <p:cNvPr id="23" name="Text 21"/>
          <p:cNvSpPr/>
          <p:nvPr/>
        </p:nvSpPr>
        <p:spPr>
          <a:xfrm>
            <a:off x="5019358" y="2470255"/>
            <a:ext cx="2610314"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YAML et manifestes</a:t>
            </a:r>
            <a:endParaRPr lang="en-US" sz="1300" dirty="0"/>
          </a:p>
        </p:txBody>
      </p:sp>
      <p:sp>
        <p:nvSpPr>
          <p:cNvPr id="24" name="Text 22"/>
          <p:cNvSpPr/>
          <p:nvPr/>
        </p:nvSpPr>
        <p:spPr>
          <a:xfrm>
            <a:off x="4638358" y="2777596"/>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07</a:t>
            </a:r>
            <a:endParaRPr lang="en-US" sz="1300" dirty="0"/>
          </a:p>
        </p:txBody>
      </p:sp>
      <p:sp>
        <p:nvSpPr>
          <p:cNvPr id="25" name="Text 23"/>
          <p:cNvSpPr/>
          <p:nvPr/>
        </p:nvSpPr>
        <p:spPr>
          <a:xfrm>
            <a:off x="5019358" y="2777596"/>
            <a:ext cx="2610314"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Pods, Deployments, Services</a:t>
            </a:r>
            <a:endParaRPr lang="en-US" sz="1300" dirty="0"/>
          </a:p>
        </p:txBody>
      </p:sp>
      <p:sp>
        <p:nvSpPr>
          <p:cNvPr id="26" name="Text 24"/>
          <p:cNvSpPr/>
          <p:nvPr/>
        </p:nvSpPr>
        <p:spPr>
          <a:xfrm>
            <a:off x="4638358" y="3084936"/>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08</a:t>
            </a:r>
            <a:endParaRPr lang="en-US" sz="1300" dirty="0"/>
          </a:p>
        </p:txBody>
      </p:sp>
      <p:sp>
        <p:nvSpPr>
          <p:cNvPr id="27" name="Text 25"/>
          <p:cNvSpPr/>
          <p:nvPr/>
        </p:nvSpPr>
        <p:spPr>
          <a:xfrm>
            <a:off x="5019358" y="3084936"/>
            <a:ext cx="2610314"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ConfigMaps et Secrets</a:t>
            </a:r>
            <a:endParaRPr lang="en-US" sz="1300" dirty="0"/>
          </a:p>
        </p:txBody>
      </p:sp>
      <p:sp>
        <p:nvSpPr>
          <p:cNvPr id="28" name="Text 26"/>
          <p:cNvSpPr/>
          <p:nvPr/>
        </p:nvSpPr>
        <p:spPr>
          <a:xfrm>
            <a:off x="4638358" y="3392275"/>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09</a:t>
            </a:r>
            <a:endParaRPr lang="en-US" sz="1300" dirty="0"/>
          </a:p>
        </p:txBody>
      </p:sp>
      <p:sp>
        <p:nvSpPr>
          <p:cNvPr id="29" name="Text 27"/>
          <p:cNvSpPr/>
          <p:nvPr/>
        </p:nvSpPr>
        <p:spPr>
          <a:xfrm>
            <a:off x="5019358" y="3392275"/>
            <a:ext cx="2610314"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Cycle de vie des applications</a:t>
            </a:r>
            <a:endParaRPr lang="en-US" sz="1300" dirty="0"/>
          </a:p>
        </p:txBody>
      </p:sp>
      <p:sp>
        <p:nvSpPr>
          <p:cNvPr id="30" name="Text 28"/>
          <p:cNvSpPr/>
          <p:nvPr/>
        </p:nvSpPr>
        <p:spPr>
          <a:xfrm>
            <a:off x="4638358" y="3699616"/>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10</a:t>
            </a:r>
            <a:endParaRPr lang="en-US" sz="1300" dirty="0"/>
          </a:p>
        </p:txBody>
      </p:sp>
      <p:sp>
        <p:nvSpPr>
          <p:cNvPr id="31" name="Text 29"/>
          <p:cNvSpPr/>
          <p:nvPr/>
        </p:nvSpPr>
        <p:spPr>
          <a:xfrm>
            <a:off x="5019358" y="3699616"/>
            <a:ext cx="2610314"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Surveiller et diagnostiquer</a:t>
            </a:r>
            <a:endParaRPr lang="en-US" sz="1300" dirty="0"/>
          </a:p>
        </p:txBody>
      </p:sp>
      <p:sp>
        <p:nvSpPr>
          <p:cNvPr id="32" name="Shape 30"/>
          <p:cNvSpPr/>
          <p:nvPr/>
        </p:nvSpPr>
        <p:spPr>
          <a:xfrm>
            <a:off x="4638358" y="5114713"/>
            <a:ext cx="2915285" cy="0"/>
          </a:xfrm>
          <a:prstGeom prst="line">
            <a:avLst/>
          </a:prstGeom>
          <a:noFill/>
          <a:ln w="6350">
            <a:solidFill>
              <a:srgbClr val="E1DFEE"/>
            </a:solidFill>
            <a:prstDash val="solid"/>
          </a:ln>
        </p:spPr>
      </p:sp>
      <p:sp>
        <p:nvSpPr>
          <p:cNvPr id="33" name="Text 31"/>
          <p:cNvSpPr/>
          <p:nvPr/>
        </p:nvSpPr>
        <p:spPr>
          <a:xfrm>
            <a:off x="4638358" y="5220228"/>
            <a:ext cx="300274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890"/>
                </a:solidFill>
                <a:latin typeface="IBM Plex Sans" pitchFamily="34" charset="0"/>
                <a:ea typeface="IBM Plex Sans" pitchFamily="34" charset="-122"/>
                <a:cs typeface="IBM Plex Sans" pitchFamily="34" charset="-120"/>
              </a:rPr>
              <a:t>TP4 à TP7 : manifestes, fil rouge, mises à jour, pannes</a:t>
            </a:r>
            <a:endParaRPr lang="en-US" sz="1200" dirty="0"/>
          </a:p>
        </p:txBody>
      </p:sp>
      <p:sp>
        <p:nvSpPr>
          <p:cNvPr id="34" name="Shape 32"/>
          <p:cNvSpPr/>
          <p:nvPr/>
        </p:nvSpPr>
        <p:spPr>
          <a:xfrm>
            <a:off x="7995708" y="1598295"/>
            <a:ext cx="3380317" cy="4240530"/>
          </a:xfrm>
          <a:prstGeom prst="roundRect">
            <a:avLst>
              <a:gd name="adj" fmla="val 3663"/>
            </a:avLst>
          </a:prstGeom>
          <a:solidFill>
            <a:srgbClr val="FDFDFF"/>
          </a:solidFill>
          <a:ln w="6350">
            <a:solidFill>
              <a:srgbClr val="E1DFEE"/>
            </a:solidFill>
            <a:prstDash val="solid"/>
          </a:ln>
        </p:spPr>
      </p:sp>
      <p:sp>
        <p:nvSpPr>
          <p:cNvPr id="35" name="Text 33"/>
          <p:cNvSpPr/>
          <p:nvPr/>
        </p:nvSpPr>
        <p:spPr>
          <a:xfrm>
            <a:off x="8228224" y="1805411"/>
            <a:ext cx="30027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JOUR 3 · VENDREDI 16</a:t>
            </a:r>
            <a:endParaRPr lang="en-US" sz="1200" dirty="0"/>
          </a:p>
        </p:txBody>
      </p:sp>
      <p:sp>
        <p:nvSpPr>
          <p:cNvPr id="36" name="Text 34"/>
          <p:cNvSpPr/>
          <p:nvPr/>
        </p:nvSpPr>
        <p:spPr>
          <a:xfrm>
            <a:off x="8228224" y="2094971"/>
            <a:ext cx="3002743" cy="521970"/>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0B0748"/>
                </a:solidFill>
                <a:latin typeface="Sora" pitchFamily="34" charset="0"/>
                <a:ea typeface="Sora" pitchFamily="34" charset="-122"/>
                <a:cs typeface="Sora" pitchFamily="34" charset="-120"/>
              </a:rPr>
              <a:t>Encadrer, sécuriser, faire grandir</a:t>
            </a:r>
            <a:endParaRPr lang="en-US" sz="1700" dirty="0"/>
          </a:p>
        </p:txBody>
      </p:sp>
      <p:sp>
        <p:nvSpPr>
          <p:cNvPr id="37" name="Text 35"/>
          <p:cNvSpPr/>
          <p:nvPr/>
        </p:nvSpPr>
        <p:spPr>
          <a:xfrm>
            <a:off x="8228224" y="2718541"/>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11</a:t>
            </a:r>
            <a:endParaRPr lang="en-US" sz="1300" dirty="0"/>
          </a:p>
        </p:txBody>
      </p:sp>
      <p:sp>
        <p:nvSpPr>
          <p:cNvPr id="38" name="Text 36"/>
          <p:cNvSpPr/>
          <p:nvPr/>
        </p:nvSpPr>
        <p:spPr>
          <a:xfrm>
            <a:off x="8609224" y="2718541"/>
            <a:ext cx="2610313"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Gérer les ressources</a:t>
            </a:r>
            <a:endParaRPr lang="en-US" sz="1300" dirty="0"/>
          </a:p>
        </p:txBody>
      </p:sp>
      <p:sp>
        <p:nvSpPr>
          <p:cNvPr id="39" name="Text 37"/>
          <p:cNvSpPr/>
          <p:nvPr/>
        </p:nvSpPr>
        <p:spPr>
          <a:xfrm>
            <a:off x="8228224" y="3025880"/>
            <a:ext cx="330200" cy="454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12</a:t>
            </a:r>
            <a:endParaRPr lang="en-US" sz="1300" dirty="0"/>
          </a:p>
        </p:txBody>
      </p:sp>
      <p:sp>
        <p:nvSpPr>
          <p:cNvPr id="40" name="Text 38"/>
          <p:cNvSpPr/>
          <p:nvPr/>
        </p:nvSpPr>
        <p:spPr>
          <a:xfrm>
            <a:off x="8609224" y="3025880"/>
            <a:ext cx="2610313"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Labels et stratégies de déploiement</a:t>
            </a:r>
            <a:endParaRPr lang="en-US" sz="1300" dirty="0"/>
          </a:p>
        </p:txBody>
      </p:sp>
      <p:sp>
        <p:nvSpPr>
          <p:cNvPr id="41" name="Text 39"/>
          <p:cNvSpPr/>
          <p:nvPr/>
        </p:nvSpPr>
        <p:spPr>
          <a:xfrm>
            <a:off x="8228224" y="3531341"/>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13</a:t>
            </a:r>
            <a:endParaRPr lang="en-US" sz="1300" dirty="0"/>
          </a:p>
        </p:txBody>
      </p:sp>
      <p:sp>
        <p:nvSpPr>
          <p:cNvPr id="42" name="Text 40"/>
          <p:cNvSpPr/>
          <p:nvPr/>
        </p:nvSpPr>
        <p:spPr>
          <a:xfrm>
            <a:off x="8609224" y="3531341"/>
            <a:ext cx="2610313"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Contrôleurs, opérateurs et Helm</a:t>
            </a:r>
            <a:endParaRPr lang="en-US" sz="1300" dirty="0"/>
          </a:p>
        </p:txBody>
      </p:sp>
      <p:sp>
        <p:nvSpPr>
          <p:cNvPr id="43" name="Text 41"/>
          <p:cNvSpPr/>
          <p:nvPr/>
        </p:nvSpPr>
        <p:spPr>
          <a:xfrm>
            <a:off x="8228224" y="3838680"/>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14</a:t>
            </a:r>
            <a:endParaRPr lang="en-US" sz="1300" dirty="0"/>
          </a:p>
        </p:txBody>
      </p:sp>
      <p:sp>
        <p:nvSpPr>
          <p:cNvPr id="44" name="Text 42"/>
          <p:cNvSpPr/>
          <p:nvPr/>
        </p:nvSpPr>
        <p:spPr>
          <a:xfrm>
            <a:off x="8609224" y="3838680"/>
            <a:ext cx="2610313"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Autoscaling</a:t>
            </a:r>
            <a:endParaRPr lang="en-US" sz="1300" dirty="0"/>
          </a:p>
        </p:txBody>
      </p:sp>
      <p:sp>
        <p:nvSpPr>
          <p:cNvPr id="45" name="Text 43"/>
          <p:cNvSpPr/>
          <p:nvPr/>
        </p:nvSpPr>
        <p:spPr>
          <a:xfrm>
            <a:off x="8228224" y="4146021"/>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15</a:t>
            </a:r>
            <a:endParaRPr lang="en-US" sz="1300" dirty="0"/>
          </a:p>
        </p:txBody>
      </p:sp>
      <p:sp>
        <p:nvSpPr>
          <p:cNvPr id="46" name="Text 44"/>
          <p:cNvSpPr/>
          <p:nvPr/>
        </p:nvSpPr>
        <p:spPr>
          <a:xfrm>
            <a:off x="8609224" y="4146021"/>
            <a:ext cx="2610313"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Sécurité</a:t>
            </a:r>
            <a:endParaRPr lang="en-US" sz="1300" dirty="0"/>
          </a:p>
        </p:txBody>
      </p:sp>
      <p:sp>
        <p:nvSpPr>
          <p:cNvPr id="47" name="Text 45"/>
          <p:cNvSpPr/>
          <p:nvPr/>
        </p:nvSpPr>
        <p:spPr>
          <a:xfrm>
            <a:off x="8228224" y="4453361"/>
            <a:ext cx="330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16</a:t>
            </a:r>
            <a:endParaRPr lang="en-US" sz="1300" dirty="0"/>
          </a:p>
        </p:txBody>
      </p:sp>
      <p:sp>
        <p:nvSpPr>
          <p:cNvPr id="48" name="Text 46"/>
          <p:cNvSpPr/>
          <p:nvPr/>
        </p:nvSpPr>
        <p:spPr>
          <a:xfrm>
            <a:off x="8609224" y="4453361"/>
            <a:ext cx="2610313" cy="25654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Volumes et persistance</a:t>
            </a:r>
            <a:endParaRPr lang="en-US" sz="1300" dirty="0"/>
          </a:p>
        </p:txBody>
      </p:sp>
      <p:sp>
        <p:nvSpPr>
          <p:cNvPr id="49" name="Shape 47"/>
          <p:cNvSpPr/>
          <p:nvPr/>
        </p:nvSpPr>
        <p:spPr>
          <a:xfrm>
            <a:off x="8228224" y="5114713"/>
            <a:ext cx="2915285" cy="0"/>
          </a:xfrm>
          <a:prstGeom prst="line">
            <a:avLst/>
          </a:prstGeom>
          <a:noFill/>
          <a:ln w="6350">
            <a:solidFill>
              <a:srgbClr val="E1DFEE"/>
            </a:solidFill>
            <a:prstDash val="solid"/>
          </a:ln>
        </p:spPr>
      </p:sp>
      <p:sp>
        <p:nvSpPr>
          <p:cNvPr id="50" name="Text 48"/>
          <p:cNvSpPr/>
          <p:nvPr/>
        </p:nvSpPr>
        <p:spPr>
          <a:xfrm>
            <a:off x="8228224" y="5220228"/>
            <a:ext cx="3002743"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890"/>
                </a:solidFill>
                <a:latin typeface="IBM Plex Sans" pitchFamily="34" charset="0"/>
                <a:ea typeface="IBM Plex Sans" pitchFamily="34" charset="-122"/>
                <a:cs typeface="IBM Plex Sans" pitchFamily="34" charset="-120"/>
              </a:rPr>
              <a:t>TP8 à TP12, puis l'atelier de migration (TP13)</a:t>
            </a:r>
            <a:endParaRPr lang="en-US" sz="1200" dirty="0"/>
          </a:p>
        </p:txBody>
      </p:sp>
      <p:pic>
        <p:nvPicPr>
          <p:cNvPr id="51"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52" name="Text 49"/>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53" name="Image 1" descr="Parcours de la formation : début">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PRÉSENTATION DE LA FORMATION</a:t>
            </a:r>
            <a:endParaRPr lang="en-US" sz="1200" dirty="0"/>
          </a:p>
        </p:txBody>
      </p:sp>
      <p:sp>
        <p:nvSpPr>
          <p:cNvPr id="3" name="Text 1"/>
          <p:cNvSpPr/>
          <p:nvPr>
            <p:ph type="title"/>
          </p:nvPr>
        </p:nvSpPr>
        <p:spPr>
          <a:xfrm>
            <a:off x="812800" y="94996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Repères pour suivre</a:t>
            </a:r>
            <a:endParaRPr lang="en-US" sz="2800" dirty="0"/>
          </a:p>
        </p:txBody>
      </p:sp>
      <p:sp>
        <p:nvSpPr>
          <p:cNvPr id="4" name="Text 2"/>
          <p:cNvSpPr/>
          <p:nvPr/>
        </p:nvSpPr>
        <p:spPr>
          <a:xfrm>
            <a:off x="812800" y="1595121"/>
            <a:ext cx="550895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QUATRE TYPES DE DIAPOSITIVES</a:t>
            </a:r>
            <a:endParaRPr lang="en-US" sz="1200" dirty="0"/>
          </a:p>
        </p:txBody>
      </p:sp>
      <p:sp>
        <p:nvSpPr>
          <p:cNvPr id="5" name="Text 3"/>
          <p:cNvSpPr/>
          <p:nvPr/>
        </p:nvSpPr>
        <p:spPr>
          <a:xfrm>
            <a:off x="812800" y="2339659"/>
            <a:ext cx="660400" cy="457200"/>
          </a:xfrm>
          <a:prstGeom prst="roundRect">
            <a:avLst>
              <a:gd name="adj" fmla="val 16667"/>
            </a:avLst>
          </a:prstGeom>
          <a:solidFill>
            <a:srgbClr val="0B0748"/>
          </a:solidFill>
          <a:ln/>
        </p:spPr>
        <p:txBody>
          <a:bodyPr wrap="square" lIns="0" tIns="0" rIns="0" bIns="0" rtlCol="0" anchor="ctr">
            <a:normAutofit/>
          </a:bodyPr>
          <a:lstStyle/>
          <a:p>
            <a:pPr algn="ctr" indent="0" marL="0">
              <a:lnSpc>
                <a:spcPts val="1960"/>
              </a:lnSpc>
              <a:buNone/>
            </a:pPr>
            <a:r>
              <a:rPr lang="en-US" sz="1400" b="1" dirty="0">
                <a:solidFill>
                  <a:srgbClr val="FF8F66"/>
                </a:solidFill>
                <a:latin typeface="Sora" pitchFamily="34" charset="0"/>
                <a:ea typeface="Sora" pitchFamily="34" charset="-122"/>
                <a:cs typeface="Sora" pitchFamily="34" charset="-120"/>
              </a:rPr>
              <a:t>07</a:t>
            </a:r>
            <a:endParaRPr lang="en-US" sz="1400" dirty="0"/>
          </a:p>
        </p:txBody>
      </p:sp>
      <p:sp>
        <p:nvSpPr>
          <p:cNvPr id="6" name="Text 4"/>
          <p:cNvSpPr/>
          <p:nvPr/>
        </p:nvSpPr>
        <p:spPr>
          <a:xfrm>
            <a:off x="1651000" y="2319654"/>
            <a:ext cx="464560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IBM Plex Sans" pitchFamily="34" charset="0"/>
                <a:ea typeface="IBM Plex Sans" pitchFamily="34" charset="-122"/>
                <a:cs typeface="IBM Plex Sans" pitchFamily="34" charset="-120"/>
              </a:rPr>
              <a:t>Ouverture de module</a:t>
            </a:r>
            <a:endParaRPr lang="en-US" sz="1400" dirty="0"/>
          </a:p>
        </p:txBody>
      </p:sp>
      <p:sp>
        <p:nvSpPr>
          <p:cNvPr id="7" name="Text 5"/>
          <p:cNvSpPr/>
          <p:nvPr/>
        </p:nvSpPr>
        <p:spPr>
          <a:xfrm>
            <a:off x="1651000" y="2593975"/>
            <a:ext cx="464560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L'objectif, les TP associés et votre position sur le parcours.</a:t>
            </a:r>
            <a:endParaRPr lang="en-US" sz="1300" dirty="0"/>
          </a:p>
        </p:txBody>
      </p:sp>
      <p:sp>
        <p:nvSpPr>
          <p:cNvPr id="8" name="Text 6"/>
          <p:cNvSpPr/>
          <p:nvPr/>
        </p:nvSpPr>
        <p:spPr>
          <a:xfrm>
            <a:off x="815975" y="3351213"/>
            <a:ext cx="654050" cy="450850"/>
          </a:xfrm>
          <a:prstGeom prst="roundRect">
            <a:avLst>
              <a:gd name="adj" fmla="val 16197"/>
            </a:avLst>
          </a:prstGeom>
          <a:solidFill>
            <a:srgbClr val="FBF0E8"/>
          </a:solidFill>
          <a:ln w="6350">
            <a:solidFill>
              <a:srgbClr val="EBDDD2"/>
            </a:solidFill>
            <a:prstDash val="solid"/>
          </a:ln>
        </p:spPr>
        <p:txBody>
          <a:bodyPr wrap="square" lIns="0" tIns="0" rIns="0" bIns="0" rtlCol="0" anchor="ctr">
            <a:normAutofit/>
          </a:bodyPr>
          <a:lstStyle/>
          <a:p>
            <a:pPr algn="ctr" indent="0" marL="0">
              <a:lnSpc>
                <a:spcPts val="1960"/>
              </a:lnSpc>
              <a:buNone/>
            </a:pPr>
            <a:r>
              <a:rPr lang="en-US" sz="1400" b="1" dirty="0">
                <a:solidFill>
                  <a:srgbClr val="B8421A"/>
                </a:solidFill>
                <a:latin typeface="Sora" pitchFamily="34" charset="0"/>
                <a:ea typeface="Sora" pitchFamily="34" charset="-122"/>
                <a:cs typeface="Sora" pitchFamily="34" charset="-120"/>
              </a:rPr>
              <a:t>TP</a:t>
            </a:r>
            <a:endParaRPr lang="en-US" sz="1400" dirty="0"/>
          </a:p>
        </p:txBody>
      </p:sp>
      <p:sp>
        <p:nvSpPr>
          <p:cNvPr id="9" name="Text 7"/>
          <p:cNvSpPr/>
          <p:nvPr/>
        </p:nvSpPr>
        <p:spPr>
          <a:xfrm>
            <a:off x="1651000" y="3328036"/>
            <a:ext cx="464560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IBM Plex Sans" pitchFamily="34" charset="0"/>
                <a:ea typeface="IBM Plex Sans" pitchFamily="34" charset="-122"/>
                <a:cs typeface="IBM Plex Sans" pitchFamily="34" charset="-120"/>
              </a:rPr>
              <a:t>Travaux pratiques</a:t>
            </a:r>
            <a:endParaRPr lang="en-US" sz="1400" dirty="0"/>
          </a:p>
        </p:txBody>
      </p:sp>
      <p:sp>
        <p:nvSpPr>
          <p:cNvPr id="10" name="Text 8"/>
          <p:cNvSpPr/>
          <p:nvPr/>
        </p:nvSpPr>
        <p:spPr>
          <a:xfrm>
            <a:off x="1651000" y="3602354"/>
            <a:ext cx="464560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Horaire, durée, consigne et point de contrôle.</a:t>
            </a:r>
            <a:endParaRPr lang="en-US" sz="1300" dirty="0"/>
          </a:p>
        </p:txBody>
      </p:sp>
      <p:sp>
        <p:nvSpPr>
          <p:cNvPr id="11" name="Shape 9"/>
          <p:cNvSpPr/>
          <p:nvPr/>
        </p:nvSpPr>
        <p:spPr>
          <a:xfrm>
            <a:off x="815975" y="4359591"/>
            <a:ext cx="654050" cy="450850"/>
          </a:xfrm>
          <a:prstGeom prst="roundRect">
            <a:avLst>
              <a:gd name="adj" fmla="val 16197"/>
            </a:avLst>
          </a:prstGeom>
          <a:solidFill>
            <a:srgbClr val="FDFDFF"/>
          </a:solidFill>
          <a:ln w="6350">
            <a:solidFill>
              <a:srgbClr val="E1DFEE"/>
            </a:solidFill>
            <a:prstDash val="solid"/>
          </a:ln>
        </p:spPr>
      </p:sp>
      <p:pic>
        <p:nvPicPr>
          <p:cNvPr id="12" name="Image 0" descr="Check">    </p:cNvPr>
          <p:cNvPicPr>
            <a:picLocks noChangeAspect="1"/>
          </p:cNvPicPr>
          <p:nvPr/>
        </p:nvPicPr>
        <p:blipFill>
          <a:blip r:embed="rId1"/>
          <a:srcRect l="0" r="0" t="0" b="0"/>
          <a:stretch/>
        </p:blipFill>
        <p:spPr>
          <a:xfrm>
            <a:off x="1016000" y="4458016"/>
            <a:ext cx="254000" cy="254000"/>
          </a:xfrm>
          <a:prstGeom prst="rect">
            <a:avLst/>
          </a:prstGeom>
        </p:spPr>
      </p:pic>
      <p:sp>
        <p:nvSpPr>
          <p:cNvPr id="13" name="Text 10"/>
          <p:cNvSpPr/>
          <p:nvPr/>
        </p:nvSpPr>
        <p:spPr>
          <a:xfrm>
            <a:off x="1651000" y="4336414"/>
            <a:ext cx="464560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IBM Plex Sans" pitchFamily="34" charset="0"/>
                <a:ea typeface="IBM Plex Sans" pitchFamily="34" charset="-122"/>
                <a:cs typeface="IBM Plex Sans" pitchFamily="34" charset="-120"/>
              </a:rPr>
              <a:t>À retenir</a:t>
            </a:r>
            <a:endParaRPr lang="en-US" sz="1400" dirty="0"/>
          </a:p>
        </p:txBody>
      </p:sp>
      <p:sp>
        <p:nvSpPr>
          <p:cNvPr id="14" name="Text 11"/>
          <p:cNvSpPr/>
          <p:nvPr/>
        </p:nvSpPr>
        <p:spPr>
          <a:xfrm>
            <a:off x="1651000" y="4610736"/>
            <a:ext cx="464560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Le bilan du module et ses questions de révision.</a:t>
            </a:r>
            <a:endParaRPr lang="en-US" sz="1300" dirty="0"/>
          </a:p>
        </p:txBody>
      </p:sp>
      <p:sp>
        <p:nvSpPr>
          <p:cNvPr id="15" name="Shape 12"/>
          <p:cNvSpPr/>
          <p:nvPr/>
        </p:nvSpPr>
        <p:spPr>
          <a:xfrm>
            <a:off x="812800" y="5364798"/>
            <a:ext cx="660400" cy="457200"/>
          </a:xfrm>
          <a:prstGeom prst="roundRect">
            <a:avLst>
              <a:gd name="adj" fmla="val 16667"/>
            </a:avLst>
          </a:prstGeom>
          <a:solidFill>
            <a:srgbClr val="EE6A3C"/>
          </a:solidFill>
          <a:ln/>
        </p:spPr>
      </p:sp>
      <p:pic>
        <p:nvPicPr>
          <p:cNvPr id="16" name="Image 1" descr="Lightbulb">    </p:cNvPr>
          <p:cNvPicPr>
            <a:picLocks noChangeAspect="1"/>
          </p:cNvPicPr>
          <p:nvPr/>
        </p:nvPicPr>
        <p:blipFill>
          <a:blip r:embed="rId2"/>
          <a:srcRect l="0" r="0" t="0" b="0"/>
          <a:stretch/>
        </p:blipFill>
        <p:spPr>
          <a:xfrm>
            <a:off x="1016000" y="5466398"/>
            <a:ext cx="254000" cy="254000"/>
          </a:xfrm>
          <a:prstGeom prst="rect">
            <a:avLst/>
          </a:prstGeom>
        </p:spPr>
      </p:pic>
      <p:sp>
        <p:nvSpPr>
          <p:cNvPr id="17" name="Text 13"/>
          <p:cNvSpPr/>
          <p:nvPr/>
        </p:nvSpPr>
        <p:spPr>
          <a:xfrm>
            <a:off x="1651000" y="5344796"/>
            <a:ext cx="464560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IBM Plex Sans" pitchFamily="34" charset="0"/>
                <a:ea typeface="IBM Plex Sans" pitchFamily="34" charset="-122"/>
                <a:cs typeface="IBM Plex Sans" pitchFamily="34" charset="-120"/>
              </a:rPr>
              <a:t>Idée clé</a:t>
            </a:r>
            <a:endParaRPr lang="en-US" sz="1400" dirty="0"/>
          </a:p>
        </p:txBody>
      </p:sp>
      <p:sp>
        <p:nvSpPr>
          <p:cNvPr id="18" name="Text 14"/>
          <p:cNvSpPr/>
          <p:nvPr/>
        </p:nvSpPr>
        <p:spPr>
          <a:xfrm>
            <a:off x="1651000" y="5619114"/>
            <a:ext cx="464560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Le principe à garder en tête pendant les trois jours.</a:t>
            </a:r>
            <a:endParaRPr lang="en-US" sz="1300" dirty="0"/>
          </a:p>
        </p:txBody>
      </p:sp>
      <p:sp>
        <p:nvSpPr>
          <p:cNvPr id="19" name="Shape 15"/>
          <p:cNvSpPr/>
          <p:nvPr/>
        </p:nvSpPr>
        <p:spPr>
          <a:xfrm>
            <a:off x="6520074" y="1598296"/>
            <a:ext cx="4855951" cy="1828377"/>
          </a:xfrm>
          <a:prstGeom prst="roundRect">
            <a:avLst>
              <a:gd name="adj" fmla="val 6772"/>
            </a:avLst>
          </a:prstGeom>
          <a:solidFill>
            <a:srgbClr val="FDFDFF"/>
          </a:solidFill>
          <a:ln w="6350">
            <a:solidFill>
              <a:srgbClr val="E1DFEE"/>
            </a:solidFill>
            <a:prstDash val="solid"/>
          </a:ln>
        </p:spPr>
      </p:sp>
      <p:sp>
        <p:nvSpPr>
          <p:cNvPr id="20" name="Text 16"/>
          <p:cNvSpPr/>
          <p:nvPr/>
        </p:nvSpPr>
        <p:spPr>
          <a:xfrm>
            <a:off x="6752590" y="1805412"/>
            <a:ext cx="45226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LE PARCOURS, EN BAS DE CHAQUE PAGE</a:t>
            </a:r>
            <a:endParaRPr lang="en-US" sz="1200" dirty="0"/>
          </a:p>
        </p:txBody>
      </p:sp>
      <p:pic>
        <p:nvPicPr>
          <p:cNvPr id="21" name="Image 2" descr="Exemple de parcours : six modules vus, le module 7 en cours, neuf modules et l'atelier à venir">    </p:cNvPr>
          <p:cNvPicPr>
            <a:picLocks noChangeAspect="1"/>
          </p:cNvPicPr>
          <p:nvPr/>
        </p:nvPicPr>
        <p:blipFill>
          <a:blip r:embed="rId3"/>
          <a:srcRect l="0" r="0" t="0" b="0"/>
          <a:stretch/>
        </p:blipFill>
        <p:spPr>
          <a:xfrm>
            <a:off x="6752590" y="2145770"/>
            <a:ext cx="3257550" cy="228600"/>
          </a:xfrm>
          <a:prstGeom prst="rect">
            <a:avLst/>
          </a:prstGeom>
        </p:spPr>
      </p:pic>
      <p:sp>
        <p:nvSpPr>
          <p:cNvPr id="22" name="Text 17"/>
          <p:cNvSpPr/>
          <p:nvPr/>
        </p:nvSpPr>
        <p:spPr>
          <a:xfrm>
            <a:off x="6752590" y="2501370"/>
            <a:ext cx="452264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F3C6B"/>
                </a:solidFill>
                <a:latin typeface="IBM Plex Sans" pitchFamily="34" charset="0"/>
                <a:ea typeface="IBM Plex Sans" pitchFamily="34" charset="-122"/>
                <a:cs typeface="IBM Plex Sans" pitchFamily="34" charset="-120"/>
              </a:rPr>
              <a:t>Un point par module, groupés par jour. </a:t>
            </a:r>
            <a:r>
              <a:rPr lang="en-US" sz="1300" b="1" dirty="0">
                <a:solidFill>
                  <a:srgbClr val="B8421A"/>
                </a:solidFill>
                <a:latin typeface="IBM Plex Sans" pitchFamily="34" charset="0"/>
                <a:ea typeface="IBM Plex Sans" pitchFamily="34" charset="-122"/>
                <a:cs typeface="IBM Plex Sans" pitchFamily="34" charset="-120"/>
              </a:rPr>
              <a:t>Orange</a:t>
            </a:r>
            <a:r>
              <a:rPr lang="en-US" sz="1300" dirty="0">
                <a:solidFill>
                  <a:srgbClr val="3F3C6B"/>
                </a:solidFill>
                <a:latin typeface="IBM Plex Sans" pitchFamily="34" charset="0"/>
                <a:ea typeface="IBM Plex Sans" pitchFamily="34" charset="-122"/>
                <a:cs typeface="IBM Plex Sans" pitchFamily="34" charset="-120"/>
              </a:rPr>
              <a:t> : le module en cours. Plein : déjà vu. Vide : à venir. Le triangle : l'atelier final.</a:t>
            </a:r>
            <a:endParaRPr lang="en-US" sz="1300" dirty="0"/>
          </a:p>
        </p:txBody>
      </p:sp>
      <p:sp>
        <p:nvSpPr>
          <p:cNvPr id="23" name="Shape 18"/>
          <p:cNvSpPr/>
          <p:nvPr/>
        </p:nvSpPr>
        <p:spPr>
          <a:xfrm>
            <a:off x="6520074" y="3880275"/>
            <a:ext cx="4855951" cy="1958552"/>
          </a:xfrm>
          <a:prstGeom prst="roundRect">
            <a:avLst>
              <a:gd name="adj" fmla="val 6322"/>
            </a:avLst>
          </a:prstGeom>
          <a:solidFill>
            <a:srgbClr val="FDFDFF"/>
          </a:solidFill>
          <a:ln w="6350">
            <a:solidFill>
              <a:srgbClr val="E1DFEE"/>
            </a:solidFill>
            <a:prstDash val="solid"/>
          </a:ln>
        </p:spPr>
      </p:sp>
      <p:sp>
        <p:nvSpPr>
          <p:cNvPr id="24" name="Text 19"/>
          <p:cNvSpPr/>
          <p:nvPr/>
        </p:nvSpPr>
        <p:spPr>
          <a:xfrm>
            <a:off x="6752590" y="4087388"/>
            <a:ext cx="45226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DANS LES COMMANDES</a:t>
            </a:r>
            <a:endParaRPr lang="en-US" sz="1200" dirty="0"/>
          </a:p>
        </p:txBody>
      </p:sp>
      <p:sp>
        <p:nvSpPr>
          <p:cNvPr id="25" name="Text 20"/>
          <p:cNvSpPr/>
          <p:nvPr/>
        </p:nvSpPr>
        <p:spPr>
          <a:xfrm>
            <a:off x="6752590" y="4402348"/>
            <a:ext cx="812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[cp]</a:t>
            </a:r>
            <a:endParaRPr lang="en-US" sz="1300" dirty="0"/>
          </a:p>
        </p:txBody>
      </p:sp>
      <p:sp>
        <p:nvSpPr>
          <p:cNvPr id="26" name="Text 21"/>
          <p:cNvSpPr/>
          <p:nvPr/>
        </p:nvSpPr>
        <p:spPr>
          <a:xfrm>
            <a:off x="7641590" y="4402348"/>
            <a:ext cx="360697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sur le control plane, où kubectl est configuré</a:t>
            </a:r>
            <a:endParaRPr lang="en-US" sz="1300" dirty="0"/>
          </a:p>
        </p:txBody>
      </p:sp>
      <p:sp>
        <p:nvSpPr>
          <p:cNvPr id="27" name="Text 22"/>
          <p:cNvSpPr/>
          <p:nvPr/>
        </p:nvSpPr>
        <p:spPr>
          <a:xfrm>
            <a:off x="6752590" y="4735088"/>
            <a:ext cx="812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[tous]</a:t>
            </a:r>
            <a:endParaRPr lang="en-US" sz="1300" dirty="0"/>
          </a:p>
        </p:txBody>
      </p:sp>
      <p:sp>
        <p:nvSpPr>
          <p:cNvPr id="28" name="Text 23"/>
          <p:cNvSpPr/>
          <p:nvPr/>
        </p:nvSpPr>
        <p:spPr>
          <a:xfrm>
            <a:off x="7641590" y="4735088"/>
            <a:ext cx="360697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sur les trois nœuds</a:t>
            </a:r>
            <a:endParaRPr lang="en-US" sz="1300" dirty="0"/>
          </a:p>
        </p:txBody>
      </p:sp>
      <p:sp>
        <p:nvSpPr>
          <p:cNvPr id="29" name="Text 24"/>
          <p:cNvSpPr/>
          <p:nvPr/>
        </p:nvSpPr>
        <p:spPr>
          <a:xfrm>
            <a:off x="6752590" y="5067830"/>
            <a:ext cx="812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[w1]</a:t>
            </a:r>
            <a:endParaRPr lang="en-US" sz="1300" dirty="0"/>
          </a:p>
        </p:txBody>
      </p:sp>
      <p:sp>
        <p:nvSpPr>
          <p:cNvPr id="30" name="Text 25"/>
          <p:cNvSpPr/>
          <p:nvPr/>
        </p:nvSpPr>
        <p:spPr>
          <a:xfrm>
            <a:off x="7641590" y="5067830"/>
            <a:ext cx="360697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sur le premier worker</a:t>
            </a:r>
            <a:endParaRPr lang="en-US" sz="1300" dirty="0"/>
          </a:p>
        </p:txBody>
      </p:sp>
      <p:sp>
        <p:nvSpPr>
          <p:cNvPr id="31" name="Text 26"/>
          <p:cNvSpPr/>
          <p:nvPr/>
        </p:nvSpPr>
        <p:spPr>
          <a:xfrm>
            <a:off x="6752590" y="5400570"/>
            <a:ext cx="812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 …</a:t>
            </a:r>
            <a:endParaRPr lang="en-US" sz="1300" dirty="0"/>
          </a:p>
        </p:txBody>
      </p:sp>
      <p:sp>
        <p:nvSpPr>
          <p:cNvPr id="32" name="Text 27"/>
          <p:cNvSpPr/>
          <p:nvPr/>
        </p:nvSpPr>
        <p:spPr>
          <a:xfrm>
            <a:off x="7641590" y="5400570"/>
            <a:ext cx="360697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commentaire ou résultat attendu</a:t>
            </a:r>
            <a:endParaRPr lang="en-US" sz="1300" dirty="0"/>
          </a:p>
        </p:txBody>
      </p:sp>
      <p:pic>
        <p:nvPicPr>
          <p:cNvPr id="33" name="Image 3" descr="preencoded.png">    </p:cNvPr>
          <p:cNvPicPr>
            <a:picLocks noChangeAspect="1"/>
          </p:cNvPicPr>
          <p:nvPr/>
        </p:nvPicPr>
        <p:blipFill>
          <a:blip r:embed="rId4"/>
          <a:srcRect l="0" r="0" t="0" b="0"/>
          <a:stretch/>
        </p:blipFill>
        <p:spPr>
          <a:xfrm>
            <a:off x="812800" y="6299200"/>
            <a:ext cx="152400" cy="152400"/>
          </a:xfrm>
          <a:prstGeom prst="rect">
            <a:avLst/>
          </a:prstGeom>
        </p:spPr>
      </p:pic>
      <p:sp>
        <p:nvSpPr>
          <p:cNvPr id="34" name="Text 2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5" name="Image 4" descr="Parcours de la formation : début">    </p:cNvPr>
          <p:cNvPicPr>
            <a:picLocks noChangeAspect="1"/>
          </p:cNvPicPr>
          <p:nvPr/>
        </p:nvPicPr>
        <p:blipFill>
          <a:blip r:embed="rId5"/>
          <a:srcRect l="0" r="0" t="0" b="0"/>
          <a:stretch/>
        </p:blipFill>
        <p:spPr>
          <a:xfrm>
            <a:off x="9207500" y="6299200"/>
            <a:ext cx="2171700" cy="152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39243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MERCREDI 14 OCTOBRE</a:t>
            </a:r>
            <a:endParaRPr lang="en-US" sz="1200" dirty="0"/>
          </a:p>
        </p:txBody>
      </p:sp>
      <p:sp>
        <p:nvSpPr>
          <p:cNvPr id="3" name="Text 1"/>
          <p:cNvSpPr/>
          <p:nvPr/>
        </p:nvSpPr>
        <p:spPr>
          <a:xfrm>
            <a:off x="812800" y="1000761"/>
            <a:ext cx="3924300" cy="930275"/>
          </a:xfrm>
          <a:prstGeom prst="rect">
            <a:avLst/>
          </a:prstGeom>
          <a:noFill/>
          <a:ln/>
        </p:spPr>
        <p:txBody>
          <a:bodyPr wrap="square" lIns="0" tIns="0" rIns="0" bIns="0" rtlCol="0" anchor="t">
            <a:normAutofit/>
          </a:bodyPr>
          <a:lstStyle/>
          <a:p>
            <a:pPr algn="l" indent="0" marL="0">
              <a:lnSpc>
                <a:spcPts val="7125"/>
              </a:lnSpc>
              <a:buNone/>
            </a:pPr>
            <a:r>
              <a:rPr lang="en-US" sz="7500" b="1" spc="-300" kern="0" dirty="0">
                <a:solidFill>
                  <a:srgbClr val="0B0748"/>
                </a:solidFill>
                <a:latin typeface="Sora" pitchFamily="34" charset="0"/>
                <a:ea typeface="Sora" pitchFamily="34" charset="-122"/>
                <a:cs typeface="Sora" pitchFamily="34" charset="-120"/>
              </a:rPr>
              <a:t>Jour 1</a:t>
            </a:r>
            <a:endParaRPr lang="en-US" sz="7500" dirty="0"/>
          </a:p>
        </p:txBody>
      </p:sp>
      <p:sp>
        <p:nvSpPr>
          <p:cNvPr id="4" name="Text 2"/>
          <p:cNvSpPr/>
          <p:nvPr>
            <p:ph type="title"/>
          </p:nvPr>
        </p:nvSpPr>
        <p:spPr>
          <a:xfrm>
            <a:off x="812800" y="2032636"/>
            <a:ext cx="3924300" cy="8077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E25A2C"/>
                </a:solidFill>
                <a:latin typeface="Sora" pitchFamily="34" charset="0"/>
                <a:ea typeface="Sora" pitchFamily="34" charset="-122"/>
                <a:cs typeface="Sora" pitchFamily="34" charset="-120"/>
              </a:rPr>
              <a:t>Comprendre et installer</a:t>
            </a:r>
            <a:endParaRPr lang="en-US" sz="2800" dirty="0"/>
          </a:p>
        </p:txBody>
      </p:sp>
      <p:sp>
        <p:nvSpPr>
          <p:cNvPr id="5" name="Text 3"/>
          <p:cNvSpPr/>
          <p:nvPr/>
        </p:nvSpPr>
        <p:spPr>
          <a:xfrm>
            <a:off x="812800" y="2941954"/>
            <a:ext cx="39243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Du conteneur isolé au cluster de trois nœuds, installé et opérationnel.</a:t>
            </a:r>
            <a:endParaRPr lang="en-US" sz="1500" dirty="0"/>
          </a:p>
        </p:txBody>
      </p:sp>
      <p:sp>
        <p:nvSpPr>
          <p:cNvPr id="6" name="Shape 4"/>
          <p:cNvSpPr/>
          <p:nvPr/>
        </p:nvSpPr>
        <p:spPr>
          <a:xfrm>
            <a:off x="812800" y="4737100"/>
            <a:ext cx="3810000" cy="1104900"/>
          </a:xfrm>
          <a:prstGeom prst="roundRect">
            <a:avLst>
              <a:gd name="adj" fmla="val 11494"/>
            </a:avLst>
          </a:prstGeom>
          <a:solidFill>
            <a:srgbClr val="0B0748"/>
          </a:solidFill>
          <a:ln/>
        </p:spPr>
      </p:sp>
      <p:sp>
        <p:nvSpPr>
          <p:cNvPr id="7" name="Text 5"/>
          <p:cNvSpPr/>
          <p:nvPr/>
        </p:nvSpPr>
        <p:spPr>
          <a:xfrm>
            <a:off x="1016000" y="4914900"/>
            <a:ext cx="35057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FIN DE JOURNÉE · 15:35</a:t>
            </a:r>
            <a:endParaRPr lang="en-US" sz="1200" dirty="0"/>
          </a:p>
        </p:txBody>
      </p:sp>
      <p:sp>
        <p:nvSpPr>
          <p:cNvPr id="8" name="Text 6"/>
          <p:cNvSpPr/>
          <p:nvPr/>
        </p:nvSpPr>
        <p:spPr>
          <a:xfrm>
            <a:off x="1016000" y="5166361"/>
            <a:ext cx="35057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Quiz de 10 questions, débrief et snapshot des VM</a:t>
            </a:r>
            <a:endParaRPr lang="en-US" sz="1400" dirty="0"/>
          </a:p>
        </p:txBody>
      </p:sp>
      <p:sp>
        <p:nvSpPr>
          <p:cNvPr id="9" name="Shape 7"/>
          <p:cNvSpPr/>
          <p:nvPr/>
        </p:nvSpPr>
        <p:spPr>
          <a:xfrm>
            <a:off x="5181600" y="1537123"/>
            <a:ext cx="6197600" cy="0"/>
          </a:xfrm>
          <a:prstGeom prst="line">
            <a:avLst/>
          </a:prstGeom>
          <a:noFill/>
          <a:ln w="6350">
            <a:solidFill>
              <a:srgbClr val="E1DFEE"/>
            </a:solidFill>
            <a:prstDash val="solid"/>
          </a:ln>
        </p:spPr>
      </p:sp>
      <p:sp>
        <p:nvSpPr>
          <p:cNvPr id="10" name="Text 8"/>
          <p:cNvSpPr/>
          <p:nvPr/>
        </p:nvSpPr>
        <p:spPr>
          <a:xfrm>
            <a:off x="5334000" y="1195388"/>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01</a:t>
            </a:r>
            <a:endParaRPr lang="en-US" sz="1400" dirty="0"/>
          </a:p>
        </p:txBody>
      </p:sp>
      <p:sp>
        <p:nvSpPr>
          <p:cNvPr id="11" name="Text 9"/>
          <p:cNvSpPr/>
          <p:nvPr/>
        </p:nvSpPr>
        <p:spPr>
          <a:xfrm>
            <a:off x="5969000" y="1204277"/>
            <a:ext cx="541553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Des conteneurs à l'orchestration</a:t>
            </a:r>
            <a:endParaRPr lang="en-US" sz="1400" dirty="0"/>
          </a:p>
        </p:txBody>
      </p:sp>
      <p:sp>
        <p:nvSpPr>
          <p:cNvPr id="12" name="Shape 10"/>
          <p:cNvSpPr/>
          <p:nvPr/>
        </p:nvSpPr>
        <p:spPr>
          <a:xfrm>
            <a:off x="5181600" y="2021736"/>
            <a:ext cx="6197600" cy="0"/>
          </a:xfrm>
          <a:prstGeom prst="line">
            <a:avLst/>
          </a:prstGeom>
          <a:noFill/>
          <a:ln w="6350">
            <a:solidFill>
              <a:srgbClr val="E1DFEE"/>
            </a:solidFill>
            <a:prstDash val="solid"/>
          </a:ln>
        </p:spPr>
      </p:sp>
      <p:sp>
        <p:nvSpPr>
          <p:cNvPr id="13" name="Text 11"/>
          <p:cNvSpPr/>
          <p:nvPr/>
        </p:nvSpPr>
        <p:spPr>
          <a:xfrm>
            <a:off x="5334000" y="1680000"/>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02</a:t>
            </a:r>
            <a:endParaRPr lang="en-US" sz="1400" dirty="0"/>
          </a:p>
        </p:txBody>
      </p:sp>
      <p:sp>
        <p:nvSpPr>
          <p:cNvPr id="14" name="Text 12"/>
          <p:cNvSpPr/>
          <p:nvPr/>
        </p:nvSpPr>
        <p:spPr>
          <a:xfrm>
            <a:off x="5969000" y="1688889"/>
            <a:ext cx="541553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Architecture de Kubernetes</a:t>
            </a:r>
            <a:endParaRPr lang="en-US" sz="1400" dirty="0"/>
          </a:p>
        </p:txBody>
      </p:sp>
      <p:sp>
        <p:nvSpPr>
          <p:cNvPr id="15" name="Shape 13"/>
          <p:cNvSpPr/>
          <p:nvPr/>
        </p:nvSpPr>
        <p:spPr>
          <a:xfrm>
            <a:off x="5181600" y="2506345"/>
            <a:ext cx="6197600" cy="0"/>
          </a:xfrm>
          <a:prstGeom prst="line">
            <a:avLst/>
          </a:prstGeom>
          <a:noFill/>
          <a:ln w="6350">
            <a:solidFill>
              <a:srgbClr val="E1DFEE"/>
            </a:solidFill>
            <a:prstDash val="solid"/>
          </a:ln>
        </p:spPr>
      </p:sp>
      <p:sp>
        <p:nvSpPr>
          <p:cNvPr id="16" name="Text 14"/>
          <p:cNvSpPr/>
          <p:nvPr/>
        </p:nvSpPr>
        <p:spPr>
          <a:xfrm>
            <a:off x="5334000" y="2164609"/>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03</a:t>
            </a:r>
            <a:endParaRPr lang="en-US" sz="1400" dirty="0"/>
          </a:p>
        </p:txBody>
      </p:sp>
      <p:sp>
        <p:nvSpPr>
          <p:cNvPr id="17" name="Text 15"/>
          <p:cNvSpPr/>
          <p:nvPr/>
        </p:nvSpPr>
        <p:spPr>
          <a:xfrm>
            <a:off x="5969000" y="2173498"/>
            <a:ext cx="541553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Kubernetes dans l'écosystème Cloud</a:t>
            </a:r>
            <a:endParaRPr lang="en-US" sz="1400" dirty="0"/>
          </a:p>
        </p:txBody>
      </p:sp>
      <p:sp>
        <p:nvSpPr>
          <p:cNvPr id="18" name="Shape 16"/>
          <p:cNvSpPr/>
          <p:nvPr/>
        </p:nvSpPr>
        <p:spPr>
          <a:xfrm>
            <a:off x="5181600" y="2990957"/>
            <a:ext cx="6197600" cy="0"/>
          </a:xfrm>
          <a:prstGeom prst="line">
            <a:avLst/>
          </a:prstGeom>
          <a:noFill/>
          <a:ln w="6350">
            <a:solidFill>
              <a:srgbClr val="E1DFEE"/>
            </a:solidFill>
            <a:prstDash val="solid"/>
          </a:ln>
        </p:spPr>
      </p:sp>
      <p:sp>
        <p:nvSpPr>
          <p:cNvPr id="19" name="Text 17"/>
          <p:cNvSpPr/>
          <p:nvPr/>
        </p:nvSpPr>
        <p:spPr>
          <a:xfrm>
            <a:off x="5334000" y="2649221"/>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04</a:t>
            </a:r>
            <a:endParaRPr lang="en-US" sz="1400" dirty="0"/>
          </a:p>
        </p:txBody>
      </p:sp>
      <p:sp>
        <p:nvSpPr>
          <p:cNvPr id="20" name="Text 18"/>
          <p:cNvSpPr/>
          <p:nvPr/>
        </p:nvSpPr>
        <p:spPr>
          <a:xfrm>
            <a:off x="5969000" y="2658111"/>
            <a:ext cx="541553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Installer avec kubeadm : les prérequis</a:t>
            </a:r>
            <a:endParaRPr lang="en-US" sz="1400" dirty="0"/>
          </a:p>
        </p:txBody>
      </p:sp>
      <p:sp>
        <p:nvSpPr>
          <p:cNvPr id="21" name="Shape 19"/>
          <p:cNvSpPr/>
          <p:nvPr/>
        </p:nvSpPr>
        <p:spPr>
          <a:xfrm>
            <a:off x="5181600" y="3044930"/>
            <a:ext cx="6197600" cy="426720"/>
          </a:xfrm>
          <a:prstGeom prst="roundRect">
            <a:avLst>
              <a:gd name="adj" fmla="val 20833"/>
            </a:avLst>
          </a:prstGeom>
          <a:solidFill>
            <a:srgbClr val="FBF0E8"/>
          </a:solidFill>
          <a:ln/>
        </p:spPr>
      </p:sp>
      <p:sp>
        <p:nvSpPr>
          <p:cNvPr id="22" name="Text 20"/>
          <p:cNvSpPr/>
          <p:nvPr/>
        </p:nvSpPr>
        <p:spPr>
          <a:xfrm>
            <a:off x="5334000" y="3142720"/>
            <a:ext cx="685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10:50</a:t>
            </a:r>
            <a:endParaRPr lang="en-US" sz="1300" dirty="0"/>
          </a:p>
        </p:txBody>
      </p:sp>
      <p:sp>
        <p:nvSpPr>
          <p:cNvPr id="23" name="Text 21"/>
          <p:cNvSpPr/>
          <p:nvPr/>
        </p:nvSpPr>
        <p:spPr>
          <a:xfrm>
            <a:off x="6096000" y="3133830"/>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21A"/>
                </a:solidFill>
                <a:latin typeface="Sora" pitchFamily="34" charset="0"/>
                <a:ea typeface="Sora" pitchFamily="34" charset="-122"/>
                <a:cs typeface="Sora" pitchFamily="34" charset="-120"/>
              </a:rPr>
              <a:t>TP1</a:t>
            </a:r>
            <a:endParaRPr lang="en-US" sz="1400" dirty="0"/>
          </a:p>
        </p:txBody>
      </p:sp>
      <p:sp>
        <p:nvSpPr>
          <p:cNvPr id="24" name="Text 22"/>
          <p:cNvSpPr/>
          <p:nvPr/>
        </p:nvSpPr>
        <p:spPr>
          <a:xfrm>
            <a:off x="6731000" y="3142720"/>
            <a:ext cx="4009000"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Préparer les nœuds et premiers conteneurs</a:t>
            </a:r>
            <a:endParaRPr lang="en-US" sz="1400" dirty="0"/>
          </a:p>
        </p:txBody>
      </p:sp>
      <p:sp>
        <p:nvSpPr>
          <p:cNvPr id="25" name="Text 23"/>
          <p:cNvSpPr/>
          <p:nvPr/>
        </p:nvSpPr>
        <p:spPr>
          <a:xfrm>
            <a:off x="10750232" y="3151612"/>
            <a:ext cx="5718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70 min</a:t>
            </a:r>
            <a:endParaRPr lang="en-US" sz="1200" dirty="0"/>
          </a:p>
        </p:txBody>
      </p:sp>
      <p:sp>
        <p:nvSpPr>
          <p:cNvPr id="26" name="Shape 24"/>
          <p:cNvSpPr/>
          <p:nvPr/>
        </p:nvSpPr>
        <p:spPr>
          <a:xfrm>
            <a:off x="5181600" y="3953088"/>
            <a:ext cx="6197600" cy="0"/>
          </a:xfrm>
          <a:prstGeom prst="line">
            <a:avLst/>
          </a:prstGeom>
          <a:noFill/>
          <a:ln w="6350">
            <a:solidFill>
              <a:srgbClr val="E1DFEE"/>
            </a:solidFill>
            <a:prstDash val="solid"/>
          </a:ln>
        </p:spPr>
      </p:sp>
      <p:sp>
        <p:nvSpPr>
          <p:cNvPr id="27" name="Text 25"/>
          <p:cNvSpPr/>
          <p:nvPr/>
        </p:nvSpPr>
        <p:spPr>
          <a:xfrm>
            <a:off x="5334000" y="3611352"/>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04</a:t>
            </a:r>
            <a:endParaRPr lang="en-US" sz="1400" dirty="0"/>
          </a:p>
        </p:txBody>
      </p:sp>
      <p:sp>
        <p:nvSpPr>
          <p:cNvPr id="28" name="Text 26"/>
          <p:cNvSpPr/>
          <p:nvPr/>
        </p:nvSpPr>
        <p:spPr>
          <a:xfrm>
            <a:off x="5969000" y="3620241"/>
            <a:ext cx="541553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kubeadm init, réseau et workers</a:t>
            </a:r>
            <a:endParaRPr lang="en-US" sz="1400" dirty="0"/>
          </a:p>
        </p:txBody>
      </p:sp>
      <p:sp>
        <p:nvSpPr>
          <p:cNvPr id="29" name="Shape 27"/>
          <p:cNvSpPr/>
          <p:nvPr/>
        </p:nvSpPr>
        <p:spPr>
          <a:xfrm>
            <a:off x="5181600" y="4007061"/>
            <a:ext cx="6197600" cy="426720"/>
          </a:xfrm>
          <a:prstGeom prst="roundRect">
            <a:avLst>
              <a:gd name="adj" fmla="val 20833"/>
            </a:avLst>
          </a:prstGeom>
          <a:solidFill>
            <a:srgbClr val="FBF0E8"/>
          </a:solidFill>
          <a:ln/>
        </p:spPr>
      </p:sp>
      <p:sp>
        <p:nvSpPr>
          <p:cNvPr id="30" name="Text 28"/>
          <p:cNvSpPr/>
          <p:nvPr/>
        </p:nvSpPr>
        <p:spPr>
          <a:xfrm>
            <a:off x="5334000" y="4104850"/>
            <a:ext cx="685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13:15</a:t>
            </a:r>
            <a:endParaRPr lang="en-US" sz="1300" dirty="0"/>
          </a:p>
        </p:txBody>
      </p:sp>
      <p:sp>
        <p:nvSpPr>
          <p:cNvPr id="31" name="Text 29"/>
          <p:cNvSpPr/>
          <p:nvPr/>
        </p:nvSpPr>
        <p:spPr>
          <a:xfrm>
            <a:off x="6096000" y="4095961"/>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21A"/>
                </a:solidFill>
                <a:latin typeface="Sora" pitchFamily="34" charset="0"/>
                <a:ea typeface="Sora" pitchFamily="34" charset="-122"/>
                <a:cs typeface="Sora" pitchFamily="34" charset="-120"/>
              </a:rPr>
              <a:t>TP2</a:t>
            </a:r>
            <a:endParaRPr lang="en-US" sz="1400" dirty="0"/>
          </a:p>
        </p:txBody>
      </p:sp>
      <p:sp>
        <p:nvSpPr>
          <p:cNvPr id="32" name="Text 30"/>
          <p:cNvSpPr/>
          <p:nvPr/>
        </p:nvSpPr>
        <p:spPr>
          <a:xfrm>
            <a:off x="6731000" y="4104850"/>
            <a:ext cx="4009000"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Initialiser le cluster</a:t>
            </a:r>
            <a:endParaRPr lang="en-US" sz="1400" dirty="0"/>
          </a:p>
        </p:txBody>
      </p:sp>
      <p:sp>
        <p:nvSpPr>
          <p:cNvPr id="33" name="Text 31"/>
          <p:cNvSpPr/>
          <p:nvPr/>
        </p:nvSpPr>
        <p:spPr>
          <a:xfrm>
            <a:off x="10750232" y="4113743"/>
            <a:ext cx="5718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75 min</a:t>
            </a:r>
            <a:endParaRPr lang="en-US" sz="1200" dirty="0"/>
          </a:p>
        </p:txBody>
      </p:sp>
      <p:sp>
        <p:nvSpPr>
          <p:cNvPr id="34" name="Shape 32"/>
          <p:cNvSpPr/>
          <p:nvPr/>
        </p:nvSpPr>
        <p:spPr>
          <a:xfrm>
            <a:off x="5181600" y="4915218"/>
            <a:ext cx="6197600" cy="0"/>
          </a:xfrm>
          <a:prstGeom prst="line">
            <a:avLst/>
          </a:prstGeom>
          <a:noFill/>
          <a:ln w="6350">
            <a:solidFill>
              <a:srgbClr val="E1DFEE"/>
            </a:solidFill>
            <a:prstDash val="solid"/>
          </a:ln>
        </p:spPr>
      </p:sp>
      <p:sp>
        <p:nvSpPr>
          <p:cNvPr id="35" name="Text 33"/>
          <p:cNvSpPr/>
          <p:nvPr/>
        </p:nvSpPr>
        <p:spPr>
          <a:xfrm>
            <a:off x="5334000" y="4573482"/>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05</a:t>
            </a:r>
            <a:endParaRPr lang="en-US" sz="1400" dirty="0"/>
          </a:p>
        </p:txBody>
      </p:sp>
      <p:sp>
        <p:nvSpPr>
          <p:cNvPr id="36" name="Text 34"/>
          <p:cNvSpPr/>
          <p:nvPr/>
        </p:nvSpPr>
        <p:spPr>
          <a:xfrm>
            <a:off x="5969000" y="4582371"/>
            <a:ext cx="541553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Gérer les nœuds</a:t>
            </a:r>
            <a:endParaRPr lang="en-US" sz="1400" dirty="0"/>
          </a:p>
        </p:txBody>
      </p:sp>
      <p:sp>
        <p:nvSpPr>
          <p:cNvPr id="37" name="Shape 35"/>
          <p:cNvSpPr/>
          <p:nvPr/>
        </p:nvSpPr>
        <p:spPr>
          <a:xfrm>
            <a:off x="5181600" y="4969191"/>
            <a:ext cx="6197600" cy="426720"/>
          </a:xfrm>
          <a:prstGeom prst="roundRect">
            <a:avLst>
              <a:gd name="adj" fmla="val 20833"/>
            </a:avLst>
          </a:prstGeom>
          <a:solidFill>
            <a:srgbClr val="FBF0E8"/>
          </a:solidFill>
          <a:ln/>
        </p:spPr>
      </p:sp>
      <p:sp>
        <p:nvSpPr>
          <p:cNvPr id="38" name="Text 36"/>
          <p:cNvSpPr/>
          <p:nvPr/>
        </p:nvSpPr>
        <p:spPr>
          <a:xfrm>
            <a:off x="5334000" y="5066984"/>
            <a:ext cx="685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14:35</a:t>
            </a:r>
            <a:endParaRPr lang="en-US" sz="1300" dirty="0"/>
          </a:p>
        </p:txBody>
      </p:sp>
      <p:sp>
        <p:nvSpPr>
          <p:cNvPr id="39" name="Text 37"/>
          <p:cNvSpPr/>
          <p:nvPr/>
        </p:nvSpPr>
        <p:spPr>
          <a:xfrm>
            <a:off x="6096000" y="5058091"/>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21A"/>
                </a:solidFill>
                <a:latin typeface="Sora" pitchFamily="34" charset="0"/>
                <a:ea typeface="Sora" pitchFamily="34" charset="-122"/>
                <a:cs typeface="Sora" pitchFamily="34" charset="-120"/>
              </a:rPr>
              <a:t>TP3</a:t>
            </a:r>
            <a:endParaRPr lang="en-US" sz="1400" dirty="0"/>
          </a:p>
        </p:txBody>
      </p:sp>
      <p:sp>
        <p:nvSpPr>
          <p:cNvPr id="40" name="Text 38"/>
          <p:cNvSpPr/>
          <p:nvPr/>
        </p:nvSpPr>
        <p:spPr>
          <a:xfrm>
            <a:off x="6731000" y="5066984"/>
            <a:ext cx="4009000"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Gérer les nœuds</a:t>
            </a:r>
            <a:endParaRPr lang="en-US" sz="1400" dirty="0"/>
          </a:p>
        </p:txBody>
      </p:sp>
      <p:sp>
        <p:nvSpPr>
          <p:cNvPr id="41" name="Text 39"/>
          <p:cNvSpPr/>
          <p:nvPr/>
        </p:nvSpPr>
        <p:spPr>
          <a:xfrm>
            <a:off x="10750232" y="5075873"/>
            <a:ext cx="5718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60 min</a:t>
            </a:r>
            <a:endParaRPr lang="en-US" sz="1200" dirty="0"/>
          </a:p>
        </p:txBody>
      </p:sp>
      <p:pic>
        <p:nvPicPr>
          <p:cNvPr id="42"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43" name="Text 4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44" name="Image 1" descr="Parcours de la formation : début du jour 1">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1 · COMPRENDRE ET INSTALLER</a:t>
            </a:r>
            <a:endParaRPr lang="en-US" sz="1200" dirty="0"/>
          </a:p>
        </p:txBody>
      </p:sp>
      <p:sp>
        <p:nvSpPr>
          <p:cNvPr id="3" name="Text 1"/>
          <p:cNvSpPr/>
          <p:nvPr/>
        </p:nvSpPr>
        <p:spPr>
          <a:xfrm>
            <a:off x="812800" y="1076961"/>
            <a:ext cx="1693164"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01</a:t>
            </a:r>
            <a:endParaRPr lang="en-US" sz="10000" dirty="0"/>
          </a:p>
        </p:txBody>
      </p:sp>
      <p:sp>
        <p:nvSpPr>
          <p:cNvPr id="4" name="Text 2"/>
          <p:cNvSpPr/>
          <p:nvPr>
            <p:ph type="title"/>
          </p:nvPr>
        </p:nvSpPr>
        <p:spPr>
          <a:xfrm>
            <a:off x="2579370" y="1127761"/>
            <a:ext cx="9063825" cy="5588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Des conteneurs à l'orchestration</a:t>
            </a:r>
            <a:endParaRPr lang="en-US" sz="4000" dirty="0"/>
          </a:p>
        </p:txBody>
      </p:sp>
      <p:sp>
        <p:nvSpPr>
          <p:cNvPr id="5" name="Text 3"/>
          <p:cNvSpPr/>
          <p:nvPr/>
        </p:nvSpPr>
        <p:spPr>
          <a:xfrm>
            <a:off x="2579370" y="1813561"/>
            <a:ext cx="906382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Un conteneur isole un processus sur un hôte ; Kubernetes pilote des centaines de conteneurs sur plusieurs machines, en ramenant sans cesse l'état réel vers l'état décrit.</a:t>
            </a:r>
            <a:endParaRPr lang="en-US" sz="1500" dirty="0"/>
          </a:p>
        </p:txBody>
      </p:sp>
      <p:sp>
        <p:nvSpPr>
          <p:cNvPr id="6" name="Text 4"/>
          <p:cNvSpPr/>
          <p:nvPr/>
        </p:nvSpPr>
        <p:spPr>
          <a:xfrm>
            <a:off x="2579370" y="2499361"/>
            <a:ext cx="3489642"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TP1 · premiers conteneurs avec ctr · J1 10:50</a:t>
            </a:r>
            <a:endParaRPr lang="en-US" sz="1200" dirty="0"/>
          </a:p>
        </p:txBody>
      </p:sp>
      <p:pic>
        <p:nvPicPr>
          <p:cNvPr id="7" name="Image 0" descr="Parcours de la formation : module 1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01 · DES CONTENEURS À L'ORCHESTRATION</a:t>
            </a:r>
            <a:endParaRPr lang="en-US" sz="1200" dirty="0"/>
          </a:p>
        </p:txBody>
      </p:sp>
      <p:sp>
        <p:nvSpPr>
          <p:cNvPr id="3" name="Text 1"/>
          <p:cNvSpPr/>
          <p:nvPr>
            <p:ph type="title"/>
          </p:nvPr>
        </p:nvSpPr>
        <p:spPr>
          <a:xfrm>
            <a:off x="812800" y="94996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Du serveur physique au conteneur</a:t>
            </a:r>
            <a:endParaRPr lang="en-US" sz="2800" dirty="0"/>
          </a:p>
        </p:txBody>
      </p:sp>
      <p:sp>
        <p:nvSpPr>
          <p:cNvPr id="4" name="Shape 2"/>
          <p:cNvSpPr/>
          <p:nvPr/>
        </p:nvSpPr>
        <p:spPr>
          <a:xfrm>
            <a:off x="815975" y="1598296"/>
            <a:ext cx="3164840" cy="3329199"/>
          </a:xfrm>
          <a:prstGeom prst="roundRect">
            <a:avLst>
              <a:gd name="adj" fmla="val 3913"/>
            </a:avLst>
          </a:prstGeom>
          <a:solidFill>
            <a:srgbClr val="FDFDFF"/>
          </a:solidFill>
          <a:ln w="6350">
            <a:solidFill>
              <a:srgbClr val="E1DFEE"/>
            </a:solidFill>
            <a:prstDash val="solid"/>
          </a:ln>
        </p:spPr>
      </p:sp>
      <p:sp>
        <p:nvSpPr>
          <p:cNvPr id="5" name="Text 3"/>
          <p:cNvSpPr/>
          <p:nvPr/>
        </p:nvSpPr>
        <p:spPr>
          <a:xfrm>
            <a:off x="1048491" y="1830812"/>
            <a:ext cx="278080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1 · SERVEUR PHYSIQUE</a:t>
            </a:r>
            <a:endParaRPr lang="en-US" sz="1200" dirty="0"/>
          </a:p>
        </p:txBody>
      </p:sp>
      <p:sp>
        <p:nvSpPr>
          <p:cNvPr id="6" name="Text 4"/>
          <p:cNvSpPr/>
          <p:nvPr/>
        </p:nvSpPr>
        <p:spPr>
          <a:xfrm>
            <a:off x="1048491" y="2158470"/>
            <a:ext cx="2780803"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B0748"/>
                </a:solidFill>
                <a:latin typeface="Sora" pitchFamily="34" charset="0"/>
                <a:ea typeface="Sora" pitchFamily="34" charset="-122"/>
                <a:cs typeface="Sora" pitchFamily="34" charset="-120"/>
              </a:rPr>
              <a:t>Une application par machine</a:t>
            </a:r>
            <a:endParaRPr lang="en-US" sz="2000" dirty="0"/>
          </a:p>
        </p:txBody>
      </p:sp>
      <p:sp>
        <p:nvSpPr>
          <p:cNvPr id="7" name="Text 5"/>
          <p:cNvSpPr/>
          <p:nvPr/>
        </p:nvSpPr>
        <p:spPr>
          <a:xfrm>
            <a:off x="1048491" y="2856970"/>
            <a:ext cx="2780803"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Pour éviter les conflits de bibliothèques. Les serveurs sont sous-utilisés, et en commander un prend des semaines.</a:t>
            </a:r>
            <a:endParaRPr lang="en-US" sz="1400" dirty="0"/>
          </a:p>
        </p:txBody>
      </p:sp>
      <p:pic>
        <p:nvPicPr>
          <p:cNvPr id="8" name="Image 0" descr="arrow-right">    </p:cNvPr>
          <p:cNvPicPr>
            <a:picLocks noChangeAspect="1"/>
          </p:cNvPicPr>
          <p:nvPr/>
        </p:nvPicPr>
        <p:blipFill>
          <a:blip r:embed="rId1"/>
          <a:srcRect l="0" r="0" t="0" b="0"/>
          <a:stretch/>
        </p:blipFill>
        <p:spPr>
          <a:xfrm>
            <a:off x="4110990" y="3186643"/>
            <a:ext cx="279400" cy="152400"/>
          </a:xfrm>
          <a:prstGeom prst="rect">
            <a:avLst/>
          </a:prstGeom>
        </p:spPr>
      </p:pic>
      <p:sp>
        <p:nvSpPr>
          <p:cNvPr id="9" name="Shape 6"/>
          <p:cNvSpPr/>
          <p:nvPr/>
        </p:nvSpPr>
        <p:spPr>
          <a:xfrm>
            <a:off x="4520565" y="1598296"/>
            <a:ext cx="3164946" cy="3329199"/>
          </a:xfrm>
          <a:prstGeom prst="roundRect">
            <a:avLst>
              <a:gd name="adj" fmla="val 3912"/>
            </a:avLst>
          </a:prstGeom>
          <a:solidFill>
            <a:srgbClr val="FDFDFF"/>
          </a:solidFill>
          <a:ln w="6350">
            <a:solidFill>
              <a:srgbClr val="E1DFEE"/>
            </a:solidFill>
            <a:prstDash val="solid"/>
          </a:ln>
        </p:spPr>
      </p:sp>
      <p:sp>
        <p:nvSpPr>
          <p:cNvPr id="10" name="Text 7"/>
          <p:cNvSpPr/>
          <p:nvPr/>
        </p:nvSpPr>
        <p:spPr>
          <a:xfrm>
            <a:off x="4753081" y="1830812"/>
            <a:ext cx="278091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2 · MACHINE VIRTUELLE</a:t>
            </a:r>
            <a:endParaRPr lang="en-US" sz="1200" dirty="0"/>
          </a:p>
        </p:txBody>
      </p:sp>
      <p:sp>
        <p:nvSpPr>
          <p:cNvPr id="11" name="Text 8"/>
          <p:cNvSpPr/>
          <p:nvPr/>
        </p:nvSpPr>
        <p:spPr>
          <a:xfrm>
            <a:off x="4753081" y="2158470"/>
            <a:ext cx="2929255"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B0748"/>
                </a:solidFill>
                <a:latin typeface="Sora" pitchFamily="34" charset="0"/>
                <a:ea typeface="Sora" pitchFamily="34" charset="-122"/>
                <a:cs typeface="Sora" pitchFamily="34" charset="-120"/>
              </a:rPr>
              <a:t>Des Go, des minutes</a:t>
            </a:r>
            <a:endParaRPr lang="en-US" sz="2000" dirty="0"/>
          </a:p>
        </p:txBody>
      </p:sp>
      <p:sp>
        <p:nvSpPr>
          <p:cNvPr id="12" name="Text 9"/>
          <p:cNvSpPr/>
          <p:nvPr/>
        </p:nvSpPr>
        <p:spPr>
          <a:xfrm>
            <a:off x="4753081" y="2564870"/>
            <a:ext cx="2780912" cy="131445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Un hyperviseur découpe le serveur en machines complètes, chacune avec son propre noyau. Isolation forte, mais un système entier par VM.</a:t>
            </a:r>
            <a:endParaRPr lang="en-US" sz="1400" dirty="0"/>
          </a:p>
        </p:txBody>
      </p:sp>
      <p:pic>
        <p:nvPicPr>
          <p:cNvPr id="13" name="Image 1" descr="arrow-right">    </p:cNvPr>
          <p:cNvPicPr>
            <a:picLocks noChangeAspect="1"/>
          </p:cNvPicPr>
          <p:nvPr/>
        </p:nvPicPr>
        <p:blipFill>
          <a:blip r:embed="rId2"/>
          <a:srcRect l="0" r="0" t="0" b="0"/>
          <a:stretch/>
        </p:blipFill>
        <p:spPr>
          <a:xfrm>
            <a:off x="7815686" y="3186643"/>
            <a:ext cx="279400" cy="152400"/>
          </a:xfrm>
          <a:prstGeom prst="rect">
            <a:avLst/>
          </a:prstGeom>
        </p:spPr>
      </p:pic>
      <p:sp>
        <p:nvSpPr>
          <p:cNvPr id="14" name="Shape 10"/>
          <p:cNvSpPr/>
          <p:nvPr/>
        </p:nvSpPr>
        <p:spPr>
          <a:xfrm>
            <a:off x="8222086" y="1595121"/>
            <a:ext cx="3157114" cy="3335549"/>
          </a:xfrm>
          <a:prstGeom prst="roundRect">
            <a:avLst>
              <a:gd name="adj" fmla="val 4023"/>
            </a:avLst>
          </a:prstGeom>
          <a:solidFill>
            <a:srgbClr val="0B0748"/>
          </a:solidFill>
          <a:ln/>
        </p:spPr>
      </p:sp>
      <p:sp>
        <p:nvSpPr>
          <p:cNvPr id="15" name="Text 11"/>
          <p:cNvSpPr/>
          <p:nvPr/>
        </p:nvSpPr>
        <p:spPr>
          <a:xfrm>
            <a:off x="8450686" y="1823721"/>
            <a:ext cx="278091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3 · CONTENEUR</a:t>
            </a:r>
            <a:endParaRPr lang="en-US" sz="1200" dirty="0"/>
          </a:p>
        </p:txBody>
      </p:sp>
      <p:sp>
        <p:nvSpPr>
          <p:cNvPr id="16" name="Text 12"/>
          <p:cNvSpPr/>
          <p:nvPr/>
        </p:nvSpPr>
        <p:spPr>
          <a:xfrm>
            <a:off x="8450686" y="2151379"/>
            <a:ext cx="2780912"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5F4F9"/>
                </a:solidFill>
                <a:latin typeface="Sora" pitchFamily="34" charset="0"/>
                <a:ea typeface="Sora" pitchFamily="34" charset="-122"/>
                <a:cs typeface="Sora" pitchFamily="34" charset="-120"/>
              </a:rPr>
              <a:t>Des Mo, une seconde</a:t>
            </a:r>
            <a:endParaRPr lang="en-US" sz="2000" dirty="0"/>
          </a:p>
        </p:txBody>
      </p:sp>
      <p:sp>
        <p:nvSpPr>
          <p:cNvPr id="17" name="Text 13"/>
          <p:cNvSpPr/>
          <p:nvPr/>
        </p:nvSpPr>
        <p:spPr>
          <a:xfrm>
            <a:off x="8450686" y="2849879"/>
            <a:ext cx="2780912"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9B6E8"/>
                </a:solidFill>
                <a:latin typeface="IBM Plex Sans" pitchFamily="34" charset="0"/>
                <a:ea typeface="IBM Plex Sans" pitchFamily="34" charset="-122"/>
                <a:cs typeface="IBM Plex Sans" pitchFamily="34" charset="-120"/>
              </a:rPr>
              <a:t>Les applications partagent le noyau de l'hôte ; seul l'espace utilisateur (bibliothèques, binaires) est propre à chacune.</a:t>
            </a:r>
            <a:endParaRPr lang="en-US" sz="1400" dirty="0"/>
          </a:p>
        </p:txBody>
      </p:sp>
      <p:sp>
        <p:nvSpPr>
          <p:cNvPr id="18" name="Shape 14"/>
          <p:cNvSpPr/>
          <p:nvPr/>
        </p:nvSpPr>
        <p:spPr>
          <a:xfrm>
            <a:off x="812800" y="5191020"/>
            <a:ext cx="10566400" cy="0"/>
          </a:xfrm>
          <a:prstGeom prst="line">
            <a:avLst/>
          </a:prstGeom>
          <a:noFill/>
          <a:ln w="12700">
            <a:solidFill>
              <a:srgbClr val="0B0748"/>
            </a:solidFill>
            <a:prstDash val="solid"/>
          </a:ln>
        </p:spPr>
      </p:sp>
      <p:pic>
        <p:nvPicPr>
          <p:cNvPr id="19" name="Image 2" descr="Cloud">    </p:cNvPr>
          <p:cNvPicPr>
            <a:picLocks noChangeAspect="1"/>
          </p:cNvPicPr>
          <p:nvPr/>
        </p:nvPicPr>
        <p:blipFill>
          <a:blip r:embed="rId3"/>
          <a:srcRect l="0" r="0" t="0" b="0"/>
          <a:stretch/>
        </p:blipFill>
        <p:spPr>
          <a:xfrm>
            <a:off x="812800" y="5453379"/>
            <a:ext cx="279400" cy="279400"/>
          </a:xfrm>
          <a:prstGeom prst="rect">
            <a:avLst/>
          </a:prstGeom>
        </p:spPr>
      </p:pic>
      <p:sp>
        <p:nvSpPr>
          <p:cNvPr id="20" name="Text 15"/>
          <p:cNvSpPr/>
          <p:nvPr/>
        </p:nvSpPr>
        <p:spPr>
          <a:xfrm>
            <a:off x="1244600" y="5344158"/>
            <a:ext cx="104386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Les deux se combinent : dans cette formation, vos conteneurs tournent dans des VM Cloud, comme dans la plupart des clusters en production.</a:t>
            </a:r>
            <a:endParaRPr lang="en-US" sz="1400" dirty="0"/>
          </a:p>
        </p:txBody>
      </p:sp>
      <p:pic>
        <p:nvPicPr>
          <p:cNvPr id="21" name="Image 3" descr="preencoded.png">    </p:cNvPr>
          <p:cNvPicPr>
            <a:picLocks noChangeAspect="1"/>
          </p:cNvPicPr>
          <p:nvPr/>
        </p:nvPicPr>
        <p:blipFill>
          <a:blip r:embed="rId4"/>
          <a:srcRect l="0" r="0" t="0" b="0"/>
          <a:stretch/>
        </p:blipFill>
        <p:spPr>
          <a:xfrm>
            <a:off x="812800" y="6299200"/>
            <a:ext cx="152400" cy="152400"/>
          </a:xfrm>
          <a:prstGeom prst="rect">
            <a:avLst/>
          </a:prstGeom>
        </p:spPr>
      </p:pic>
      <p:sp>
        <p:nvSpPr>
          <p:cNvPr id="22" name="Text 1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3" name="Image 4" descr="Parcours : module 1 sur 16">    </p:cNvPr>
          <p:cNvPicPr>
            <a:picLocks noChangeAspect="1"/>
          </p:cNvPicPr>
          <p:nvPr/>
        </p:nvPicPr>
        <p:blipFill>
          <a:blip r:embed="rId5"/>
          <a:srcRect l="0" r="0" t="0" b="0"/>
          <a:stretch/>
        </p:blipFill>
        <p:spPr>
          <a:xfrm>
            <a:off x="9207500" y="6299200"/>
            <a:ext cx="2171700" cy="152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01 · DES CONTENEURS À L'ORCHESTRATION</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VM et conteneurs : deux façons d'héberger</a:t>
            </a:r>
            <a:endParaRPr lang="en-US" sz="2800" dirty="0"/>
          </a:p>
        </p:txBody>
      </p:sp>
      <p:sp>
        <p:nvSpPr>
          <p:cNvPr id="4" name="Text 2"/>
          <p:cNvSpPr/>
          <p:nvPr/>
        </p:nvSpPr>
        <p:spPr>
          <a:xfrm>
            <a:off x="738124" y="1980350"/>
            <a:ext cx="5127752"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B0748"/>
                </a:solidFill>
                <a:latin typeface="Sora" pitchFamily="34" charset="0"/>
                <a:ea typeface="Sora" pitchFamily="34" charset="-122"/>
                <a:cs typeface="Sora" pitchFamily="34" charset="-120"/>
              </a:rPr>
              <a:t>Machines virtuelles</a:t>
            </a:r>
            <a:endParaRPr lang="en-US" sz="1600" dirty="0"/>
          </a:p>
        </p:txBody>
      </p:sp>
      <p:sp>
        <p:nvSpPr>
          <p:cNvPr id="5" name="Text 3"/>
          <p:cNvSpPr/>
          <p:nvPr/>
        </p:nvSpPr>
        <p:spPr>
          <a:xfrm>
            <a:off x="815975" y="2407710"/>
            <a:ext cx="1602317" cy="459952"/>
          </a:xfrm>
          <a:prstGeom prst="roundRect">
            <a:avLst>
              <a:gd name="adj" fmla="val 15877"/>
            </a:avLst>
          </a:prstGeom>
          <a:solidFill>
            <a:srgbClr val="FDFDFF"/>
          </a:solidFill>
          <a:ln w="6350">
            <a:solidFill>
              <a:srgbClr val="D9D6EA"/>
            </a:solidFill>
            <a:prstDash val="solid"/>
          </a:ln>
        </p:spPr>
        <p:txBody>
          <a:bodyPr wrap="square" lIns="58728" tIns="84128" rIns="58728" bIns="58728" rtlCol="0" anchor="t">
            <a:normAutofit/>
          </a:bodyPr>
          <a:lstStyle/>
          <a:p>
            <a:pPr algn="ct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App 1</a:t>
            </a:r>
            <a:endParaRPr lang="en-US" sz="1400" dirty="0"/>
          </a:p>
        </p:txBody>
      </p:sp>
      <p:sp>
        <p:nvSpPr>
          <p:cNvPr id="6" name="Text 4"/>
          <p:cNvSpPr/>
          <p:nvPr/>
        </p:nvSpPr>
        <p:spPr>
          <a:xfrm>
            <a:off x="2500842" y="2407710"/>
            <a:ext cx="1602317" cy="459952"/>
          </a:xfrm>
          <a:prstGeom prst="roundRect">
            <a:avLst>
              <a:gd name="adj" fmla="val 15877"/>
            </a:avLst>
          </a:prstGeom>
          <a:solidFill>
            <a:srgbClr val="FDFDFF"/>
          </a:solidFill>
          <a:ln w="6350">
            <a:solidFill>
              <a:srgbClr val="D9D6EA"/>
            </a:solidFill>
            <a:prstDash val="solid"/>
          </a:ln>
        </p:spPr>
        <p:txBody>
          <a:bodyPr wrap="square" lIns="58728" tIns="84128" rIns="58728" bIns="58728" rtlCol="0" anchor="t">
            <a:normAutofit/>
          </a:bodyPr>
          <a:lstStyle/>
          <a:p>
            <a:pPr algn="ct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App 2</a:t>
            </a:r>
            <a:endParaRPr lang="en-US" sz="1400" dirty="0"/>
          </a:p>
        </p:txBody>
      </p:sp>
      <p:sp>
        <p:nvSpPr>
          <p:cNvPr id="7" name="Text 5"/>
          <p:cNvSpPr/>
          <p:nvPr/>
        </p:nvSpPr>
        <p:spPr>
          <a:xfrm>
            <a:off x="4185708" y="2407710"/>
            <a:ext cx="1602317" cy="459952"/>
          </a:xfrm>
          <a:prstGeom prst="roundRect">
            <a:avLst>
              <a:gd name="adj" fmla="val 15877"/>
            </a:avLst>
          </a:prstGeom>
          <a:solidFill>
            <a:srgbClr val="FDFDFF"/>
          </a:solidFill>
          <a:ln w="6350">
            <a:solidFill>
              <a:srgbClr val="D9D6EA"/>
            </a:solidFill>
            <a:prstDash val="solid"/>
          </a:ln>
        </p:spPr>
        <p:txBody>
          <a:bodyPr wrap="square" lIns="58728" tIns="84128" rIns="58728" bIns="58728" rtlCol="0" anchor="t">
            <a:normAutofit/>
          </a:bodyPr>
          <a:lstStyle/>
          <a:p>
            <a:pPr algn="ct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App 3</a:t>
            </a:r>
            <a:endParaRPr lang="en-US" sz="1400" dirty="0"/>
          </a:p>
        </p:txBody>
      </p:sp>
      <p:sp>
        <p:nvSpPr>
          <p:cNvPr id="8" name="Text 6"/>
          <p:cNvSpPr/>
          <p:nvPr/>
        </p:nvSpPr>
        <p:spPr>
          <a:xfrm>
            <a:off x="815975" y="2950208"/>
            <a:ext cx="1602317" cy="442172"/>
          </a:xfrm>
          <a:prstGeom prst="roundRect">
            <a:avLst>
              <a:gd name="adj" fmla="val 16515"/>
            </a:avLst>
          </a:prstGeom>
          <a:solidFill>
            <a:srgbClr val="FDFDFF"/>
          </a:solidFill>
          <a:ln w="6350">
            <a:solidFill>
              <a:srgbClr val="D9D6EA"/>
            </a:solidFill>
            <a:prstDash val="solid"/>
          </a:ln>
        </p:spPr>
        <p:txBody>
          <a:bodyPr wrap="square" lIns="58728" tIns="84128" rIns="58728" bIns="58728" rtlCol="0" anchor="t">
            <a:normAutofit/>
          </a:bodyPr>
          <a:lstStyle/>
          <a:p>
            <a:pPr algn="ctr"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bibliothèques</a:t>
            </a:r>
            <a:endParaRPr lang="en-US" sz="1300" dirty="0"/>
          </a:p>
        </p:txBody>
      </p:sp>
      <p:sp>
        <p:nvSpPr>
          <p:cNvPr id="9" name="Text 7"/>
          <p:cNvSpPr/>
          <p:nvPr/>
        </p:nvSpPr>
        <p:spPr>
          <a:xfrm>
            <a:off x="2500842" y="2950208"/>
            <a:ext cx="1602317" cy="442172"/>
          </a:xfrm>
          <a:prstGeom prst="roundRect">
            <a:avLst>
              <a:gd name="adj" fmla="val 16515"/>
            </a:avLst>
          </a:prstGeom>
          <a:solidFill>
            <a:srgbClr val="FDFDFF"/>
          </a:solidFill>
          <a:ln w="6350">
            <a:solidFill>
              <a:srgbClr val="D9D6EA"/>
            </a:solidFill>
            <a:prstDash val="solid"/>
          </a:ln>
        </p:spPr>
        <p:txBody>
          <a:bodyPr wrap="square" lIns="58728" tIns="84128" rIns="58728" bIns="58728" rtlCol="0" anchor="t">
            <a:normAutofit/>
          </a:bodyPr>
          <a:lstStyle/>
          <a:p>
            <a:pPr algn="ctr"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bibliothèques</a:t>
            </a:r>
            <a:endParaRPr lang="en-US" sz="1300" dirty="0"/>
          </a:p>
        </p:txBody>
      </p:sp>
      <p:sp>
        <p:nvSpPr>
          <p:cNvPr id="10" name="Text 8"/>
          <p:cNvSpPr/>
          <p:nvPr/>
        </p:nvSpPr>
        <p:spPr>
          <a:xfrm>
            <a:off x="4185708" y="2950208"/>
            <a:ext cx="1602317" cy="442172"/>
          </a:xfrm>
          <a:prstGeom prst="roundRect">
            <a:avLst>
              <a:gd name="adj" fmla="val 16515"/>
            </a:avLst>
          </a:prstGeom>
          <a:solidFill>
            <a:srgbClr val="FDFDFF"/>
          </a:solidFill>
          <a:ln w="6350">
            <a:solidFill>
              <a:srgbClr val="D9D6EA"/>
            </a:solidFill>
            <a:prstDash val="solid"/>
          </a:ln>
        </p:spPr>
        <p:txBody>
          <a:bodyPr wrap="square" lIns="58728" tIns="84128" rIns="58728" bIns="58728" rtlCol="0" anchor="t">
            <a:normAutofit/>
          </a:bodyPr>
          <a:lstStyle/>
          <a:p>
            <a:pPr algn="ctr"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bibliothèques</a:t>
            </a:r>
            <a:endParaRPr lang="en-US" sz="1300" dirty="0"/>
          </a:p>
        </p:txBody>
      </p:sp>
      <p:sp>
        <p:nvSpPr>
          <p:cNvPr id="11" name="Text 9"/>
          <p:cNvSpPr/>
          <p:nvPr/>
        </p:nvSpPr>
        <p:spPr>
          <a:xfrm>
            <a:off x="819150" y="3478107"/>
            <a:ext cx="1595967" cy="633942"/>
          </a:xfrm>
          <a:prstGeom prst="roundRect">
            <a:avLst>
              <a:gd name="adj" fmla="val 11018"/>
            </a:avLst>
          </a:prstGeom>
          <a:solidFill>
            <a:srgbClr val="FCE6DC"/>
          </a:solidFill>
          <a:ln w="12700">
            <a:solidFill>
              <a:srgbClr val="E25A2C"/>
            </a:solidFill>
            <a:prstDash val="solid"/>
          </a:ln>
        </p:spPr>
        <p:txBody>
          <a:bodyPr wrap="square" lIns="56482" tIns="81882" rIns="56482" bIns="56482" rtlCol="0" anchor="t">
            <a:normAutofit/>
          </a:bodyPr>
          <a:lstStyle/>
          <a:p>
            <a:pPr algn="ctr" indent="0" marL="0">
              <a:lnSpc>
                <a:spcPts val="1690"/>
              </a:lnSpc>
              <a:buNone/>
            </a:pPr>
            <a:r>
              <a:rPr lang="en-US" sz="1300" b="1" dirty="0">
                <a:solidFill>
                  <a:srgbClr val="0B0748"/>
                </a:solidFill>
                <a:latin typeface="IBM Plex Sans" pitchFamily="34" charset="0"/>
                <a:ea typeface="IBM Plex Sans" pitchFamily="34" charset="-122"/>
                <a:cs typeface="IBM Plex Sans" pitchFamily="34" charset="-120"/>
              </a:rPr>
              <a:t>OS invité</a:t>
            </a:r>
            <a:endParaRPr lang="en-US" sz="1300" dirty="0"/>
          </a:p>
          <a:p>
            <a:pPr algn="ctr"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noyau complet</a:t>
            </a:r>
            <a:endParaRPr lang="en-US" sz="1300" dirty="0"/>
          </a:p>
        </p:txBody>
      </p:sp>
      <p:sp>
        <p:nvSpPr>
          <p:cNvPr id="12" name="Text 10"/>
          <p:cNvSpPr/>
          <p:nvPr/>
        </p:nvSpPr>
        <p:spPr>
          <a:xfrm>
            <a:off x="2504017" y="3478107"/>
            <a:ext cx="1595967" cy="633942"/>
          </a:xfrm>
          <a:prstGeom prst="roundRect">
            <a:avLst>
              <a:gd name="adj" fmla="val 11018"/>
            </a:avLst>
          </a:prstGeom>
          <a:solidFill>
            <a:srgbClr val="FCE6DC"/>
          </a:solidFill>
          <a:ln w="12700">
            <a:solidFill>
              <a:srgbClr val="E25A2C"/>
            </a:solidFill>
            <a:prstDash val="solid"/>
          </a:ln>
        </p:spPr>
        <p:txBody>
          <a:bodyPr wrap="square" lIns="56482" tIns="81882" rIns="56482" bIns="56482" rtlCol="0" anchor="t">
            <a:normAutofit/>
          </a:bodyPr>
          <a:lstStyle/>
          <a:p>
            <a:pPr algn="ctr" indent="0" marL="0">
              <a:lnSpc>
                <a:spcPts val="1690"/>
              </a:lnSpc>
              <a:buNone/>
            </a:pPr>
            <a:r>
              <a:rPr lang="en-US" sz="1300" b="1" dirty="0">
                <a:solidFill>
                  <a:srgbClr val="0B0748"/>
                </a:solidFill>
                <a:latin typeface="IBM Plex Sans" pitchFamily="34" charset="0"/>
                <a:ea typeface="IBM Plex Sans" pitchFamily="34" charset="-122"/>
                <a:cs typeface="IBM Plex Sans" pitchFamily="34" charset="-120"/>
              </a:rPr>
              <a:t>OS invité</a:t>
            </a:r>
            <a:endParaRPr lang="en-US" sz="1300" dirty="0"/>
          </a:p>
          <a:p>
            <a:pPr algn="ctr"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noyau complet</a:t>
            </a:r>
            <a:endParaRPr lang="en-US" sz="1300" dirty="0"/>
          </a:p>
        </p:txBody>
      </p:sp>
      <p:sp>
        <p:nvSpPr>
          <p:cNvPr id="13" name="Text 11"/>
          <p:cNvSpPr/>
          <p:nvPr/>
        </p:nvSpPr>
        <p:spPr>
          <a:xfrm>
            <a:off x="4188883" y="3478107"/>
            <a:ext cx="1595967" cy="633942"/>
          </a:xfrm>
          <a:prstGeom prst="roundRect">
            <a:avLst>
              <a:gd name="adj" fmla="val 11018"/>
            </a:avLst>
          </a:prstGeom>
          <a:solidFill>
            <a:srgbClr val="FCE6DC"/>
          </a:solidFill>
          <a:ln w="12700">
            <a:solidFill>
              <a:srgbClr val="E25A2C"/>
            </a:solidFill>
            <a:prstDash val="solid"/>
          </a:ln>
        </p:spPr>
        <p:txBody>
          <a:bodyPr wrap="square" lIns="56482" tIns="81882" rIns="56482" bIns="56482" rtlCol="0" anchor="t">
            <a:normAutofit/>
          </a:bodyPr>
          <a:lstStyle/>
          <a:p>
            <a:pPr algn="ctr" indent="0" marL="0">
              <a:lnSpc>
                <a:spcPts val="1690"/>
              </a:lnSpc>
              <a:buNone/>
            </a:pPr>
            <a:r>
              <a:rPr lang="en-US" sz="1300" b="1" dirty="0">
                <a:solidFill>
                  <a:srgbClr val="0B0748"/>
                </a:solidFill>
                <a:latin typeface="IBM Plex Sans" pitchFamily="34" charset="0"/>
                <a:ea typeface="IBM Plex Sans" pitchFamily="34" charset="-122"/>
                <a:cs typeface="IBM Plex Sans" pitchFamily="34" charset="-120"/>
              </a:rPr>
              <a:t>OS invité</a:t>
            </a:r>
            <a:endParaRPr lang="en-US" sz="1300" dirty="0"/>
          </a:p>
          <a:p>
            <a:pPr algn="ctr"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noyau complet</a:t>
            </a:r>
            <a:endParaRPr lang="en-US" sz="1300" dirty="0"/>
          </a:p>
        </p:txBody>
      </p:sp>
      <p:sp>
        <p:nvSpPr>
          <p:cNvPr id="14" name="Text 12"/>
          <p:cNvSpPr/>
          <p:nvPr/>
        </p:nvSpPr>
        <p:spPr>
          <a:xfrm>
            <a:off x="815975" y="4210472"/>
            <a:ext cx="4972050" cy="459952"/>
          </a:xfrm>
          <a:prstGeom prst="roundRect">
            <a:avLst>
              <a:gd name="adj" fmla="val 15877"/>
            </a:avLst>
          </a:prstGeom>
          <a:solidFill>
            <a:srgbClr val="FDFDFF"/>
          </a:solidFill>
          <a:ln w="6350">
            <a:solidFill>
              <a:srgbClr val="D9D6EA"/>
            </a:solidFill>
            <a:prstDash val="solid"/>
          </a:ln>
        </p:spPr>
        <p:txBody>
          <a:bodyPr wrap="square" lIns="12712" tIns="84128" rIns="12712" bIns="58728" rtlCol="0" anchor="t">
            <a:normAutofit/>
          </a:bodyPr>
          <a:lstStyle/>
          <a:p>
            <a:pPr algn="ct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Hyperviseur</a:t>
            </a:r>
            <a:endParaRPr lang="en-US" sz="1400" dirty="0"/>
          </a:p>
        </p:txBody>
      </p:sp>
      <p:sp>
        <p:nvSpPr>
          <p:cNvPr id="15" name="Text 13"/>
          <p:cNvSpPr/>
          <p:nvPr/>
        </p:nvSpPr>
        <p:spPr>
          <a:xfrm>
            <a:off x="812800" y="4762500"/>
            <a:ext cx="4978400" cy="452120"/>
          </a:xfrm>
          <a:prstGeom prst="roundRect">
            <a:avLst>
              <a:gd name="adj" fmla="val 16854"/>
            </a:avLst>
          </a:prstGeom>
          <a:solidFill>
            <a:srgbClr val="E4E2EE"/>
          </a:solidFill>
          <a:ln/>
        </p:spPr>
        <p:txBody>
          <a:bodyPr wrap="square" lIns="7654" tIns="79282" rIns="7654" bIns="53882" rtlCol="0" anchor="t">
            <a:normAutofit/>
          </a:bodyPr>
          <a:lstStyle/>
          <a:p>
            <a:pPr algn="ct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Serveur physique</a:t>
            </a:r>
            <a:endParaRPr lang="en-US" sz="1400" dirty="0"/>
          </a:p>
        </p:txBody>
      </p:sp>
      <p:sp>
        <p:nvSpPr>
          <p:cNvPr id="16" name="Text 14"/>
          <p:cNvSpPr/>
          <p:nvPr/>
        </p:nvSpPr>
        <p:spPr>
          <a:xfrm>
            <a:off x="738124" y="5379721"/>
            <a:ext cx="5127752" cy="4876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Isolation forte : un OS complet par application.</a:t>
            </a:r>
            <a:endParaRPr lang="en-US" sz="1300" dirty="0"/>
          </a:p>
          <a:p>
            <a:pPr algn="ct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Plusieurs Go par VM, démarrage en minutes.</a:t>
            </a:r>
            <a:endParaRPr lang="en-US" sz="1300" dirty="0"/>
          </a:p>
        </p:txBody>
      </p:sp>
      <p:sp>
        <p:nvSpPr>
          <p:cNvPr id="17" name="Text 15"/>
          <p:cNvSpPr/>
          <p:nvPr/>
        </p:nvSpPr>
        <p:spPr>
          <a:xfrm>
            <a:off x="6326124" y="1967650"/>
            <a:ext cx="5127752"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B0748"/>
                </a:solidFill>
                <a:latin typeface="Sora" pitchFamily="34" charset="0"/>
                <a:ea typeface="Sora" pitchFamily="34" charset="-122"/>
                <a:cs typeface="Sora" pitchFamily="34" charset="-120"/>
              </a:rPr>
              <a:t>Conteneurs</a:t>
            </a:r>
            <a:endParaRPr lang="en-US" sz="1600" dirty="0"/>
          </a:p>
        </p:txBody>
      </p:sp>
      <p:sp>
        <p:nvSpPr>
          <p:cNvPr id="18" name="Text 16"/>
          <p:cNvSpPr/>
          <p:nvPr/>
        </p:nvSpPr>
        <p:spPr>
          <a:xfrm>
            <a:off x="6403975" y="2395010"/>
            <a:ext cx="1602317" cy="459952"/>
          </a:xfrm>
          <a:prstGeom prst="roundRect">
            <a:avLst>
              <a:gd name="adj" fmla="val 15877"/>
            </a:avLst>
          </a:prstGeom>
          <a:solidFill>
            <a:srgbClr val="FDFDFF"/>
          </a:solidFill>
          <a:ln w="6350">
            <a:solidFill>
              <a:srgbClr val="D9D6EA"/>
            </a:solidFill>
            <a:prstDash val="solid"/>
          </a:ln>
        </p:spPr>
        <p:txBody>
          <a:bodyPr wrap="square" lIns="58728" tIns="84128" rIns="58728" bIns="58728" rtlCol="0" anchor="t">
            <a:normAutofit/>
          </a:bodyPr>
          <a:lstStyle/>
          <a:p>
            <a:pPr algn="ct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App 1</a:t>
            </a:r>
            <a:endParaRPr lang="en-US" sz="1400" dirty="0"/>
          </a:p>
        </p:txBody>
      </p:sp>
      <p:sp>
        <p:nvSpPr>
          <p:cNvPr id="19" name="Text 17"/>
          <p:cNvSpPr/>
          <p:nvPr/>
        </p:nvSpPr>
        <p:spPr>
          <a:xfrm>
            <a:off x="8088842" y="2395010"/>
            <a:ext cx="1602317" cy="459952"/>
          </a:xfrm>
          <a:prstGeom prst="roundRect">
            <a:avLst>
              <a:gd name="adj" fmla="val 15877"/>
            </a:avLst>
          </a:prstGeom>
          <a:solidFill>
            <a:srgbClr val="FDFDFF"/>
          </a:solidFill>
          <a:ln w="6350">
            <a:solidFill>
              <a:srgbClr val="D9D6EA"/>
            </a:solidFill>
            <a:prstDash val="solid"/>
          </a:ln>
        </p:spPr>
        <p:txBody>
          <a:bodyPr wrap="square" lIns="58728" tIns="84128" rIns="58728" bIns="58728" rtlCol="0" anchor="t">
            <a:normAutofit/>
          </a:bodyPr>
          <a:lstStyle/>
          <a:p>
            <a:pPr algn="ct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App 2</a:t>
            </a:r>
            <a:endParaRPr lang="en-US" sz="1400" dirty="0"/>
          </a:p>
        </p:txBody>
      </p:sp>
      <p:sp>
        <p:nvSpPr>
          <p:cNvPr id="20" name="Text 18"/>
          <p:cNvSpPr/>
          <p:nvPr/>
        </p:nvSpPr>
        <p:spPr>
          <a:xfrm>
            <a:off x="9773708" y="2395010"/>
            <a:ext cx="1602317" cy="459952"/>
          </a:xfrm>
          <a:prstGeom prst="roundRect">
            <a:avLst>
              <a:gd name="adj" fmla="val 15877"/>
            </a:avLst>
          </a:prstGeom>
          <a:solidFill>
            <a:srgbClr val="FDFDFF"/>
          </a:solidFill>
          <a:ln w="6350">
            <a:solidFill>
              <a:srgbClr val="D9D6EA"/>
            </a:solidFill>
            <a:prstDash val="solid"/>
          </a:ln>
        </p:spPr>
        <p:txBody>
          <a:bodyPr wrap="square" lIns="58728" tIns="84128" rIns="58728" bIns="58728" rtlCol="0" anchor="t">
            <a:normAutofit/>
          </a:bodyPr>
          <a:lstStyle/>
          <a:p>
            <a:pPr algn="ct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App 3</a:t>
            </a:r>
            <a:endParaRPr lang="en-US" sz="1400" dirty="0"/>
          </a:p>
        </p:txBody>
      </p:sp>
      <p:sp>
        <p:nvSpPr>
          <p:cNvPr id="21" name="Text 19"/>
          <p:cNvSpPr/>
          <p:nvPr/>
        </p:nvSpPr>
        <p:spPr>
          <a:xfrm>
            <a:off x="6403975" y="2937508"/>
            <a:ext cx="1602317" cy="442172"/>
          </a:xfrm>
          <a:prstGeom prst="roundRect">
            <a:avLst>
              <a:gd name="adj" fmla="val 16515"/>
            </a:avLst>
          </a:prstGeom>
          <a:solidFill>
            <a:srgbClr val="FDFDFF"/>
          </a:solidFill>
          <a:ln w="6350">
            <a:solidFill>
              <a:srgbClr val="D9D6EA"/>
            </a:solidFill>
            <a:prstDash val="solid"/>
          </a:ln>
        </p:spPr>
        <p:txBody>
          <a:bodyPr wrap="square" lIns="58728" tIns="84128" rIns="58728" bIns="58728" rtlCol="0" anchor="t">
            <a:normAutofit/>
          </a:bodyPr>
          <a:lstStyle/>
          <a:p>
            <a:pPr algn="ctr"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bibliothèques</a:t>
            </a:r>
            <a:endParaRPr lang="en-US" sz="1300" dirty="0"/>
          </a:p>
        </p:txBody>
      </p:sp>
      <p:sp>
        <p:nvSpPr>
          <p:cNvPr id="22" name="Text 20"/>
          <p:cNvSpPr/>
          <p:nvPr/>
        </p:nvSpPr>
        <p:spPr>
          <a:xfrm>
            <a:off x="8088842" y="2937508"/>
            <a:ext cx="1602317" cy="442172"/>
          </a:xfrm>
          <a:prstGeom prst="roundRect">
            <a:avLst>
              <a:gd name="adj" fmla="val 16515"/>
            </a:avLst>
          </a:prstGeom>
          <a:solidFill>
            <a:srgbClr val="FDFDFF"/>
          </a:solidFill>
          <a:ln w="6350">
            <a:solidFill>
              <a:srgbClr val="D9D6EA"/>
            </a:solidFill>
            <a:prstDash val="solid"/>
          </a:ln>
        </p:spPr>
        <p:txBody>
          <a:bodyPr wrap="square" lIns="58728" tIns="84128" rIns="58728" bIns="58728" rtlCol="0" anchor="t">
            <a:normAutofit/>
          </a:bodyPr>
          <a:lstStyle/>
          <a:p>
            <a:pPr algn="ctr"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bibliothèques</a:t>
            </a:r>
            <a:endParaRPr lang="en-US" sz="1300" dirty="0"/>
          </a:p>
        </p:txBody>
      </p:sp>
      <p:sp>
        <p:nvSpPr>
          <p:cNvPr id="23" name="Text 21"/>
          <p:cNvSpPr/>
          <p:nvPr/>
        </p:nvSpPr>
        <p:spPr>
          <a:xfrm>
            <a:off x="9773708" y="2937508"/>
            <a:ext cx="1602317" cy="442172"/>
          </a:xfrm>
          <a:prstGeom prst="roundRect">
            <a:avLst>
              <a:gd name="adj" fmla="val 16515"/>
            </a:avLst>
          </a:prstGeom>
          <a:solidFill>
            <a:srgbClr val="FDFDFF"/>
          </a:solidFill>
          <a:ln w="6350">
            <a:solidFill>
              <a:srgbClr val="D9D6EA"/>
            </a:solidFill>
            <a:prstDash val="solid"/>
          </a:ln>
        </p:spPr>
        <p:txBody>
          <a:bodyPr wrap="square" lIns="58728" tIns="84128" rIns="58728" bIns="58728" rtlCol="0" anchor="t">
            <a:normAutofit/>
          </a:bodyPr>
          <a:lstStyle/>
          <a:p>
            <a:pPr algn="ctr"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bibliothèques</a:t>
            </a:r>
            <a:endParaRPr lang="en-US" sz="1300" dirty="0"/>
          </a:p>
        </p:txBody>
      </p:sp>
      <p:sp>
        <p:nvSpPr>
          <p:cNvPr id="24" name="Text 22"/>
          <p:cNvSpPr/>
          <p:nvPr/>
        </p:nvSpPr>
        <p:spPr>
          <a:xfrm>
            <a:off x="6403975" y="3474932"/>
            <a:ext cx="4972050" cy="459952"/>
          </a:xfrm>
          <a:prstGeom prst="roundRect">
            <a:avLst>
              <a:gd name="adj" fmla="val 15877"/>
            </a:avLst>
          </a:prstGeom>
          <a:solidFill>
            <a:srgbClr val="FDFDFF"/>
          </a:solidFill>
          <a:ln w="6350">
            <a:solidFill>
              <a:srgbClr val="D9D6EA"/>
            </a:solidFill>
            <a:prstDash val="solid"/>
          </a:ln>
        </p:spPr>
        <p:txBody>
          <a:bodyPr wrap="square" lIns="12712" tIns="84128" rIns="12712" bIns="58728" rtlCol="0" anchor="t">
            <a:normAutofit/>
          </a:bodyPr>
          <a:lstStyle/>
          <a:p>
            <a:pPr algn="ct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Moteur de conteneurs : containerd</a:t>
            </a:r>
            <a:endParaRPr lang="en-US" sz="1400" dirty="0"/>
          </a:p>
        </p:txBody>
      </p:sp>
      <p:sp>
        <p:nvSpPr>
          <p:cNvPr id="25" name="Text 23"/>
          <p:cNvSpPr/>
          <p:nvPr/>
        </p:nvSpPr>
        <p:spPr>
          <a:xfrm>
            <a:off x="6407150" y="4033310"/>
            <a:ext cx="4965700" cy="633942"/>
          </a:xfrm>
          <a:prstGeom prst="roundRect">
            <a:avLst>
              <a:gd name="adj" fmla="val 11018"/>
            </a:avLst>
          </a:prstGeom>
          <a:solidFill>
            <a:srgbClr val="FCE6DC"/>
          </a:solidFill>
          <a:ln w="12700">
            <a:solidFill>
              <a:srgbClr val="E25A2C"/>
            </a:solidFill>
            <a:prstDash val="solid"/>
          </a:ln>
        </p:spPr>
        <p:txBody>
          <a:bodyPr wrap="square" lIns="10467" tIns="81882" rIns="10467" bIns="56482" rtlCol="0" anchor="t">
            <a:normAutofit/>
          </a:bodyPr>
          <a:lstStyle/>
          <a:p>
            <a:pPr algn="ctr" indent="0" marL="0">
              <a:lnSpc>
                <a:spcPts val="1690"/>
              </a:lnSpc>
              <a:buNone/>
            </a:pPr>
            <a:r>
              <a:rPr lang="en-US" sz="1300" b="1" dirty="0">
                <a:solidFill>
                  <a:srgbClr val="0B0748"/>
                </a:solidFill>
                <a:latin typeface="IBM Plex Sans" pitchFamily="34" charset="0"/>
                <a:ea typeface="IBM Plex Sans" pitchFamily="34" charset="-122"/>
                <a:cs typeface="IBM Plex Sans" pitchFamily="34" charset="-120"/>
              </a:rPr>
              <a:t>OS hôte</a:t>
            </a:r>
            <a:endParaRPr lang="en-US" sz="1300" dirty="0"/>
          </a:p>
          <a:p>
            <a:pPr algn="ctr"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un seul noyau, partagé par tous les conteneurs</a:t>
            </a:r>
            <a:endParaRPr lang="en-US" sz="1300" dirty="0"/>
          </a:p>
        </p:txBody>
      </p:sp>
      <p:sp>
        <p:nvSpPr>
          <p:cNvPr id="26" name="Text 24"/>
          <p:cNvSpPr/>
          <p:nvPr/>
        </p:nvSpPr>
        <p:spPr>
          <a:xfrm>
            <a:off x="6400800" y="4762500"/>
            <a:ext cx="4978400" cy="452120"/>
          </a:xfrm>
          <a:prstGeom prst="roundRect">
            <a:avLst>
              <a:gd name="adj" fmla="val 16854"/>
            </a:avLst>
          </a:prstGeom>
          <a:solidFill>
            <a:srgbClr val="E4E2EE"/>
          </a:solidFill>
          <a:ln/>
        </p:spPr>
        <p:txBody>
          <a:bodyPr wrap="square" lIns="7654" tIns="79282" rIns="7654" bIns="53882" rtlCol="0" anchor="t">
            <a:normAutofit/>
          </a:bodyPr>
          <a:lstStyle/>
          <a:p>
            <a:pPr algn="ct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Serveur physique</a:t>
            </a:r>
            <a:endParaRPr lang="en-US" sz="1400" dirty="0"/>
          </a:p>
        </p:txBody>
      </p:sp>
      <p:sp>
        <p:nvSpPr>
          <p:cNvPr id="27" name="Text 25"/>
          <p:cNvSpPr/>
          <p:nvPr/>
        </p:nvSpPr>
        <p:spPr>
          <a:xfrm>
            <a:off x="6326124" y="5379721"/>
            <a:ext cx="5127752" cy="4876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Isolation par le noyau : namespaces et cgroups.</a:t>
            </a:r>
            <a:endParaRPr lang="en-US" sz="1300" dirty="0"/>
          </a:p>
          <a:p>
            <a:pPr algn="ct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Quelques Mo, démarrage en une seconde.</a:t>
            </a:r>
            <a:endParaRPr lang="en-US" sz="1300" dirty="0"/>
          </a:p>
        </p:txBody>
      </p:sp>
      <p:pic>
        <p:nvPicPr>
          <p:cNvPr id="28"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9" name="Text 2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0" name="Image 1" descr="Parcours : module 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01 · DES CONTENEURS À L'ORCHESTRATION</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Un conteneur n'est qu'un processus</a:t>
            </a:r>
            <a:endParaRPr lang="en-US" sz="2800" dirty="0"/>
          </a:p>
        </p:txBody>
      </p:sp>
      <p:sp>
        <p:nvSpPr>
          <p:cNvPr id="4" name="Text 2"/>
          <p:cNvSpPr/>
          <p:nvPr/>
        </p:nvSpPr>
        <p:spPr>
          <a:xfrm>
            <a:off x="812800" y="156972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Pas d'objet « conteneur » dans le noyau Linux : un processus ordinaire, plus trois mécanismes.</a:t>
            </a:r>
            <a:endParaRPr lang="en-US" sz="1500" dirty="0"/>
          </a:p>
        </p:txBody>
      </p:sp>
      <p:sp>
        <p:nvSpPr>
          <p:cNvPr id="5" name="Shape 3"/>
          <p:cNvSpPr/>
          <p:nvPr/>
        </p:nvSpPr>
        <p:spPr>
          <a:xfrm>
            <a:off x="815975" y="2068196"/>
            <a:ext cx="3397250" cy="2700020"/>
          </a:xfrm>
          <a:prstGeom prst="roundRect">
            <a:avLst>
              <a:gd name="adj" fmla="val 4586"/>
            </a:avLst>
          </a:prstGeom>
          <a:solidFill>
            <a:srgbClr val="FDFDFF"/>
          </a:solidFill>
          <a:ln w="6350">
            <a:solidFill>
              <a:srgbClr val="E1DFEE"/>
            </a:solidFill>
            <a:prstDash val="solid"/>
          </a:ln>
        </p:spPr>
      </p:sp>
      <p:sp>
        <p:nvSpPr>
          <p:cNvPr id="6" name="Text 4"/>
          <p:cNvSpPr/>
          <p:nvPr/>
        </p:nvSpPr>
        <p:spPr>
          <a:xfrm>
            <a:off x="1023091" y="2275309"/>
            <a:ext cx="307250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NAMESPACES</a:t>
            </a:r>
            <a:endParaRPr lang="en-US" sz="1200" dirty="0"/>
          </a:p>
        </p:txBody>
      </p:sp>
      <p:sp>
        <p:nvSpPr>
          <p:cNvPr id="7" name="Text 5"/>
          <p:cNvSpPr/>
          <p:nvPr/>
        </p:nvSpPr>
        <p:spPr>
          <a:xfrm>
            <a:off x="1023091" y="2577573"/>
            <a:ext cx="307250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0748"/>
                </a:solidFill>
                <a:latin typeface="Sora" pitchFamily="34" charset="0"/>
                <a:ea typeface="Sora" pitchFamily="34" charset="-122"/>
                <a:cs typeface="Sora" pitchFamily="34" charset="-120"/>
              </a:rPr>
              <a:t>Sa propre vue du système</a:t>
            </a:r>
            <a:endParaRPr lang="en-US" sz="1700" dirty="0"/>
          </a:p>
        </p:txBody>
      </p:sp>
      <p:sp>
        <p:nvSpPr>
          <p:cNvPr id="8" name="Text 6"/>
          <p:cNvSpPr/>
          <p:nvPr/>
        </p:nvSpPr>
        <p:spPr>
          <a:xfrm>
            <a:off x="1023091" y="2925552"/>
            <a:ext cx="452120" cy="264160"/>
          </a:xfrm>
          <a:prstGeom prst="roundRect">
            <a:avLst>
              <a:gd name="adj" fmla="val 19231"/>
            </a:avLst>
          </a:prstGeom>
          <a:solidFill>
            <a:srgbClr val="ECEAF6"/>
          </a:solidFill>
          <a:ln/>
        </p:spPr>
        <p:txBody>
          <a:bodyPr wrap="none" lIns="0" tIns="0" rIns="0" bIns="0" rtlCol="0" anchor="ctr">
            <a:normAutofit/>
          </a:bodyPr>
          <a:lstStyle/>
          <a:p>
            <a:pPr algn="ctr"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pid</a:t>
            </a:r>
            <a:endParaRPr lang="en-US" sz="1200" dirty="0"/>
          </a:p>
        </p:txBody>
      </p:sp>
      <p:sp>
        <p:nvSpPr>
          <p:cNvPr id="9" name="Text 7"/>
          <p:cNvSpPr/>
          <p:nvPr/>
        </p:nvSpPr>
        <p:spPr>
          <a:xfrm>
            <a:off x="1526011" y="2925552"/>
            <a:ext cx="452120" cy="264160"/>
          </a:xfrm>
          <a:prstGeom prst="roundRect">
            <a:avLst>
              <a:gd name="adj" fmla="val 19231"/>
            </a:avLst>
          </a:prstGeom>
          <a:solidFill>
            <a:srgbClr val="ECEAF6"/>
          </a:solidFill>
          <a:ln/>
        </p:spPr>
        <p:txBody>
          <a:bodyPr wrap="none" lIns="0" tIns="0" rIns="0" bIns="0" rtlCol="0" anchor="ctr">
            <a:normAutofit/>
          </a:bodyPr>
          <a:lstStyle/>
          <a:p>
            <a:pPr algn="ctr"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net</a:t>
            </a:r>
            <a:endParaRPr lang="en-US" sz="1200" dirty="0"/>
          </a:p>
        </p:txBody>
      </p:sp>
      <p:sp>
        <p:nvSpPr>
          <p:cNvPr id="10" name="Text 8"/>
          <p:cNvSpPr/>
          <p:nvPr/>
        </p:nvSpPr>
        <p:spPr>
          <a:xfrm>
            <a:off x="2028931" y="2925552"/>
            <a:ext cx="452120" cy="264160"/>
          </a:xfrm>
          <a:prstGeom prst="roundRect">
            <a:avLst>
              <a:gd name="adj" fmla="val 19231"/>
            </a:avLst>
          </a:prstGeom>
          <a:solidFill>
            <a:srgbClr val="ECEAF6"/>
          </a:solidFill>
          <a:ln/>
        </p:spPr>
        <p:txBody>
          <a:bodyPr wrap="none" lIns="0" tIns="0" rIns="0" bIns="0" rtlCol="0" anchor="ctr">
            <a:normAutofit/>
          </a:bodyPr>
          <a:lstStyle/>
          <a:p>
            <a:pPr algn="ctr"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mnt</a:t>
            </a:r>
            <a:endParaRPr lang="en-US" sz="1200" dirty="0"/>
          </a:p>
        </p:txBody>
      </p:sp>
      <p:sp>
        <p:nvSpPr>
          <p:cNvPr id="11" name="Text 9"/>
          <p:cNvSpPr/>
          <p:nvPr/>
        </p:nvSpPr>
        <p:spPr>
          <a:xfrm>
            <a:off x="2531851" y="2925552"/>
            <a:ext cx="452120" cy="264160"/>
          </a:xfrm>
          <a:prstGeom prst="roundRect">
            <a:avLst>
              <a:gd name="adj" fmla="val 19231"/>
            </a:avLst>
          </a:prstGeom>
          <a:solidFill>
            <a:srgbClr val="ECEAF6"/>
          </a:solidFill>
          <a:ln/>
        </p:spPr>
        <p:txBody>
          <a:bodyPr wrap="none" lIns="0" tIns="0" rIns="0" bIns="0" rtlCol="0" anchor="ctr">
            <a:normAutofit/>
          </a:bodyPr>
          <a:lstStyle/>
          <a:p>
            <a:pPr algn="ctr"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uts</a:t>
            </a:r>
            <a:endParaRPr lang="en-US" sz="1200" dirty="0"/>
          </a:p>
        </p:txBody>
      </p:sp>
      <p:sp>
        <p:nvSpPr>
          <p:cNvPr id="12" name="Text 10"/>
          <p:cNvSpPr/>
          <p:nvPr/>
        </p:nvSpPr>
        <p:spPr>
          <a:xfrm>
            <a:off x="3034771" y="2925552"/>
            <a:ext cx="452120" cy="264160"/>
          </a:xfrm>
          <a:prstGeom prst="roundRect">
            <a:avLst>
              <a:gd name="adj" fmla="val 19231"/>
            </a:avLst>
          </a:prstGeom>
          <a:solidFill>
            <a:srgbClr val="ECEAF6"/>
          </a:solidFill>
          <a:ln/>
        </p:spPr>
        <p:txBody>
          <a:bodyPr wrap="none" lIns="0" tIns="0" rIns="0" bIns="0" rtlCol="0" anchor="ctr">
            <a:normAutofit/>
          </a:bodyPr>
          <a:lstStyle/>
          <a:p>
            <a:pPr algn="ctr"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ipc</a:t>
            </a:r>
            <a:endParaRPr lang="en-US" sz="1200" dirty="0"/>
          </a:p>
        </p:txBody>
      </p:sp>
      <p:sp>
        <p:nvSpPr>
          <p:cNvPr id="13" name="Text 11"/>
          <p:cNvSpPr/>
          <p:nvPr/>
        </p:nvSpPr>
        <p:spPr>
          <a:xfrm>
            <a:off x="1023091" y="3240509"/>
            <a:ext cx="543560" cy="264160"/>
          </a:xfrm>
          <a:prstGeom prst="roundRect">
            <a:avLst>
              <a:gd name="adj" fmla="val 19231"/>
            </a:avLst>
          </a:prstGeom>
          <a:solidFill>
            <a:srgbClr val="ECEAF6"/>
          </a:solidFill>
          <a:ln/>
        </p:spPr>
        <p:txBody>
          <a:bodyPr wrap="none" lIns="0" tIns="0" rIns="0" bIns="0" rtlCol="0" anchor="ctr">
            <a:normAutofit/>
          </a:bodyPr>
          <a:lstStyle/>
          <a:p>
            <a:pPr algn="ctr"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user</a:t>
            </a:r>
            <a:endParaRPr lang="en-US" sz="1200" dirty="0"/>
          </a:p>
        </p:txBody>
      </p:sp>
      <p:sp>
        <p:nvSpPr>
          <p:cNvPr id="14" name="Text 12"/>
          <p:cNvSpPr/>
          <p:nvPr/>
        </p:nvSpPr>
        <p:spPr>
          <a:xfrm>
            <a:off x="1617451" y="3240509"/>
            <a:ext cx="726440" cy="264160"/>
          </a:xfrm>
          <a:prstGeom prst="roundRect">
            <a:avLst>
              <a:gd name="adj" fmla="val 19231"/>
            </a:avLst>
          </a:prstGeom>
          <a:solidFill>
            <a:srgbClr val="ECEAF6"/>
          </a:solidFill>
          <a:ln/>
        </p:spPr>
        <p:txBody>
          <a:bodyPr wrap="none" lIns="0" tIns="0" rIns="0" bIns="0" rtlCol="0" anchor="ctr">
            <a:normAutofit/>
          </a:bodyPr>
          <a:lstStyle/>
          <a:p>
            <a:pPr algn="ctr"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cgroup</a:t>
            </a:r>
            <a:endParaRPr lang="en-US" sz="1200" dirty="0"/>
          </a:p>
        </p:txBody>
      </p:sp>
      <p:sp>
        <p:nvSpPr>
          <p:cNvPr id="15" name="Text 13"/>
          <p:cNvSpPr/>
          <p:nvPr/>
        </p:nvSpPr>
        <p:spPr>
          <a:xfrm>
            <a:off x="1023091" y="3593573"/>
            <a:ext cx="307250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Processus, réseau, montages, nom d'hôte… Le conteneur voit son processus principal comme PID 1.</a:t>
            </a:r>
            <a:endParaRPr lang="en-US" sz="1400" dirty="0"/>
          </a:p>
        </p:txBody>
      </p:sp>
      <p:sp>
        <p:nvSpPr>
          <p:cNvPr id="16" name="Shape 14"/>
          <p:cNvSpPr/>
          <p:nvPr/>
        </p:nvSpPr>
        <p:spPr>
          <a:xfrm>
            <a:off x="4397375" y="2068196"/>
            <a:ext cx="3397250" cy="2700020"/>
          </a:xfrm>
          <a:prstGeom prst="roundRect">
            <a:avLst>
              <a:gd name="adj" fmla="val 4586"/>
            </a:avLst>
          </a:prstGeom>
          <a:solidFill>
            <a:srgbClr val="FDFDFF"/>
          </a:solidFill>
          <a:ln w="6350">
            <a:solidFill>
              <a:srgbClr val="E1DFEE"/>
            </a:solidFill>
            <a:prstDash val="solid"/>
          </a:ln>
        </p:spPr>
      </p:sp>
      <p:sp>
        <p:nvSpPr>
          <p:cNvPr id="17" name="Text 15"/>
          <p:cNvSpPr/>
          <p:nvPr/>
        </p:nvSpPr>
        <p:spPr>
          <a:xfrm>
            <a:off x="4604491" y="2275309"/>
            <a:ext cx="307250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CGROUPS</a:t>
            </a:r>
            <a:endParaRPr lang="en-US" sz="1200" dirty="0"/>
          </a:p>
        </p:txBody>
      </p:sp>
      <p:sp>
        <p:nvSpPr>
          <p:cNvPr id="18" name="Text 16"/>
          <p:cNvSpPr/>
          <p:nvPr/>
        </p:nvSpPr>
        <p:spPr>
          <a:xfrm>
            <a:off x="4604491" y="2577573"/>
            <a:ext cx="307250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0748"/>
                </a:solidFill>
                <a:latin typeface="Sora" pitchFamily="34" charset="0"/>
                <a:ea typeface="Sora" pitchFamily="34" charset="-122"/>
                <a:cs typeface="Sora" pitchFamily="34" charset="-120"/>
              </a:rPr>
              <a:t>Limiter et mesurer</a:t>
            </a:r>
            <a:endParaRPr lang="en-US" sz="1700" dirty="0"/>
          </a:p>
        </p:txBody>
      </p:sp>
      <p:sp>
        <p:nvSpPr>
          <p:cNvPr id="19" name="Text 17"/>
          <p:cNvSpPr/>
          <p:nvPr/>
        </p:nvSpPr>
        <p:spPr>
          <a:xfrm>
            <a:off x="4604491" y="2925552"/>
            <a:ext cx="307250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CPU, mémoire, entrées-sorties, nombre de processus : la base des requests et limits (module 11).</a:t>
            </a:r>
            <a:endParaRPr lang="en-US" sz="1400" dirty="0"/>
          </a:p>
        </p:txBody>
      </p:sp>
      <p:sp>
        <p:nvSpPr>
          <p:cNvPr id="20" name="Text 18"/>
          <p:cNvSpPr/>
          <p:nvPr/>
        </p:nvSpPr>
        <p:spPr>
          <a:xfrm>
            <a:off x="4604491" y="3761209"/>
            <a:ext cx="307250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Ubuntu 24.04 utilise les cgroups v2. Depuis la 1.35, le kubelet refuse par défaut un nœud en cgroups v1.</a:t>
            </a:r>
            <a:endParaRPr lang="en-US" sz="1300" dirty="0"/>
          </a:p>
        </p:txBody>
      </p:sp>
      <p:sp>
        <p:nvSpPr>
          <p:cNvPr id="21" name="Shape 19"/>
          <p:cNvSpPr/>
          <p:nvPr/>
        </p:nvSpPr>
        <p:spPr>
          <a:xfrm>
            <a:off x="7978775" y="2068196"/>
            <a:ext cx="3397250" cy="2700020"/>
          </a:xfrm>
          <a:prstGeom prst="roundRect">
            <a:avLst>
              <a:gd name="adj" fmla="val 4586"/>
            </a:avLst>
          </a:prstGeom>
          <a:solidFill>
            <a:srgbClr val="FDFDFF"/>
          </a:solidFill>
          <a:ln w="6350">
            <a:solidFill>
              <a:srgbClr val="E1DFEE"/>
            </a:solidFill>
            <a:prstDash val="solid"/>
          </a:ln>
        </p:spPr>
      </p:sp>
      <p:sp>
        <p:nvSpPr>
          <p:cNvPr id="22" name="Text 20"/>
          <p:cNvSpPr/>
          <p:nvPr/>
        </p:nvSpPr>
        <p:spPr>
          <a:xfrm>
            <a:off x="8185891" y="2275309"/>
            <a:ext cx="307250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OVERLAYFS</a:t>
            </a:r>
            <a:endParaRPr lang="en-US" sz="1200" dirty="0"/>
          </a:p>
        </p:txBody>
      </p:sp>
      <p:sp>
        <p:nvSpPr>
          <p:cNvPr id="23" name="Text 21"/>
          <p:cNvSpPr/>
          <p:nvPr/>
        </p:nvSpPr>
        <p:spPr>
          <a:xfrm>
            <a:off x="8185891" y="2577573"/>
            <a:ext cx="307250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0748"/>
                </a:solidFill>
                <a:latin typeface="Sora" pitchFamily="34" charset="0"/>
                <a:ea typeface="Sora" pitchFamily="34" charset="-122"/>
                <a:cs typeface="Sora" pitchFamily="34" charset="-120"/>
              </a:rPr>
              <a:t>Des fichiers en couches</a:t>
            </a:r>
            <a:endParaRPr lang="en-US" sz="1700" dirty="0"/>
          </a:p>
        </p:txBody>
      </p:sp>
      <p:sp>
        <p:nvSpPr>
          <p:cNvPr id="24" name="Text 22"/>
          <p:cNvSpPr/>
          <p:nvPr/>
        </p:nvSpPr>
        <p:spPr>
          <a:xfrm>
            <a:off x="8185891" y="2925552"/>
            <a:ext cx="307250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Les couches de l'image, en lecture seule, plus une couche inscriptible propre au conteneur.</a:t>
            </a:r>
            <a:endParaRPr lang="en-US" sz="1400" dirty="0"/>
          </a:p>
        </p:txBody>
      </p:sp>
      <p:sp>
        <p:nvSpPr>
          <p:cNvPr id="25" name="Text 23"/>
          <p:cNvSpPr/>
          <p:nvPr/>
        </p:nvSpPr>
        <p:spPr>
          <a:xfrm>
            <a:off x="8185891" y="3761209"/>
            <a:ext cx="307250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Ce qu'il écrit disparaît avec lui : d'où les volumes (module 16).</a:t>
            </a:r>
            <a:endParaRPr lang="en-US" sz="1300" dirty="0"/>
          </a:p>
        </p:txBody>
      </p:sp>
      <p:sp>
        <p:nvSpPr>
          <p:cNvPr id="26" name="Text 24"/>
          <p:cNvSpPr/>
          <p:nvPr/>
        </p:nvSpPr>
        <p:spPr>
          <a:xfrm>
            <a:off x="812800" y="4999992"/>
            <a:ext cx="10566400" cy="842010"/>
          </a:xfrm>
          <a:prstGeom prst="roundRect">
            <a:avLst>
              <a:gd name="adj" fmla="val 12066"/>
            </a:avLst>
          </a:prstGeom>
          <a:solidFill>
            <a:srgbClr val="0B0748"/>
          </a:solidFill>
          <a:ln/>
        </p:spPr>
        <p:txBody>
          <a:bodyPr wrap="none" lIns="173442" tIns="135342" rIns="0" bIns="109942" rtlCol="0" anchor="t">
            <a:normAutofit/>
          </a:bodyPr>
          <a:lstStyle/>
          <a:p>
            <a:pPr algn="l" indent="0" marL="0">
              <a:lnSpc>
                <a:spcPts val="2015"/>
              </a:lnSpc>
              <a:buNone/>
            </a:pPr>
            <a:r>
              <a:rPr lang="en-US" sz="1300" dirty="0">
                <a:solidFill>
                  <a:srgbClr val="ECEAFF"/>
                </a:solidFill>
                <a:latin typeface="JetBrains Mono" pitchFamily="49" charset="0"/>
                <a:ea typeface="JetBrains Mono" pitchFamily="49" charset="-122"/>
                <a:cs typeface="JetBrains Mono" pitchFamily="49" charset="-120"/>
              </a:rPr>
              <a:t>sudo unshare --pid --fork --mount-proc bash  </a:t>
            </a:r>
            <a:r>
              <a:rPr lang="en-US" sz="1300" dirty="0">
                <a:solidFill>
                  <a:srgbClr val="9A96D0"/>
                </a:solidFill>
                <a:latin typeface="JetBrains Mono" pitchFamily="49" charset="0"/>
                <a:ea typeface="JetBrains Mono" pitchFamily="49" charset="-122"/>
                <a:cs typeface="JetBrains Mono" pitchFamily="49" charset="-120"/>
              </a:rPr>
              <a:t># nouveau namespace pid</a:t>
            </a:r>
            <a:endParaRPr lang="en-US" sz="1300" dirty="0"/>
          </a:p>
          <a:p>
            <a:pPr algn="l" indent="0" marL="0">
              <a:lnSpc>
                <a:spcPts val="2015"/>
              </a:lnSpc>
              <a:buNone/>
            </a:pPr>
            <a:r>
              <a:rPr lang="en-US" sz="1300" dirty="0">
                <a:solidFill>
                  <a:srgbClr val="ECEAFF"/>
                </a:solidFill>
                <a:latin typeface="JetBrains Mono" pitchFamily="49" charset="0"/>
                <a:ea typeface="JetBrains Mono" pitchFamily="49" charset="-122"/>
                <a:cs typeface="JetBrains Mono" pitchFamily="49" charset="-120"/>
              </a:rPr>
              <a:t>ps aux  </a:t>
            </a:r>
            <a:r>
              <a:rPr lang="en-US" sz="1300" dirty="0">
                <a:solidFill>
                  <a:srgbClr val="9A96D0"/>
                </a:solidFill>
                <a:latin typeface="JetBrains Mono" pitchFamily="49" charset="0"/>
                <a:ea typeface="JetBrains Mono" pitchFamily="49" charset="-122"/>
                <a:cs typeface="JetBrains Mono" pitchFamily="49" charset="-120"/>
              </a:rPr>
              <a:t># seuls bash et ps apparaissent, bash a le PID 1</a:t>
            </a:r>
            <a:endParaRPr lang="en-US" sz="1300" dirty="0"/>
          </a:p>
        </p:txBody>
      </p:sp>
      <p:pic>
        <p:nvPicPr>
          <p:cNvPr id="27"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8" name="Text 25"/>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9" name="Image 1" descr="Parcours : module 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01 · DES CONTENEURS À L'ORCHESTRATION</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Images et registres</a:t>
            </a:r>
            <a:endParaRPr lang="en-US" sz="2800" dirty="0"/>
          </a:p>
        </p:txBody>
      </p:sp>
      <p:sp>
        <p:nvSpPr>
          <p:cNvPr id="4" name="Text 2"/>
          <p:cNvSpPr/>
          <p:nvPr/>
        </p:nvSpPr>
        <p:spPr>
          <a:xfrm>
            <a:off x="812800" y="1569721"/>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Une image : des couches de fichiers en lecture seule et une configuration. Son format, standardisé par l'OCI, la rend portable entre Docker, containerd, CRI-O et Podman.</a:t>
            </a:r>
            <a:endParaRPr lang="en-US" sz="1500" dirty="0"/>
          </a:p>
        </p:txBody>
      </p:sp>
      <p:sp>
        <p:nvSpPr>
          <p:cNvPr id="5" name="Shape 3"/>
          <p:cNvSpPr/>
          <p:nvPr/>
        </p:nvSpPr>
        <p:spPr>
          <a:xfrm>
            <a:off x="815975" y="2334896"/>
            <a:ext cx="10560050" cy="1056852"/>
          </a:xfrm>
          <a:prstGeom prst="roundRect">
            <a:avLst>
              <a:gd name="adj" fmla="val 11716"/>
            </a:avLst>
          </a:prstGeom>
          <a:solidFill>
            <a:srgbClr val="FDFDFF"/>
          </a:solidFill>
          <a:ln w="6350">
            <a:solidFill>
              <a:srgbClr val="E1DFEE"/>
            </a:solidFill>
            <a:prstDash val="solid"/>
          </a:ln>
        </p:spPr>
      </p:sp>
      <p:sp>
        <p:nvSpPr>
          <p:cNvPr id="6" name="Text 4"/>
          <p:cNvSpPr/>
          <p:nvPr/>
        </p:nvSpPr>
        <p:spPr>
          <a:xfrm>
            <a:off x="2136140" y="2542009"/>
            <a:ext cx="126238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B0748"/>
                </a:solidFill>
                <a:latin typeface="JetBrains Mono" pitchFamily="49" charset="0"/>
                <a:ea typeface="JetBrains Mono" pitchFamily="49" charset="-122"/>
                <a:cs typeface="JetBrains Mono" pitchFamily="49" charset="-120"/>
              </a:rPr>
              <a:t>ghcr.io</a:t>
            </a:r>
            <a:endParaRPr lang="en-US" sz="2200" dirty="0"/>
          </a:p>
        </p:txBody>
      </p:sp>
      <p:sp>
        <p:nvSpPr>
          <p:cNvPr id="7" name="Text 5"/>
          <p:cNvSpPr/>
          <p:nvPr/>
        </p:nvSpPr>
        <p:spPr>
          <a:xfrm>
            <a:off x="2219960" y="2971273"/>
            <a:ext cx="1005840" cy="23876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REGISTRE</a:t>
            </a:r>
            <a:endParaRPr lang="en-US" sz="1200" dirty="0"/>
          </a:p>
        </p:txBody>
      </p:sp>
      <p:sp>
        <p:nvSpPr>
          <p:cNvPr id="8" name="Text 6"/>
          <p:cNvSpPr/>
          <p:nvPr/>
        </p:nvSpPr>
        <p:spPr>
          <a:xfrm>
            <a:off x="3398520" y="2542009"/>
            <a:ext cx="21844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6A3C6"/>
                </a:solidFill>
                <a:latin typeface="JetBrains Mono" pitchFamily="49" charset="0"/>
                <a:ea typeface="JetBrains Mono" pitchFamily="49" charset="-122"/>
                <a:cs typeface="JetBrains Mono" pitchFamily="49" charset="-120"/>
              </a:rPr>
              <a:t>/</a:t>
            </a:r>
            <a:endParaRPr lang="en-US" sz="2200" dirty="0"/>
          </a:p>
        </p:txBody>
      </p:sp>
      <p:sp>
        <p:nvSpPr>
          <p:cNvPr id="9" name="Text 7"/>
          <p:cNvSpPr/>
          <p:nvPr/>
        </p:nvSpPr>
        <p:spPr>
          <a:xfrm>
            <a:off x="3655060" y="2542009"/>
            <a:ext cx="210058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B0748"/>
                </a:solidFill>
                <a:latin typeface="JetBrains Mono" pitchFamily="49" charset="0"/>
                <a:ea typeface="JetBrains Mono" pitchFamily="49" charset="-122"/>
                <a:cs typeface="JetBrains Mono" pitchFamily="49" charset="-120"/>
              </a:rPr>
              <a:t>stefanprodan</a:t>
            </a:r>
            <a:endParaRPr lang="en-US" sz="2200" dirty="0"/>
          </a:p>
        </p:txBody>
      </p:sp>
      <p:sp>
        <p:nvSpPr>
          <p:cNvPr id="10" name="Text 8"/>
          <p:cNvSpPr/>
          <p:nvPr/>
        </p:nvSpPr>
        <p:spPr>
          <a:xfrm>
            <a:off x="4279021" y="2971273"/>
            <a:ext cx="763651" cy="23876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ESPACE</a:t>
            </a:r>
            <a:endParaRPr lang="en-US" sz="1200" dirty="0"/>
          </a:p>
        </p:txBody>
      </p:sp>
      <p:sp>
        <p:nvSpPr>
          <p:cNvPr id="11" name="Text 9"/>
          <p:cNvSpPr/>
          <p:nvPr/>
        </p:nvSpPr>
        <p:spPr>
          <a:xfrm>
            <a:off x="5755640" y="2542009"/>
            <a:ext cx="21844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6A3C6"/>
                </a:solidFill>
                <a:latin typeface="JetBrains Mono" pitchFamily="49" charset="0"/>
                <a:ea typeface="JetBrains Mono" pitchFamily="49" charset="-122"/>
                <a:cs typeface="JetBrains Mono" pitchFamily="49" charset="-120"/>
              </a:rPr>
              <a:t>/</a:t>
            </a:r>
            <a:endParaRPr lang="en-US" sz="2200" dirty="0"/>
          </a:p>
        </p:txBody>
      </p:sp>
      <p:sp>
        <p:nvSpPr>
          <p:cNvPr id="12" name="Text 10"/>
          <p:cNvSpPr/>
          <p:nvPr/>
        </p:nvSpPr>
        <p:spPr>
          <a:xfrm>
            <a:off x="6012180" y="2542009"/>
            <a:ext cx="126238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B0748"/>
                </a:solidFill>
                <a:latin typeface="JetBrains Mono" pitchFamily="49" charset="0"/>
                <a:ea typeface="JetBrains Mono" pitchFamily="49" charset="-122"/>
                <a:cs typeface="JetBrains Mono" pitchFamily="49" charset="-120"/>
              </a:rPr>
              <a:t>podinfo</a:t>
            </a:r>
            <a:endParaRPr lang="en-US" sz="2200" dirty="0"/>
          </a:p>
        </p:txBody>
      </p:sp>
      <p:sp>
        <p:nvSpPr>
          <p:cNvPr id="13" name="Text 11"/>
          <p:cNvSpPr/>
          <p:nvPr/>
        </p:nvSpPr>
        <p:spPr>
          <a:xfrm>
            <a:off x="6370574" y="2971273"/>
            <a:ext cx="456692" cy="23876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NOM</a:t>
            </a:r>
            <a:endParaRPr lang="en-US" sz="1200" dirty="0"/>
          </a:p>
        </p:txBody>
      </p:sp>
      <p:sp>
        <p:nvSpPr>
          <p:cNvPr id="14" name="Text 12"/>
          <p:cNvSpPr/>
          <p:nvPr/>
        </p:nvSpPr>
        <p:spPr>
          <a:xfrm>
            <a:off x="7274560" y="2542009"/>
            <a:ext cx="21844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6A3C6"/>
                </a:solidFill>
                <a:latin typeface="JetBrains Mono" pitchFamily="49" charset="0"/>
                <a:ea typeface="JetBrains Mono" pitchFamily="49" charset="-122"/>
                <a:cs typeface="JetBrains Mono" pitchFamily="49" charset="-120"/>
              </a:rPr>
              <a:t>:</a:t>
            </a:r>
            <a:endParaRPr lang="en-US" sz="2200" dirty="0"/>
          </a:p>
        </p:txBody>
      </p:sp>
      <p:sp>
        <p:nvSpPr>
          <p:cNvPr id="15" name="Text 13"/>
          <p:cNvSpPr/>
          <p:nvPr/>
        </p:nvSpPr>
        <p:spPr>
          <a:xfrm>
            <a:off x="7531100" y="2542009"/>
            <a:ext cx="9271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B0748"/>
                </a:solidFill>
                <a:latin typeface="JetBrains Mono" pitchFamily="49" charset="0"/>
                <a:ea typeface="JetBrains Mono" pitchFamily="49" charset="-122"/>
                <a:cs typeface="JetBrains Mono" pitchFamily="49" charset="-120"/>
              </a:rPr>
              <a:t>6.7.0</a:t>
            </a:r>
            <a:endParaRPr lang="en-US" sz="2200" dirty="0"/>
          </a:p>
        </p:txBody>
      </p:sp>
      <p:sp>
        <p:nvSpPr>
          <p:cNvPr id="16" name="Text 14"/>
          <p:cNvSpPr/>
          <p:nvPr/>
        </p:nvSpPr>
        <p:spPr>
          <a:xfrm>
            <a:off x="7756017" y="2971273"/>
            <a:ext cx="388366" cy="23876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TAG</a:t>
            </a:r>
            <a:endParaRPr lang="en-US" sz="1200" dirty="0"/>
          </a:p>
        </p:txBody>
      </p:sp>
      <p:sp>
        <p:nvSpPr>
          <p:cNvPr id="17" name="Text 15"/>
          <p:cNvSpPr/>
          <p:nvPr/>
        </p:nvSpPr>
        <p:spPr>
          <a:xfrm>
            <a:off x="8458200" y="2542009"/>
            <a:ext cx="21844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6A3C6"/>
                </a:solidFill>
                <a:latin typeface="JetBrains Mono" pitchFamily="49" charset="0"/>
                <a:ea typeface="JetBrains Mono" pitchFamily="49" charset="-122"/>
                <a:cs typeface="JetBrains Mono" pitchFamily="49" charset="-120"/>
              </a:rPr>
              <a:t>@</a:t>
            </a:r>
            <a:endParaRPr lang="en-US" sz="2200" dirty="0"/>
          </a:p>
        </p:txBody>
      </p:sp>
      <p:sp>
        <p:nvSpPr>
          <p:cNvPr id="18" name="Text 16"/>
          <p:cNvSpPr/>
          <p:nvPr/>
        </p:nvSpPr>
        <p:spPr>
          <a:xfrm>
            <a:off x="8714740" y="2542009"/>
            <a:ext cx="160934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B0748"/>
                </a:solidFill>
                <a:latin typeface="JetBrains Mono" pitchFamily="49" charset="0"/>
                <a:ea typeface="JetBrains Mono" pitchFamily="49" charset="-122"/>
                <a:cs typeface="JetBrains Mono" pitchFamily="49" charset="-120"/>
              </a:rPr>
              <a:t>sha256:…</a:t>
            </a:r>
            <a:endParaRPr lang="en-US" sz="2200" dirty="0"/>
          </a:p>
        </p:txBody>
      </p:sp>
      <p:sp>
        <p:nvSpPr>
          <p:cNvPr id="19" name="Text 17"/>
          <p:cNvSpPr/>
          <p:nvPr/>
        </p:nvSpPr>
        <p:spPr>
          <a:xfrm>
            <a:off x="8800719" y="2971273"/>
            <a:ext cx="1169162" cy="23876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EMPREINTE</a:t>
            </a:r>
            <a:endParaRPr lang="en-US" sz="1200" dirty="0"/>
          </a:p>
        </p:txBody>
      </p:sp>
      <p:sp>
        <p:nvSpPr>
          <p:cNvPr id="20" name="Shape 18"/>
          <p:cNvSpPr/>
          <p:nvPr/>
        </p:nvSpPr>
        <p:spPr>
          <a:xfrm>
            <a:off x="815975" y="3626700"/>
            <a:ext cx="3401907" cy="2212128"/>
          </a:xfrm>
          <a:prstGeom prst="roundRect">
            <a:avLst>
              <a:gd name="adj" fmla="val 5598"/>
            </a:avLst>
          </a:prstGeom>
          <a:solidFill>
            <a:srgbClr val="FDFDFF"/>
          </a:solidFill>
          <a:ln w="6350">
            <a:solidFill>
              <a:srgbClr val="E1DFEE"/>
            </a:solidFill>
            <a:prstDash val="solid"/>
          </a:ln>
        </p:spPr>
      </p:sp>
      <p:sp>
        <p:nvSpPr>
          <p:cNvPr id="21" name="Text 19"/>
          <p:cNvSpPr/>
          <p:nvPr/>
        </p:nvSpPr>
        <p:spPr>
          <a:xfrm>
            <a:off x="1023091" y="3833812"/>
            <a:ext cx="30773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0748"/>
                </a:solidFill>
                <a:latin typeface="Sora" pitchFamily="34" charset="0"/>
                <a:ea typeface="Sora" pitchFamily="34" charset="-122"/>
                <a:cs typeface="Sora" pitchFamily="34" charset="-120"/>
              </a:rPr>
              <a:t>Sans registre : Docker Hub</a:t>
            </a:r>
            <a:endParaRPr lang="en-US" sz="1600" dirty="0"/>
          </a:p>
        </p:txBody>
      </p:sp>
      <p:sp>
        <p:nvSpPr>
          <p:cNvPr id="22" name="Text 20"/>
          <p:cNvSpPr/>
          <p:nvPr/>
        </p:nvSpPr>
        <p:spPr>
          <a:xfrm>
            <a:off x="1023091" y="4166555"/>
            <a:ext cx="3077305" cy="10210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F3C6B"/>
                </a:solidFill>
                <a:latin typeface="IBM Plex Sans" pitchFamily="34" charset="0"/>
                <a:ea typeface="IBM Plex Sans" pitchFamily="34" charset="-122"/>
                <a:cs typeface="IBM Plex Sans" pitchFamily="34" charset="-120"/>
              </a:rPr>
              <a:t>nginx</a:t>
            </a:r>
            <a:r>
              <a:rPr lang="en-US" sz="1400" dirty="0">
                <a:solidFill>
                  <a:srgbClr val="3F3C6B"/>
                </a:solidFill>
                <a:latin typeface="IBM Plex Sans" pitchFamily="34" charset="0"/>
                <a:ea typeface="IBM Plex Sans" pitchFamily="34" charset="-122"/>
                <a:cs typeface="IBM Plex Sans" pitchFamily="34" charset="-120"/>
              </a:rPr>
              <a:t> signifie docker.io/library/nginx:latest. Autres registres : ghcr.io, quay.io, registry.k8s.io, Harbor, GitLab.</a:t>
            </a:r>
            <a:endParaRPr lang="en-US" sz="1400" dirty="0"/>
          </a:p>
        </p:txBody>
      </p:sp>
      <p:sp>
        <p:nvSpPr>
          <p:cNvPr id="23" name="Shape 21"/>
          <p:cNvSpPr/>
          <p:nvPr/>
        </p:nvSpPr>
        <p:spPr>
          <a:xfrm>
            <a:off x="4402032" y="3626700"/>
            <a:ext cx="3402013" cy="2212128"/>
          </a:xfrm>
          <a:prstGeom prst="roundRect">
            <a:avLst>
              <a:gd name="adj" fmla="val 5598"/>
            </a:avLst>
          </a:prstGeom>
          <a:solidFill>
            <a:srgbClr val="FDFDFF"/>
          </a:solidFill>
          <a:ln w="6350">
            <a:solidFill>
              <a:srgbClr val="E1DFEE"/>
            </a:solidFill>
            <a:prstDash val="solid"/>
          </a:ln>
        </p:spPr>
      </p:sp>
      <p:sp>
        <p:nvSpPr>
          <p:cNvPr id="24" name="Text 22"/>
          <p:cNvSpPr/>
          <p:nvPr/>
        </p:nvSpPr>
        <p:spPr>
          <a:xfrm>
            <a:off x="4609147" y="3833812"/>
            <a:ext cx="307741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0748"/>
                </a:solidFill>
                <a:latin typeface="Sora" pitchFamily="34" charset="0"/>
                <a:ea typeface="Sora" pitchFamily="34" charset="-122"/>
                <a:cs typeface="Sora" pitchFamily="34" charset="-120"/>
              </a:rPr>
              <a:t>Tag ou empreinte</a:t>
            </a:r>
            <a:endParaRPr lang="en-US" sz="1600" dirty="0"/>
          </a:p>
        </p:txBody>
      </p:sp>
      <p:sp>
        <p:nvSpPr>
          <p:cNvPr id="25" name="Text 23"/>
          <p:cNvSpPr/>
          <p:nvPr/>
        </p:nvSpPr>
        <p:spPr>
          <a:xfrm>
            <a:off x="4609147" y="4166555"/>
            <a:ext cx="3077414"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Un tag est une étiquette déplaçable : 6.7.0 peut être republié. Une empreinte désigne un contenu exact et immuable.</a:t>
            </a:r>
            <a:endParaRPr lang="en-US" sz="1400" dirty="0"/>
          </a:p>
        </p:txBody>
      </p:sp>
      <p:sp>
        <p:nvSpPr>
          <p:cNvPr id="26" name="Shape 24"/>
          <p:cNvSpPr/>
          <p:nvPr/>
        </p:nvSpPr>
        <p:spPr>
          <a:xfrm>
            <a:off x="7985020" y="3623525"/>
            <a:ext cx="3394181" cy="2218478"/>
          </a:xfrm>
          <a:prstGeom prst="roundRect">
            <a:avLst>
              <a:gd name="adj" fmla="val 5725"/>
            </a:avLst>
          </a:prstGeom>
          <a:solidFill>
            <a:srgbClr val="0B0748"/>
          </a:solidFill>
          <a:ln/>
        </p:spPr>
      </p:sp>
      <p:sp>
        <p:nvSpPr>
          <p:cNvPr id="27" name="Text 25"/>
          <p:cNvSpPr/>
          <p:nvPr/>
        </p:nvSpPr>
        <p:spPr>
          <a:xfrm>
            <a:off x="8188220" y="3826725"/>
            <a:ext cx="319098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8F66"/>
                </a:solidFill>
                <a:latin typeface="Sora" pitchFamily="34" charset="0"/>
                <a:ea typeface="Sora" pitchFamily="34" charset="-122"/>
                <a:cs typeface="Sora" pitchFamily="34" charset="-120"/>
              </a:rPr>
              <a:t>Jamais latest en production</a:t>
            </a:r>
            <a:endParaRPr lang="en-US" sz="1600" dirty="0"/>
          </a:p>
        </p:txBody>
      </p:sp>
      <p:sp>
        <p:nvSpPr>
          <p:cNvPr id="28" name="Text 26"/>
          <p:cNvSpPr/>
          <p:nvPr/>
        </p:nvSpPr>
        <p:spPr>
          <a:xfrm>
            <a:off x="8188220" y="4159461"/>
            <a:ext cx="307741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Vous ne savez plus quelle version tourne, et deux nœuds peuvent exécuter des versions différentes.</a:t>
            </a:r>
            <a:endParaRPr lang="en-US" sz="1400" dirty="0"/>
          </a:p>
        </p:txBody>
      </p:sp>
      <p:pic>
        <p:nvPicPr>
          <p:cNvPr id="29"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30" name="Text 2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1" name="Image 1" descr="Parcours : module 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01 · DES CONTENEURS À L'ORCHESTRATION</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Docker, containerd, runc : qui fait quoi</a:t>
            </a:r>
            <a:endParaRPr lang="en-US" sz="2800" dirty="0"/>
          </a:p>
        </p:txBody>
      </p:sp>
      <p:sp>
        <p:nvSpPr>
          <p:cNvPr id="4" name="Text 2"/>
          <p:cNvSpPr/>
          <p:nvPr/>
        </p:nvSpPr>
        <p:spPr>
          <a:xfrm>
            <a:off x="819150" y="1601471"/>
            <a:ext cx="2597891" cy="675852"/>
          </a:xfrm>
          <a:prstGeom prst="roundRect">
            <a:avLst>
              <a:gd name="adj" fmla="val 12214"/>
            </a:avLst>
          </a:prstGeom>
          <a:solidFill>
            <a:srgbClr val="FDFDFF"/>
          </a:solidFill>
          <a:ln w="12700">
            <a:solidFill>
              <a:srgbClr val="A6A3C6"/>
            </a:solidFill>
            <a:prstDash val="dash"/>
          </a:ln>
        </p:spPr>
        <p:txBody>
          <a:bodyPr wrap="square" lIns="94589" tIns="90863" rIns="94589" bIns="65463" rtlCol="0" anchor="t">
            <a:normAutofit/>
          </a:bodyPr>
          <a:lstStyle/>
          <a:p>
            <a:pPr algn="ctr" indent="0" marL="0">
              <a:lnSpc>
                <a:spcPts val="1755"/>
              </a:lnSpc>
              <a:buNone/>
            </a:pPr>
            <a:r>
              <a:rPr lang="en-US" sz="1300" b="1" dirty="0">
                <a:solidFill>
                  <a:srgbClr val="3F3C6B"/>
                </a:solidFill>
                <a:latin typeface="IBM Plex Sans" pitchFamily="34" charset="0"/>
                <a:ea typeface="IBM Plex Sans" pitchFamily="34" charset="-122"/>
                <a:cs typeface="IBM Plex Sans" pitchFamily="34" charset="-120"/>
              </a:rPr>
              <a:t>docker</a:t>
            </a:r>
            <a:r>
              <a:rPr lang="en-US" sz="1300" dirty="0">
                <a:solidFill>
                  <a:srgbClr val="3F3C6B"/>
                </a:solidFill>
                <a:latin typeface="IBM Plex Sans" pitchFamily="34" charset="0"/>
                <a:ea typeface="IBM Plex Sans" pitchFamily="34" charset="-122"/>
                <a:cs typeface="IBM Plex Sans" pitchFamily="34" charset="-120"/>
              </a:rPr>
              <a:t> + </a:t>
            </a:r>
            <a:r>
              <a:rPr lang="en-US" sz="1300" b="1" dirty="0">
                <a:solidFill>
                  <a:srgbClr val="3F3C6B"/>
                </a:solidFill>
                <a:latin typeface="IBM Plex Sans" pitchFamily="34" charset="0"/>
                <a:ea typeface="IBM Plex Sans" pitchFamily="34" charset="-122"/>
                <a:cs typeface="IBM Plex Sans" pitchFamily="34" charset="-120"/>
              </a:rPr>
              <a:t>dockerd</a:t>
            </a:r>
            <a:endParaRPr lang="en-US" sz="1300" dirty="0"/>
          </a:p>
          <a:p>
            <a:pPr algn="ctr"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poste Docker uniquement</a:t>
            </a:r>
            <a:endParaRPr lang="en-US" sz="1300" dirty="0"/>
          </a:p>
        </p:txBody>
      </p:sp>
      <p:sp>
        <p:nvSpPr>
          <p:cNvPr id="5" name="Text 3"/>
          <p:cNvSpPr/>
          <p:nvPr/>
        </p:nvSpPr>
        <p:spPr>
          <a:xfrm>
            <a:off x="3677391" y="1595121"/>
            <a:ext cx="2596409" cy="688552"/>
          </a:xfrm>
          <a:prstGeom prst="roundRect">
            <a:avLst>
              <a:gd name="adj" fmla="val 12911"/>
            </a:avLst>
          </a:prstGeom>
          <a:solidFill>
            <a:srgbClr val="0B0748"/>
          </a:solidFill>
          <a:ln/>
        </p:spPr>
        <p:txBody>
          <a:bodyPr wrap="square" lIns="91988" tIns="88262" rIns="91988" bIns="62862" rtlCol="0" anchor="t">
            <a:normAutofit/>
          </a:bodyPr>
          <a:lstStyle/>
          <a:p>
            <a:pPr algn="ctr" indent="0" marL="0">
              <a:lnSpc>
                <a:spcPts val="1755"/>
              </a:lnSpc>
              <a:buNone/>
            </a:pPr>
            <a:r>
              <a:rPr lang="en-US" sz="1300" b="1" dirty="0">
                <a:solidFill>
                  <a:srgbClr val="ECEAFF"/>
                </a:solidFill>
                <a:latin typeface="IBM Plex Sans" pitchFamily="34" charset="0"/>
                <a:ea typeface="IBM Plex Sans" pitchFamily="34" charset="-122"/>
                <a:cs typeface="IBM Plex Sans" pitchFamily="34" charset="-120"/>
              </a:rPr>
              <a:t>kubelet</a:t>
            </a:r>
            <a:endParaRPr lang="en-US" sz="1300" dirty="0"/>
          </a:p>
          <a:p>
            <a:pPr algn="ctr" indent="0" marL="0">
              <a:lnSpc>
                <a:spcPts val="1755"/>
              </a:lnSpc>
              <a:buNone/>
            </a:pPr>
            <a:r>
              <a:rPr lang="en-US" sz="1300" dirty="0">
                <a:solidFill>
                  <a:srgbClr val="ECEAFF"/>
                </a:solidFill>
                <a:latin typeface="IBM Plex Sans" pitchFamily="34" charset="0"/>
                <a:ea typeface="IBM Plex Sans" pitchFamily="34" charset="-122"/>
                <a:cs typeface="IBM Plex Sans" pitchFamily="34" charset="-120"/>
              </a:rPr>
              <a:t>sur chaque nœud Kubernetes</a:t>
            </a:r>
            <a:endParaRPr lang="en-US" sz="1300" dirty="0"/>
          </a:p>
        </p:txBody>
      </p:sp>
      <p:pic>
        <p:nvPicPr>
          <p:cNvPr id="6" name="Image 0" descr="arrow-down">    </p:cNvPr>
          <p:cNvPicPr>
            <a:picLocks noChangeAspect="1"/>
          </p:cNvPicPr>
          <p:nvPr/>
        </p:nvPicPr>
        <p:blipFill>
          <a:blip r:embed="rId1"/>
          <a:srcRect l="0" r="0" t="0" b="0"/>
          <a:stretch/>
        </p:blipFill>
        <p:spPr>
          <a:xfrm>
            <a:off x="1707409" y="2410675"/>
            <a:ext cx="177800" cy="304800"/>
          </a:xfrm>
          <a:prstGeom prst="rect">
            <a:avLst/>
          </a:prstGeom>
        </p:spPr>
      </p:pic>
      <p:sp>
        <p:nvSpPr>
          <p:cNvPr id="7" name="Text 4"/>
          <p:cNvSpPr/>
          <p:nvPr/>
        </p:nvSpPr>
        <p:spPr>
          <a:xfrm>
            <a:off x="1974109" y="2456390"/>
            <a:ext cx="6569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délègue</a:t>
            </a:r>
            <a:endParaRPr lang="en-US" sz="1200" dirty="0"/>
          </a:p>
        </p:txBody>
      </p:sp>
      <p:pic>
        <p:nvPicPr>
          <p:cNvPr id="8" name="Image 1" descr="arrow-down">    </p:cNvPr>
          <p:cNvPicPr>
            <a:picLocks noChangeAspect="1"/>
          </p:cNvPicPr>
          <p:nvPr/>
        </p:nvPicPr>
        <p:blipFill>
          <a:blip r:embed="rId2"/>
          <a:srcRect l="0" r="0" t="0" b="0"/>
          <a:stretch/>
        </p:blipFill>
        <p:spPr>
          <a:xfrm>
            <a:off x="4516332" y="2410675"/>
            <a:ext cx="177800" cy="304800"/>
          </a:xfrm>
          <a:prstGeom prst="rect">
            <a:avLst/>
          </a:prstGeom>
        </p:spPr>
      </p:pic>
      <p:sp>
        <p:nvSpPr>
          <p:cNvPr id="9" name="Text 5"/>
          <p:cNvSpPr/>
          <p:nvPr/>
        </p:nvSpPr>
        <p:spPr>
          <a:xfrm>
            <a:off x="4783032" y="2456390"/>
            <a:ext cx="7736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via le CRI</a:t>
            </a:r>
            <a:endParaRPr lang="en-US" sz="1200" dirty="0"/>
          </a:p>
        </p:txBody>
      </p:sp>
      <p:sp>
        <p:nvSpPr>
          <p:cNvPr id="10" name="Text 6"/>
          <p:cNvSpPr/>
          <p:nvPr/>
        </p:nvSpPr>
        <p:spPr>
          <a:xfrm>
            <a:off x="819150" y="2848825"/>
            <a:ext cx="5448300" cy="452967"/>
          </a:xfrm>
          <a:prstGeom prst="roundRect">
            <a:avLst>
              <a:gd name="adj" fmla="val 18224"/>
            </a:avLst>
          </a:prstGeom>
          <a:solidFill>
            <a:srgbClr val="FCE6DC"/>
          </a:solidFill>
          <a:ln w="12700">
            <a:solidFill>
              <a:srgbClr val="E25A2C"/>
            </a:solidFill>
            <a:prstDash val="solid"/>
          </a:ln>
        </p:spPr>
        <p:txBody>
          <a:bodyPr wrap="square" lIns="51833" tIns="90863" rIns="51833" bIns="65463" rtlCol="0" anchor="t">
            <a:normAutofit/>
          </a:bodyPr>
          <a:lstStyle/>
          <a:p>
            <a:pPr algn="ctr" indent="0" marL="0">
              <a:lnSpc>
                <a:spcPts val="1755"/>
              </a:lnSpc>
              <a:buNone/>
            </a:pPr>
            <a:r>
              <a:rPr lang="en-US" sz="1300" b="1" dirty="0">
                <a:solidFill>
                  <a:srgbClr val="0B0748"/>
                </a:solidFill>
                <a:latin typeface="IBM Plex Sans" pitchFamily="34" charset="0"/>
                <a:ea typeface="IBM Plex Sans" pitchFamily="34" charset="-122"/>
                <a:cs typeface="IBM Plex Sans" pitchFamily="34" charset="-120"/>
              </a:rPr>
              <a:t>containerd</a:t>
            </a:r>
            <a:r>
              <a:rPr lang="en-US" sz="1300" dirty="0">
                <a:solidFill>
                  <a:srgbClr val="0B0748"/>
                </a:solidFill>
                <a:latin typeface="IBM Plex Sans" pitchFamily="34" charset="0"/>
                <a:ea typeface="IBM Plex Sans" pitchFamily="34" charset="-122"/>
                <a:cs typeface="IBM Plex Sans" pitchFamily="34" charset="-120"/>
              </a:rPr>
              <a:t> · télécharge les images, gère le cycle de vie</a:t>
            </a:r>
            <a:endParaRPr lang="en-US" sz="1300" dirty="0"/>
          </a:p>
        </p:txBody>
      </p:sp>
      <p:pic>
        <p:nvPicPr>
          <p:cNvPr id="11" name="Image 2" descr="arrow-down">    </p:cNvPr>
          <p:cNvPicPr>
            <a:picLocks noChangeAspect="1"/>
          </p:cNvPicPr>
          <p:nvPr/>
        </p:nvPicPr>
        <p:blipFill>
          <a:blip r:embed="rId3"/>
          <a:srcRect l="0" r="0" t="0" b="0"/>
          <a:stretch/>
        </p:blipFill>
        <p:spPr>
          <a:xfrm>
            <a:off x="3225483" y="3435139"/>
            <a:ext cx="177800" cy="304800"/>
          </a:xfrm>
          <a:prstGeom prst="rect">
            <a:avLst/>
          </a:prstGeom>
        </p:spPr>
      </p:pic>
      <p:sp>
        <p:nvSpPr>
          <p:cNvPr id="12" name="Text 7"/>
          <p:cNvSpPr/>
          <p:nvPr/>
        </p:nvSpPr>
        <p:spPr>
          <a:xfrm>
            <a:off x="3492183" y="3480860"/>
            <a:ext cx="4427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lance</a:t>
            </a:r>
            <a:endParaRPr lang="en-US" sz="1200" dirty="0"/>
          </a:p>
        </p:txBody>
      </p:sp>
      <p:sp>
        <p:nvSpPr>
          <p:cNvPr id="13" name="Text 8"/>
          <p:cNvSpPr/>
          <p:nvPr/>
        </p:nvSpPr>
        <p:spPr>
          <a:xfrm>
            <a:off x="819150" y="3873289"/>
            <a:ext cx="5448300" cy="452967"/>
          </a:xfrm>
          <a:prstGeom prst="roundRect">
            <a:avLst>
              <a:gd name="adj" fmla="val 18224"/>
            </a:avLst>
          </a:prstGeom>
          <a:solidFill>
            <a:srgbClr val="FCE6DC"/>
          </a:solidFill>
          <a:ln w="12700">
            <a:solidFill>
              <a:srgbClr val="E25A2C"/>
            </a:solidFill>
            <a:prstDash val="solid"/>
          </a:ln>
        </p:spPr>
        <p:txBody>
          <a:bodyPr wrap="square" lIns="51833" tIns="90863" rIns="51833" bIns="65463" rtlCol="0" anchor="t">
            <a:normAutofit/>
          </a:bodyPr>
          <a:lstStyle/>
          <a:p>
            <a:pPr algn="ctr" indent="0" marL="0">
              <a:lnSpc>
                <a:spcPts val="1755"/>
              </a:lnSpc>
              <a:buNone/>
            </a:pPr>
            <a:r>
              <a:rPr lang="en-US" sz="1300" b="1" dirty="0">
                <a:solidFill>
                  <a:srgbClr val="0B0748"/>
                </a:solidFill>
                <a:latin typeface="IBM Plex Sans" pitchFamily="34" charset="0"/>
                <a:ea typeface="IBM Plex Sans" pitchFamily="34" charset="-122"/>
                <a:cs typeface="IBM Plex Sans" pitchFamily="34" charset="-120"/>
              </a:rPr>
              <a:t>runc</a:t>
            </a:r>
            <a:r>
              <a:rPr lang="en-US" sz="1300" dirty="0">
                <a:solidFill>
                  <a:srgbClr val="0B0748"/>
                </a:solidFill>
                <a:latin typeface="IBM Plex Sans" pitchFamily="34" charset="0"/>
                <a:ea typeface="IBM Plex Sans" pitchFamily="34" charset="-122"/>
                <a:cs typeface="IBM Plex Sans" pitchFamily="34" charset="-120"/>
              </a:rPr>
              <a:t> · crée le processus avec namespaces et cgroups</a:t>
            </a:r>
            <a:endParaRPr lang="en-US" sz="1300" dirty="0"/>
          </a:p>
        </p:txBody>
      </p:sp>
      <p:pic>
        <p:nvPicPr>
          <p:cNvPr id="14" name="Image 3" descr="arrow-down">    </p:cNvPr>
          <p:cNvPicPr>
            <a:picLocks noChangeAspect="1"/>
          </p:cNvPicPr>
          <p:nvPr/>
        </p:nvPicPr>
        <p:blipFill>
          <a:blip r:embed="rId4"/>
          <a:srcRect l="0" r="0" t="0" b="0"/>
          <a:stretch/>
        </p:blipFill>
        <p:spPr>
          <a:xfrm>
            <a:off x="3260302" y="4459604"/>
            <a:ext cx="177800" cy="304800"/>
          </a:xfrm>
          <a:prstGeom prst="rect">
            <a:avLst/>
          </a:prstGeom>
        </p:spPr>
      </p:pic>
      <p:sp>
        <p:nvSpPr>
          <p:cNvPr id="15" name="Text 9"/>
          <p:cNvSpPr/>
          <p:nvPr/>
        </p:nvSpPr>
        <p:spPr>
          <a:xfrm>
            <a:off x="3527002" y="4505325"/>
            <a:ext cx="3590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crée</a:t>
            </a:r>
            <a:endParaRPr lang="en-US" sz="1200" dirty="0"/>
          </a:p>
        </p:txBody>
      </p:sp>
      <p:sp>
        <p:nvSpPr>
          <p:cNvPr id="16" name="Text 10"/>
          <p:cNvSpPr/>
          <p:nvPr/>
        </p:nvSpPr>
        <p:spPr>
          <a:xfrm>
            <a:off x="812800" y="4891404"/>
            <a:ext cx="5461000" cy="451485"/>
          </a:xfrm>
          <a:prstGeom prst="roundRect">
            <a:avLst>
              <a:gd name="adj" fmla="val 19691"/>
            </a:avLst>
          </a:prstGeom>
          <a:solidFill>
            <a:srgbClr val="E4E2EE"/>
          </a:solidFill>
          <a:ln/>
        </p:spPr>
        <p:txBody>
          <a:bodyPr wrap="square" lIns="49019" tIns="88262" rIns="49019" bIns="62862" rtlCol="0" anchor="t">
            <a:normAutofit/>
          </a:bodyPr>
          <a:lstStyle/>
          <a:p>
            <a:pPr algn="ctr" indent="0" marL="0">
              <a:lnSpc>
                <a:spcPts val="1755"/>
              </a:lnSpc>
              <a:buNone/>
            </a:pPr>
            <a:r>
              <a:rPr lang="en-US" sz="1300" b="1" dirty="0">
                <a:solidFill>
                  <a:srgbClr val="0B0748"/>
                </a:solidFill>
                <a:latin typeface="IBM Plex Sans" pitchFamily="34" charset="0"/>
                <a:ea typeface="IBM Plex Sans" pitchFamily="34" charset="-122"/>
                <a:cs typeface="IBM Plex Sans" pitchFamily="34" charset="-120"/>
              </a:rPr>
              <a:t>Conteneur</a:t>
            </a:r>
            <a:r>
              <a:rPr lang="en-US" sz="1300" dirty="0">
                <a:solidFill>
                  <a:srgbClr val="0B0748"/>
                </a:solidFill>
                <a:latin typeface="IBM Plex Sans" pitchFamily="34" charset="0"/>
                <a:ea typeface="IBM Plex Sans" pitchFamily="34" charset="-122"/>
                <a:cs typeface="IBM Plex Sans" pitchFamily="34" charset="-120"/>
              </a:rPr>
              <a:t> · processus isolé + couche en écriture</a:t>
            </a:r>
            <a:endParaRPr lang="en-US" sz="1300" dirty="0"/>
          </a:p>
        </p:txBody>
      </p:sp>
      <p:sp>
        <p:nvSpPr>
          <p:cNvPr id="17" name="Text 11"/>
          <p:cNvSpPr/>
          <p:nvPr/>
        </p:nvSpPr>
        <p:spPr>
          <a:xfrm>
            <a:off x="6731000" y="2201546"/>
            <a:ext cx="4787646" cy="54102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3F3C6B"/>
                </a:solidFill>
                <a:latin typeface="IBM Plex Sans" pitchFamily="34" charset="0"/>
                <a:ea typeface="IBM Plex Sans" pitchFamily="34" charset="-122"/>
                <a:cs typeface="IBM Plex Sans" pitchFamily="34" charset="-120"/>
              </a:rPr>
              <a:t>docker et dockerd</a:t>
            </a:r>
            <a:r>
              <a:rPr lang="en-US" sz="1400" dirty="0">
                <a:solidFill>
                  <a:srgbClr val="3F3C6B"/>
                </a:solidFill>
                <a:latin typeface="IBM Plex Sans" pitchFamily="34" charset="0"/>
                <a:ea typeface="IBM Plex Sans" pitchFamily="34" charset="-122"/>
                <a:cs typeface="IBM Plex Sans" pitchFamily="34" charset="-120"/>
              </a:rPr>
              <a:t> : l'interface pour les humains (construire, lancer, publier). Kubernetes ne s'en sert pas.</a:t>
            </a:r>
            <a:endParaRPr lang="en-US" sz="1400" dirty="0"/>
          </a:p>
        </p:txBody>
      </p:sp>
      <p:sp>
        <p:nvSpPr>
          <p:cNvPr id="18" name="Text 12"/>
          <p:cNvSpPr/>
          <p:nvPr/>
        </p:nvSpPr>
        <p:spPr>
          <a:xfrm>
            <a:off x="6731000" y="2894967"/>
            <a:ext cx="4787646" cy="79883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B8421A"/>
                </a:solidFill>
                <a:latin typeface="IBM Plex Sans" pitchFamily="34" charset="0"/>
                <a:ea typeface="IBM Plex Sans" pitchFamily="34" charset="-122"/>
                <a:cs typeface="IBM Plex Sans" pitchFamily="34" charset="-120"/>
              </a:rPr>
              <a:t>containerd et runc</a:t>
            </a:r>
            <a:r>
              <a:rPr lang="en-US" sz="1400" dirty="0">
                <a:solidFill>
                  <a:srgbClr val="3F3C6B"/>
                </a:solidFill>
                <a:latin typeface="IBM Plex Sans" pitchFamily="34" charset="0"/>
                <a:ea typeface="IBM Plex Sans" pitchFamily="34" charset="-122"/>
                <a:cs typeface="IBM Plex Sans" pitchFamily="34" charset="-120"/>
              </a:rPr>
              <a:t>, encadrés en orange, sont ceux qu'emploie Kubernetes : le kubelet les appelle directement, via le CRI.</a:t>
            </a:r>
            <a:endParaRPr lang="en-US" sz="1400" dirty="0"/>
          </a:p>
        </p:txBody>
      </p:sp>
      <p:sp>
        <p:nvSpPr>
          <p:cNvPr id="19" name="Shape 13"/>
          <p:cNvSpPr/>
          <p:nvPr/>
        </p:nvSpPr>
        <p:spPr>
          <a:xfrm>
            <a:off x="6731000" y="3846196"/>
            <a:ext cx="4648200" cy="1389380"/>
          </a:xfrm>
          <a:prstGeom prst="roundRect">
            <a:avLst>
              <a:gd name="adj" fmla="val 9141"/>
            </a:avLst>
          </a:prstGeom>
          <a:solidFill>
            <a:srgbClr val="0B0748"/>
          </a:solidFill>
          <a:ln/>
        </p:spPr>
      </p:sp>
      <p:sp>
        <p:nvSpPr>
          <p:cNvPr id="20" name="Text 14"/>
          <p:cNvSpPr/>
          <p:nvPr/>
        </p:nvSpPr>
        <p:spPr>
          <a:xfrm>
            <a:off x="6934200" y="4023996"/>
            <a:ext cx="436905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CEAFF"/>
                </a:solidFill>
                <a:latin typeface="IBM Plex Sans" pitchFamily="34" charset="0"/>
                <a:ea typeface="IBM Plex Sans" pitchFamily="34" charset="-122"/>
                <a:cs typeface="IBM Plex Sans" pitchFamily="34" charset="-120"/>
              </a:rPr>
              <a:t>Depuis la </a:t>
            </a:r>
            <a:r>
              <a:rPr lang="en-US" sz="1300" b="1" dirty="0">
                <a:solidFill>
                  <a:srgbClr val="ECEAFF"/>
                </a:solidFill>
                <a:latin typeface="IBM Plex Sans" pitchFamily="34" charset="0"/>
                <a:ea typeface="IBM Plex Sans" pitchFamily="34" charset="-122"/>
                <a:cs typeface="IBM Plex Sans" pitchFamily="34" charset="-120"/>
              </a:rPr>
              <a:t>1.24</a:t>
            </a:r>
            <a:r>
              <a:rPr lang="en-US" sz="1300" dirty="0">
                <a:solidFill>
                  <a:srgbClr val="ECEAFF"/>
                </a:solidFill>
                <a:latin typeface="IBM Plex Sans" pitchFamily="34" charset="0"/>
                <a:ea typeface="IBM Plex Sans" pitchFamily="34" charset="-122"/>
                <a:cs typeface="IBM Plex Sans" pitchFamily="34" charset="-120"/>
              </a:rPr>
              <a:t>, Kubernetes ne parle plus au moteur Docker. Depuis la </a:t>
            </a:r>
            <a:r>
              <a:rPr lang="en-US" sz="1300" b="1" dirty="0">
                <a:solidFill>
                  <a:srgbClr val="ECEAFF"/>
                </a:solidFill>
                <a:latin typeface="IBM Plex Sans" pitchFamily="34" charset="0"/>
                <a:ea typeface="IBM Plex Sans" pitchFamily="34" charset="-122"/>
                <a:cs typeface="IBM Plex Sans" pitchFamily="34" charset="-120"/>
              </a:rPr>
              <a:t>1.36</a:t>
            </a:r>
            <a:r>
              <a:rPr lang="en-US" sz="1300" dirty="0">
                <a:solidFill>
                  <a:srgbClr val="ECEAFF"/>
                </a:solidFill>
                <a:latin typeface="IBM Plex Sans" pitchFamily="34" charset="0"/>
                <a:ea typeface="IBM Plex Sans" pitchFamily="34" charset="-122"/>
                <a:cs typeface="IBM Plex Sans" pitchFamily="34" charset="-120"/>
              </a:rPr>
              <a:t>, il exige containerd 2.0 ou plus.</a:t>
            </a:r>
            <a:endParaRPr lang="en-US" sz="1300" dirty="0"/>
          </a:p>
        </p:txBody>
      </p:sp>
      <p:sp>
        <p:nvSpPr>
          <p:cNvPr id="21" name="Text 15"/>
          <p:cNvSpPr/>
          <p:nvPr/>
        </p:nvSpPr>
        <p:spPr>
          <a:xfrm>
            <a:off x="6934200" y="4578983"/>
            <a:ext cx="436905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B6E8"/>
                </a:solidFill>
                <a:latin typeface="IBM Plex Sans" pitchFamily="34" charset="0"/>
                <a:ea typeface="IBM Plex Sans" pitchFamily="34" charset="-122"/>
                <a:cs typeface="IBM Plex Sans" pitchFamily="34" charset="-120"/>
              </a:rPr>
              <a:t>Vos images Docker fonctionnent sans changement : elles respectent le format OCI.</a:t>
            </a:r>
            <a:endParaRPr lang="en-US" sz="1300" dirty="0"/>
          </a:p>
        </p:txBody>
      </p:sp>
      <p:pic>
        <p:nvPicPr>
          <p:cNvPr id="22"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23" name="Text 1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4" name="Image 5" descr="Parcours : module 1 sur 16">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2833"/>
          </a:xfrm>
          <a:prstGeom prst="rect">
            <a:avLst/>
          </a:prstGeom>
          <a:noFill/>
          <a:ln/>
        </p:spPr>
        <p:txBody>
          <a:bodyPr wrap="square" lIns="0" tIns="0" rIns="0" bIns="0" rtlCol="0" anchor="t">
            <a:normAutofit/>
          </a:bodyPr>
          <a:lstStyle/>
          <a:p>
            <a:pPr algn="l" indent="0" marL="0">
              <a:lnSpc>
                <a:spcPts val="1670"/>
              </a:lnSpc>
              <a:buNone/>
            </a:pPr>
            <a:r>
              <a:rPr lang="en-US" sz="1193" b="1" spc="150" kern="0" dirty="0">
                <a:solidFill>
                  <a:srgbClr val="B8421A"/>
                </a:solidFill>
                <a:latin typeface="IBM Plex Sans" pitchFamily="34" charset="0"/>
                <a:ea typeface="IBM Plex Sans" pitchFamily="34" charset="-122"/>
                <a:cs typeface="IBM Plex Sans" pitchFamily="34" charset="-120"/>
              </a:rPr>
              <a:t>MODULE 01 · DES CONTENEURS À L'ORCHESTRATION</a:t>
            </a:r>
            <a:endParaRPr lang="en-US" sz="1193" dirty="0"/>
          </a:p>
        </p:txBody>
      </p:sp>
      <p:sp>
        <p:nvSpPr>
          <p:cNvPr id="3" name="Text 1"/>
          <p:cNvSpPr/>
          <p:nvPr>
            <p:ph type="title"/>
          </p:nvPr>
        </p:nvSpPr>
        <p:spPr>
          <a:xfrm>
            <a:off x="812800" y="944035"/>
            <a:ext cx="10883392" cy="405553"/>
          </a:xfrm>
          <a:prstGeom prst="rect">
            <a:avLst/>
          </a:prstGeom>
          <a:noFill/>
          <a:ln/>
        </p:spPr>
        <p:txBody>
          <a:bodyPr wrap="square" lIns="0" tIns="0" rIns="0" bIns="0" rtlCol="0" anchor="t">
            <a:normAutofit/>
          </a:bodyPr>
          <a:lstStyle/>
          <a:p>
            <a:pPr algn="l" indent="0" marL="0">
              <a:lnSpc>
                <a:spcPts val="3022"/>
              </a:lnSpc>
              <a:buNone/>
            </a:pPr>
            <a:r>
              <a:rPr lang="en-US" sz="2748" b="1" i="0" spc="-50" kern="0" dirty="0">
                <a:solidFill>
                  <a:srgbClr val="0B0748"/>
                </a:solidFill>
                <a:latin typeface="Sora" pitchFamily="34" charset="0"/>
                <a:ea typeface="Sora" pitchFamily="34" charset="-122"/>
                <a:cs typeface="Sora" pitchFamily="34" charset="-120"/>
              </a:rPr>
              <a:t>Les limites d'un hôte unique</a:t>
            </a:r>
            <a:endParaRPr lang="en-US" sz="2748" dirty="0"/>
          </a:p>
        </p:txBody>
      </p:sp>
      <p:sp>
        <p:nvSpPr>
          <p:cNvPr id="4" name="Text 2"/>
          <p:cNvSpPr/>
          <p:nvPr/>
        </p:nvSpPr>
        <p:spPr>
          <a:xfrm>
            <a:off x="812800" y="1552786"/>
            <a:ext cx="10883392" cy="285538"/>
          </a:xfrm>
          <a:prstGeom prst="rect">
            <a:avLst/>
          </a:prstGeom>
          <a:noFill/>
          <a:ln/>
        </p:spPr>
        <p:txBody>
          <a:bodyPr wrap="square" lIns="0" tIns="0" rIns="0" bIns="0" rtlCol="0" anchor="t">
            <a:normAutofit/>
          </a:bodyPr>
          <a:lstStyle/>
          <a:p>
            <a:pPr algn="l" indent="0" marL="0">
              <a:lnSpc>
                <a:spcPts val="2074"/>
              </a:lnSpc>
              <a:buNone/>
            </a:pPr>
            <a:r>
              <a:rPr lang="en-US" sz="1481" dirty="0">
                <a:solidFill>
                  <a:srgbClr val="3F3C6B"/>
                </a:solidFill>
                <a:latin typeface="IBM Plex Sans" pitchFamily="34" charset="0"/>
                <a:ea typeface="IBM Plex Sans" pitchFamily="34" charset="-122"/>
                <a:cs typeface="IBM Plex Sans" pitchFamily="34" charset="-120"/>
              </a:rPr>
              <a:t>Dix conteneurs répartis sur cinq serveurs, avec Docker seul : tout se règle à la main.</a:t>
            </a:r>
            <a:endParaRPr lang="en-US" sz="1481" dirty="0"/>
          </a:p>
        </p:txBody>
      </p:sp>
      <p:sp>
        <p:nvSpPr>
          <p:cNvPr id="5" name="Shape 3"/>
          <p:cNvSpPr/>
          <p:nvPr/>
        </p:nvSpPr>
        <p:spPr>
          <a:xfrm>
            <a:off x="812800" y="2041525"/>
            <a:ext cx="10566400" cy="3346450"/>
          </a:xfrm>
          <a:prstGeom prst="rect">
            <a:avLst/>
          </a:prstGeom>
          <a:solidFill>
            <a:srgbClr val="FDFD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9891" y="2048616"/>
          <a:ext cx="10559309" cy="3339465"/>
        </p:xfrm>
        <a:graphic>
          <a:graphicData uri="http://schemas.openxmlformats.org/drawingml/2006/table">
            <a:tbl>
              <a:tblPr/>
              <a:tblGrid>
                <a:gridCol w="2745420"/>
                <a:gridCol w="3378979"/>
                <a:gridCol w="4434910"/>
              </a:tblGrid>
              <a:tr h="371052">
                <a:tc>
                  <a:txBody>
                    <a:bodyPr/>
                    <a:lstStyle/>
                    <a:p>
                      <a:pPr indent="0" marL="0">
                        <a:lnSpc>
                          <a:spcPts val="1911"/>
                        </a:lnSpc>
                        <a:buNone/>
                      </a:pPr>
                      <a:r>
                        <a:rPr lang="en-US" sz="1365" b="1" dirty="0">
                          <a:solidFill>
                            <a:srgbClr val="F5F4F9"/>
                          </a:solidFill>
                          <a:latin typeface="IBM Plex Sans" pitchFamily="34" charset="0"/>
                          <a:ea typeface="IBM Plex Sans" pitchFamily="34" charset="-122"/>
                          <a:cs typeface="IBM Plex Sans" pitchFamily="34" charset="-120"/>
                        </a:rPr>
                        <a:t>Besoin</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911"/>
                        </a:lnSpc>
                        <a:buNone/>
                      </a:pPr>
                      <a:r>
                        <a:rPr lang="en-US" sz="1365" b="1" dirty="0">
                          <a:solidFill>
                            <a:srgbClr val="F5F4F9"/>
                          </a:solidFill>
                          <a:latin typeface="IBM Plex Sans" pitchFamily="34" charset="0"/>
                          <a:ea typeface="IBM Plex Sans" pitchFamily="34" charset="-122"/>
                          <a:cs typeface="IBM Plex Sans" pitchFamily="34" charset="-120"/>
                        </a:rPr>
                        <a:t>Sans orchestrateur</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911"/>
                        </a:lnSpc>
                        <a:buNone/>
                      </a:pPr>
                      <a:r>
                        <a:rPr lang="en-US" sz="1365" b="1" dirty="0">
                          <a:solidFill>
                            <a:srgbClr val="FF8F66"/>
                          </a:solidFill>
                          <a:latin typeface="IBM Plex Sans" pitchFamily="34" charset="0"/>
                          <a:ea typeface="IBM Plex Sans" pitchFamily="34" charset="-122"/>
                          <a:cs typeface="IBM Plex Sans" pitchFamily="34" charset="-120"/>
                        </a:rPr>
                        <a:t>Avec Kubernetes</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71052">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Placement</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Choix manuel du serveur</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11"/>
                        </a:lnSpc>
                        <a:buNone/>
                      </a:pPr>
                      <a:r>
                        <a:rPr lang="en-US" sz="1365" dirty="0">
                          <a:solidFill>
                            <a:srgbClr val="0B0748"/>
                          </a:solidFill>
                          <a:latin typeface="IBM Plex Sans" pitchFamily="34" charset="0"/>
                          <a:ea typeface="IBM Plex Sans" pitchFamily="34" charset="-122"/>
                          <a:cs typeface="IBM Plex Sans" pitchFamily="34" charset="-120"/>
                        </a:rPr>
                        <a:t>Le scheduler, selon ressources et contraintes</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71052">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Panne d'un conteneur</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Script, restart: always</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11"/>
                        </a:lnSpc>
                        <a:buNone/>
                      </a:pPr>
                      <a:r>
                        <a:rPr lang="en-US" sz="1365" dirty="0">
                          <a:solidFill>
                            <a:srgbClr val="0B0748"/>
                          </a:solidFill>
                          <a:latin typeface="IBM Plex Sans" pitchFamily="34" charset="0"/>
                          <a:ea typeface="IBM Plex Sans" pitchFamily="34" charset="-122"/>
                          <a:cs typeface="IBM Plex Sans" pitchFamily="34" charset="-120"/>
                        </a:rPr>
                        <a:t>Redémarrage ou remplacement automatique</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71052">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Panne d'un serveur</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Relance manuelle ailleurs</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11"/>
                        </a:lnSpc>
                        <a:buNone/>
                      </a:pPr>
                      <a:r>
                        <a:rPr lang="en-US" sz="1365" dirty="0">
                          <a:solidFill>
                            <a:srgbClr val="0B0748"/>
                          </a:solidFill>
                          <a:latin typeface="IBM Plex Sans" pitchFamily="34" charset="0"/>
                          <a:ea typeface="IBM Plex Sans" pitchFamily="34" charset="-122"/>
                          <a:cs typeface="IBM Plex Sans" pitchFamily="34" charset="-120"/>
                        </a:rPr>
                        <a:t>Pods recréés sur les nœuds restants</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71052">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Montée en charge</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Copies et répartiteur à la main</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11"/>
                        </a:lnSpc>
                        <a:buNone/>
                      </a:pPr>
                      <a:r>
                        <a:rPr lang="en-US" sz="1365" dirty="0">
                          <a:solidFill>
                            <a:srgbClr val="0B0748"/>
                          </a:solidFill>
                          <a:latin typeface="IBM Plex Sans" pitchFamily="34" charset="0"/>
                          <a:ea typeface="IBM Plex Sans" pitchFamily="34" charset="-122"/>
                          <a:cs typeface="IBM Plex Sans" pitchFamily="34" charset="-120"/>
                        </a:rPr>
                        <a:t>kubectl scale ou autoscaling (M14)</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71052">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Mise à jour sans coupure</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Conteneur par conteneur</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11"/>
                        </a:lnSpc>
                        <a:buNone/>
                      </a:pPr>
                      <a:r>
                        <a:rPr lang="en-US" sz="1365" dirty="0">
                          <a:solidFill>
                            <a:srgbClr val="0B0748"/>
                          </a:solidFill>
                          <a:latin typeface="IBM Plex Sans" pitchFamily="34" charset="0"/>
                          <a:ea typeface="IBM Plex Sans" pitchFamily="34" charset="-122"/>
                          <a:cs typeface="IBM Plex Sans" pitchFamily="34" charset="-120"/>
                        </a:rPr>
                        <a:t>Rolling update et retour arrière (M9)</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71052">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Trouver un service</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Adresses IP en dur</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11"/>
                        </a:lnSpc>
                        <a:buNone/>
                      </a:pPr>
                      <a:r>
                        <a:rPr lang="en-US" sz="1365" dirty="0">
                          <a:solidFill>
                            <a:srgbClr val="0B0748"/>
                          </a:solidFill>
                          <a:latin typeface="IBM Plex Sans" pitchFamily="34" charset="0"/>
                          <a:ea typeface="IBM Plex Sans" pitchFamily="34" charset="-122"/>
                          <a:cs typeface="IBM Plex Sans" pitchFamily="34" charset="-120"/>
                        </a:rPr>
                        <a:t>Nom DNS stable, répartition (M7)</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71052">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Configuration, secrets</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Fichiers copiés partout</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11"/>
                        </a:lnSpc>
                        <a:buNone/>
                      </a:pPr>
                      <a:r>
                        <a:rPr lang="en-US" sz="1365" dirty="0">
                          <a:solidFill>
                            <a:srgbClr val="0B0748"/>
                          </a:solidFill>
                          <a:latin typeface="IBM Plex Sans" pitchFamily="34" charset="0"/>
                          <a:ea typeface="IBM Plex Sans" pitchFamily="34" charset="-122"/>
                          <a:cs typeface="IBM Plex Sans" pitchFamily="34" charset="-120"/>
                        </a:rPr>
                        <a:t>ConfigMaps et Secrets (M8)</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71052">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Stockage</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11"/>
                        </a:lnSpc>
                        <a:buNone/>
                      </a:pPr>
                      <a:r>
                        <a:rPr lang="en-US" sz="1365" dirty="0">
                          <a:solidFill>
                            <a:srgbClr val="3F3C6B"/>
                          </a:solidFill>
                          <a:latin typeface="IBM Plex Sans" pitchFamily="34" charset="0"/>
                          <a:ea typeface="IBM Plex Sans" pitchFamily="34" charset="-122"/>
                          <a:cs typeface="IBM Plex Sans" pitchFamily="34" charset="-120"/>
                        </a:rPr>
                        <a:t>Disques montés à la main</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11"/>
                        </a:lnSpc>
                        <a:buNone/>
                      </a:pPr>
                      <a:r>
                        <a:rPr lang="en-US" sz="1365" dirty="0">
                          <a:solidFill>
                            <a:srgbClr val="0B0748"/>
                          </a:solidFill>
                          <a:latin typeface="IBM Plex Sans" pitchFamily="34" charset="0"/>
                          <a:ea typeface="IBM Plex Sans" pitchFamily="34" charset="-122"/>
                          <a:cs typeface="IBM Plex Sans" pitchFamily="34" charset="-120"/>
                        </a:rPr>
                        <a:t>Volumes demandés par déclaration (M16)</a:t>
                      </a:r>
                      <a:endParaRPr lang="en-US" sz="1365" dirty="0">
                        <a:latin typeface="IBM Plex Sans" charset="0"/>
                        <a:ea typeface="IBM Plex Sans" charset="0"/>
                        <a:cs typeface="IBM Plex Sans" charset="0"/>
                      </a:endParaRPr>
                    </a:p>
                  </a:txBody>
                  <a:tcPr marL="60674" marR="60674" marT="60674" marB="60674"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sp>
        <p:nvSpPr>
          <p:cNvPr id="7" name="Text 4"/>
          <p:cNvSpPr/>
          <p:nvPr/>
        </p:nvSpPr>
        <p:spPr>
          <a:xfrm>
            <a:off x="812800" y="5616575"/>
            <a:ext cx="10883392" cy="25082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Docker Compose décrit bien une application, mais sur une seule machine : ni multi-hôte, ni reprise après panne, ni mise à l'échelle.</a:t>
            </a:r>
            <a:endParaRPr lang="en-US" sz="1300" dirty="0"/>
          </a:p>
        </p:txBody>
      </p:sp>
      <p:pic>
        <p:nvPicPr>
          <p:cNvPr id="8"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9" name="Text 5"/>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0" name="Image 1" descr="Parcours : module 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01 · DES CONTENEURS À L'ORCHESTRATION</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Kubernetes en bref</a:t>
            </a:r>
            <a:endParaRPr lang="en-US" sz="2800" dirty="0"/>
          </a:p>
        </p:txBody>
      </p:sp>
      <p:sp>
        <p:nvSpPr>
          <p:cNvPr id="4" name="Text 2"/>
          <p:cNvSpPr/>
          <p:nvPr/>
        </p:nvSpPr>
        <p:spPr>
          <a:xfrm>
            <a:off x="812800" y="1544321"/>
            <a:ext cx="7246874" cy="91694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0B0748"/>
                </a:solidFill>
                <a:latin typeface="Sora" pitchFamily="34" charset="0"/>
                <a:ea typeface="Sora" pitchFamily="34" charset="-122"/>
                <a:cs typeface="Sora" pitchFamily="34" charset="-120"/>
              </a:rPr>
              <a:t>Une plateforme open source qui automatise le déploiement, la mise à l'échelle et l'exploitation d'applications conteneurisées sur un ensemble de machines : le </a:t>
            </a:r>
            <a:r>
              <a:rPr lang="en-US" sz="1800" dirty="0">
                <a:solidFill>
                  <a:srgbClr val="E25A2C"/>
                </a:solidFill>
                <a:latin typeface="Sora" pitchFamily="34" charset="0"/>
                <a:ea typeface="Sora" pitchFamily="34" charset="-122"/>
                <a:cs typeface="Sora" pitchFamily="34" charset="-120"/>
              </a:rPr>
              <a:t>cluster</a:t>
            </a:r>
            <a:r>
              <a:rPr lang="en-US" sz="1800" dirty="0">
                <a:solidFill>
                  <a:srgbClr val="0B0748"/>
                </a:solidFill>
                <a:latin typeface="Sora" pitchFamily="34" charset="0"/>
                <a:ea typeface="Sora" pitchFamily="34" charset="-122"/>
                <a:cs typeface="Sora" pitchFamily="34" charset="-120"/>
              </a:rPr>
              <a:t>.</a:t>
            </a:r>
            <a:endParaRPr lang="en-US" sz="1800" dirty="0"/>
          </a:p>
        </p:txBody>
      </p:sp>
      <p:sp>
        <p:nvSpPr>
          <p:cNvPr id="5" name="Shape 3"/>
          <p:cNvSpPr/>
          <p:nvPr/>
        </p:nvSpPr>
        <p:spPr>
          <a:xfrm>
            <a:off x="8204200" y="1544321"/>
            <a:ext cx="3175000" cy="1635760"/>
          </a:xfrm>
          <a:prstGeom prst="roundRect">
            <a:avLst>
              <a:gd name="adj" fmla="val 7764"/>
            </a:avLst>
          </a:prstGeom>
          <a:solidFill>
            <a:srgbClr val="0B0748"/>
          </a:solidFill>
          <a:ln/>
        </p:spPr>
      </p:sp>
      <p:sp>
        <p:nvSpPr>
          <p:cNvPr id="6" name="Text 4"/>
          <p:cNvSpPr/>
          <p:nvPr/>
        </p:nvSpPr>
        <p:spPr>
          <a:xfrm>
            <a:off x="8432800" y="1747521"/>
            <a:ext cx="279933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8F66"/>
                </a:solidFill>
                <a:latin typeface="Sora" pitchFamily="34" charset="0"/>
                <a:ea typeface="Sora" pitchFamily="34" charset="-122"/>
                <a:cs typeface="Sora" pitchFamily="34" charset="-120"/>
              </a:rPr>
              <a:t>kubernḗtēs</a:t>
            </a:r>
            <a:endParaRPr lang="en-US" sz="2200" dirty="0"/>
          </a:p>
        </p:txBody>
      </p:sp>
      <p:sp>
        <p:nvSpPr>
          <p:cNvPr id="7" name="Text 5"/>
          <p:cNvSpPr/>
          <p:nvPr/>
        </p:nvSpPr>
        <p:spPr>
          <a:xfrm>
            <a:off x="8432800" y="2202179"/>
            <a:ext cx="279933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Le timonier, en grec.</a:t>
            </a:r>
            <a:endParaRPr lang="en-US" sz="1400" dirty="0"/>
          </a:p>
        </p:txBody>
      </p:sp>
      <p:sp>
        <p:nvSpPr>
          <p:cNvPr id="8" name="Text 6"/>
          <p:cNvSpPr/>
          <p:nvPr/>
        </p:nvSpPr>
        <p:spPr>
          <a:xfrm>
            <a:off x="8432800" y="2514600"/>
            <a:ext cx="279933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6E8"/>
                </a:solidFill>
                <a:latin typeface="IBM Plex Sans" pitchFamily="34" charset="0"/>
                <a:ea typeface="IBM Plex Sans" pitchFamily="34" charset="-122"/>
                <a:cs typeface="IBM Plex Sans" pitchFamily="34" charset="-120"/>
              </a:rPr>
              <a:t>K8s : les 8 lettres centrales remplacées par leur nombre.</a:t>
            </a:r>
            <a:endParaRPr lang="en-US" sz="1300" dirty="0"/>
          </a:p>
        </p:txBody>
      </p:sp>
      <p:sp>
        <p:nvSpPr>
          <p:cNvPr id="9" name="Shape 7"/>
          <p:cNvSpPr/>
          <p:nvPr/>
        </p:nvSpPr>
        <p:spPr>
          <a:xfrm>
            <a:off x="812800" y="3700884"/>
            <a:ext cx="2527300" cy="0"/>
          </a:xfrm>
          <a:prstGeom prst="line">
            <a:avLst/>
          </a:prstGeom>
          <a:noFill/>
          <a:ln w="25400">
            <a:solidFill>
              <a:srgbClr val="0B0748"/>
            </a:solidFill>
            <a:prstDash val="solid"/>
          </a:ln>
        </p:spPr>
      </p:sp>
      <p:sp>
        <p:nvSpPr>
          <p:cNvPr id="10" name="Text 8"/>
          <p:cNvSpPr/>
          <p:nvPr/>
        </p:nvSpPr>
        <p:spPr>
          <a:xfrm>
            <a:off x="812800" y="3849160"/>
            <a:ext cx="2603119"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25A2C"/>
                </a:solidFill>
                <a:latin typeface="Sora" pitchFamily="34" charset="0"/>
                <a:ea typeface="Sora" pitchFamily="34" charset="-122"/>
                <a:cs typeface="Sora" pitchFamily="34" charset="-120"/>
              </a:rPr>
              <a:t>Années 2000</a:t>
            </a:r>
            <a:endParaRPr lang="en-US" sz="1700" dirty="0"/>
          </a:p>
        </p:txBody>
      </p:sp>
      <p:sp>
        <p:nvSpPr>
          <p:cNvPr id="11" name="Text 9"/>
          <p:cNvSpPr/>
          <p:nvPr/>
        </p:nvSpPr>
        <p:spPr>
          <a:xfrm>
            <a:off x="812800" y="4214918"/>
            <a:ext cx="260311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Google exploite Borg, son orchestrateur interne.</a:t>
            </a:r>
            <a:endParaRPr lang="en-US" sz="1300" dirty="0"/>
          </a:p>
        </p:txBody>
      </p:sp>
      <p:sp>
        <p:nvSpPr>
          <p:cNvPr id="12" name="Shape 10"/>
          <p:cNvSpPr/>
          <p:nvPr/>
        </p:nvSpPr>
        <p:spPr>
          <a:xfrm>
            <a:off x="3492500" y="3700884"/>
            <a:ext cx="2527300" cy="0"/>
          </a:xfrm>
          <a:prstGeom prst="line">
            <a:avLst/>
          </a:prstGeom>
          <a:noFill/>
          <a:ln w="25400">
            <a:solidFill>
              <a:srgbClr val="0B0748"/>
            </a:solidFill>
            <a:prstDash val="solid"/>
          </a:ln>
        </p:spPr>
      </p:sp>
      <p:sp>
        <p:nvSpPr>
          <p:cNvPr id="13" name="Text 11"/>
          <p:cNvSpPr/>
          <p:nvPr/>
        </p:nvSpPr>
        <p:spPr>
          <a:xfrm>
            <a:off x="3492500" y="3849160"/>
            <a:ext cx="2603119"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25A2C"/>
                </a:solidFill>
                <a:latin typeface="Sora" pitchFamily="34" charset="0"/>
                <a:ea typeface="Sora" pitchFamily="34" charset="-122"/>
                <a:cs typeface="Sora" pitchFamily="34" charset="-120"/>
              </a:rPr>
              <a:t>2014</a:t>
            </a:r>
            <a:endParaRPr lang="en-US" sz="1700" dirty="0"/>
          </a:p>
        </p:txBody>
      </p:sp>
      <p:sp>
        <p:nvSpPr>
          <p:cNvPr id="14" name="Text 12"/>
          <p:cNvSpPr/>
          <p:nvPr/>
        </p:nvSpPr>
        <p:spPr>
          <a:xfrm>
            <a:off x="3492500" y="4214918"/>
            <a:ext cx="260311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Annonce de Kubernetes, qui reprend les idées de Borg.</a:t>
            </a:r>
            <a:endParaRPr lang="en-US" sz="1300" dirty="0"/>
          </a:p>
        </p:txBody>
      </p:sp>
      <p:sp>
        <p:nvSpPr>
          <p:cNvPr id="15" name="Shape 13"/>
          <p:cNvSpPr/>
          <p:nvPr/>
        </p:nvSpPr>
        <p:spPr>
          <a:xfrm>
            <a:off x="6172200" y="3700884"/>
            <a:ext cx="2527300" cy="0"/>
          </a:xfrm>
          <a:prstGeom prst="line">
            <a:avLst/>
          </a:prstGeom>
          <a:noFill/>
          <a:ln w="25400">
            <a:solidFill>
              <a:srgbClr val="0B0748"/>
            </a:solidFill>
            <a:prstDash val="solid"/>
          </a:ln>
        </p:spPr>
      </p:sp>
      <p:sp>
        <p:nvSpPr>
          <p:cNvPr id="16" name="Text 14"/>
          <p:cNvSpPr/>
          <p:nvPr/>
        </p:nvSpPr>
        <p:spPr>
          <a:xfrm>
            <a:off x="6172200" y="3849160"/>
            <a:ext cx="2603119"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25A2C"/>
                </a:solidFill>
                <a:latin typeface="Sora" pitchFamily="34" charset="0"/>
                <a:ea typeface="Sora" pitchFamily="34" charset="-122"/>
                <a:cs typeface="Sora" pitchFamily="34" charset="-120"/>
              </a:rPr>
              <a:t>Juillet 2015</a:t>
            </a:r>
            <a:endParaRPr lang="en-US" sz="1700" dirty="0"/>
          </a:p>
        </p:txBody>
      </p:sp>
      <p:sp>
        <p:nvSpPr>
          <p:cNvPr id="17" name="Text 15"/>
          <p:cNvSpPr/>
          <p:nvPr/>
        </p:nvSpPr>
        <p:spPr>
          <a:xfrm>
            <a:off x="6172200" y="4214918"/>
            <a:ext cx="260311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Version 1.0, premier projet de la CNCF (Linux Foundation).</a:t>
            </a:r>
            <a:endParaRPr lang="en-US" sz="1300" dirty="0"/>
          </a:p>
        </p:txBody>
      </p:sp>
      <p:sp>
        <p:nvSpPr>
          <p:cNvPr id="18" name="Shape 16"/>
          <p:cNvSpPr/>
          <p:nvPr/>
        </p:nvSpPr>
        <p:spPr>
          <a:xfrm>
            <a:off x="8851900" y="3700884"/>
            <a:ext cx="2527300" cy="0"/>
          </a:xfrm>
          <a:prstGeom prst="line">
            <a:avLst/>
          </a:prstGeom>
          <a:noFill/>
          <a:ln w="25400">
            <a:solidFill>
              <a:srgbClr val="E25A2C"/>
            </a:solidFill>
            <a:prstDash val="solid"/>
          </a:ln>
        </p:spPr>
      </p:sp>
      <p:sp>
        <p:nvSpPr>
          <p:cNvPr id="19" name="Text 17"/>
          <p:cNvSpPr/>
          <p:nvPr/>
        </p:nvSpPr>
        <p:spPr>
          <a:xfrm>
            <a:off x="8851900" y="3849160"/>
            <a:ext cx="2603119"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25A2C"/>
                </a:solidFill>
                <a:latin typeface="Sora" pitchFamily="34" charset="0"/>
                <a:ea typeface="Sora" pitchFamily="34" charset="-122"/>
                <a:cs typeface="Sora" pitchFamily="34" charset="-120"/>
              </a:rPr>
              <a:t>Aujourd'hui</a:t>
            </a:r>
            <a:endParaRPr lang="en-US" sz="1700" dirty="0"/>
          </a:p>
        </p:txBody>
      </p:sp>
      <p:sp>
        <p:nvSpPr>
          <p:cNvPr id="20" name="Text 18"/>
          <p:cNvSpPr/>
          <p:nvPr/>
        </p:nvSpPr>
        <p:spPr>
          <a:xfrm>
            <a:off x="8851900" y="4214918"/>
            <a:ext cx="260311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3 versions mineures par an, chacune maintenue environ 14 mois.</a:t>
            </a:r>
            <a:endParaRPr lang="en-US" sz="1300" dirty="0"/>
          </a:p>
        </p:txBody>
      </p:sp>
      <p:sp>
        <p:nvSpPr>
          <p:cNvPr id="21" name="Text 19"/>
          <p:cNvSpPr/>
          <p:nvPr/>
        </p:nvSpPr>
        <p:spPr>
          <a:xfrm>
            <a:off x="815975" y="5114714"/>
            <a:ext cx="5187950" cy="724112"/>
          </a:xfrm>
          <a:prstGeom prst="roundRect">
            <a:avLst>
              <a:gd name="adj" fmla="val 13593"/>
            </a:avLst>
          </a:prstGeom>
          <a:solidFill>
            <a:srgbClr val="FDFDFF"/>
          </a:solidFill>
          <a:ln w="6350">
            <a:solidFill>
              <a:srgbClr val="E1DFEE"/>
            </a:solidFill>
            <a:prstDash val="solid"/>
          </a:ln>
        </p:spPr>
        <p:txBody>
          <a:bodyPr wrap="square" lIns="152888" tIns="102088" rIns="8153" bIns="76688" rtlCol="0" anchor="t">
            <a:normAutofit/>
          </a:bodyPr>
          <a:lstStyle/>
          <a:p>
            <a:pPr algn="l" indent="0" marL="0">
              <a:lnSpc>
                <a:spcPts val="1820"/>
              </a:lnSpc>
              <a:buNone/>
            </a:pPr>
            <a:r>
              <a:rPr lang="en-US" sz="1300" b="1" dirty="0">
                <a:solidFill>
                  <a:srgbClr val="3F3C6B"/>
                </a:solidFill>
                <a:latin typeface="IBM Plex Sans" pitchFamily="34" charset="0"/>
                <a:ea typeface="IBM Plex Sans" pitchFamily="34" charset="-122"/>
                <a:cs typeface="IBM Plex Sans" pitchFamily="34" charset="-120"/>
              </a:rPr>
              <a:t>Gouvernance</a:t>
            </a:r>
            <a:r>
              <a:rPr lang="en-US" sz="1300" dirty="0">
                <a:solidFill>
                  <a:srgbClr val="3F3C6B"/>
                </a:solidFill>
                <a:latin typeface="IBM Plex Sans" pitchFamily="34" charset="0"/>
                <a:ea typeface="IBM Plex Sans" pitchFamily="34" charset="-122"/>
                <a:cs typeface="IBM Plex Sans" pitchFamily="34" charset="-120"/>
              </a:rPr>
              <a:t> : un projet communautaire organisé en groupes d'intérêt (SIG) ; aucun éditeur ne le contrôle seul.</a:t>
            </a:r>
            <a:endParaRPr lang="en-US" sz="1300" dirty="0"/>
          </a:p>
        </p:txBody>
      </p:sp>
      <p:sp>
        <p:nvSpPr>
          <p:cNvPr id="22" name="Text 20"/>
          <p:cNvSpPr/>
          <p:nvPr/>
        </p:nvSpPr>
        <p:spPr>
          <a:xfrm>
            <a:off x="6188075" y="5114714"/>
            <a:ext cx="5187950" cy="724112"/>
          </a:xfrm>
          <a:prstGeom prst="roundRect">
            <a:avLst>
              <a:gd name="adj" fmla="val 13593"/>
            </a:avLst>
          </a:prstGeom>
          <a:solidFill>
            <a:srgbClr val="FDFDFF"/>
          </a:solidFill>
          <a:ln w="6350">
            <a:solidFill>
              <a:srgbClr val="E1DFEE"/>
            </a:solidFill>
            <a:prstDash val="solid"/>
          </a:ln>
        </p:spPr>
        <p:txBody>
          <a:bodyPr wrap="square" lIns="152888" tIns="102088" rIns="8153" bIns="76688" rtlCol="0" anchor="t">
            <a:normAutofit/>
          </a:bodyPr>
          <a:lstStyle/>
          <a:p>
            <a:pPr algn="l" indent="0" marL="0">
              <a:lnSpc>
                <a:spcPts val="1820"/>
              </a:lnSpc>
              <a:buNone/>
            </a:pPr>
            <a:r>
              <a:rPr lang="en-US" sz="1300" b="1" dirty="0">
                <a:solidFill>
                  <a:srgbClr val="3F3C6B"/>
                </a:solidFill>
                <a:latin typeface="IBM Plex Sans" pitchFamily="34" charset="0"/>
                <a:ea typeface="IBM Plex Sans" pitchFamily="34" charset="-122"/>
                <a:cs typeface="IBM Plex Sans" pitchFamily="34" charset="-120"/>
              </a:rPr>
              <a:t>Mises à jour</a:t>
            </a:r>
            <a:r>
              <a:rPr lang="en-US" sz="1300" dirty="0">
                <a:solidFill>
                  <a:srgbClr val="3F3C6B"/>
                </a:solidFill>
                <a:latin typeface="IBM Plex Sans" pitchFamily="34" charset="0"/>
                <a:ea typeface="IBM Plex Sans" pitchFamily="34" charset="-122"/>
                <a:cs typeface="IBM Plex Sans" pitchFamily="34" charset="-120"/>
              </a:rPr>
              <a:t> : une version mineure à la fois, 1.36 → 1.37, jamais 1.35 → 1.37.</a:t>
            </a:r>
            <a:endParaRPr lang="en-US" sz="1300" dirty="0"/>
          </a:p>
        </p:txBody>
      </p:sp>
      <p:pic>
        <p:nvPicPr>
          <p:cNvPr id="23"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4" name="Text 21"/>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1" descr="Parcours : module 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01 · DES CONTENEURS À L'ORCHESTRATION</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Ce que Kubernetes fait, et ne fait pas</a:t>
            </a:r>
            <a:endParaRPr lang="en-US" sz="2800" dirty="0"/>
          </a:p>
        </p:txBody>
      </p:sp>
      <p:sp>
        <p:nvSpPr>
          <p:cNvPr id="4" name="Shape 2"/>
          <p:cNvSpPr/>
          <p:nvPr/>
        </p:nvSpPr>
        <p:spPr>
          <a:xfrm>
            <a:off x="812800" y="1595121"/>
            <a:ext cx="10566400" cy="2052320"/>
          </a:xfrm>
          <a:prstGeom prst="roundRect">
            <a:avLst>
              <a:gd name="adj" fmla="val 7426"/>
            </a:avLst>
          </a:prstGeom>
          <a:solidFill>
            <a:srgbClr val="0B0748"/>
          </a:solidFill>
          <a:ln/>
        </p:spPr>
      </p:sp>
      <p:sp>
        <p:nvSpPr>
          <p:cNvPr id="5" name="Text 3"/>
          <p:cNvSpPr/>
          <p:nvPr/>
        </p:nvSpPr>
        <p:spPr>
          <a:xfrm>
            <a:off x="1092200" y="1823721"/>
            <a:ext cx="1030782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CE QU'IL APPORTE</a:t>
            </a:r>
            <a:endParaRPr lang="en-US" sz="1200" dirty="0"/>
          </a:p>
        </p:txBody>
      </p:sp>
      <p:pic>
        <p:nvPicPr>
          <p:cNvPr id="6" name="Image 0" descr="Check">    </p:cNvPr>
          <p:cNvPicPr>
            <a:picLocks noChangeAspect="1"/>
          </p:cNvPicPr>
          <p:nvPr/>
        </p:nvPicPr>
        <p:blipFill>
          <a:blip r:embed="rId1"/>
          <a:srcRect l="0" r="0" t="0" b="0"/>
          <a:stretch/>
        </p:blipFill>
        <p:spPr>
          <a:xfrm>
            <a:off x="1092200" y="2190750"/>
            <a:ext cx="228600" cy="228600"/>
          </a:xfrm>
          <a:prstGeom prst="rect">
            <a:avLst/>
          </a:prstGeom>
        </p:spPr>
      </p:pic>
      <p:sp>
        <p:nvSpPr>
          <p:cNvPr id="7" name="Text 4"/>
          <p:cNvSpPr/>
          <p:nvPr/>
        </p:nvSpPr>
        <p:spPr>
          <a:xfrm>
            <a:off x="1422400" y="2189479"/>
            <a:ext cx="2991189"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FF"/>
                </a:solidFill>
                <a:latin typeface="IBM Plex Sans" pitchFamily="34" charset="0"/>
                <a:ea typeface="IBM Plex Sans" pitchFamily="34" charset="-122"/>
                <a:cs typeface="IBM Plex Sans" pitchFamily="34" charset="-120"/>
              </a:rPr>
              <a:t>Placement automatique</a:t>
            </a:r>
            <a:endParaRPr lang="en-US" sz="1400" dirty="0"/>
          </a:p>
        </p:txBody>
      </p:sp>
      <p:pic>
        <p:nvPicPr>
          <p:cNvPr id="8" name="Image 1" descr="Check">    </p:cNvPr>
          <p:cNvPicPr>
            <a:picLocks noChangeAspect="1"/>
          </p:cNvPicPr>
          <p:nvPr/>
        </p:nvPicPr>
        <p:blipFill>
          <a:blip r:embed="rId2"/>
          <a:srcRect l="0" r="0" t="0" b="0"/>
          <a:stretch/>
        </p:blipFill>
        <p:spPr>
          <a:xfrm>
            <a:off x="4478867" y="2190750"/>
            <a:ext cx="228600" cy="228600"/>
          </a:xfrm>
          <a:prstGeom prst="rect">
            <a:avLst/>
          </a:prstGeom>
        </p:spPr>
      </p:pic>
      <p:sp>
        <p:nvSpPr>
          <p:cNvPr id="9" name="Text 5"/>
          <p:cNvSpPr/>
          <p:nvPr/>
        </p:nvSpPr>
        <p:spPr>
          <a:xfrm>
            <a:off x="4809067" y="2189479"/>
            <a:ext cx="2991189"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FF"/>
                </a:solidFill>
                <a:latin typeface="IBM Plex Sans" pitchFamily="34" charset="0"/>
                <a:ea typeface="IBM Plex Sans" pitchFamily="34" charset="-122"/>
                <a:cs typeface="IBM Plex Sans" pitchFamily="34" charset="-120"/>
              </a:rPr>
              <a:t>Auto-réparation</a:t>
            </a:r>
            <a:endParaRPr lang="en-US" sz="1400" dirty="0"/>
          </a:p>
        </p:txBody>
      </p:sp>
      <p:pic>
        <p:nvPicPr>
          <p:cNvPr id="10" name="Image 2" descr="Check">    </p:cNvPr>
          <p:cNvPicPr>
            <a:picLocks noChangeAspect="1"/>
          </p:cNvPicPr>
          <p:nvPr/>
        </p:nvPicPr>
        <p:blipFill>
          <a:blip r:embed="rId3"/>
          <a:srcRect l="0" r="0" t="0" b="0"/>
          <a:stretch/>
        </p:blipFill>
        <p:spPr>
          <a:xfrm>
            <a:off x="7865533" y="2190750"/>
            <a:ext cx="228600" cy="228600"/>
          </a:xfrm>
          <a:prstGeom prst="rect">
            <a:avLst/>
          </a:prstGeom>
        </p:spPr>
      </p:pic>
      <p:sp>
        <p:nvSpPr>
          <p:cNvPr id="11" name="Text 6"/>
          <p:cNvSpPr/>
          <p:nvPr/>
        </p:nvSpPr>
        <p:spPr>
          <a:xfrm>
            <a:off x="8195733" y="2189479"/>
            <a:ext cx="2991189"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FF"/>
                </a:solidFill>
                <a:latin typeface="IBM Plex Sans" pitchFamily="34" charset="0"/>
                <a:ea typeface="IBM Plex Sans" pitchFamily="34" charset="-122"/>
                <a:cs typeface="IBM Plex Sans" pitchFamily="34" charset="-120"/>
              </a:rPr>
              <a:t>Mise à l'échelle horizontale</a:t>
            </a:r>
            <a:endParaRPr lang="en-US" sz="1400" dirty="0"/>
          </a:p>
        </p:txBody>
      </p:sp>
      <p:pic>
        <p:nvPicPr>
          <p:cNvPr id="12" name="Image 3" descr="Check">    </p:cNvPr>
          <p:cNvPicPr>
            <a:picLocks noChangeAspect="1"/>
          </p:cNvPicPr>
          <p:nvPr/>
        </p:nvPicPr>
        <p:blipFill>
          <a:blip r:embed="rId4"/>
          <a:srcRect l="0" r="0" t="0" b="0"/>
          <a:stretch/>
        </p:blipFill>
        <p:spPr>
          <a:xfrm>
            <a:off x="1092200" y="2689858"/>
            <a:ext cx="228600" cy="228600"/>
          </a:xfrm>
          <a:prstGeom prst="rect">
            <a:avLst/>
          </a:prstGeom>
        </p:spPr>
      </p:pic>
      <p:sp>
        <p:nvSpPr>
          <p:cNvPr id="13" name="Text 7"/>
          <p:cNvSpPr/>
          <p:nvPr/>
        </p:nvSpPr>
        <p:spPr>
          <a:xfrm>
            <a:off x="1422400" y="2573021"/>
            <a:ext cx="2991189"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FF"/>
                </a:solidFill>
                <a:latin typeface="IBM Plex Sans" pitchFamily="34" charset="0"/>
                <a:ea typeface="IBM Plex Sans" pitchFamily="34" charset="-122"/>
                <a:cs typeface="IBM Plex Sans" pitchFamily="34" charset="-120"/>
              </a:rPr>
              <a:t>Déploiements progressifs et retours arrière</a:t>
            </a:r>
            <a:endParaRPr lang="en-US" sz="1400" dirty="0"/>
          </a:p>
        </p:txBody>
      </p:sp>
      <p:pic>
        <p:nvPicPr>
          <p:cNvPr id="14" name="Image 4" descr="Check">    </p:cNvPr>
          <p:cNvPicPr>
            <a:picLocks noChangeAspect="1"/>
          </p:cNvPicPr>
          <p:nvPr/>
        </p:nvPicPr>
        <p:blipFill>
          <a:blip r:embed="rId5"/>
          <a:srcRect l="0" r="0" t="0" b="0"/>
          <a:stretch/>
        </p:blipFill>
        <p:spPr>
          <a:xfrm>
            <a:off x="4478867" y="2689858"/>
            <a:ext cx="228600" cy="228600"/>
          </a:xfrm>
          <a:prstGeom prst="rect">
            <a:avLst/>
          </a:prstGeom>
        </p:spPr>
      </p:pic>
      <p:sp>
        <p:nvSpPr>
          <p:cNvPr id="15" name="Text 8"/>
          <p:cNvSpPr/>
          <p:nvPr/>
        </p:nvSpPr>
        <p:spPr>
          <a:xfrm>
            <a:off x="4809067" y="2573021"/>
            <a:ext cx="2991189"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FF"/>
                </a:solidFill>
                <a:latin typeface="IBM Plex Sans" pitchFamily="34" charset="0"/>
                <a:ea typeface="IBM Plex Sans" pitchFamily="34" charset="-122"/>
                <a:cs typeface="IBM Plex Sans" pitchFamily="34" charset="-120"/>
              </a:rPr>
              <a:t>Découverte de services, répartition de charge</a:t>
            </a:r>
            <a:endParaRPr lang="en-US" sz="1400" dirty="0"/>
          </a:p>
        </p:txBody>
      </p:sp>
      <p:pic>
        <p:nvPicPr>
          <p:cNvPr id="16" name="Image 5" descr="Check">    </p:cNvPr>
          <p:cNvPicPr>
            <a:picLocks noChangeAspect="1"/>
          </p:cNvPicPr>
          <p:nvPr/>
        </p:nvPicPr>
        <p:blipFill>
          <a:blip r:embed="rId6"/>
          <a:srcRect l="0" r="0" t="0" b="0"/>
          <a:stretch/>
        </p:blipFill>
        <p:spPr>
          <a:xfrm>
            <a:off x="7865533" y="2689858"/>
            <a:ext cx="228600" cy="228600"/>
          </a:xfrm>
          <a:prstGeom prst="rect">
            <a:avLst/>
          </a:prstGeom>
        </p:spPr>
      </p:pic>
      <p:sp>
        <p:nvSpPr>
          <p:cNvPr id="17" name="Text 9"/>
          <p:cNvSpPr/>
          <p:nvPr/>
        </p:nvSpPr>
        <p:spPr>
          <a:xfrm>
            <a:off x="8195733" y="2688592"/>
            <a:ext cx="2991189"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FF"/>
                </a:solidFill>
                <a:latin typeface="IBM Plex Sans" pitchFamily="34" charset="0"/>
                <a:ea typeface="IBM Plex Sans" pitchFamily="34" charset="-122"/>
                <a:cs typeface="IBM Plex Sans" pitchFamily="34" charset="-120"/>
              </a:rPr>
              <a:t>Configuration et secrets</a:t>
            </a:r>
            <a:endParaRPr lang="en-US" sz="1400" dirty="0"/>
          </a:p>
        </p:txBody>
      </p:sp>
      <p:pic>
        <p:nvPicPr>
          <p:cNvPr id="18" name="Image 6" descr="Check">    </p:cNvPr>
          <p:cNvPicPr>
            <a:picLocks noChangeAspect="1"/>
          </p:cNvPicPr>
          <p:nvPr/>
        </p:nvPicPr>
        <p:blipFill>
          <a:blip r:embed="rId7"/>
          <a:srcRect l="0" r="0" t="0" b="0"/>
          <a:stretch/>
        </p:blipFill>
        <p:spPr>
          <a:xfrm>
            <a:off x="1092200" y="3188971"/>
            <a:ext cx="228600" cy="228600"/>
          </a:xfrm>
          <a:prstGeom prst="rect">
            <a:avLst/>
          </a:prstGeom>
        </p:spPr>
      </p:pic>
      <p:sp>
        <p:nvSpPr>
          <p:cNvPr id="19" name="Text 10"/>
          <p:cNvSpPr/>
          <p:nvPr/>
        </p:nvSpPr>
        <p:spPr>
          <a:xfrm>
            <a:off x="1422400" y="3187700"/>
            <a:ext cx="2991189"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FF"/>
                </a:solidFill>
                <a:latin typeface="IBM Plex Sans" pitchFamily="34" charset="0"/>
                <a:ea typeface="IBM Plex Sans" pitchFamily="34" charset="-122"/>
                <a:cs typeface="IBM Plex Sans" pitchFamily="34" charset="-120"/>
              </a:rPr>
              <a:t>Orchestration du stockage</a:t>
            </a:r>
            <a:endParaRPr lang="en-US" sz="1400" dirty="0"/>
          </a:p>
        </p:txBody>
      </p:sp>
      <p:pic>
        <p:nvPicPr>
          <p:cNvPr id="20" name="Image 7" descr="Check">    </p:cNvPr>
          <p:cNvPicPr>
            <a:picLocks noChangeAspect="1"/>
          </p:cNvPicPr>
          <p:nvPr/>
        </p:nvPicPr>
        <p:blipFill>
          <a:blip r:embed="rId8"/>
          <a:srcRect l="0" r="0" t="0" b="0"/>
          <a:stretch/>
        </p:blipFill>
        <p:spPr>
          <a:xfrm>
            <a:off x="4478867" y="3188971"/>
            <a:ext cx="228600" cy="228600"/>
          </a:xfrm>
          <a:prstGeom prst="rect">
            <a:avLst/>
          </a:prstGeom>
        </p:spPr>
      </p:pic>
      <p:sp>
        <p:nvSpPr>
          <p:cNvPr id="21" name="Text 11"/>
          <p:cNvSpPr/>
          <p:nvPr/>
        </p:nvSpPr>
        <p:spPr>
          <a:xfrm>
            <a:off x="4809067" y="3187700"/>
            <a:ext cx="2991189"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FF"/>
                </a:solidFill>
                <a:latin typeface="IBM Plex Sans" pitchFamily="34" charset="0"/>
                <a:ea typeface="IBM Plex Sans" pitchFamily="34" charset="-122"/>
                <a:cs typeface="IBM Plex Sans" pitchFamily="34" charset="-120"/>
              </a:rPr>
              <a:t>Traitements par lots</a:t>
            </a:r>
            <a:endParaRPr lang="en-US" sz="1400" dirty="0"/>
          </a:p>
        </p:txBody>
      </p:sp>
      <p:pic>
        <p:nvPicPr>
          <p:cNvPr id="22" name="Image 8" descr="Check">    </p:cNvPr>
          <p:cNvPicPr>
            <a:picLocks noChangeAspect="1"/>
          </p:cNvPicPr>
          <p:nvPr/>
        </p:nvPicPr>
        <p:blipFill>
          <a:blip r:embed="rId9"/>
          <a:srcRect l="0" r="0" t="0" b="0"/>
          <a:stretch/>
        </p:blipFill>
        <p:spPr>
          <a:xfrm>
            <a:off x="7865533" y="3188971"/>
            <a:ext cx="228600" cy="228600"/>
          </a:xfrm>
          <a:prstGeom prst="rect">
            <a:avLst/>
          </a:prstGeom>
        </p:spPr>
      </p:pic>
      <p:sp>
        <p:nvSpPr>
          <p:cNvPr id="23" name="Text 12"/>
          <p:cNvSpPr/>
          <p:nvPr/>
        </p:nvSpPr>
        <p:spPr>
          <a:xfrm>
            <a:off x="8195733" y="3187700"/>
            <a:ext cx="2991189"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FF"/>
                </a:solidFill>
                <a:latin typeface="IBM Plex Sans" pitchFamily="34" charset="0"/>
                <a:ea typeface="IBM Plex Sans" pitchFamily="34" charset="-122"/>
                <a:cs typeface="IBM Plex Sans" pitchFamily="34" charset="-120"/>
              </a:rPr>
              <a:t>Une API extensible</a:t>
            </a:r>
            <a:endParaRPr lang="en-US" sz="1400" dirty="0"/>
          </a:p>
        </p:txBody>
      </p:sp>
      <p:sp>
        <p:nvSpPr>
          <p:cNvPr id="24" name="Shape 13"/>
          <p:cNvSpPr/>
          <p:nvPr/>
        </p:nvSpPr>
        <p:spPr>
          <a:xfrm>
            <a:off x="815975" y="3904617"/>
            <a:ext cx="5187950" cy="1934210"/>
          </a:xfrm>
          <a:prstGeom prst="roundRect">
            <a:avLst>
              <a:gd name="adj" fmla="val 6402"/>
            </a:avLst>
          </a:prstGeom>
          <a:solidFill>
            <a:srgbClr val="FDFDFF"/>
          </a:solidFill>
          <a:ln w="6350">
            <a:solidFill>
              <a:srgbClr val="E1DFEE"/>
            </a:solidFill>
            <a:prstDash val="solid"/>
          </a:ln>
        </p:spPr>
      </p:sp>
      <p:sp>
        <p:nvSpPr>
          <p:cNvPr id="25" name="Text 14"/>
          <p:cNvSpPr/>
          <p:nvPr/>
        </p:nvSpPr>
        <p:spPr>
          <a:xfrm>
            <a:off x="1048491" y="4111730"/>
            <a:ext cx="486460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CE QU'IL NE FAIT PAS</a:t>
            </a:r>
            <a:endParaRPr lang="en-US" sz="1200" dirty="0"/>
          </a:p>
        </p:txBody>
      </p:sp>
      <p:sp>
        <p:nvSpPr>
          <p:cNvPr id="26" name="Text 15"/>
          <p:cNvSpPr/>
          <p:nvPr/>
        </p:nvSpPr>
        <p:spPr>
          <a:xfrm>
            <a:off x="1048491" y="4413988"/>
            <a:ext cx="4864606"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Construire vos images, l'intégration continue, la collecte de logs, la supervision clés en main : ces briques s'ajoutent autour de lui.</a:t>
            </a:r>
            <a:endParaRPr lang="en-US" sz="1400" dirty="0"/>
          </a:p>
        </p:txBody>
      </p:sp>
      <p:sp>
        <p:nvSpPr>
          <p:cNvPr id="27" name="Shape 16"/>
          <p:cNvSpPr/>
          <p:nvPr/>
        </p:nvSpPr>
        <p:spPr>
          <a:xfrm>
            <a:off x="6188075" y="3904617"/>
            <a:ext cx="5187950" cy="1934210"/>
          </a:xfrm>
          <a:prstGeom prst="roundRect">
            <a:avLst>
              <a:gd name="adj" fmla="val 6402"/>
            </a:avLst>
          </a:prstGeom>
          <a:solidFill>
            <a:srgbClr val="FDFDFF"/>
          </a:solidFill>
          <a:ln w="6350">
            <a:solidFill>
              <a:srgbClr val="E1DFEE"/>
            </a:solidFill>
            <a:prstDash val="solid"/>
          </a:ln>
        </p:spPr>
      </p:sp>
      <p:sp>
        <p:nvSpPr>
          <p:cNvPr id="28" name="Text 17"/>
          <p:cNvSpPr/>
          <p:nvPr/>
        </p:nvSpPr>
        <p:spPr>
          <a:xfrm>
            <a:off x="6420591" y="4111730"/>
            <a:ext cx="486460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UN EXEMPLE PROCHE DE VOUS</a:t>
            </a:r>
            <a:endParaRPr lang="en-US" sz="1200" dirty="0"/>
          </a:p>
        </p:txBody>
      </p:sp>
      <p:sp>
        <p:nvSpPr>
          <p:cNvPr id="29" name="Text 18"/>
          <p:cNvSpPr/>
          <p:nvPr/>
        </p:nvSpPr>
        <p:spPr>
          <a:xfrm>
            <a:off x="6420591" y="4413988"/>
            <a:ext cx="4864606" cy="79883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3F3C6B"/>
                </a:solidFill>
                <a:latin typeface="IBM Plex Sans" pitchFamily="34" charset="0"/>
                <a:ea typeface="IBM Plex Sans" pitchFamily="34" charset="-122"/>
                <a:cs typeface="IBM Plex Sans" pitchFamily="34" charset="-120"/>
              </a:rPr>
              <a:t>Onyxia</a:t>
            </a:r>
            <a:r>
              <a:rPr lang="en-US" sz="1400" dirty="0">
                <a:solidFill>
                  <a:srgbClr val="3F3C6B"/>
                </a:solidFill>
                <a:latin typeface="IBM Plex Sans" pitchFamily="34" charset="0"/>
                <a:ea typeface="IBM Plex Sans" pitchFamily="34" charset="-122"/>
                <a:cs typeface="IBM Plex Sans" pitchFamily="34" charset="-120"/>
              </a:rPr>
              <a:t>, développée à l'INSEE pour le SSP Cloud : chaque service lancé (RStudio, Jupyter, VS Code, une base de données) devient un ensemble de pods.</a:t>
            </a:r>
            <a:endParaRPr lang="en-US" sz="1400" dirty="0"/>
          </a:p>
        </p:txBody>
      </p:sp>
      <p:pic>
        <p:nvPicPr>
          <p:cNvPr id="30" name="Image 9" descr="preencoded.png">    </p:cNvPr>
          <p:cNvPicPr>
            <a:picLocks noChangeAspect="1"/>
          </p:cNvPicPr>
          <p:nvPr/>
        </p:nvPicPr>
        <p:blipFill>
          <a:blip r:embed="rId10"/>
          <a:srcRect l="0" r="0" t="0" b="0"/>
          <a:stretch/>
        </p:blipFill>
        <p:spPr>
          <a:xfrm>
            <a:off x="812800" y="6299200"/>
            <a:ext cx="152400" cy="152400"/>
          </a:xfrm>
          <a:prstGeom prst="rect">
            <a:avLst/>
          </a:prstGeom>
        </p:spPr>
      </p:pic>
      <p:sp>
        <p:nvSpPr>
          <p:cNvPr id="31" name="Text 19"/>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2" name="Image 10" descr="Parcours : module 1 sur 16">    </p:cNvPr>
          <p:cNvPicPr>
            <a:picLocks noChangeAspect="1"/>
          </p:cNvPicPr>
          <p:nvPr/>
        </p:nvPicPr>
        <p:blipFill>
          <a:blip r:embed="rId11"/>
          <a:srcRect l="0" r="0" t="0" b="0"/>
          <a:stretch/>
        </p:blipFill>
        <p:spPr>
          <a:xfrm>
            <a:off x="9207500" y="6299200"/>
            <a:ext cx="2171700" cy="152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01 · DES CONTENEURS À L'ORCHESTRATION</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Docker en dix commandes</a:t>
            </a:r>
            <a:endParaRPr lang="en-US" sz="2800" dirty="0"/>
          </a:p>
        </p:txBody>
      </p:sp>
      <p:sp>
        <p:nvSpPr>
          <p:cNvPr id="4" name="Shape 2"/>
          <p:cNvSpPr/>
          <p:nvPr/>
        </p:nvSpPr>
        <p:spPr>
          <a:xfrm>
            <a:off x="812800" y="2081428"/>
            <a:ext cx="10566400" cy="0"/>
          </a:xfrm>
          <a:prstGeom prst="line">
            <a:avLst/>
          </a:prstGeom>
          <a:noFill/>
          <a:ln w="6350">
            <a:solidFill>
              <a:srgbClr val="E1DFEE"/>
            </a:solidFill>
            <a:prstDash val="solid"/>
          </a:ln>
        </p:spPr>
      </p:sp>
      <p:sp>
        <p:nvSpPr>
          <p:cNvPr id="5" name="Text 3"/>
          <p:cNvSpPr/>
          <p:nvPr/>
        </p:nvSpPr>
        <p:spPr>
          <a:xfrm>
            <a:off x="812800" y="1800014"/>
            <a:ext cx="536321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docker run -d --name web -p 8080:80 nginx:1.27-alpine</a:t>
            </a:r>
            <a:endParaRPr lang="en-US" sz="1200" dirty="0"/>
          </a:p>
        </p:txBody>
      </p:sp>
      <p:sp>
        <p:nvSpPr>
          <p:cNvPr id="6" name="Text 4"/>
          <p:cNvSpPr/>
          <p:nvPr/>
        </p:nvSpPr>
        <p:spPr>
          <a:xfrm>
            <a:off x="6223000" y="1799382"/>
            <a:ext cx="531088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F3C6B"/>
                </a:solidFill>
                <a:latin typeface="IBM Plex Sans" pitchFamily="34" charset="0"/>
                <a:ea typeface="IBM Plex Sans" pitchFamily="34" charset="-122"/>
                <a:cs typeface="IBM Plex Sans" pitchFamily="34" charset="-120"/>
              </a:rPr>
              <a:t>Lance un conteneur en arrière-plan, port 80 publié sur 8080</a:t>
            </a:r>
            <a:endParaRPr lang="en-US" sz="1300" dirty="0"/>
          </a:p>
        </p:txBody>
      </p:sp>
      <p:sp>
        <p:nvSpPr>
          <p:cNvPr id="7" name="Shape 5"/>
          <p:cNvSpPr/>
          <p:nvPr/>
        </p:nvSpPr>
        <p:spPr>
          <a:xfrm>
            <a:off x="812800" y="2430144"/>
            <a:ext cx="10566400" cy="0"/>
          </a:xfrm>
          <a:prstGeom prst="line">
            <a:avLst/>
          </a:prstGeom>
          <a:noFill/>
          <a:ln w="6350">
            <a:solidFill>
              <a:srgbClr val="E1DFEE"/>
            </a:solidFill>
            <a:prstDash val="solid"/>
          </a:ln>
        </p:spPr>
      </p:sp>
      <p:sp>
        <p:nvSpPr>
          <p:cNvPr id="8" name="Text 6"/>
          <p:cNvSpPr/>
          <p:nvPr/>
        </p:nvSpPr>
        <p:spPr>
          <a:xfrm>
            <a:off x="812800" y="2148731"/>
            <a:ext cx="536321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docker ps</a:t>
            </a:r>
            <a:endParaRPr lang="en-US" sz="1200" dirty="0"/>
          </a:p>
        </p:txBody>
      </p:sp>
      <p:sp>
        <p:nvSpPr>
          <p:cNvPr id="9" name="Text 7"/>
          <p:cNvSpPr/>
          <p:nvPr/>
        </p:nvSpPr>
        <p:spPr>
          <a:xfrm>
            <a:off x="6223000" y="2148098"/>
            <a:ext cx="531088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F3C6B"/>
                </a:solidFill>
                <a:latin typeface="IBM Plex Sans" pitchFamily="34" charset="0"/>
                <a:ea typeface="IBM Plex Sans" pitchFamily="34" charset="-122"/>
                <a:cs typeface="IBM Plex Sans" pitchFamily="34" charset="-120"/>
              </a:rPr>
              <a:t>Liste les conteneurs en cours (-a : aussi les arrêtés)</a:t>
            </a:r>
            <a:endParaRPr lang="en-US" sz="1300" dirty="0"/>
          </a:p>
        </p:txBody>
      </p:sp>
      <p:sp>
        <p:nvSpPr>
          <p:cNvPr id="10" name="Shape 8"/>
          <p:cNvSpPr/>
          <p:nvPr/>
        </p:nvSpPr>
        <p:spPr>
          <a:xfrm>
            <a:off x="812800" y="2778861"/>
            <a:ext cx="10566400" cy="0"/>
          </a:xfrm>
          <a:prstGeom prst="line">
            <a:avLst/>
          </a:prstGeom>
          <a:noFill/>
          <a:ln w="6350">
            <a:solidFill>
              <a:srgbClr val="E1DFEE"/>
            </a:solidFill>
            <a:prstDash val="solid"/>
          </a:ln>
        </p:spPr>
      </p:sp>
      <p:sp>
        <p:nvSpPr>
          <p:cNvPr id="11" name="Text 9"/>
          <p:cNvSpPr/>
          <p:nvPr/>
        </p:nvSpPr>
        <p:spPr>
          <a:xfrm>
            <a:off x="812800" y="2497460"/>
            <a:ext cx="536321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docker logs -f web</a:t>
            </a:r>
            <a:endParaRPr lang="en-US" sz="1200" dirty="0"/>
          </a:p>
        </p:txBody>
      </p:sp>
      <p:sp>
        <p:nvSpPr>
          <p:cNvPr id="12" name="Text 10"/>
          <p:cNvSpPr/>
          <p:nvPr/>
        </p:nvSpPr>
        <p:spPr>
          <a:xfrm>
            <a:off x="6223000" y="2496815"/>
            <a:ext cx="531088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F3C6B"/>
                </a:solidFill>
                <a:latin typeface="IBM Plex Sans" pitchFamily="34" charset="0"/>
                <a:ea typeface="IBM Plex Sans" pitchFamily="34" charset="-122"/>
                <a:cs typeface="IBM Plex Sans" pitchFamily="34" charset="-120"/>
              </a:rPr>
              <a:t>Affiche la sortie de l'application</a:t>
            </a:r>
            <a:endParaRPr lang="en-US" sz="1300" dirty="0"/>
          </a:p>
        </p:txBody>
      </p:sp>
      <p:sp>
        <p:nvSpPr>
          <p:cNvPr id="13" name="Shape 11"/>
          <p:cNvSpPr/>
          <p:nvPr/>
        </p:nvSpPr>
        <p:spPr>
          <a:xfrm>
            <a:off x="812800" y="3127590"/>
            <a:ext cx="10566400" cy="0"/>
          </a:xfrm>
          <a:prstGeom prst="line">
            <a:avLst/>
          </a:prstGeom>
          <a:noFill/>
          <a:ln w="6350">
            <a:solidFill>
              <a:srgbClr val="E1DFEE"/>
            </a:solidFill>
            <a:prstDash val="solid"/>
          </a:ln>
        </p:spPr>
      </p:sp>
      <p:sp>
        <p:nvSpPr>
          <p:cNvPr id="14" name="Text 12"/>
          <p:cNvSpPr/>
          <p:nvPr/>
        </p:nvSpPr>
        <p:spPr>
          <a:xfrm>
            <a:off x="812800" y="2846177"/>
            <a:ext cx="536321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docker exec -it web sh</a:t>
            </a:r>
            <a:endParaRPr lang="en-US" sz="1200" dirty="0"/>
          </a:p>
        </p:txBody>
      </p:sp>
      <p:sp>
        <p:nvSpPr>
          <p:cNvPr id="15" name="Text 13"/>
          <p:cNvSpPr/>
          <p:nvPr/>
        </p:nvSpPr>
        <p:spPr>
          <a:xfrm>
            <a:off x="6223000" y="2845544"/>
            <a:ext cx="531088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F3C6B"/>
                </a:solidFill>
                <a:latin typeface="IBM Plex Sans" pitchFamily="34" charset="0"/>
                <a:ea typeface="IBM Plex Sans" pitchFamily="34" charset="-122"/>
                <a:cs typeface="IBM Plex Sans" pitchFamily="34" charset="-120"/>
              </a:rPr>
              <a:t>Ouvre un shell dans le conteneur</a:t>
            </a:r>
            <a:endParaRPr lang="en-US" sz="1300" dirty="0"/>
          </a:p>
        </p:txBody>
      </p:sp>
      <p:sp>
        <p:nvSpPr>
          <p:cNvPr id="16" name="Shape 14"/>
          <p:cNvSpPr/>
          <p:nvPr/>
        </p:nvSpPr>
        <p:spPr>
          <a:xfrm>
            <a:off x="812800" y="3476307"/>
            <a:ext cx="10566400" cy="0"/>
          </a:xfrm>
          <a:prstGeom prst="line">
            <a:avLst/>
          </a:prstGeom>
          <a:noFill/>
          <a:ln w="6350">
            <a:solidFill>
              <a:srgbClr val="E1DFEE"/>
            </a:solidFill>
            <a:prstDash val="solid"/>
          </a:ln>
        </p:spPr>
      </p:sp>
      <p:sp>
        <p:nvSpPr>
          <p:cNvPr id="17" name="Text 15"/>
          <p:cNvSpPr/>
          <p:nvPr/>
        </p:nvSpPr>
        <p:spPr>
          <a:xfrm>
            <a:off x="812800" y="3194893"/>
            <a:ext cx="536321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docker stop web · docker start web</a:t>
            </a:r>
            <a:endParaRPr lang="en-US" sz="1200" dirty="0"/>
          </a:p>
        </p:txBody>
      </p:sp>
      <p:sp>
        <p:nvSpPr>
          <p:cNvPr id="18" name="Text 16"/>
          <p:cNvSpPr/>
          <p:nvPr/>
        </p:nvSpPr>
        <p:spPr>
          <a:xfrm>
            <a:off x="6223000" y="3194261"/>
            <a:ext cx="531088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F3C6B"/>
                </a:solidFill>
                <a:latin typeface="IBM Plex Sans" pitchFamily="34" charset="0"/>
                <a:ea typeface="IBM Plex Sans" pitchFamily="34" charset="-122"/>
                <a:cs typeface="IBM Plex Sans" pitchFamily="34" charset="-120"/>
              </a:rPr>
              <a:t>Arrête puis relance le même conteneur</a:t>
            </a:r>
            <a:endParaRPr lang="en-US" sz="1300" dirty="0"/>
          </a:p>
        </p:txBody>
      </p:sp>
      <p:sp>
        <p:nvSpPr>
          <p:cNvPr id="19" name="Shape 17"/>
          <p:cNvSpPr/>
          <p:nvPr/>
        </p:nvSpPr>
        <p:spPr>
          <a:xfrm>
            <a:off x="812800" y="3825023"/>
            <a:ext cx="10566400" cy="0"/>
          </a:xfrm>
          <a:prstGeom prst="line">
            <a:avLst/>
          </a:prstGeom>
          <a:noFill/>
          <a:ln w="6350">
            <a:solidFill>
              <a:srgbClr val="E1DFEE"/>
            </a:solidFill>
            <a:prstDash val="solid"/>
          </a:ln>
        </p:spPr>
      </p:sp>
      <p:sp>
        <p:nvSpPr>
          <p:cNvPr id="20" name="Text 18"/>
          <p:cNvSpPr/>
          <p:nvPr/>
        </p:nvSpPr>
        <p:spPr>
          <a:xfrm>
            <a:off x="812800" y="3543622"/>
            <a:ext cx="536321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docker rm -f web</a:t>
            </a:r>
            <a:endParaRPr lang="en-US" sz="1200" dirty="0"/>
          </a:p>
        </p:txBody>
      </p:sp>
      <p:sp>
        <p:nvSpPr>
          <p:cNvPr id="21" name="Text 19"/>
          <p:cNvSpPr/>
          <p:nvPr/>
        </p:nvSpPr>
        <p:spPr>
          <a:xfrm>
            <a:off x="6223000" y="3542978"/>
            <a:ext cx="531088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F3C6B"/>
                </a:solidFill>
                <a:latin typeface="IBM Plex Sans" pitchFamily="34" charset="0"/>
                <a:ea typeface="IBM Plex Sans" pitchFamily="34" charset="-122"/>
                <a:cs typeface="IBM Plex Sans" pitchFamily="34" charset="-120"/>
              </a:rPr>
              <a:t>Supprime le conteneur et tout ce qui a été écrit dedans</a:t>
            </a:r>
            <a:endParaRPr lang="en-US" sz="1300" dirty="0"/>
          </a:p>
        </p:txBody>
      </p:sp>
      <p:sp>
        <p:nvSpPr>
          <p:cNvPr id="22" name="Shape 20"/>
          <p:cNvSpPr/>
          <p:nvPr/>
        </p:nvSpPr>
        <p:spPr>
          <a:xfrm>
            <a:off x="812800" y="4173753"/>
            <a:ext cx="10566400" cy="0"/>
          </a:xfrm>
          <a:prstGeom prst="line">
            <a:avLst/>
          </a:prstGeom>
          <a:noFill/>
          <a:ln w="6350">
            <a:solidFill>
              <a:srgbClr val="E1DFEE"/>
            </a:solidFill>
            <a:prstDash val="solid"/>
          </a:ln>
        </p:spPr>
      </p:sp>
      <p:sp>
        <p:nvSpPr>
          <p:cNvPr id="23" name="Text 21"/>
          <p:cNvSpPr/>
          <p:nvPr/>
        </p:nvSpPr>
        <p:spPr>
          <a:xfrm>
            <a:off x="812800" y="3892339"/>
            <a:ext cx="536321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docker run -v "$PWD/site:/usr/share/nginx/html:ro" …</a:t>
            </a:r>
            <a:endParaRPr lang="en-US" sz="1200" dirty="0"/>
          </a:p>
        </p:txBody>
      </p:sp>
      <p:sp>
        <p:nvSpPr>
          <p:cNvPr id="24" name="Text 22"/>
          <p:cNvSpPr/>
          <p:nvPr/>
        </p:nvSpPr>
        <p:spPr>
          <a:xfrm>
            <a:off x="6223000" y="3891707"/>
            <a:ext cx="531088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F3C6B"/>
                </a:solidFill>
                <a:latin typeface="IBM Plex Sans" pitchFamily="34" charset="0"/>
                <a:ea typeface="IBM Plex Sans" pitchFamily="34" charset="-122"/>
                <a:cs typeface="IBM Plex Sans" pitchFamily="34" charset="-120"/>
              </a:rPr>
              <a:t>Monte un dossier du poste : les données survivent au conteneur</a:t>
            </a:r>
            <a:endParaRPr lang="en-US" sz="1300" dirty="0"/>
          </a:p>
        </p:txBody>
      </p:sp>
      <p:sp>
        <p:nvSpPr>
          <p:cNvPr id="25" name="Shape 23"/>
          <p:cNvSpPr/>
          <p:nvPr/>
        </p:nvSpPr>
        <p:spPr>
          <a:xfrm>
            <a:off x="812800" y="4522469"/>
            <a:ext cx="10566400" cy="0"/>
          </a:xfrm>
          <a:prstGeom prst="line">
            <a:avLst/>
          </a:prstGeom>
          <a:noFill/>
          <a:ln w="6350">
            <a:solidFill>
              <a:srgbClr val="E1DFEE"/>
            </a:solidFill>
            <a:prstDash val="solid"/>
          </a:ln>
        </p:spPr>
      </p:sp>
      <p:sp>
        <p:nvSpPr>
          <p:cNvPr id="26" name="Text 24"/>
          <p:cNvSpPr/>
          <p:nvPr/>
        </p:nvSpPr>
        <p:spPr>
          <a:xfrm>
            <a:off x="812800" y="4241056"/>
            <a:ext cx="536321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docker build -t mon-site:1.0 .</a:t>
            </a:r>
            <a:endParaRPr lang="en-US" sz="1200" dirty="0"/>
          </a:p>
        </p:txBody>
      </p:sp>
      <p:sp>
        <p:nvSpPr>
          <p:cNvPr id="27" name="Text 25"/>
          <p:cNvSpPr/>
          <p:nvPr/>
        </p:nvSpPr>
        <p:spPr>
          <a:xfrm>
            <a:off x="6223000" y="4240423"/>
            <a:ext cx="531088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F3C6B"/>
                </a:solidFill>
                <a:latin typeface="IBM Plex Sans" pitchFamily="34" charset="0"/>
                <a:ea typeface="IBM Plex Sans" pitchFamily="34" charset="-122"/>
                <a:cs typeface="IBM Plex Sans" pitchFamily="34" charset="-120"/>
              </a:rPr>
              <a:t>Construit une image à partir du Dockerfile du dossier courant</a:t>
            </a:r>
            <a:endParaRPr lang="en-US" sz="1300" dirty="0"/>
          </a:p>
        </p:txBody>
      </p:sp>
      <p:sp>
        <p:nvSpPr>
          <p:cNvPr id="28" name="Shape 26"/>
          <p:cNvSpPr/>
          <p:nvPr/>
        </p:nvSpPr>
        <p:spPr>
          <a:xfrm>
            <a:off x="812800" y="4871186"/>
            <a:ext cx="10566400" cy="0"/>
          </a:xfrm>
          <a:prstGeom prst="line">
            <a:avLst/>
          </a:prstGeom>
          <a:noFill/>
          <a:ln w="6350">
            <a:solidFill>
              <a:srgbClr val="E1DFEE"/>
            </a:solidFill>
            <a:prstDash val="solid"/>
          </a:ln>
        </p:spPr>
      </p:sp>
      <p:sp>
        <p:nvSpPr>
          <p:cNvPr id="29" name="Text 27"/>
          <p:cNvSpPr/>
          <p:nvPr/>
        </p:nvSpPr>
        <p:spPr>
          <a:xfrm>
            <a:off x="812800" y="4589785"/>
            <a:ext cx="536321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docker history mon-site:1.0</a:t>
            </a:r>
            <a:endParaRPr lang="en-US" sz="1200" dirty="0"/>
          </a:p>
        </p:txBody>
      </p:sp>
      <p:sp>
        <p:nvSpPr>
          <p:cNvPr id="30" name="Text 28"/>
          <p:cNvSpPr/>
          <p:nvPr/>
        </p:nvSpPr>
        <p:spPr>
          <a:xfrm>
            <a:off x="6223000" y="4589140"/>
            <a:ext cx="531088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F3C6B"/>
                </a:solidFill>
                <a:latin typeface="IBM Plex Sans" pitchFamily="34" charset="0"/>
                <a:ea typeface="IBM Plex Sans" pitchFamily="34" charset="-122"/>
                <a:cs typeface="IBM Plex Sans" pitchFamily="34" charset="-120"/>
              </a:rPr>
              <a:t>Montre les couches de l'image</a:t>
            </a:r>
            <a:endParaRPr lang="en-US" sz="1300" dirty="0"/>
          </a:p>
        </p:txBody>
      </p:sp>
      <p:sp>
        <p:nvSpPr>
          <p:cNvPr id="31" name="Text 29"/>
          <p:cNvSpPr/>
          <p:nvPr/>
        </p:nvSpPr>
        <p:spPr>
          <a:xfrm>
            <a:off x="812800" y="4938502"/>
            <a:ext cx="536321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docker push registre.exemple.fr/equipe/mon-site:1.0</a:t>
            </a:r>
            <a:endParaRPr lang="en-US" sz="1200" dirty="0"/>
          </a:p>
        </p:txBody>
      </p:sp>
      <p:sp>
        <p:nvSpPr>
          <p:cNvPr id="32" name="Text 30"/>
          <p:cNvSpPr/>
          <p:nvPr/>
        </p:nvSpPr>
        <p:spPr>
          <a:xfrm>
            <a:off x="6223000" y="4937869"/>
            <a:ext cx="531088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F3C6B"/>
                </a:solidFill>
                <a:latin typeface="IBM Plex Sans" pitchFamily="34" charset="0"/>
                <a:ea typeface="IBM Plex Sans" pitchFamily="34" charset="-122"/>
                <a:cs typeface="IBM Plex Sans" pitchFamily="34" charset="-120"/>
              </a:rPr>
              <a:t>Publie l'image (après docker tag et docker login)</a:t>
            </a:r>
            <a:endParaRPr lang="en-US" sz="1300" dirty="0"/>
          </a:p>
        </p:txBody>
      </p:sp>
      <p:sp>
        <p:nvSpPr>
          <p:cNvPr id="33" name="Text 31"/>
          <p:cNvSpPr/>
          <p:nvPr/>
        </p:nvSpPr>
        <p:spPr>
          <a:xfrm>
            <a:off x="812800" y="5610858"/>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À refaire chez vous avec Docker Desktop, Rancher Desktop ou Podman (mêmes commandes, podman au lieu de docker).</a:t>
            </a:r>
            <a:endParaRPr lang="en-US" sz="1300" dirty="0"/>
          </a:p>
        </p:txBody>
      </p:sp>
      <p:pic>
        <p:nvPicPr>
          <p:cNvPr id="34"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35" name="Text 32"/>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6" name="Image 1" descr="Parcours : module 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01 · DES CONTENEURS À L'ORCHESTRATION</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Une bonne image pour Kubernetes</a:t>
            </a:r>
            <a:endParaRPr lang="en-US" sz="2800" dirty="0"/>
          </a:p>
        </p:txBody>
      </p:sp>
      <p:sp>
        <p:nvSpPr>
          <p:cNvPr id="4" name="Text 2"/>
          <p:cNvSpPr/>
          <p:nvPr/>
        </p:nvSpPr>
        <p:spPr>
          <a:xfrm>
            <a:off x="812800" y="1595115"/>
            <a:ext cx="57556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UN DOCKERFILE DÉCRIT LA CONSTRUCTION</a:t>
            </a:r>
            <a:endParaRPr lang="en-US" sz="1200" dirty="0"/>
          </a:p>
        </p:txBody>
      </p:sp>
      <p:sp>
        <p:nvSpPr>
          <p:cNvPr id="5" name="Text 3"/>
          <p:cNvSpPr/>
          <p:nvPr/>
        </p:nvSpPr>
        <p:spPr>
          <a:xfrm>
            <a:off x="812800" y="1935485"/>
            <a:ext cx="5588000" cy="2204720"/>
          </a:xfrm>
          <a:prstGeom prst="roundRect">
            <a:avLst>
              <a:gd name="adj" fmla="val 4608"/>
            </a:avLst>
          </a:prstGeom>
          <a:solidFill>
            <a:srgbClr val="0B0748"/>
          </a:solidFill>
          <a:ln/>
        </p:spPr>
        <p:txBody>
          <a:bodyPr wrap="none" lIns="173442" tIns="148042" rIns="17994" bIns="122642" rtlCol="0" anchor="t">
            <a:normAutofit/>
          </a:bodyPr>
          <a:lstStyle/>
          <a:p>
            <a:pPr algn="l" indent="0" marL="0">
              <a:lnSpc>
                <a:spcPts val="2080"/>
              </a:lnSpc>
              <a:buNone/>
            </a:pPr>
            <a:r>
              <a:rPr lang="en-US" sz="1300" dirty="0">
                <a:solidFill>
                  <a:srgbClr val="9A96D0"/>
                </a:solidFill>
                <a:latin typeface="JetBrains Mono" pitchFamily="49" charset="0"/>
                <a:ea typeface="JetBrains Mono" pitchFamily="49" charset="-122"/>
                <a:cs typeface="JetBrains Mono" pitchFamily="49" charset="-120"/>
              </a:rPr>
              <a:t># Image de départ</a:t>
            </a:r>
            <a:endParaRPr lang="en-US" sz="1300" dirty="0"/>
          </a:p>
          <a:p>
            <a:pPr algn="l" indent="0" marL="0">
              <a:lnSpc>
                <a:spcPts val="2080"/>
              </a:lnSpc>
              <a:buNone/>
            </a:pPr>
            <a:r>
              <a:rPr lang="en-US" sz="1300" dirty="0">
                <a:solidFill>
                  <a:srgbClr val="FFB08F"/>
                </a:solidFill>
                <a:latin typeface="JetBrains Mono" pitchFamily="49" charset="0"/>
                <a:ea typeface="JetBrains Mono" pitchFamily="49" charset="-122"/>
                <a:cs typeface="JetBrains Mono" pitchFamily="49" charset="-120"/>
              </a:rPr>
              <a:t>FROM</a:t>
            </a:r>
            <a:r>
              <a:rPr lang="en-US" sz="1300" dirty="0">
                <a:solidFill>
                  <a:srgbClr val="ECEAFF"/>
                </a:solidFill>
                <a:latin typeface="JetBrains Mono" pitchFamily="49" charset="0"/>
                <a:ea typeface="JetBrains Mono" pitchFamily="49" charset="-122"/>
                <a:cs typeface="JetBrains Mono" pitchFamily="49" charset="-120"/>
              </a:rPr>
              <a:t> nginx:1.27-alpine</a:t>
            </a:r>
            <a:endParaRPr lang="en-US" sz="1300" dirty="0"/>
          </a:p>
          <a:p>
            <a:pPr algn="l" indent="0" marL="0">
              <a:lnSpc>
                <a:spcPts val="2080"/>
              </a:lnSpc>
              <a:buNone/>
            </a:pPr>
            <a:r>
              <a:rPr lang="en-US" sz="1300" dirty="0">
                <a:solidFill>
                  <a:srgbClr val="9A96D0"/>
                </a:solidFill>
                <a:latin typeface="JetBrains Mono" pitchFamily="49" charset="0"/>
                <a:ea typeface="JetBrains Mono" pitchFamily="49" charset="-122"/>
                <a:cs typeface="JetBrains Mono" pitchFamily="49" charset="-120"/>
              </a:rPr>
              <a:t># Ajoute les fichiers du site : une nouvelle couche</a:t>
            </a:r>
            <a:endParaRPr lang="en-US" sz="1300" dirty="0"/>
          </a:p>
          <a:p>
            <a:pPr algn="l" indent="0" marL="0">
              <a:lnSpc>
                <a:spcPts val="2080"/>
              </a:lnSpc>
              <a:buNone/>
            </a:pPr>
            <a:r>
              <a:rPr lang="en-US" sz="1300" dirty="0">
                <a:solidFill>
                  <a:srgbClr val="FFB08F"/>
                </a:solidFill>
                <a:latin typeface="JetBrains Mono" pitchFamily="49" charset="0"/>
                <a:ea typeface="JetBrains Mono" pitchFamily="49" charset="-122"/>
                <a:cs typeface="JetBrains Mono" pitchFamily="49" charset="-120"/>
              </a:rPr>
              <a:t>COPY</a:t>
            </a:r>
            <a:r>
              <a:rPr lang="en-US" sz="1300" dirty="0">
                <a:solidFill>
                  <a:srgbClr val="ECEAFF"/>
                </a:solidFill>
                <a:latin typeface="JetBrains Mono" pitchFamily="49" charset="0"/>
                <a:ea typeface="JetBrains Mono" pitchFamily="49" charset="-122"/>
                <a:cs typeface="JetBrains Mono" pitchFamily="49" charset="-120"/>
              </a:rPr>
              <a:t> site/ /usr/share/nginx/html/</a:t>
            </a:r>
            <a:endParaRPr lang="en-US" sz="1300" dirty="0"/>
          </a:p>
          <a:p>
            <a:pPr algn="l" indent="0" marL="0">
              <a:lnSpc>
                <a:spcPts val="2080"/>
              </a:lnSpc>
              <a:buNone/>
            </a:pPr>
            <a:r>
              <a:rPr lang="en-US" sz="1300" dirty="0">
                <a:solidFill>
                  <a:srgbClr val="9A96D0"/>
                </a:solidFill>
                <a:latin typeface="JetBrains Mono" pitchFamily="49" charset="0"/>
                <a:ea typeface="JetBrains Mono" pitchFamily="49" charset="-122"/>
                <a:cs typeface="JetBrains Mono" pitchFamily="49" charset="-120"/>
              </a:rPr>
              <a:t># Documente le port d'écoute ; la commande</a:t>
            </a:r>
            <a:endParaRPr lang="en-US" sz="1300" dirty="0"/>
          </a:p>
          <a:p>
            <a:pPr algn="l" indent="0" marL="0">
              <a:lnSpc>
                <a:spcPts val="2080"/>
              </a:lnSpc>
              <a:buNone/>
            </a:pPr>
            <a:r>
              <a:rPr lang="en-US" sz="1300" dirty="0">
                <a:solidFill>
                  <a:srgbClr val="9A96D0"/>
                </a:solidFill>
                <a:latin typeface="JetBrains Mono" pitchFamily="49" charset="0"/>
                <a:ea typeface="JetBrains Mono" pitchFamily="49" charset="-122"/>
                <a:cs typeface="JetBrains Mono" pitchFamily="49" charset="-120"/>
              </a:rPr>
              <a:t># de démarrage est héritée de l'image nginx</a:t>
            </a:r>
            <a:endParaRPr lang="en-US" sz="1300" dirty="0"/>
          </a:p>
          <a:p>
            <a:pPr algn="l" indent="0" marL="0">
              <a:lnSpc>
                <a:spcPts val="2080"/>
              </a:lnSpc>
              <a:buNone/>
            </a:pPr>
            <a:r>
              <a:rPr lang="en-US" sz="1300" dirty="0">
                <a:solidFill>
                  <a:srgbClr val="FFB08F"/>
                </a:solidFill>
                <a:latin typeface="JetBrains Mono" pitchFamily="49" charset="0"/>
                <a:ea typeface="JetBrains Mono" pitchFamily="49" charset="-122"/>
                <a:cs typeface="JetBrains Mono" pitchFamily="49" charset="-120"/>
              </a:rPr>
              <a:t>EXPOSE</a:t>
            </a:r>
            <a:r>
              <a:rPr lang="en-US" sz="1300" dirty="0">
                <a:solidFill>
                  <a:srgbClr val="ECEAFF"/>
                </a:solidFill>
                <a:latin typeface="JetBrains Mono" pitchFamily="49" charset="0"/>
                <a:ea typeface="JetBrains Mono" pitchFamily="49" charset="-122"/>
                <a:cs typeface="JetBrains Mono" pitchFamily="49" charset="-120"/>
              </a:rPr>
              <a:t> 80</a:t>
            </a:r>
            <a:endParaRPr lang="en-US" sz="1300" dirty="0"/>
          </a:p>
        </p:txBody>
      </p:sp>
      <p:sp>
        <p:nvSpPr>
          <p:cNvPr id="6" name="Text 4"/>
          <p:cNvSpPr/>
          <p:nvPr/>
        </p:nvSpPr>
        <p:spPr>
          <a:xfrm>
            <a:off x="812800" y="4267200"/>
            <a:ext cx="575564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Un commentaire occupe une ligne entière : un # en fin d'instruction serait lu comme un argument.</a:t>
            </a:r>
            <a:endParaRPr lang="en-US" sz="1300" dirty="0"/>
          </a:p>
        </p:txBody>
      </p:sp>
      <p:pic>
        <p:nvPicPr>
          <p:cNvPr id="7" name="Image 0" descr="CheckCircle">    </p:cNvPr>
          <p:cNvPicPr>
            <a:picLocks noChangeAspect="1"/>
          </p:cNvPicPr>
          <p:nvPr/>
        </p:nvPicPr>
        <p:blipFill>
          <a:blip r:embed="rId1"/>
          <a:srcRect l="0" r="0" t="0" b="0"/>
          <a:stretch/>
        </p:blipFill>
        <p:spPr>
          <a:xfrm>
            <a:off x="6807200" y="2265685"/>
            <a:ext cx="254000" cy="254000"/>
          </a:xfrm>
          <a:prstGeom prst="rect">
            <a:avLst/>
          </a:prstGeom>
        </p:spPr>
      </p:pic>
      <p:sp>
        <p:nvSpPr>
          <p:cNvPr id="8" name="Text 5"/>
          <p:cNvSpPr/>
          <p:nvPr/>
        </p:nvSpPr>
        <p:spPr>
          <a:xfrm>
            <a:off x="7188200" y="2265685"/>
            <a:ext cx="43167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Une image de départ officielle et minimale : alpine, distroless.</a:t>
            </a:r>
            <a:endParaRPr lang="en-US" sz="1400" dirty="0"/>
          </a:p>
        </p:txBody>
      </p:sp>
      <p:pic>
        <p:nvPicPr>
          <p:cNvPr id="9" name="Image 1" descr="CheckCircle">    </p:cNvPr>
          <p:cNvPicPr>
            <a:picLocks noChangeAspect="1"/>
          </p:cNvPicPr>
          <p:nvPr/>
        </p:nvPicPr>
        <p:blipFill>
          <a:blip r:embed="rId2"/>
          <a:srcRect l="0" r="0" t="0" b="0"/>
          <a:stretch/>
        </p:blipFill>
        <p:spPr>
          <a:xfrm>
            <a:off x="6807200" y="2928615"/>
            <a:ext cx="254000" cy="254000"/>
          </a:xfrm>
          <a:prstGeom prst="rect">
            <a:avLst/>
          </a:prstGeom>
        </p:spPr>
      </p:pic>
      <p:sp>
        <p:nvSpPr>
          <p:cNvPr id="10" name="Text 6"/>
          <p:cNvSpPr/>
          <p:nvPr/>
        </p:nvSpPr>
        <p:spPr>
          <a:xfrm>
            <a:off x="7188200" y="2928615"/>
            <a:ext cx="43167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Une seule application par image, qui journalise sur la sortie standard.</a:t>
            </a:r>
            <a:endParaRPr lang="en-US" sz="1400" dirty="0"/>
          </a:p>
        </p:txBody>
      </p:sp>
      <p:pic>
        <p:nvPicPr>
          <p:cNvPr id="11" name="Image 2" descr="CheckCircle">    </p:cNvPr>
          <p:cNvPicPr>
            <a:picLocks noChangeAspect="1"/>
          </p:cNvPicPr>
          <p:nvPr/>
        </p:nvPicPr>
        <p:blipFill>
          <a:blip r:embed="rId3"/>
          <a:srcRect l="0" r="0" t="0" b="0"/>
          <a:stretch/>
        </p:blipFill>
        <p:spPr>
          <a:xfrm>
            <a:off x="6807200" y="3591558"/>
            <a:ext cx="254000" cy="254000"/>
          </a:xfrm>
          <a:prstGeom prst="rect">
            <a:avLst/>
          </a:prstGeom>
        </p:spPr>
      </p:pic>
      <p:sp>
        <p:nvSpPr>
          <p:cNvPr id="12" name="Text 7"/>
          <p:cNvSpPr/>
          <p:nvPr/>
        </p:nvSpPr>
        <p:spPr>
          <a:xfrm>
            <a:off x="7188200" y="3591558"/>
            <a:ext cx="43167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Un utilisateur non root (USER 10001), exigé par le niveau restricted (module 15).</a:t>
            </a:r>
            <a:endParaRPr lang="en-US" sz="1400" dirty="0"/>
          </a:p>
        </p:txBody>
      </p:sp>
      <p:pic>
        <p:nvPicPr>
          <p:cNvPr id="13" name="Image 3" descr="CheckCircle">    </p:cNvPr>
          <p:cNvPicPr>
            <a:picLocks noChangeAspect="1"/>
          </p:cNvPicPr>
          <p:nvPr/>
        </p:nvPicPr>
        <p:blipFill>
          <a:blip r:embed="rId4"/>
          <a:srcRect l="0" r="0" t="0" b="0"/>
          <a:stretch/>
        </p:blipFill>
        <p:spPr>
          <a:xfrm>
            <a:off x="6807200" y="4254500"/>
            <a:ext cx="254000" cy="254000"/>
          </a:xfrm>
          <a:prstGeom prst="rect">
            <a:avLst/>
          </a:prstGeom>
        </p:spPr>
      </p:pic>
      <p:sp>
        <p:nvSpPr>
          <p:cNvPr id="14" name="Text 8"/>
          <p:cNvSpPr/>
          <p:nvPr/>
        </p:nvSpPr>
        <p:spPr>
          <a:xfrm>
            <a:off x="7188200" y="4254500"/>
            <a:ext cx="43167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Un tag de version explicite, jamais latest.</a:t>
            </a:r>
            <a:endParaRPr lang="en-US" sz="1400" dirty="0"/>
          </a:p>
        </p:txBody>
      </p:sp>
      <p:pic>
        <p:nvPicPr>
          <p:cNvPr id="15" name="Image 4" descr="CheckCircle">    </p:cNvPr>
          <p:cNvPicPr>
            <a:picLocks noChangeAspect="1"/>
          </p:cNvPicPr>
          <p:nvPr/>
        </p:nvPicPr>
        <p:blipFill>
          <a:blip r:embed="rId5"/>
          <a:srcRect l="0" r="0" t="0" b="0"/>
          <a:stretch/>
        </p:blipFill>
        <p:spPr>
          <a:xfrm>
            <a:off x="6807200" y="4673600"/>
            <a:ext cx="254000" cy="254000"/>
          </a:xfrm>
          <a:prstGeom prst="rect">
            <a:avLst/>
          </a:prstGeom>
        </p:spPr>
      </p:pic>
      <p:sp>
        <p:nvSpPr>
          <p:cNvPr id="16" name="Text 9"/>
          <p:cNvSpPr/>
          <p:nvPr/>
        </p:nvSpPr>
        <p:spPr>
          <a:xfrm>
            <a:off x="7188200" y="4673600"/>
            <a:ext cx="43167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Aucune donnée sensible : configuration et secrets arrivent au démarrage (module 8).</a:t>
            </a:r>
            <a:endParaRPr lang="en-US" sz="1400" dirty="0"/>
          </a:p>
        </p:txBody>
      </p:sp>
      <p:pic>
        <p:nvPicPr>
          <p:cNvPr id="17" name="Image 5" descr="preencoded.png">    </p:cNvPr>
          <p:cNvPicPr>
            <a:picLocks noChangeAspect="1"/>
          </p:cNvPicPr>
          <p:nvPr/>
        </p:nvPicPr>
        <p:blipFill>
          <a:blip r:embed="rId6"/>
          <a:srcRect l="0" r="0" t="0" b="0"/>
          <a:stretch/>
        </p:blipFill>
        <p:spPr>
          <a:xfrm>
            <a:off x="812800" y="6299200"/>
            <a:ext cx="152400" cy="152400"/>
          </a:xfrm>
          <a:prstGeom prst="rect">
            <a:avLst/>
          </a:prstGeom>
        </p:spPr>
      </p:pic>
      <p:sp>
        <p:nvSpPr>
          <p:cNvPr id="18" name="Text 1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9" name="Image 6" descr="Parcours : module 1 sur 16">    </p:cNvPr>
          <p:cNvPicPr>
            <a:picLocks noChangeAspect="1"/>
          </p:cNvPicPr>
          <p:nvPr/>
        </p:nvPicPr>
        <p:blipFill>
          <a:blip r:embed="rId7"/>
          <a:srcRect l="0" r="0" t="0" b="0"/>
          <a:stretch/>
        </p:blipFill>
        <p:spPr>
          <a:xfrm>
            <a:off x="9207500" y="6299200"/>
            <a:ext cx="2171700" cy="152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01 · DES CONTENEURS À L'ORCHESTRATION</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Sous le capot : containerd sans Docker</a:t>
            </a:r>
            <a:endParaRPr lang="en-US" sz="2800" dirty="0"/>
          </a:p>
        </p:txBody>
      </p:sp>
      <p:sp>
        <p:nvSpPr>
          <p:cNvPr id="4" name="Text 2"/>
          <p:cNvSpPr/>
          <p:nvPr/>
        </p:nvSpPr>
        <p:spPr>
          <a:xfrm>
            <a:off x="812800" y="156971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Les nœuds Kubernetes n'ont pas Docker, seulement containerd. Son outil ctr montre qu'un conteneur n'est qu'un processus de l'hôte.</a:t>
            </a:r>
            <a:endParaRPr lang="en-US" sz="1500" dirty="0"/>
          </a:p>
        </p:txBody>
      </p:sp>
      <p:sp>
        <p:nvSpPr>
          <p:cNvPr id="5" name="Text 3"/>
          <p:cNvSpPr/>
          <p:nvPr/>
        </p:nvSpPr>
        <p:spPr>
          <a:xfrm>
            <a:off x="812800" y="2331715"/>
            <a:ext cx="6604000" cy="2819400"/>
          </a:xfrm>
          <a:prstGeom prst="roundRect">
            <a:avLst>
              <a:gd name="adj" fmla="val 3604"/>
            </a:avLst>
          </a:prstGeom>
          <a:solidFill>
            <a:srgbClr val="0B0748"/>
          </a:solidFill>
          <a:ln/>
        </p:spPr>
        <p:txBody>
          <a:bodyPr wrap="none" lIns="173442" tIns="148042" rIns="0" bIns="148042" rtlCol="0" anchor="ctr">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sudo ctr images pull mirror.gcr.io/library/nginx:1.27</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sudo ctr run -d --net-host mirror.gcr.io/library/nginx:1.27 web</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sudo ctr tasks ls              </a:t>
            </a:r>
            <a:r>
              <a:rPr lang="en-US" sz="1200" dirty="0">
                <a:solidFill>
                  <a:srgbClr val="9A96D0"/>
                </a:solidFill>
                <a:latin typeface="JetBrains Mono" pitchFamily="49" charset="0"/>
                <a:ea typeface="JetBrains Mono" pitchFamily="49" charset="-122"/>
                <a:cs typeface="JetBrains Mono" pitchFamily="49" charset="-120"/>
              </a:rPr>
              <a:t># PID du processus principal</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ps -o pid,user,cmd -p &lt;PID&gt;    </a:t>
            </a:r>
            <a:r>
              <a:rPr lang="en-US" sz="1200" dirty="0">
                <a:solidFill>
                  <a:srgbClr val="9A96D0"/>
                </a:solidFill>
                <a:latin typeface="JetBrains Mono" pitchFamily="49" charset="0"/>
                <a:ea typeface="JetBrains Mono" pitchFamily="49" charset="-122"/>
                <a:cs typeface="JetBrains Mono" pitchFamily="49" charset="-120"/>
              </a:rPr>
              <a:t># un processus comme les autres</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sudo lsns -p &lt;PID&gt;             </a:t>
            </a:r>
            <a:r>
              <a:rPr lang="en-US" sz="1200" dirty="0">
                <a:solidFill>
                  <a:srgbClr val="9A96D0"/>
                </a:solidFill>
                <a:latin typeface="JetBrains Mono" pitchFamily="49" charset="0"/>
                <a:ea typeface="JetBrains Mono" pitchFamily="49" charset="-122"/>
                <a:cs typeface="JetBrains Mono" pitchFamily="49" charset="-120"/>
              </a:rPr>
              <a:t># ses namespaces</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sudo ctr tasks exec -t --exec-id shell web sh</a:t>
            </a:r>
            <a:endParaRPr lang="en-US" sz="1200" dirty="0"/>
          </a:p>
          <a:p>
            <a:pPr algn="l" indent="0" marL="0">
              <a:lnSpc>
                <a:spcPts val="1920"/>
              </a:lnSpc>
              <a:buNone/>
            </a:pPr>
            <a:r>
              <a:rPr lang="en-US" sz="1200" dirty="0">
                <a:solidFill>
                  <a:srgbClr val="FFB08F"/>
                </a:solidFill>
                <a:latin typeface="JetBrains Mono" pitchFamily="49" charset="0"/>
                <a:ea typeface="JetBrains Mono" pitchFamily="49" charset="-122"/>
                <a:cs typeface="JetBrains Mono" pitchFamily="49" charset="-120"/>
              </a:rPr>
              <a:t># cat /etc/os-release → Debian : vient de l'image</a:t>
            </a:r>
            <a:endParaRPr lang="en-US" sz="1200" dirty="0"/>
          </a:p>
          <a:p>
            <a:pPr algn="l" indent="0" marL="0">
              <a:lnSpc>
                <a:spcPts val="1920"/>
              </a:lnSpc>
              <a:buNone/>
            </a:pPr>
            <a:r>
              <a:rPr lang="en-US" sz="1200" dirty="0">
                <a:solidFill>
                  <a:srgbClr val="FFB08F"/>
                </a:solidFill>
                <a:latin typeface="JetBrains Mono" pitchFamily="49" charset="0"/>
                <a:ea typeface="JetBrains Mono" pitchFamily="49" charset="-122"/>
                <a:cs typeface="JetBrains Mono" pitchFamily="49" charset="-120"/>
              </a:rPr>
              <a:t># uname -r → le noyau Ubuntu de l'hôte, partagé</a:t>
            </a:r>
            <a:endParaRPr lang="en-US" sz="1200" dirty="0"/>
          </a:p>
        </p:txBody>
      </p:sp>
      <p:sp>
        <p:nvSpPr>
          <p:cNvPr id="6" name="Shape 4"/>
          <p:cNvSpPr/>
          <p:nvPr/>
        </p:nvSpPr>
        <p:spPr>
          <a:xfrm>
            <a:off x="7670800" y="3100912"/>
            <a:ext cx="3708400" cy="0"/>
          </a:xfrm>
          <a:prstGeom prst="line">
            <a:avLst/>
          </a:prstGeom>
          <a:noFill/>
          <a:ln w="6350">
            <a:solidFill>
              <a:srgbClr val="E1DFEE"/>
            </a:solidFill>
            <a:prstDash val="solid"/>
          </a:ln>
        </p:spPr>
      </p:sp>
      <p:sp>
        <p:nvSpPr>
          <p:cNvPr id="7" name="Text 5"/>
          <p:cNvSpPr/>
          <p:nvPr/>
        </p:nvSpPr>
        <p:spPr>
          <a:xfrm>
            <a:off x="7670800" y="2583917"/>
            <a:ext cx="939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docker</a:t>
            </a:r>
            <a:endParaRPr lang="en-US" sz="1300" dirty="0"/>
          </a:p>
        </p:txBody>
      </p:sp>
      <p:sp>
        <p:nvSpPr>
          <p:cNvPr id="8" name="Text 6"/>
          <p:cNvSpPr/>
          <p:nvPr/>
        </p:nvSpPr>
        <p:spPr>
          <a:xfrm>
            <a:off x="8661400" y="2583917"/>
            <a:ext cx="279933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le démon Docker : construire et tester sur un poste</a:t>
            </a:r>
            <a:endParaRPr lang="en-US" sz="1200" dirty="0"/>
          </a:p>
        </p:txBody>
      </p:sp>
      <p:sp>
        <p:nvSpPr>
          <p:cNvPr id="9" name="Shape 7"/>
          <p:cNvSpPr/>
          <p:nvPr/>
        </p:nvSpPr>
        <p:spPr>
          <a:xfrm>
            <a:off x="7670800" y="3735392"/>
            <a:ext cx="3708400" cy="0"/>
          </a:xfrm>
          <a:prstGeom prst="line">
            <a:avLst/>
          </a:prstGeom>
          <a:noFill/>
          <a:ln w="6350">
            <a:solidFill>
              <a:srgbClr val="E1DFEE"/>
            </a:solidFill>
            <a:prstDash val="solid"/>
          </a:ln>
        </p:spPr>
      </p:sp>
      <p:sp>
        <p:nvSpPr>
          <p:cNvPr id="10" name="Text 8"/>
          <p:cNvSpPr/>
          <p:nvPr/>
        </p:nvSpPr>
        <p:spPr>
          <a:xfrm>
            <a:off x="7670800" y="3218396"/>
            <a:ext cx="939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ctr</a:t>
            </a:r>
            <a:endParaRPr lang="en-US" sz="1300" dirty="0"/>
          </a:p>
        </p:txBody>
      </p:sp>
      <p:sp>
        <p:nvSpPr>
          <p:cNvPr id="11" name="Text 9"/>
          <p:cNvSpPr/>
          <p:nvPr/>
        </p:nvSpPr>
        <p:spPr>
          <a:xfrm>
            <a:off x="8661400" y="3218396"/>
            <a:ext cx="279933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containerd en direct : diagnostic de bas niveau, pédagogie</a:t>
            </a:r>
            <a:endParaRPr lang="en-US" sz="1200" dirty="0"/>
          </a:p>
        </p:txBody>
      </p:sp>
      <p:sp>
        <p:nvSpPr>
          <p:cNvPr id="12" name="Shape 10"/>
          <p:cNvSpPr/>
          <p:nvPr/>
        </p:nvSpPr>
        <p:spPr>
          <a:xfrm>
            <a:off x="7670800" y="4369858"/>
            <a:ext cx="3708400" cy="0"/>
          </a:xfrm>
          <a:prstGeom prst="line">
            <a:avLst/>
          </a:prstGeom>
          <a:noFill/>
          <a:ln w="6350">
            <a:solidFill>
              <a:srgbClr val="E1DFEE"/>
            </a:solidFill>
            <a:prstDash val="solid"/>
          </a:ln>
        </p:spPr>
      </p:sp>
      <p:sp>
        <p:nvSpPr>
          <p:cNvPr id="13" name="Text 11"/>
          <p:cNvSpPr/>
          <p:nvPr/>
        </p:nvSpPr>
        <p:spPr>
          <a:xfrm>
            <a:off x="7670800" y="3852863"/>
            <a:ext cx="939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crictl</a:t>
            </a:r>
            <a:endParaRPr lang="en-US" sz="1300" dirty="0"/>
          </a:p>
        </p:txBody>
      </p:sp>
      <p:sp>
        <p:nvSpPr>
          <p:cNvPr id="14" name="Text 12"/>
          <p:cNvSpPr/>
          <p:nvPr/>
        </p:nvSpPr>
        <p:spPr>
          <a:xfrm>
            <a:off x="8661400" y="3852863"/>
            <a:ext cx="279933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via le CRI, comme le kubelet : diagnostic d'un nœud</a:t>
            </a:r>
            <a:endParaRPr lang="en-US" sz="1200" dirty="0"/>
          </a:p>
        </p:txBody>
      </p:sp>
      <p:sp>
        <p:nvSpPr>
          <p:cNvPr id="15" name="Text 13"/>
          <p:cNvSpPr/>
          <p:nvPr/>
        </p:nvSpPr>
        <p:spPr>
          <a:xfrm>
            <a:off x="7670800" y="4487329"/>
            <a:ext cx="939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nerdctl</a:t>
            </a:r>
            <a:endParaRPr lang="en-US" sz="1300" dirty="0"/>
          </a:p>
        </p:txBody>
      </p:sp>
      <p:sp>
        <p:nvSpPr>
          <p:cNvPr id="16" name="Text 14"/>
          <p:cNvSpPr/>
          <p:nvPr/>
        </p:nvSpPr>
        <p:spPr>
          <a:xfrm>
            <a:off x="8661400" y="4487329"/>
            <a:ext cx="279933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la syntaxe de Docker sur un hôte containerd</a:t>
            </a:r>
            <a:endParaRPr lang="en-US" sz="1200" dirty="0"/>
          </a:p>
        </p:txBody>
      </p:sp>
      <p:sp>
        <p:nvSpPr>
          <p:cNvPr id="17" name="Text 15"/>
          <p:cNvSpPr/>
          <p:nvPr/>
        </p:nvSpPr>
        <p:spPr>
          <a:xfrm>
            <a:off x="812800" y="5379715"/>
            <a:ext cx="108833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containerd range ses objets par espace de noms : default pour vos essais, k8s.io pour Kubernetes. Après le TP2 : sudo ctr -n k8s.io containers ls.</a:t>
            </a:r>
            <a:endParaRPr lang="en-US" sz="1300" dirty="0"/>
          </a:p>
        </p:txBody>
      </p:sp>
      <p:pic>
        <p:nvPicPr>
          <p:cNvPr id="18"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9" name="Text 1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0" name="Image 1" descr="Parcours : module 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01 · BILAN</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15"/>
            <a:ext cx="6138333"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15"/>
            <a:ext cx="228600" cy="228600"/>
          </a:xfrm>
          <a:prstGeom prst="rect">
            <a:avLst/>
          </a:prstGeom>
        </p:spPr>
      </p:pic>
      <p:sp>
        <p:nvSpPr>
          <p:cNvPr id="6" name="Text 3"/>
          <p:cNvSpPr/>
          <p:nvPr/>
        </p:nvSpPr>
        <p:spPr>
          <a:xfrm>
            <a:off x="1511300" y="1874515"/>
            <a:ext cx="52629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Un conteneur est un processus isolé par les namespaces, limité par les cgroups, qui voit un système de fichiers en couches.</a:t>
            </a:r>
            <a:endParaRPr lang="en-US" sz="1500" dirty="0"/>
          </a:p>
        </p:txBody>
      </p:sp>
      <p:pic>
        <p:nvPicPr>
          <p:cNvPr id="7" name="Image 1" descr="Check">    </p:cNvPr>
          <p:cNvPicPr>
            <a:picLocks noChangeAspect="1"/>
          </p:cNvPicPr>
          <p:nvPr/>
        </p:nvPicPr>
        <p:blipFill>
          <a:blip r:embed="rId2"/>
          <a:srcRect l="0" r="0" t="0" b="0"/>
          <a:stretch/>
        </p:blipFill>
        <p:spPr>
          <a:xfrm>
            <a:off x="1143000" y="2852415"/>
            <a:ext cx="228600" cy="228600"/>
          </a:xfrm>
          <a:prstGeom prst="rect">
            <a:avLst/>
          </a:prstGeom>
        </p:spPr>
      </p:pic>
      <p:sp>
        <p:nvSpPr>
          <p:cNvPr id="8" name="Text 4"/>
          <p:cNvSpPr/>
          <p:nvPr/>
        </p:nvSpPr>
        <p:spPr>
          <a:xfrm>
            <a:off x="1511300" y="2852415"/>
            <a:ext cx="52629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Une image OCI est portable entre Docker, containerd et CRI-O ; désignez-la par un tag précis, jamais latest en production.</a:t>
            </a:r>
            <a:endParaRPr lang="en-US" sz="1500" dirty="0"/>
          </a:p>
        </p:txBody>
      </p:sp>
      <p:pic>
        <p:nvPicPr>
          <p:cNvPr id="9" name="Image 2" descr="Check">    </p:cNvPr>
          <p:cNvPicPr>
            <a:picLocks noChangeAspect="1"/>
          </p:cNvPicPr>
          <p:nvPr/>
        </p:nvPicPr>
        <p:blipFill>
          <a:blip r:embed="rId3"/>
          <a:srcRect l="0" r="0" t="0" b="0"/>
          <a:stretch/>
        </p:blipFill>
        <p:spPr>
          <a:xfrm>
            <a:off x="1143000" y="3830315"/>
            <a:ext cx="228600" cy="228600"/>
          </a:xfrm>
          <a:prstGeom prst="rect">
            <a:avLst/>
          </a:prstGeom>
        </p:spPr>
      </p:pic>
      <p:sp>
        <p:nvSpPr>
          <p:cNvPr id="10" name="Text 5"/>
          <p:cNvSpPr/>
          <p:nvPr/>
        </p:nvSpPr>
        <p:spPr>
          <a:xfrm>
            <a:off x="1511300" y="3830315"/>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Kubernetes pilote containerd via le CRI ; il n'a pas besoin du moteur Docker.</a:t>
            </a:r>
            <a:endParaRPr lang="en-US" sz="1500" dirty="0"/>
          </a:p>
        </p:txBody>
      </p:sp>
      <p:pic>
        <p:nvPicPr>
          <p:cNvPr id="11" name="Image 3" descr="Check">    </p:cNvPr>
          <p:cNvPicPr>
            <a:picLocks noChangeAspect="1"/>
          </p:cNvPicPr>
          <p:nvPr/>
        </p:nvPicPr>
        <p:blipFill>
          <a:blip r:embed="rId4"/>
          <a:srcRect l="0" r="0" t="0" b="0"/>
          <a:stretch/>
        </p:blipFill>
        <p:spPr>
          <a:xfrm>
            <a:off x="1143000" y="4541515"/>
            <a:ext cx="228600" cy="228600"/>
          </a:xfrm>
          <a:prstGeom prst="rect">
            <a:avLst/>
          </a:prstGeom>
        </p:spPr>
      </p:pic>
      <p:sp>
        <p:nvSpPr>
          <p:cNvPr id="12" name="Text 6"/>
          <p:cNvSpPr/>
          <p:nvPr/>
        </p:nvSpPr>
        <p:spPr>
          <a:xfrm>
            <a:off x="1511300" y="4541515"/>
            <a:ext cx="52629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Kubernetes règle ce qu'un hôte seul ne règle pas : placement, pannes, mise à l'échelle, mises à jour, découverte de services.</a:t>
            </a:r>
            <a:endParaRPr lang="en-US" sz="1500" dirty="0"/>
          </a:p>
        </p:txBody>
      </p:sp>
      <p:sp>
        <p:nvSpPr>
          <p:cNvPr id="13" name="Shape 7"/>
          <p:cNvSpPr/>
          <p:nvPr/>
        </p:nvSpPr>
        <p:spPr>
          <a:xfrm>
            <a:off x="7157508" y="1598290"/>
            <a:ext cx="4218517" cy="4240530"/>
          </a:xfrm>
          <a:prstGeom prst="roundRect">
            <a:avLst>
              <a:gd name="adj" fmla="val 3537"/>
            </a:avLst>
          </a:prstGeom>
          <a:solidFill>
            <a:srgbClr val="FDFDFF"/>
          </a:solidFill>
          <a:ln w="6350">
            <a:solidFill>
              <a:srgbClr val="E1DFEE"/>
            </a:solidFill>
            <a:prstDash val="solid"/>
          </a:ln>
        </p:spPr>
      </p:sp>
      <p:sp>
        <p:nvSpPr>
          <p:cNvPr id="14" name="Text 8"/>
          <p:cNvSpPr/>
          <p:nvPr/>
        </p:nvSpPr>
        <p:spPr>
          <a:xfrm>
            <a:off x="7440824" y="1856209"/>
            <a:ext cx="376144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5" name="Text 9"/>
          <p:cNvSpPr/>
          <p:nvPr/>
        </p:nvSpPr>
        <p:spPr>
          <a:xfrm>
            <a:off x="7440824" y="2196567"/>
            <a:ext cx="22860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1</a:t>
            </a:r>
            <a:endParaRPr lang="en-US" sz="1300" dirty="0"/>
          </a:p>
        </p:txBody>
      </p:sp>
      <p:sp>
        <p:nvSpPr>
          <p:cNvPr id="16" name="Text 10"/>
          <p:cNvSpPr/>
          <p:nvPr/>
        </p:nvSpPr>
        <p:spPr>
          <a:xfrm>
            <a:off x="7720224" y="2196567"/>
            <a:ext cx="347365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Quel mécanisme du noyau empêche un conteneur de consommer toute la mémoire de l'hôte ?</a:t>
            </a:r>
            <a:endParaRPr lang="en-US" sz="1300" dirty="0"/>
          </a:p>
        </p:txBody>
      </p:sp>
      <p:sp>
        <p:nvSpPr>
          <p:cNvPr id="17" name="Text 11"/>
          <p:cNvSpPr/>
          <p:nvPr/>
        </p:nvSpPr>
        <p:spPr>
          <a:xfrm>
            <a:off x="7440824" y="3016994"/>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2</a:t>
            </a:r>
            <a:endParaRPr lang="en-US" sz="1300" dirty="0"/>
          </a:p>
        </p:txBody>
      </p:sp>
      <p:sp>
        <p:nvSpPr>
          <p:cNvPr id="18" name="Text 12"/>
          <p:cNvSpPr/>
          <p:nvPr/>
        </p:nvSpPr>
        <p:spPr>
          <a:xfrm>
            <a:off x="7720224" y="3016994"/>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Que désigne exactement la référence d'image redis:7-alpine ?</a:t>
            </a:r>
            <a:endParaRPr lang="en-US" sz="1300" dirty="0"/>
          </a:p>
        </p:txBody>
      </p:sp>
      <p:sp>
        <p:nvSpPr>
          <p:cNvPr id="19" name="Text 13"/>
          <p:cNvSpPr/>
          <p:nvPr/>
        </p:nvSpPr>
        <p:spPr>
          <a:xfrm>
            <a:off x="7440824" y="3606267"/>
            <a:ext cx="22860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3</a:t>
            </a:r>
            <a:endParaRPr lang="en-US" sz="1300" dirty="0"/>
          </a:p>
        </p:txBody>
      </p:sp>
      <p:sp>
        <p:nvSpPr>
          <p:cNvPr id="20" name="Text 14"/>
          <p:cNvSpPr/>
          <p:nvPr/>
        </p:nvSpPr>
        <p:spPr>
          <a:xfrm>
            <a:off x="7720224" y="3606267"/>
            <a:ext cx="347365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Pourquoi une image construite avec Docker s'exécute-t-elle dans Kubernetes, qui n'utilise pas Docker ?</a:t>
            </a:r>
            <a:endParaRPr lang="en-US" sz="1300" dirty="0"/>
          </a:p>
        </p:txBody>
      </p:sp>
      <p:sp>
        <p:nvSpPr>
          <p:cNvPr id="21" name="Text 15"/>
          <p:cNvSpPr/>
          <p:nvPr/>
        </p:nvSpPr>
        <p:spPr>
          <a:xfrm>
            <a:off x="7440824" y="4426694"/>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4</a:t>
            </a:r>
            <a:endParaRPr lang="en-US" sz="1300" dirty="0"/>
          </a:p>
        </p:txBody>
      </p:sp>
      <p:sp>
        <p:nvSpPr>
          <p:cNvPr id="22" name="Text 16"/>
          <p:cNvSpPr/>
          <p:nvPr/>
        </p:nvSpPr>
        <p:spPr>
          <a:xfrm>
            <a:off x="7720224" y="4426694"/>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Citez trois problèmes qu'un orchestrateur règle et que Docker Compose ne règle pas.</a:t>
            </a:r>
            <a:endParaRPr lang="en-US" sz="1300" dirty="0"/>
          </a:p>
        </p:txBody>
      </p:sp>
      <p:pic>
        <p:nvPicPr>
          <p:cNvPr id="23"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24" name="Text 1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5" descr="Parcours : module 1 sur 16">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1 · COMPRENDRE ET INSTALLER</a:t>
            </a:r>
            <a:endParaRPr lang="en-US" sz="1200" dirty="0"/>
          </a:p>
        </p:txBody>
      </p:sp>
      <p:sp>
        <p:nvSpPr>
          <p:cNvPr id="3" name="Text 1"/>
          <p:cNvSpPr/>
          <p:nvPr/>
        </p:nvSpPr>
        <p:spPr>
          <a:xfrm>
            <a:off x="812800" y="1076958"/>
            <a:ext cx="2004060"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02</a:t>
            </a:r>
            <a:endParaRPr lang="en-US" sz="10000" dirty="0"/>
          </a:p>
        </p:txBody>
      </p:sp>
      <p:sp>
        <p:nvSpPr>
          <p:cNvPr id="4" name="Text 2"/>
          <p:cNvSpPr/>
          <p:nvPr>
            <p:ph type="title"/>
          </p:nvPr>
        </p:nvSpPr>
        <p:spPr>
          <a:xfrm>
            <a:off x="2838450" y="1127758"/>
            <a:ext cx="8796973" cy="5588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Architecture de Kubernetes</a:t>
            </a:r>
            <a:endParaRPr lang="en-US" sz="4000" dirty="0"/>
          </a:p>
        </p:txBody>
      </p:sp>
      <p:sp>
        <p:nvSpPr>
          <p:cNvPr id="5" name="Text 3"/>
          <p:cNvSpPr/>
          <p:nvPr/>
        </p:nvSpPr>
        <p:spPr>
          <a:xfrm>
            <a:off x="2838450" y="1813558"/>
            <a:ext cx="879697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Un control plane qui décide, des nœuds qui exécutent. Tout passe par l'API server, et chaque composant ramène en boucle la réalité vers l'état décrit.</a:t>
            </a:r>
            <a:endParaRPr lang="en-US" sz="1500" dirty="0"/>
          </a:p>
        </p:txBody>
      </p:sp>
      <p:sp>
        <p:nvSpPr>
          <p:cNvPr id="6" name="Text 4"/>
          <p:cNvSpPr/>
          <p:nvPr/>
        </p:nvSpPr>
        <p:spPr>
          <a:xfrm>
            <a:off x="2838450" y="2499358"/>
            <a:ext cx="2799186"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Observé en direct au TP2 · J1 13:15</a:t>
            </a:r>
            <a:endParaRPr lang="en-US" sz="1200" dirty="0"/>
          </a:p>
        </p:txBody>
      </p:sp>
      <p:pic>
        <p:nvPicPr>
          <p:cNvPr id="7" name="Image 0" descr="Parcours de la formation : module 2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4F9"/>
        </a:solidFill>
      </p:bgPr>
    </p:bg>
    <p:spTree>
      <p:nvGrpSpPr>
        <p:cNvPr id="1" name=""/>
        <p:cNvGrpSpPr/>
        <p:nvPr/>
      </p:nvGrpSpPr>
      <p:grpSpPr>
        <a:xfrm>
          <a:off x="0" y="0"/>
          <a:ext cx="0" cy="0"/>
          <a:chOff x="0" y="0"/>
          <a:chExt cx="0" cy="0"/>
        </a:xfrm>
      </p:grpSpPr>
      <p:sp>
        <p:nvSpPr>
          <p:cNvPr id="2" name="Shape 0"/>
          <p:cNvSpPr/>
          <p:nvPr/>
        </p:nvSpPr>
        <p:spPr>
          <a:xfrm>
            <a:off x="812800" y="2133600"/>
            <a:ext cx="10566400" cy="2006600"/>
          </a:xfrm>
          <a:prstGeom prst="roundRect">
            <a:avLst>
              <a:gd name="adj" fmla="val 6329"/>
            </a:avLst>
          </a:prstGeom>
          <a:solidFill>
            <a:srgbClr val="ECEAF6"/>
          </a:solidFill>
          <a:ln/>
        </p:spPr>
      </p:sp>
      <p:sp>
        <p:nvSpPr>
          <p:cNvPr id="3" name="Shape 1"/>
          <p:cNvSpPr/>
          <p:nvPr/>
        </p:nvSpPr>
        <p:spPr>
          <a:xfrm>
            <a:off x="812800" y="4445000"/>
            <a:ext cx="5156200" cy="1346200"/>
          </a:xfrm>
          <a:prstGeom prst="roundRect">
            <a:avLst>
              <a:gd name="adj" fmla="val 9434"/>
            </a:avLst>
          </a:prstGeom>
          <a:solidFill>
            <a:srgbClr val="ECEAF6"/>
          </a:solidFill>
          <a:ln/>
        </p:spPr>
      </p:sp>
      <p:sp>
        <p:nvSpPr>
          <p:cNvPr id="4" name="Shape 2"/>
          <p:cNvSpPr/>
          <p:nvPr/>
        </p:nvSpPr>
        <p:spPr>
          <a:xfrm>
            <a:off x="6223000" y="4445000"/>
            <a:ext cx="5156200" cy="1346200"/>
          </a:xfrm>
          <a:prstGeom prst="roundRect">
            <a:avLst>
              <a:gd name="adj" fmla="val 9434"/>
            </a:avLst>
          </a:prstGeom>
          <a:solidFill>
            <a:srgbClr val="ECEAF6"/>
          </a:solidFill>
          <a:ln/>
        </p:spPr>
      </p:sp>
      <p:sp>
        <p:nvSpPr>
          <p:cNvPr id="5" name="Text 3"/>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02 · ARCHITECTURE DE KUBERNETES</a:t>
            </a:r>
            <a:endParaRPr lang="en-US" sz="1200" dirty="0"/>
          </a:p>
        </p:txBody>
      </p:sp>
      <p:sp>
        <p:nvSpPr>
          <p:cNvPr id="6" name="Text 4"/>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Vue d'ensemble du cluster des TP</a:t>
            </a:r>
            <a:endParaRPr lang="en-US" sz="2800" dirty="0"/>
          </a:p>
        </p:txBody>
      </p:sp>
      <p:sp>
        <p:nvSpPr>
          <p:cNvPr id="7" name="Text 5"/>
          <p:cNvSpPr/>
          <p:nvPr/>
        </p:nvSpPr>
        <p:spPr>
          <a:xfrm>
            <a:off x="4832350" y="1606550"/>
            <a:ext cx="2527300" cy="342900"/>
          </a:xfrm>
          <a:prstGeom prst="roundRect">
            <a:avLst>
              <a:gd name="adj" fmla="val 24074"/>
            </a:avLst>
          </a:prstGeom>
          <a:solidFill>
            <a:srgbClr val="FDFDFF"/>
          </a:solidFill>
          <a:ln w="12700">
            <a:solidFill>
              <a:srgbClr val="0B0748"/>
            </a:solidFill>
            <a:prstDash val="solid"/>
          </a:ln>
        </p:spPr>
        <p:txBody>
          <a:bodyPr wrap="square" lIns="0" tIns="0" rIns="0" bIns="0" rtlCol="0" anchor="ctr">
            <a:normAutofit/>
          </a:bodyPr>
          <a:lstStyle/>
          <a:p>
            <a:pPr algn="ctr" indent="0" marL="0">
              <a:lnSpc>
                <a:spcPts val="1560"/>
              </a:lnSpc>
              <a:buNone/>
            </a:pPr>
            <a:r>
              <a:rPr lang="en-US" sz="1200" b="1" dirty="0">
                <a:solidFill>
                  <a:srgbClr val="0B0748"/>
                </a:solidFill>
                <a:latin typeface="IBM Plex Sans" pitchFamily="34" charset="0"/>
                <a:ea typeface="IBM Plex Sans" pitchFamily="34" charset="-122"/>
                <a:cs typeface="IBM Plex Sans" pitchFamily="34" charset="-120"/>
              </a:rPr>
              <a:t>kubectl</a:t>
            </a:r>
            <a:r>
              <a:rPr lang="en-US" sz="1200" dirty="0">
                <a:solidFill>
                  <a:srgbClr val="0B0748"/>
                </a:solidFill>
                <a:latin typeface="IBM Plex Sans" pitchFamily="34" charset="0"/>
                <a:ea typeface="IBM Plex Sans" pitchFamily="34" charset="-122"/>
                <a:cs typeface="IBM Plex Sans" pitchFamily="34" charset="-120"/>
              </a:rPr>
              <a:t> · vous, vos fichiers YAML</a:t>
            </a:r>
            <a:endParaRPr lang="en-US" sz="1200" dirty="0"/>
          </a:p>
        </p:txBody>
      </p:sp>
      <p:sp>
        <p:nvSpPr>
          <p:cNvPr id="8" name="Text 6"/>
          <p:cNvSpPr/>
          <p:nvPr/>
        </p:nvSpPr>
        <p:spPr>
          <a:xfrm>
            <a:off x="990600" y="2222500"/>
            <a:ext cx="3401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CONTROL PLANE · k8s-cp</a:t>
            </a:r>
            <a:endParaRPr lang="en-US" sz="1200" dirty="0"/>
          </a:p>
        </p:txBody>
      </p:sp>
      <p:sp>
        <p:nvSpPr>
          <p:cNvPr id="9" name="Text 7"/>
          <p:cNvSpPr/>
          <p:nvPr/>
        </p:nvSpPr>
        <p:spPr>
          <a:xfrm>
            <a:off x="1069975" y="2568575"/>
            <a:ext cx="2787650" cy="755650"/>
          </a:xfrm>
          <a:prstGeom prst="roundRect">
            <a:avLst>
              <a:gd name="adj" fmla="val 11345"/>
            </a:avLst>
          </a:prstGeom>
          <a:solidFill>
            <a:srgbClr val="FDFDFF"/>
          </a:solidFill>
          <a:ln w="6350">
            <a:solidFill>
              <a:srgbClr val="CFCCE3"/>
            </a:solidFill>
            <a:prstDash val="solid"/>
          </a:ln>
        </p:spPr>
        <p:txBody>
          <a:bodyPr wrap="square" lIns="189247" tIns="42308" rIns="189247" bIns="42308" rtlCol="0" anchor="ctr">
            <a:normAutofit/>
          </a:bodyPr>
          <a:lstStyle/>
          <a:p>
            <a:pPr algn="ctr" indent="0" marL="0">
              <a:lnSpc>
                <a:spcPts val="1560"/>
              </a:lnSpc>
              <a:buNone/>
            </a:pPr>
            <a:r>
              <a:rPr lang="en-US" sz="1200" b="1" dirty="0">
                <a:solidFill>
                  <a:srgbClr val="0B0748"/>
                </a:solidFill>
                <a:latin typeface="IBM Plex Sans" pitchFamily="34" charset="0"/>
                <a:ea typeface="IBM Plex Sans" pitchFamily="34" charset="-122"/>
                <a:cs typeface="IBM Plex Sans" pitchFamily="34" charset="-120"/>
              </a:rPr>
              <a:t>kube-scheduler</a:t>
            </a:r>
            <a:endParaRPr lang="en-US" sz="1200" dirty="0"/>
          </a:p>
          <a:p>
            <a:pPr algn="ctr" indent="0" marL="0">
              <a:lnSpc>
                <a:spcPts val="1560"/>
              </a:lnSpc>
              <a:buNone/>
            </a:pPr>
            <a:r>
              <a:rPr lang="en-US" sz="1200" dirty="0">
                <a:solidFill>
                  <a:srgbClr val="0B0748"/>
                </a:solidFill>
                <a:latin typeface="IBM Plex Sans" pitchFamily="34" charset="0"/>
                <a:ea typeface="IBM Plex Sans" pitchFamily="34" charset="-122"/>
                <a:cs typeface="IBM Plex Sans" pitchFamily="34" charset="-120"/>
              </a:rPr>
              <a:t>choisit un nœud pour chaque pod</a:t>
            </a:r>
            <a:endParaRPr lang="en-US" sz="1200" dirty="0"/>
          </a:p>
        </p:txBody>
      </p:sp>
      <p:sp>
        <p:nvSpPr>
          <p:cNvPr id="10" name="Text 8"/>
          <p:cNvSpPr/>
          <p:nvPr/>
        </p:nvSpPr>
        <p:spPr>
          <a:xfrm>
            <a:off x="4699000" y="2565400"/>
            <a:ext cx="2794000" cy="762000"/>
          </a:xfrm>
          <a:prstGeom prst="roundRect">
            <a:avLst>
              <a:gd name="adj" fmla="val 11667"/>
            </a:avLst>
          </a:prstGeom>
          <a:solidFill>
            <a:srgbClr val="0B0748"/>
          </a:solidFill>
          <a:ln/>
        </p:spPr>
        <p:txBody>
          <a:bodyPr wrap="square" lIns="36700" tIns="37462" rIns="36700" bIns="37462" rtlCol="0" anchor="ctr">
            <a:normAutofit/>
          </a:bodyPr>
          <a:lstStyle/>
          <a:p>
            <a:pPr algn="ctr" indent="0" marL="0">
              <a:lnSpc>
                <a:spcPts val="1560"/>
              </a:lnSpc>
              <a:buNone/>
            </a:pPr>
            <a:r>
              <a:rPr lang="en-US" sz="1200" b="1" dirty="0">
                <a:solidFill>
                  <a:srgbClr val="ECEAFF"/>
                </a:solidFill>
                <a:latin typeface="IBM Plex Sans" pitchFamily="34" charset="0"/>
                <a:ea typeface="IBM Plex Sans" pitchFamily="34" charset="-122"/>
                <a:cs typeface="IBM Plex Sans" pitchFamily="34" charset="-120"/>
              </a:rPr>
              <a:t>kube-apiserver</a:t>
            </a:r>
            <a:endParaRPr lang="en-US" sz="1200" dirty="0"/>
          </a:p>
          <a:p>
            <a:pPr algn="ctr" indent="0" marL="0">
              <a:lnSpc>
                <a:spcPts val="1560"/>
              </a:lnSpc>
              <a:buNone/>
            </a:pPr>
            <a:r>
              <a:rPr lang="en-US" sz="1200" dirty="0">
                <a:solidFill>
                  <a:srgbClr val="ECEAFF"/>
                </a:solidFill>
                <a:latin typeface="IBM Plex Sans" pitchFamily="34" charset="0"/>
                <a:ea typeface="IBM Plex Sans" pitchFamily="34" charset="-122"/>
                <a:cs typeface="IBM Plex Sans" pitchFamily="34" charset="-120"/>
              </a:rPr>
              <a:t>point d'entrée unique, seul à parler à etcd</a:t>
            </a:r>
            <a:endParaRPr lang="en-US" sz="1200" dirty="0"/>
          </a:p>
        </p:txBody>
      </p:sp>
      <p:sp>
        <p:nvSpPr>
          <p:cNvPr id="11" name="Text 9"/>
          <p:cNvSpPr/>
          <p:nvPr/>
        </p:nvSpPr>
        <p:spPr>
          <a:xfrm>
            <a:off x="8334375" y="2568575"/>
            <a:ext cx="2787650" cy="755650"/>
          </a:xfrm>
          <a:prstGeom prst="roundRect">
            <a:avLst>
              <a:gd name="adj" fmla="val 11345"/>
            </a:avLst>
          </a:prstGeom>
          <a:solidFill>
            <a:srgbClr val="FDFDFF"/>
          </a:solidFill>
          <a:ln w="6350">
            <a:solidFill>
              <a:srgbClr val="CFCCE3"/>
            </a:solidFill>
            <a:prstDash val="solid"/>
          </a:ln>
        </p:spPr>
        <p:txBody>
          <a:bodyPr wrap="square" lIns="436261" tIns="42308" rIns="436367" bIns="42308" rtlCol="0" anchor="ctr">
            <a:normAutofit/>
          </a:bodyPr>
          <a:lstStyle/>
          <a:p>
            <a:pPr algn="ctr" indent="0" marL="0">
              <a:lnSpc>
                <a:spcPts val="1560"/>
              </a:lnSpc>
              <a:buNone/>
            </a:pPr>
            <a:r>
              <a:rPr lang="en-US" sz="1200" b="1" dirty="0">
                <a:solidFill>
                  <a:srgbClr val="0B0748"/>
                </a:solidFill>
                <a:latin typeface="IBM Plex Sans" pitchFamily="34" charset="0"/>
                <a:ea typeface="IBM Plex Sans" pitchFamily="34" charset="-122"/>
                <a:cs typeface="IBM Plex Sans" pitchFamily="34" charset="-120"/>
              </a:rPr>
              <a:t>kube-controller-manager</a:t>
            </a:r>
            <a:endParaRPr lang="en-US" sz="1200" dirty="0"/>
          </a:p>
          <a:p>
            <a:pPr algn="ctr" indent="0" marL="0">
              <a:lnSpc>
                <a:spcPts val="1560"/>
              </a:lnSpc>
              <a:buNone/>
            </a:pPr>
            <a:r>
              <a:rPr lang="en-US" sz="1200" dirty="0">
                <a:solidFill>
                  <a:srgbClr val="0B0748"/>
                </a:solidFill>
                <a:latin typeface="IBM Plex Sans" pitchFamily="34" charset="0"/>
                <a:ea typeface="IBM Plex Sans" pitchFamily="34" charset="-122"/>
                <a:cs typeface="IBM Plex Sans" pitchFamily="34" charset="-120"/>
              </a:rPr>
              <a:t>les boucles de contrôle</a:t>
            </a:r>
            <a:endParaRPr lang="en-US" sz="1200" dirty="0"/>
          </a:p>
        </p:txBody>
      </p:sp>
      <p:sp>
        <p:nvSpPr>
          <p:cNvPr id="12" name="Text 10"/>
          <p:cNvSpPr/>
          <p:nvPr/>
        </p:nvSpPr>
        <p:spPr>
          <a:xfrm>
            <a:off x="5149850" y="3536950"/>
            <a:ext cx="1892300" cy="495300"/>
          </a:xfrm>
          <a:prstGeom prst="roundRect">
            <a:avLst>
              <a:gd name="adj" fmla="val 16667"/>
            </a:avLst>
          </a:prstGeom>
          <a:solidFill>
            <a:srgbClr val="FCE6DC"/>
          </a:solidFill>
          <a:ln w="12700">
            <a:solidFill>
              <a:srgbClr val="E25A2C"/>
            </a:solidFill>
            <a:prstDash val="solid"/>
          </a:ln>
        </p:spPr>
        <p:txBody>
          <a:bodyPr wrap="square" lIns="207174" tIns="12652" rIns="207174" bIns="12652" rtlCol="0" anchor="ctr">
            <a:normAutofit/>
          </a:bodyPr>
          <a:lstStyle/>
          <a:p>
            <a:pPr algn="ctr" indent="0" marL="0">
              <a:lnSpc>
                <a:spcPts val="1560"/>
              </a:lnSpc>
              <a:buNone/>
            </a:pPr>
            <a:r>
              <a:rPr lang="en-US" sz="1200" b="1" dirty="0">
                <a:solidFill>
                  <a:srgbClr val="0B0748"/>
                </a:solidFill>
                <a:latin typeface="IBM Plex Sans" pitchFamily="34" charset="0"/>
                <a:ea typeface="IBM Plex Sans" pitchFamily="34" charset="-122"/>
                <a:cs typeface="IBM Plex Sans" pitchFamily="34" charset="-120"/>
              </a:rPr>
              <a:t>etcd</a:t>
            </a:r>
            <a:endParaRPr lang="en-US" sz="1200" dirty="0"/>
          </a:p>
          <a:p>
            <a:pPr algn="ctr" indent="0" marL="0">
              <a:lnSpc>
                <a:spcPts val="1560"/>
              </a:lnSpc>
              <a:buNone/>
            </a:pPr>
            <a:r>
              <a:rPr lang="en-US" sz="1200" dirty="0">
                <a:solidFill>
                  <a:srgbClr val="0B0748"/>
                </a:solidFill>
                <a:latin typeface="IBM Plex Sans" pitchFamily="34" charset="0"/>
                <a:ea typeface="IBM Plex Sans" pitchFamily="34" charset="-122"/>
                <a:cs typeface="IBM Plex Sans" pitchFamily="34" charset="-120"/>
              </a:rPr>
              <a:t>tout l'état du cluster</a:t>
            </a:r>
            <a:endParaRPr lang="en-US" sz="1200" dirty="0"/>
          </a:p>
        </p:txBody>
      </p:sp>
      <p:sp>
        <p:nvSpPr>
          <p:cNvPr id="13" name="Text 11"/>
          <p:cNvSpPr/>
          <p:nvPr/>
        </p:nvSpPr>
        <p:spPr>
          <a:xfrm>
            <a:off x="1066800" y="3530600"/>
            <a:ext cx="3662680"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890"/>
                </a:solidFill>
                <a:latin typeface="IBM Plex Sans" pitchFamily="34" charset="0"/>
                <a:ea typeface="IBM Plex Sans" pitchFamily="34" charset="-122"/>
                <a:cs typeface="IBM Plex Sans" pitchFamily="34" charset="-120"/>
              </a:rPr>
              <a:t>Aussi sur ce nœud : kubelet, containerd et kube-proxy, qui lancent ces composants en pods statiques.</a:t>
            </a:r>
            <a:endParaRPr lang="en-US" sz="1200" dirty="0"/>
          </a:p>
        </p:txBody>
      </p:sp>
      <p:sp>
        <p:nvSpPr>
          <p:cNvPr id="14" name="Text 12"/>
          <p:cNvSpPr/>
          <p:nvPr/>
        </p:nvSpPr>
        <p:spPr>
          <a:xfrm>
            <a:off x="8337550" y="3536950"/>
            <a:ext cx="2781300" cy="495300"/>
          </a:xfrm>
          <a:prstGeom prst="roundRect">
            <a:avLst>
              <a:gd name="adj" fmla="val 16667"/>
            </a:avLst>
          </a:prstGeom>
          <a:noFill/>
          <a:ln w="12700">
            <a:solidFill>
              <a:srgbClr val="A6A3C6"/>
            </a:solidFill>
            <a:prstDash val="dash"/>
          </a:ln>
        </p:spPr>
        <p:txBody>
          <a:bodyPr wrap="square" lIns="414831" tIns="12652" rIns="414937" bIns="12652" rtlCol="0" anchor="ctr">
            <a:normAutofit/>
          </a:bodyPr>
          <a:lstStyle/>
          <a:p>
            <a:pPr algn="ctr" indent="0" marL="0">
              <a:lnSpc>
                <a:spcPts val="1560"/>
              </a:lnSpc>
              <a:buNone/>
            </a:pPr>
            <a:r>
              <a:rPr lang="en-US" sz="1200" b="1" dirty="0">
                <a:solidFill>
                  <a:srgbClr val="6B6890"/>
                </a:solidFill>
                <a:latin typeface="IBM Plex Sans" pitchFamily="34" charset="0"/>
                <a:ea typeface="IBM Plex Sans" pitchFamily="34" charset="-122"/>
                <a:cs typeface="IBM Plex Sans" pitchFamily="34" charset="-120"/>
              </a:rPr>
              <a:t>cloud-controller-manager</a:t>
            </a:r>
            <a:endParaRPr lang="en-US" sz="1200" dirty="0"/>
          </a:p>
          <a:p>
            <a:pPr algn="ctr" indent="0" marL="0">
              <a:lnSpc>
                <a:spcPts val="1560"/>
              </a:lnSpc>
              <a:buNone/>
            </a:pPr>
            <a:r>
              <a:rPr lang="en-US" sz="1200" dirty="0">
                <a:solidFill>
                  <a:srgbClr val="6B6890"/>
                </a:solidFill>
                <a:latin typeface="IBM Plex Sans" pitchFamily="34" charset="0"/>
                <a:ea typeface="IBM Plex Sans" pitchFamily="34" charset="-122"/>
                <a:cs typeface="IBM Plex Sans" pitchFamily="34" charset="-120"/>
              </a:rPr>
              <a:t>absent du TP</a:t>
            </a:r>
            <a:endParaRPr lang="en-US" sz="1200" dirty="0"/>
          </a:p>
        </p:txBody>
      </p:sp>
      <p:sp>
        <p:nvSpPr>
          <p:cNvPr id="15" name="Text 13"/>
          <p:cNvSpPr/>
          <p:nvPr/>
        </p:nvSpPr>
        <p:spPr>
          <a:xfrm>
            <a:off x="990600" y="4521200"/>
            <a:ext cx="3401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WORKER · k8s-w1</a:t>
            </a:r>
            <a:endParaRPr lang="en-US" sz="1200" dirty="0"/>
          </a:p>
        </p:txBody>
      </p:sp>
      <p:sp>
        <p:nvSpPr>
          <p:cNvPr id="16" name="Text 14"/>
          <p:cNvSpPr/>
          <p:nvPr/>
        </p:nvSpPr>
        <p:spPr>
          <a:xfrm>
            <a:off x="6400800" y="4521200"/>
            <a:ext cx="3401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WORKER · k8s-w2</a:t>
            </a:r>
            <a:endParaRPr lang="en-US" sz="1200" dirty="0"/>
          </a:p>
        </p:txBody>
      </p:sp>
      <p:sp>
        <p:nvSpPr>
          <p:cNvPr id="17" name="Text 15"/>
          <p:cNvSpPr/>
          <p:nvPr/>
        </p:nvSpPr>
        <p:spPr>
          <a:xfrm>
            <a:off x="942975" y="4791075"/>
            <a:ext cx="1123950" cy="895350"/>
          </a:xfrm>
          <a:custGeom>
            <a:avLst/>
            <a:gdLst/>
            <a:ahLst/>
            <a:cxnLst/>
            <a:rect l="l" t="t" r="r" b="b"/>
            <a:pathLst>
              <a:path w="1123950" h="895350">
                <a:moveTo>
                  <a:pt x="85725" y="0"/>
                </a:moveTo>
                <a:lnTo>
                  <a:pt x="1038225" y="0"/>
                </a:lnTo>
                <a:arcTo hR="85725" wR="85725" stAng="16200000" swAng="5400000"/>
                <a:lnTo>
                  <a:pt x="1123950" y="809625"/>
                </a:lnTo>
                <a:arcTo hR="85725" wR="85725" stAng="0" swAng="5400000"/>
                <a:lnTo>
                  <a:pt x="85725" y="895350"/>
                </a:lnTo>
                <a:arcTo hR="85725" wR="85725" stAng="5400000" swAng="5400000"/>
                <a:lnTo>
                  <a:pt x="0" y="85725"/>
                </a:lnTo>
                <a:arcTo hR="85725" wR="85725" stAng="10800000" swAng="5400000"/>
                <a:close/>
              </a:path>
            </a:pathLst>
          </a:custGeom>
          <a:solidFill>
            <a:srgbClr val="FDFDFF"/>
          </a:solidFill>
          <a:ln w="6350">
            <a:solidFill>
              <a:srgbClr val="CFCCE3"/>
            </a:solidFill>
            <a:prstDash val="solid"/>
          </a:ln>
        </p:spPr>
        <p:txBody>
          <a:bodyPr wrap="square" lIns="48260" tIns="54716" rIns="48366" bIns="54716" rtlCol="0" anchor="ctr">
            <a:normAutofit/>
          </a:bodyPr>
          <a:lstStyle/>
          <a:p>
            <a:pPr algn="ctr" indent="0" marL="0">
              <a:lnSpc>
                <a:spcPts val="1560"/>
              </a:lnSpc>
              <a:buNone/>
            </a:pPr>
            <a:r>
              <a:rPr lang="en-US" sz="1200" b="1" dirty="0">
                <a:solidFill>
                  <a:srgbClr val="0B0748"/>
                </a:solidFill>
                <a:latin typeface="IBM Plex Sans" pitchFamily="34" charset="0"/>
                <a:ea typeface="IBM Plex Sans" pitchFamily="34" charset="-122"/>
                <a:cs typeface="IBM Plex Sans" pitchFamily="34" charset="-120"/>
              </a:rPr>
              <a:t>kubelet</a:t>
            </a:r>
            <a:endParaRPr lang="en-US" sz="1200" dirty="0"/>
          </a:p>
          <a:p>
            <a:pPr algn="ctr" indent="0" marL="0">
              <a:lnSpc>
                <a:spcPts val="1560"/>
              </a:lnSpc>
              <a:buNone/>
            </a:pPr>
            <a:r>
              <a:rPr lang="en-US" sz="1200" dirty="0">
                <a:solidFill>
                  <a:srgbClr val="0B0748"/>
                </a:solidFill>
                <a:latin typeface="IBM Plex Sans" pitchFamily="34" charset="0"/>
                <a:ea typeface="IBM Plex Sans" pitchFamily="34" charset="-122"/>
                <a:cs typeface="IBM Plex Sans" pitchFamily="34" charset="-120"/>
              </a:rPr>
              <a:t>lance les pods</a:t>
            </a:r>
            <a:endParaRPr lang="en-US" sz="1200" dirty="0"/>
          </a:p>
        </p:txBody>
      </p:sp>
      <p:sp>
        <p:nvSpPr>
          <p:cNvPr id="18" name="Text 16"/>
          <p:cNvSpPr/>
          <p:nvPr/>
        </p:nvSpPr>
        <p:spPr>
          <a:xfrm>
            <a:off x="2200275" y="4791075"/>
            <a:ext cx="1123950" cy="895350"/>
          </a:xfrm>
          <a:prstGeom prst="roundRect">
            <a:avLst>
              <a:gd name="adj" fmla="val 9574"/>
            </a:avLst>
          </a:prstGeom>
          <a:solidFill>
            <a:srgbClr val="FCE6DC"/>
          </a:solidFill>
          <a:ln w="6350">
            <a:solidFill>
              <a:srgbClr val="E25A2C"/>
            </a:solidFill>
            <a:prstDash val="solid"/>
          </a:ln>
        </p:spPr>
        <p:txBody>
          <a:bodyPr wrap="square" lIns="47176" tIns="29608" rIns="47282" bIns="29608" rtlCol="0" anchor="ctr">
            <a:normAutofit/>
          </a:bodyPr>
          <a:lstStyle/>
          <a:p>
            <a:pPr algn="ctr" indent="0" marL="0">
              <a:lnSpc>
                <a:spcPts val="1560"/>
              </a:lnSpc>
              <a:buNone/>
            </a:pPr>
            <a:r>
              <a:rPr lang="en-US" sz="1200" b="1" dirty="0">
                <a:solidFill>
                  <a:srgbClr val="0B0748"/>
                </a:solidFill>
                <a:latin typeface="IBM Plex Sans" pitchFamily="34" charset="0"/>
                <a:ea typeface="IBM Plex Sans" pitchFamily="34" charset="-122"/>
                <a:cs typeface="IBM Plex Sans" pitchFamily="34" charset="-120"/>
              </a:rPr>
              <a:t>containerd</a:t>
            </a:r>
            <a:endParaRPr lang="en-US" sz="1200" dirty="0"/>
          </a:p>
          <a:p>
            <a:pPr algn="ctr" indent="0" marL="0">
              <a:lnSpc>
                <a:spcPts val="1560"/>
              </a:lnSpc>
              <a:buNone/>
            </a:pPr>
            <a:r>
              <a:rPr lang="en-US" sz="1200" dirty="0">
                <a:solidFill>
                  <a:srgbClr val="0B0748"/>
                </a:solidFill>
                <a:latin typeface="IBM Plex Sans" pitchFamily="34" charset="0"/>
                <a:ea typeface="IBM Plex Sans" pitchFamily="34" charset="-122"/>
                <a:cs typeface="IBM Plex Sans" pitchFamily="34" charset="-120"/>
              </a:rPr>
              <a:t>runtime (CRI)</a:t>
            </a:r>
            <a:endParaRPr lang="en-US" sz="1200" dirty="0"/>
          </a:p>
        </p:txBody>
      </p:sp>
      <p:sp>
        <p:nvSpPr>
          <p:cNvPr id="19" name="Text 17"/>
          <p:cNvSpPr/>
          <p:nvPr/>
        </p:nvSpPr>
        <p:spPr>
          <a:xfrm>
            <a:off x="3457575" y="4791075"/>
            <a:ext cx="1123950" cy="895350"/>
          </a:xfrm>
          <a:custGeom>
            <a:avLst/>
            <a:gdLst/>
            <a:ahLst/>
            <a:cxnLst/>
            <a:rect l="l" t="t" r="r" b="b"/>
            <a:pathLst>
              <a:path w="1123950" h="895350">
                <a:moveTo>
                  <a:pt x="85725" y="0"/>
                </a:moveTo>
                <a:lnTo>
                  <a:pt x="1038225" y="0"/>
                </a:lnTo>
                <a:arcTo hR="85725" wR="85725" stAng="16200000" swAng="5400000"/>
                <a:lnTo>
                  <a:pt x="1123950" y="809625"/>
                </a:lnTo>
                <a:arcTo hR="85725" wR="85725" stAng="0" swAng="5400000"/>
                <a:lnTo>
                  <a:pt x="85725" y="895350"/>
                </a:lnTo>
                <a:arcTo hR="85725" wR="85725" stAng="5400000" swAng="5400000"/>
                <a:lnTo>
                  <a:pt x="0" y="85725"/>
                </a:lnTo>
                <a:arcTo hR="85725" wR="85725" stAng="10800000" swAng="5400000"/>
                <a:close/>
              </a:path>
            </a:pathLst>
          </a:custGeom>
          <a:solidFill>
            <a:srgbClr val="FDFDFF"/>
          </a:solidFill>
          <a:ln w="6350">
            <a:solidFill>
              <a:srgbClr val="CFCCE3"/>
            </a:solidFill>
            <a:prstDash val="solid"/>
          </a:ln>
        </p:spPr>
        <p:txBody>
          <a:bodyPr wrap="square" lIns="42016" tIns="54716" rIns="42016" bIns="54716" rtlCol="0" anchor="ctr">
            <a:normAutofit/>
          </a:bodyPr>
          <a:lstStyle/>
          <a:p>
            <a:pPr algn="ctr" indent="0" marL="0">
              <a:lnSpc>
                <a:spcPts val="1560"/>
              </a:lnSpc>
              <a:buNone/>
            </a:pPr>
            <a:r>
              <a:rPr lang="en-US" sz="1200" b="1" dirty="0">
                <a:solidFill>
                  <a:srgbClr val="0B0748"/>
                </a:solidFill>
                <a:latin typeface="IBM Plex Sans" pitchFamily="34" charset="0"/>
                <a:ea typeface="IBM Plex Sans" pitchFamily="34" charset="-122"/>
                <a:cs typeface="IBM Plex Sans" pitchFamily="34" charset="-120"/>
              </a:rPr>
              <a:t>Pods</a:t>
            </a:r>
            <a:endParaRPr lang="en-US" sz="1200" dirty="0"/>
          </a:p>
          <a:p>
            <a:pPr algn="ctr" indent="0" marL="0">
              <a:lnSpc>
                <a:spcPts val="1560"/>
              </a:lnSpc>
              <a:buNone/>
            </a:pPr>
            <a:r>
              <a:rPr lang="en-US" sz="1200" dirty="0">
                <a:solidFill>
                  <a:srgbClr val="0B0748"/>
                </a:solidFill>
                <a:latin typeface="IBM Plex Sans" pitchFamily="34" charset="0"/>
                <a:ea typeface="IBM Plex Sans" pitchFamily="34" charset="-122"/>
                <a:cs typeface="IBM Plex Sans" pitchFamily="34" charset="-120"/>
              </a:rPr>
              <a:t>une IP chacun (CNI)</a:t>
            </a:r>
            <a:endParaRPr lang="en-US" sz="1200" dirty="0"/>
          </a:p>
        </p:txBody>
      </p:sp>
      <p:sp>
        <p:nvSpPr>
          <p:cNvPr id="20" name="Text 18"/>
          <p:cNvSpPr/>
          <p:nvPr/>
        </p:nvSpPr>
        <p:spPr>
          <a:xfrm>
            <a:off x="4714875" y="4791075"/>
            <a:ext cx="1123950" cy="895350"/>
          </a:xfrm>
          <a:custGeom>
            <a:avLst/>
            <a:gdLst/>
            <a:ahLst/>
            <a:cxnLst/>
            <a:rect l="l" t="t" r="r" b="b"/>
            <a:pathLst>
              <a:path w="1123950" h="895350">
                <a:moveTo>
                  <a:pt x="85725" y="0"/>
                </a:moveTo>
                <a:lnTo>
                  <a:pt x="1038225" y="0"/>
                </a:lnTo>
                <a:arcTo hR="85725" wR="85725" stAng="16200000" swAng="5400000"/>
                <a:lnTo>
                  <a:pt x="1123950" y="809625"/>
                </a:lnTo>
                <a:arcTo hR="85725" wR="85725" stAng="0" swAng="5400000"/>
                <a:lnTo>
                  <a:pt x="85725" y="895350"/>
                </a:lnTo>
                <a:arcTo hR="85725" wR="85725" stAng="5400000" swAng="5400000"/>
                <a:lnTo>
                  <a:pt x="0" y="85725"/>
                </a:lnTo>
                <a:arcTo hR="85725" wR="85725" stAng="10800000" swAng="5400000"/>
                <a:close/>
              </a:path>
            </a:pathLst>
          </a:custGeom>
          <a:solidFill>
            <a:srgbClr val="FDFDFF"/>
          </a:solidFill>
          <a:ln w="6350">
            <a:solidFill>
              <a:srgbClr val="CFCCE3"/>
            </a:solidFill>
            <a:prstDash val="solid"/>
          </a:ln>
        </p:spPr>
        <p:txBody>
          <a:bodyPr wrap="square" lIns="42016" tIns="54716" rIns="42016" bIns="54716" rtlCol="0" anchor="ctr">
            <a:normAutofit/>
          </a:bodyPr>
          <a:lstStyle/>
          <a:p>
            <a:pPr algn="ctr" indent="0" marL="0">
              <a:lnSpc>
                <a:spcPts val="1560"/>
              </a:lnSpc>
              <a:buNone/>
            </a:pPr>
            <a:r>
              <a:rPr lang="en-US" sz="1200" b="1" dirty="0">
                <a:solidFill>
                  <a:srgbClr val="0B0748"/>
                </a:solidFill>
                <a:latin typeface="IBM Plex Sans" pitchFamily="34" charset="0"/>
                <a:ea typeface="IBM Plex Sans" pitchFamily="34" charset="-122"/>
                <a:cs typeface="IBM Plex Sans" pitchFamily="34" charset="-120"/>
              </a:rPr>
              <a:t>kube-proxy</a:t>
            </a:r>
            <a:endParaRPr lang="en-US" sz="1200" dirty="0"/>
          </a:p>
          <a:p>
            <a:pPr algn="ctr" indent="0" marL="0">
              <a:lnSpc>
                <a:spcPts val="1560"/>
              </a:lnSpc>
              <a:buNone/>
            </a:pPr>
            <a:r>
              <a:rPr lang="en-US" sz="1200" dirty="0">
                <a:solidFill>
                  <a:srgbClr val="0B0748"/>
                </a:solidFill>
                <a:latin typeface="IBM Plex Sans" pitchFamily="34" charset="0"/>
                <a:ea typeface="IBM Plex Sans" pitchFamily="34" charset="-122"/>
                <a:cs typeface="IBM Plex Sans" pitchFamily="34" charset="-120"/>
              </a:rPr>
              <a:t>règles des Services</a:t>
            </a:r>
            <a:endParaRPr lang="en-US" sz="1200" dirty="0"/>
          </a:p>
        </p:txBody>
      </p:sp>
      <p:sp>
        <p:nvSpPr>
          <p:cNvPr id="21" name="Text 19"/>
          <p:cNvSpPr/>
          <p:nvPr/>
        </p:nvSpPr>
        <p:spPr>
          <a:xfrm>
            <a:off x="6353175" y="4791075"/>
            <a:ext cx="1123950" cy="895350"/>
          </a:xfrm>
          <a:custGeom>
            <a:avLst/>
            <a:gdLst/>
            <a:ahLst/>
            <a:cxnLst/>
            <a:rect l="l" t="t" r="r" b="b"/>
            <a:pathLst>
              <a:path w="1123950" h="895350">
                <a:moveTo>
                  <a:pt x="85725" y="0"/>
                </a:moveTo>
                <a:lnTo>
                  <a:pt x="1038225" y="0"/>
                </a:lnTo>
                <a:arcTo hR="85725" wR="85725" stAng="16200000" swAng="5400000"/>
                <a:lnTo>
                  <a:pt x="1123950" y="809625"/>
                </a:lnTo>
                <a:arcTo hR="85725" wR="85725" stAng="0" swAng="5400000"/>
                <a:lnTo>
                  <a:pt x="85725" y="895350"/>
                </a:lnTo>
                <a:arcTo hR="85725" wR="85725" stAng="5400000" swAng="5400000"/>
                <a:lnTo>
                  <a:pt x="0" y="85725"/>
                </a:lnTo>
                <a:arcTo hR="85725" wR="85725" stAng="10800000" swAng="5400000"/>
                <a:close/>
              </a:path>
            </a:pathLst>
          </a:custGeom>
          <a:solidFill>
            <a:srgbClr val="FDFDFF"/>
          </a:solidFill>
          <a:ln w="6350">
            <a:solidFill>
              <a:srgbClr val="CFCCE3"/>
            </a:solidFill>
            <a:prstDash val="solid"/>
          </a:ln>
        </p:spPr>
        <p:txBody>
          <a:bodyPr wrap="square" lIns="48260" tIns="54716" rIns="48366" bIns="54716" rtlCol="0" anchor="ctr">
            <a:normAutofit/>
          </a:bodyPr>
          <a:lstStyle/>
          <a:p>
            <a:pPr algn="ctr" indent="0" marL="0">
              <a:lnSpc>
                <a:spcPts val="1560"/>
              </a:lnSpc>
              <a:buNone/>
            </a:pPr>
            <a:r>
              <a:rPr lang="en-US" sz="1200" b="1" dirty="0">
                <a:solidFill>
                  <a:srgbClr val="0B0748"/>
                </a:solidFill>
                <a:latin typeface="IBM Plex Sans" pitchFamily="34" charset="0"/>
                <a:ea typeface="IBM Plex Sans" pitchFamily="34" charset="-122"/>
                <a:cs typeface="IBM Plex Sans" pitchFamily="34" charset="-120"/>
              </a:rPr>
              <a:t>kubelet</a:t>
            </a:r>
            <a:endParaRPr lang="en-US" sz="1200" dirty="0"/>
          </a:p>
          <a:p>
            <a:pPr algn="ctr" indent="0" marL="0">
              <a:lnSpc>
                <a:spcPts val="1560"/>
              </a:lnSpc>
              <a:buNone/>
            </a:pPr>
            <a:r>
              <a:rPr lang="en-US" sz="1200" dirty="0">
                <a:solidFill>
                  <a:srgbClr val="0B0748"/>
                </a:solidFill>
                <a:latin typeface="IBM Plex Sans" pitchFamily="34" charset="0"/>
                <a:ea typeface="IBM Plex Sans" pitchFamily="34" charset="-122"/>
                <a:cs typeface="IBM Plex Sans" pitchFamily="34" charset="-120"/>
              </a:rPr>
              <a:t>lance les pods</a:t>
            </a:r>
            <a:endParaRPr lang="en-US" sz="1200" dirty="0"/>
          </a:p>
        </p:txBody>
      </p:sp>
      <p:sp>
        <p:nvSpPr>
          <p:cNvPr id="22" name="Text 20"/>
          <p:cNvSpPr/>
          <p:nvPr/>
        </p:nvSpPr>
        <p:spPr>
          <a:xfrm>
            <a:off x="7610475" y="4791075"/>
            <a:ext cx="1123950" cy="895350"/>
          </a:xfrm>
          <a:prstGeom prst="roundRect">
            <a:avLst>
              <a:gd name="adj" fmla="val 9574"/>
            </a:avLst>
          </a:prstGeom>
          <a:solidFill>
            <a:srgbClr val="FCE6DC"/>
          </a:solidFill>
          <a:ln w="6350">
            <a:solidFill>
              <a:srgbClr val="E25A2C"/>
            </a:solidFill>
            <a:prstDash val="solid"/>
          </a:ln>
        </p:spPr>
        <p:txBody>
          <a:bodyPr wrap="square" lIns="47176" tIns="29608" rIns="47282" bIns="29608" rtlCol="0" anchor="ctr">
            <a:normAutofit/>
          </a:bodyPr>
          <a:lstStyle/>
          <a:p>
            <a:pPr algn="ctr" indent="0" marL="0">
              <a:lnSpc>
                <a:spcPts val="1560"/>
              </a:lnSpc>
              <a:buNone/>
            </a:pPr>
            <a:r>
              <a:rPr lang="en-US" sz="1200" b="1" dirty="0">
                <a:solidFill>
                  <a:srgbClr val="0B0748"/>
                </a:solidFill>
                <a:latin typeface="IBM Plex Sans" pitchFamily="34" charset="0"/>
                <a:ea typeface="IBM Plex Sans" pitchFamily="34" charset="-122"/>
                <a:cs typeface="IBM Plex Sans" pitchFamily="34" charset="-120"/>
              </a:rPr>
              <a:t>containerd</a:t>
            </a:r>
            <a:endParaRPr lang="en-US" sz="1200" dirty="0"/>
          </a:p>
          <a:p>
            <a:pPr algn="ctr" indent="0" marL="0">
              <a:lnSpc>
                <a:spcPts val="1560"/>
              </a:lnSpc>
              <a:buNone/>
            </a:pPr>
            <a:r>
              <a:rPr lang="en-US" sz="1200" dirty="0">
                <a:solidFill>
                  <a:srgbClr val="0B0748"/>
                </a:solidFill>
                <a:latin typeface="IBM Plex Sans" pitchFamily="34" charset="0"/>
                <a:ea typeface="IBM Plex Sans" pitchFamily="34" charset="-122"/>
                <a:cs typeface="IBM Plex Sans" pitchFamily="34" charset="-120"/>
              </a:rPr>
              <a:t>runtime (CRI)</a:t>
            </a:r>
            <a:endParaRPr lang="en-US" sz="1200" dirty="0"/>
          </a:p>
        </p:txBody>
      </p:sp>
      <p:sp>
        <p:nvSpPr>
          <p:cNvPr id="23" name="Text 21"/>
          <p:cNvSpPr/>
          <p:nvPr/>
        </p:nvSpPr>
        <p:spPr>
          <a:xfrm>
            <a:off x="8867775" y="4791075"/>
            <a:ext cx="1123950" cy="895350"/>
          </a:xfrm>
          <a:custGeom>
            <a:avLst/>
            <a:gdLst/>
            <a:ahLst/>
            <a:cxnLst/>
            <a:rect l="l" t="t" r="r" b="b"/>
            <a:pathLst>
              <a:path w="1123950" h="895350">
                <a:moveTo>
                  <a:pt x="85725" y="0"/>
                </a:moveTo>
                <a:lnTo>
                  <a:pt x="1038225" y="0"/>
                </a:lnTo>
                <a:arcTo hR="85725" wR="85725" stAng="16200000" swAng="5400000"/>
                <a:lnTo>
                  <a:pt x="1123950" y="809625"/>
                </a:lnTo>
                <a:arcTo hR="85725" wR="85725" stAng="0" swAng="5400000"/>
                <a:lnTo>
                  <a:pt x="85725" y="895350"/>
                </a:lnTo>
                <a:arcTo hR="85725" wR="85725" stAng="5400000" swAng="5400000"/>
                <a:lnTo>
                  <a:pt x="0" y="85725"/>
                </a:lnTo>
                <a:arcTo hR="85725" wR="85725" stAng="10800000" swAng="5400000"/>
                <a:close/>
              </a:path>
            </a:pathLst>
          </a:custGeom>
          <a:solidFill>
            <a:srgbClr val="FDFDFF"/>
          </a:solidFill>
          <a:ln w="6350">
            <a:solidFill>
              <a:srgbClr val="CFCCE3"/>
            </a:solidFill>
            <a:prstDash val="solid"/>
          </a:ln>
        </p:spPr>
        <p:txBody>
          <a:bodyPr wrap="square" lIns="42016" tIns="54716" rIns="42016" bIns="54716" rtlCol="0" anchor="ctr">
            <a:normAutofit/>
          </a:bodyPr>
          <a:lstStyle/>
          <a:p>
            <a:pPr algn="ctr" indent="0" marL="0">
              <a:lnSpc>
                <a:spcPts val="1560"/>
              </a:lnSpc>
              <a:buNone/>
            </a:pPr>
            <a:r>
              <a:rPr lang="en-US" sz="1200" b="1" dirty="0">
                <a:solidFill>
                  <a:srgbClr val="0B0748"/>
                </a:solidFill>
                <a:latin typeface="IBM Plex Sans" pitchFamily="34" charset="0"/>
                <a:ea typeface="IBM Plex Sans" pitchFamily="34" charset="-122"/>
                <a:cs typeface="IBM Plex Sans" pitchFamily="34" charset="-120"/>
              </a:rPr>
              <a:t>Pods</a:t>
            </a:r>
            <a:endParaRPr lang="en-US" sz="1200" dirty="0"/>
          </a:p>
          <a:p>
            <a:pPr algn="ctr" indent="0" marL="0">
              <a:lnSpc>
                <a:spcPts val="1560"/>
              </a:lnSpc>
              <a:buNone/>
            </a:pPr>
            <a:r>
              <a:rPr lang="en-US" sz="1200" dirty="0">
                <a:solidFill>
                  <a:srgbClr val="0B0748"/>
                </a:solidFill>
                <a:latin typeface="IBM Plex Sans" pitchFamily="34" charset="0"/>
                <a:ea typeface="IBM Plex Sans" pitchFamily="34" charset="-122"/>
                <a:cs typeface="IBM Plex Sans" pitchFamily="34" charset="-120"/>
              </a:rPr>
              <a:t>une IP chacun (CNI)</a:t>
            </a:r>
            <a:endParaRPr lang="en-US" sz="1200" dirty="0"/>
          </a:p>
        </p:txBody>
      </p:sp>
      <p:sp>
        <p:nvSpPr>
          <p:cNvPr id="24" name="Text 22"/>
          <p:cNvSpPr/>
          <p:nvPr/>
        </p:nvSpPr>
        <p:spPr>
          <a:xfrm>
            <a:off x="10125075" y="4791075"/>
            <a:ext cx="1123950" cy="895350"/>
          </a:xfrm>
          <a:custGeom>
            <a:avLst/>
            <a:gdLst/>
            <a:ahLst/>
            <a:cxnLst/>
            <a:rect l="l" t="t" r="r" b="b"/>
            <a:pathLst>
              <a:path w="1123950" h="895350">
                <a:moveTo>
                  <a:pt x="85725" y="0"/>
                </a:moveTo>
                <a:lnTo>
                  <a:pt x="1038225" y="0"/>
                </a:lnTo>
                <a:arcTo hR="85725" wR="85725" stAng="16200000" swAng="5400000"/>
                <a:lnTo>
                  <a:pt x="1123950" y="809625"/>
                </a:lnTo>
                <a:arcTo hR="85725" wR="85725" stAng="0" swAng="5400000"/>
                <a:lnTo>
                  <a:pt x="85725" y="895350"/>
                </a:lnTo>
                <a:arcTo hR="85725" wR="85725" stAng="5400000" swAng="5400000"/>
                <a:lnTo>
                  <a:pt x="0" y="85725"/>
                </a:lnTo>
                <a:arcTo hR="85725" wR="85725" stAng="10800000" swAng="5400000"/>
                <a:close/>
              </a:path>
            </a:pathLst>
          </a:custGeom>
          <a:solidFill>
            <a:srgbClr val="FDFDFF"/>
          </a:solidFill>
          <a:ln w="6350">
            <a:solidFill>
              <a:srgbClr val="CFCCE3"/>
            </a:solidFill>
            <a:prstDash val="solid"/>
          </a:ln>
        </p:spPr>
        <p:txBody>
          <a:bodyPr wrap="square" lIns="42016" tIns="54716" rIns="42016" bIns="54716" rtlCol="0" anchor="ctr">
            <a:normAutofit/>
          </a:bodyPr>
          <a:lstStyle/>
          <a:p>
            <a:pPr algn="ctr" indent="0" marL="0">
              <a:lnSpc>
                <a:spcPts val="1560"/>
              </a:lnSpc>
              <a:buNone/>
            </a:pPr>
            <a:r>
              <a:rPr lang="en-US" sz="1200" b="1" dirty="0">
                <a:solidFill>
                  <a:srgbClr val="0B0748"/>
                </a:solidFill>
                <a:latin typeface="IBM Plex Sans" pitchFamily="34" charset="0"/>
                <a:ea typeface="IBM Plex Sans" pitchFamily="34" charset="-122"/>
                <a:cs typeface="IBM Plex Sans" pitchFamily="34" charset="-120"/>
              </a:rPr>
              <a:t>kube-proxy</a:t>
            </a:r>
            <a:endParaRPr lang="en-US" sz="1200" dirty="0"/>
          </a:p>
          <a:p>
            <a:pPr algn="ctr" indent="0" marL="0">
              <a:lnSpc>
                <a:spcPts val="1560"/>
              </a:lnSpc>
              <a:buNone/>
            </a:pPr>
            <a:r>
              <a:rPr lang="en-US" sz="1200" dirty="0">
                <a:solidFill>
                  <a:srgbClr val="0B0748"/>
                </a:solidFill>
                <a:latin typeface="IBM Plex Sans" pitchFamily="34" charset="0"/>
                <a:ea typeface="IBM Plex Sans" pitchFamily="34" charset="-122"/>
                <a:cs typeface="IBM Plex Sans" pitchFamily="34" charset="-120"/>
              </a:rPr>
              <a:t>règles des Services</a:t>
            </a:r>
            <a:endParaRPr lang="en-US" sz="1200" dirty="0"/>
          </a:p>
        </p:txBody>
      </p:sp>
      <p:pic>
        <p:nvPicPr>
          <p:cNvPr id="25" name="Image 0" descr="connector">    </p:cNvPr>
          <p:cNvPicPr>
            <a:picLocks noChangeAspect="1"/>
          </p:cNvPicPr>
          <p:nvPr/>
        </p:nvPicPr>
        <p:blipFill>
          <a:blip r:embed="rId1"/>
          <a:srcRect l="0" r="0" t="0" b="0"/>
          <a:stretch/>
        </p:blipFill>
        <p:spPr>
          <a:xfrm>
            <a:off x="6045200" y="1905000"/>
            <a:ext cx="101600" cy="711200"/>
          </a:xfrm>
          <a:prstGeom prst="rect">
            <a:avLst/>
          </a:prstGeom>
        </p:spPr>
      </p:pic>
      <p:pic>
        <p:nvPicPr>
          <p:cNvPr id="26" name="Image 1" descr="connector">    </p:cNvPr>
          <p:cNvPicPr>
            <a:picLocks noChangeAspect="1"/>
          </p:cNvPicPr>
          <p:nvPr/>
        </p:nvPicPr>
        <p:blipFill>
          <a:blip r:embed="rId2"/>
          <a:srcRect l="0" r="0" t="0" b="0"/>
          <a:stretch/>
        </p:blipFill>
        <p:spPr>
          <a:xfrm>
            <a:off x="3810000" y="2895600"/>
            <a:ext cx="939800" cy="101600"/>
          </a:xfrm>
          <a:prstGeom prst="rect">
            <a:avLst/>
          </a:prstGeom>
        </p:spPr>
      </p:pic>
      <p:pic>
        <p:nvPicPr>
          <p:cNvPr id="27" name="Image 2" descr="connector">    </p:cNvPr>
          <p:cNvPicPr>
            <a:picLocks noChangeAspect="1"/>
          </p:cNvPicPr>
          <p:nvPr/>
        </p:nvPicPr>
        <p:blipFill>
          <a:blip r:embed="rId3"/>
          <a:srcRect l="0" r="0" t="0" b="0"/>
          <a:stretch/>
        </p:blipFill>
        <p:spPr>
          <a:xfrm>
            <a:off x="7442200" y="2895600"/>
            <a:ext cx="939800" cy="101600"/>
          </a:xfrm>
          <a:prstGeom prst="rect">
            <a:avLst/>
          </a:prstGeom>
        </p:spPr>
      </p:pic>
      <p:pic>
        <p:nvPicPr>
          <p:cNvPr id="28" name="Image 3" descr="connector">    </p:cNvPr>
          <p:cNvPicPr>
            <a:picLocks noChangeAspect="1"/>
          </p:cNvPicPr>
          <p:nvPr/>
        </p:nvPicPr>
        <p:blipFill>
          <a:blip r:embed="rId4"/>
          <a:srcRect l="0" r="0" t="0" b="0"/>
          <a:stretch/>
        </p:blipFill>
        <p:spPr>
          <a:xfrm>
            <a:off x="6045200" y="3276600"/>
            <a:ext cx="101600" cy="304800"/>
          </a:xfrm>
          <a:prstGeom prst="rect">
            <a:avLst/>
          </a:prstGeom>
        </p:spPr>
      </p:pic>
      <p:pic>
        <p:nvPicPr>
          <p:cNvPr id="29" name="Image 4" descr="connector">    </p:cNvPr>
          <p:cNvPicPr>
            <a:picLocks noChangeAspect="1"/>
          </p:cNvPicPr>
          <p:nvPr/>
        </p:nvPicPr>
        <p:blipFill>
          <a:blip r:embed="rId5"/>
          <a:srcRect l="0" r="0" t="0" b="0"/>
          <a:stretch/>
        </p:blipFill>
        <p:spPr>
          <a:xfrm>
            <a:off x="3340100" y="4089400"/>
            <a:ext cx="101600" cy="406400"/>
          </a:xfrm>
          <a:prstGeom prst="rect">
            <a:avLst/>
          </a:prstGeom>
        </p:spPr>
      </p:pic>
      <p:pic>
        <p:nvPicPr>
          <p:cNvPr id="30" name="Image 5" descr="connector">    </p:cNvPr>
          <p:cNvPicPr>
            <a:picLocks noChangeAspect="1"/>
          </p:cNvPicPr>
          <p:nvPr/>
        </p:nvPicPr>
        <p:blipFill>
          <a:blip r:embed="rId6"/>
          <a:srcRect l="0" r="0" t="0" b="0"/>
          <a:stretch/>
        </p:blipFill>
        <p:spPr>
          <a:xfrm>
            <a:off x="8750300" y="4089400"/>
            <a:ext cx="101600" cy="406400"/>
          </a:xfrm>
          <a:prstGeom prst="rect">
            <a:avLst/>
          </a:prstGeom>
        </p:spPr>
      </p:pic>
      <p:sp>
        <p:nvSpPr>
          <p:cNvPr id="31" name="Text 23"/>
          <p:cNvSpPr/>
          <p:nvPr/>
        </p:nvSpPr>
        <p:spPr>
          <a:xfrm>
            <a:off x="6223000" y="2222500"/>
            <a:ext cx="18313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HTTPS · port 6443</a:t>
            </a:r>
            <a:endParaRPr lang="en-US" sz="1200" dirty="0"/>
          </a:p>
        </p:txBody>
      </p:sp>
      <p:sp>
        <p:nvSpPr>
          <p:cNvPr id="32" name="Text 24"/>
          <p:cNvSpPr/>
          <p:nvPr/>
        </p:nvSpPr>
        <p:spPr>
          <a:xfrm>
            <a:off x="4025900" y="2616200"/>
            <a:ext cx="622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watch</a:t>
            </a:r>
            <a:endParaRPr lang="en-US" sz="1200" dirty="0"/>
          </a:p>
        </p:txBody>
      </p:sp>
      <p:sp>
        <p:nvSpPr>
          <p:cNvPr id="33" name="Text 25"/>
          <p:cNvSpPr/>
          <p:nvPr/>
        </p:nvSpPr>
        <p:spPr>
          <a:xfrm>
            <a:off x="7658100" y="2616200"/>
            <a:ext cx="622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watch</a:t>
            </a:r>
            <a:endParaRPr lang="en-US" sz="1200" dirty="0"/>
          </a:p>
        </p:txBody>
      </p:sp>
      <p:sp>
        <p:nvSpPr>
          <p:cNvPr id="34" name="Text 26"/>
          <p:cNvSpPr/>
          <p:nvPr/>
        </p:nvSpPr>
        <p:spPr>
          <a:xfrm>
            <a:off x="3505200" y="4184650"/>
            <a:ext cx="2092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pods à lancer · état</a:t>
            </a:r>
            <a:endParaRPr lang="en-US" sz="1200" dirty="0"/>
          </a:p>
        </p:txBody>
      </p:sp>
      <p:sp>
        <p:nvSpPr>
          <p:cNvPr id="35" name="Text 27"/>
          <p:cNvSpPr/>
          <p:nvPr/>
        </p:nvSpPr>
        <p:spPr>
          <a:xfrm>
            <a:off x="8915400" y="4184650"/>
            <a:ext cx="2092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pods à lancer · état</a:t>
            </a:r>
            <a:endParaRPr lang="en-US" sz="1200" dirty="0"/>
          </a:p>
        </p:txBody>
      </p:sp>
      <p:pic>
        <p:nvPicPr>
          <p:cNvPr id="36" name="Image 6" descr="preencoded.png">    </p:cNvPr>
          <p:cNvPicPr>
            <a:picLocks noChangeAspect="1"/>
          </p:cNvPicPr>
          <p:nvPr/>
        </p:nvPicPr>
        <p:blipFill>
          <a:blip r:embed="rId7"/>
          <a:srcRect l="0" r="0" t="0" b="0"/>
          <a:stretch/>
        </p:blipFill>
        <p:spPr>
          <a:xfrm>
            <a:off x="812800" y="6299200"/>
            <a:ext cx="152400" cy="152400"/>
          </a:xfrm>
          <a:prstGeom prst="rect">
            <a:avLst/>
          </a:prstGeom>
        </p:spPr>
      </p:pic>
      <p:sp>
        <p:nvSpPr>
          <p:cNvPr id="37" name="Text 2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8" name="Image 7" descr="Parcours : module 2 sur 16">    </p:cNvPr>
          <p:cNvPicPr>
            <a:picLocks noChangeAspect="1"/>
          </p:cNvPicPr>
          <p:nvPr/>
        </p:nvPicPr>
        <p:blipFill>
          <a:blip r:embed="rId8"/>
          <a:srcRect l="0" r="0" t="0" b="0"/>
          <a:stretch/>
        </p:blipFill>
        <p:spPr>
          <a:xfrm>
            <a:off x="9207500" y="6299200"/>
            <a:ext cx="2171700" cy="152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6961"/>
          </a:xfrm>
          <a:prstGeom prst="rect">
            <a:avLst/>
          </a:prstGeom>
          <a:noFill/>
          <a:ln/>
        </p:spPr>
        <p:txBody>
          <a:bodyPr wrap="square" lIns="0" tIns="0" rIns="0" bIns="0" rtlCol="0" anchor="t">
            <a:normAutofit/>
          </a:bodyPr>
          <a:lstStyle/>
          <a:p>
            <a:pPr algn="l" indent="0" marL="0">
              <a:lnSpc>
                <a:spcPts val="1670"/>
              </a:lnSpc>
              <a:buNone/>
            </a:pPr>
            <a:r>
              <a:rPr lang="en-US" sz="1193" b="1" spc="150" kern="0" dirty="0">
                <a:solidFill>
                  <a:srgbClr val="B8421A"/>
                </a:solidFill>
                <a:latin typeface="IBM Plex Sans" pitchFamily="34" charset="0"/>
                <a:ea typeface="IBM Plex Sans" pitchFamily="34" charset="-122"/>
                <a:cs typeface="IBM Plex Sans" pitchFamily="34" charset="-120"/>
              </a:rPr>
              <a:t>MODULE 02 · ARCHITECTURE DE KUBERNETES</a:t>
            </a:r>
            <a:endParaRPr lang="en-US" sz="1193" dirty="0"/>
          </a:p>
        </p:txBody>
      </p:sp>
      <p:sp>
        <p:nvSpPr>
          <p:cNvPr id="3" name="Text 1"/>
          <p:cNvSpPr/>
          <p:nvPr>
            <p:ph type="title"/>
          </p:nvPr>
        </p:nvSpPr>
        <p:spPr>
          <a:xfrm>
            <a:off x="812800" y="948159"/>
            <a:ext cx="10883392" cy="413385"/>
          </a:xfrm>
          <a:prstGeom prst="rect">
            <a:avLst/>
          </a:prstGeom>
          <a:noFill/>
          <a:ln/>
        </p:spPr>
        <p:txBody>
          <a:bodyPr wrap="square" lIns="0" tIns="0" rIns="0" bIns="0" rtlCol="0" anchor="t">
            <a:normAutofit/>
          </a:bodyPr>
          <a:lstStyle/>
          <a:p>
            <a:pPr algn="l" indent="0" marL="0">
              <a:lnSpc>
                <a:spcPts val="3070"/>
              </a:lnSpc>
              <a:buNone/>
            </a:pPr>
            <a:r>
              <a:rPr lang="en-US" sz="2791" b="1" i="0" spc="-50" kern="0" dirty="0">
                <a:solidFill>
                  <a:srgbClr val="0B0748"/>
                </a:solidFill>
                <a:latin typeface="Sora" pitchFamily="34" charset="0"/>
                <a:ea typeface="Sora" pitchFamily="34" charset="-122"/>
                <a:cs typeface="Sora" pitchFamily="34" charset="-120"/>
              </a:rPr>
              <a:t>Les composants du control plane</a:t>
            </a:r>
            <a:endParaRPr lang="en-US" sz="2791" dirty="0"/>
          </a:p>
        </p:txBody>
      </p:sp>
      <p:sp>
        <p:nvSpPr>
          <p:cNvPr id="4" name="Shape 2"/>
          <p:cNvSpPr/>
          <p:nvPr/>
        </p:nvSpPr>
        <p:spPr>
          <a:xfrm>
            <a:off x="812800" y="1590142"/>
            <a:ext cx="10566400" cy="2343997"/>
          </a:xfrm>
          <a:prstGeom prst="rect">
            <a:avLst/>
          </a:prstGeom>
          <a:solidFill>
            <a:srgbClr val="FDFD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9891" y="1597233"/>
          <a:ext cx="10559309" cy="2336906"/>
        </p:xfrm>
        <a:graphic>
          <a:graphicData uri="http://schemas.openxmlformats.org/drawingml/2006/table">
            <a:tbl>
              <a:tblPr/>
              <a:tblGrid>
                <a:gridCol w="3167793"/>
                <a:gridCol w="4857282"/>
                <a:gridCol w="1267117"/>
                <a:gridCol w="1267117"/>
              </a:tblGrid>
              <a:tr h="351367">
                <a:tc>
                  <a:txBody>
                    <a:bodyPr/>
                    <a:lstStyle/>
                    <a:p>
                      <a:pPr indent="0" marL="0">
                        <a:lnSpc>
                          <a:spcPts val="1803"/>
                        </a:lnSpc>
                        <a:buNone/>
                      </a:pPr>
                      <a:r>
                        <a:rPr lang="en-US" sz="1288" b="1" dirty="0">
                          <a:solidFill>
                            <a:srgbClr val="F5F4F9"/>
                          </a:solidFill>
                          <a:latin typeface="IBM Plex Sans" pitchFamily="34" charset="0"/>
                          <a:ea typeface="IBM Plex Sans" pitchFamily="34" charset="-122"/>
                          <a:cs typeface="IBM Plex Sans" pitchFamily="34" charset="-120"/>
                        </a:rPr>
                        <a:t>Composant</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03"/>
                        </a:lnSpc>
                        <a:buNone/>
                      </a:pPr>
                      <a:r>
                        <a:rPr lang="en-US" sz="1288" b="1" dirty="0">
                          <a:solidFill>
                            <a:srgbClr val="F5F4F9"/>
                          </a:solidFill>
                          <a:latin typeface="IBM Plex Sans" pitchFamily="34" charset="0"/>
                          <a:ea typeface="IBM Plex Sans" pitchFamily="34" charset="-122"/>
                          <a:cs typeface="IBM Plex Sans" pitchFamily="34" charset="-120"/>
                        </a:rPr>
                        <a:t>Rôle</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03"/>
                        </a:lnSpc>
                        <a:buNone/>
                      </a:pPr>
                      <a:r>
                        <a:rPr lang="en-US" sz="1288" b="1" dirty="0">
                          <a:solidFill>
                            <a:srgbClr val="F5F4F9"/>
                          </a:solidFill>
                          <a:latin typeface="IBM Plex Sans" pitchFamily="34" charset="0"/>
                          <a:ea typeface="IBM Plex Sans" pitchFamily="34" charset="-122"/>
                          <a:cs typeface="IBM Plex Sans" pitchFamily="34" charset="-120"/>
                        </a:rPr>
                        <a:t>Port</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03"/>
                        </a:lnSpc>
                        <a:buNone/>
                      </a:pPr>
                      <a:r>
                        <a:rPr lang="en-US" sz="1288" b="1" dirty="0">
                          <a:solidFill>
                            <a:srgbClr val="F5F4F9"/>
                          </a:solidFill>
                          <a:latin typeface="IBM Plex Sans" pitchFamily="34" charset="0"/>
                          <a:ea typeface="IBM Plex Sans" pitchFamily="34" charset="-122"/>
                          <a:cs typeface="IBM Plex Sans" pitchFamily="34" charset="-120"/>
                        </a:rPr>
                        <a:t>Dans le TP</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580390">
                <a:tc>
                  <a:txBody>
                    <a:bodyPr/>
                    <a:lstStyle/>
                    <a:p>
                      <a:pPr indent="0" marL="0">
                        <a:lnSpc>
                          <a:spcPts val="1803"/>
                        </a:lnSpc>
                        <a:buNone/>
                      </a:pPr>
                      <a:r>
                        <a:rPr lang="en-US" sz="1288" dirty="0">
                          <a:solidFill>
                            <a:srgbClr val="0B0748"/>
                          </a:solidFill>
                          <a:latin typeface="IBM Plex Sans" pitchFamily="34" charset="0"/>
                          <a:ea typeface="IBM Plex Sans" pitchFamily="34" charset="-122"/>
                          <a:cs typeface="IBM Plex Sans" pitchFamily="34" charset="-120"/>
                        </a:rPr>
                        <a:t>kube-apiserver</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03"/>
                        </a:lnSpc>
                        <a:buNone/>
                      </a:pPr>
                      <a:r>
                        <a:rPr lang="en-US" sz="1288" dirty="0">
                          <a:solidFill>
                            <a:srgbClr val="3F3C6B"/>
                          </a:solidFill>
                          <a:latin typeface="IBM Plex Sans" pitchFamily="34" charset="0"/>
                          <a:ea typeface="IBM Plex Sans" pitchFamily="34" charset="-122"/>
                          <a:cs typeface="IBM Plex Sans" pitchFamily="34" charset="-120"/>
                        </a:rPr>
                        <a:t>Point d'entrée unique : API REST, authentification, autorisation, validation, écriture dans etcd</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03"/>
                        </a:lnSpc>
                        <a:buNone/>
                      </a:pPr>
                      <a:r>
                        <a:rPr lang="en-US" sz="1288" dirty="0">
                          <a:solidFill>
                            <a:srgbClr val="3F3C6B"/>
                          </a:solidFill>
                          <a:latin typeface="IBM Plex Sans" pitchFamily="34" charset="0"/>
                          <a:ea typeface="IBM Plex Sans" pitchFamily="34" charset="-122"/>
                          <a:cs typeface="IBM Plex Sans" pitchFamily="34" charset="-120"/>
                        </a:rPr>
                        <a:t>6443</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03"/>
                        </a:lnSpc>
                        <a:buNone/>
                      </a:pPr>
                      <a:r>
                        <a:rPr lang="en-US" sz="1288" dirty="0">
                          <a:solidFill>
                            <a:srgbClr val="3F3C6B"/>
                          </a:solidFill>
                          <a:latin typeface="IBM Plex Sans" pitchFamily="34" charset="0"/>
                          <a:ea typeface="IBM Plex Sans" pitchFamily="34" charset="-122"/>
                          <a:cs typeface="IBM Plex Sans" pitchFamily="34" charset="-120"/>
                        </a:rPr>
                        <a:t>Pod statique</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51367">
                <a:tc>
                  <a:txBody>
                    <a:bodyPr/>
                    <a:lstStyle/>
                    <a:p>
                      <a:pPr indent="0" marL="0">
                        <a:lnSpc>
                          <a:spcPts val="1803"/>
                        </a:lnSpc>
                        <a:buNone/>
                      </a:pPr>
                      <a:r>
                        <a:rPr lang="en-US" sz="1288" dirty="0">
                          <a:solidFill>
                            <a:srgbClr val="0B0748"/>
                          </a:solidFill>
                          <a:latin typeface="IBM Plex Sans" pitchFamily="34" charset="0"/>
                          <a:ea typeface="IBM Plex Sans" pitchFamily="34" charset="-122"/>
                          <a:cs typeface="IBM Plex Sans" pitchFamily="34" charset="-120"/>
                        </a:rPr>
                        <a:t>etcd</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03"/>
                        </a:lnSpc>
                        <a:buNone/>
                      </a:pPr>
                      <a:r>
                        <a:rPr lang="en-US" sz="1288" dirty="0">
                          <a:solidFill>
                            <a:srgbClr val="3F3C6B"/>
                          </a:solidFill>
                          <a:latin typeface="IBM Plex Sans" pitchFamily="34" charset="0"/>
                          <a:ea typeface="IBM Plex Sans" pitchFamily="34" charset="-122"/>
                          <a:cs typeface="IBM Plex Sans" pitchFamily="34" charset="-120"/>
                        </a:rPr>
                        <a:t>Base clé-valeur qui contient tout l'état du cluster</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03"/>
                        </a:lnSpc>
                        <a:buNone/>
                      </a:pPr>
                      <a:r>
                        <a:rPr lang="en-US" sz="1288" dirty="0">
                          <a:solidFill>
                            <a:srgbClr val="3F3C6B"/>
                          </a:solidFill>
                          <a:latin typeface="IBM Plex Sans" pitchFamily="34" charset="0"/>
                          <a:ea typeface="IBM Plex Sans" pitchFamily="34" charset="-122"/>
                          <a:cs typeface="IBM Plex Sans" pitchFamily="34" charset="-120"/>
                        </a:rPr>
                        <a:t>2379-2380</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03"/>
                        </a:lnSpc>
                        <a:buNone/>
                      </a:pPr>
                      <a:r>
                        <a:rPr lang="en-US" sz="1288" dirty="0">
                          <a:solidFill>
                            <a:srgbClr val="3F3C6B"/>
                          </a:solidFill>
                          <a:latin typeface="IBM Plex Sans" pitchFamily="34" charset="0"/>
                          <a:ea typeface="IBM Plex Sans" pitchFamily="34" charset="-122"/>
                          <a:cs typeface="IBM Plex Sans" pitchFamily="34" charset="-120"/>
                        </a:rPr>
                        <a:t>Pod statique</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51261">
                <a:tc>
                  <a:txBody>
                    <a:bodyPr/>
                    <a:lstStyle/>
                    <a:p>
                      <a:pPr indent="0" marL="0">
                        <a:lnSpc>
                          <a:spcPts val="1803"/>
                        </a:lnSpc>
                        <a:buNone/>
                      </a:pPr>
                      <a:r>
                        <a:rPr lang="en-US" sz="1288" dirty="0">
                          <a:solidFill>
                            <a:srgbClr val="0B0748"/>
                          </a:solidFill>
                          <a:latin typeface="IBM Plex Sans" pitchFamily="34" charset="0"/>
                          <a:ea typeface="IBM Plex Sans" pitchFamily="34" charset="-122"/>
                          <a:cs typeface="IBM Plex Sans" pitchFamily="34" charset="-120"/>
                        </a:rPr>
                        <a:t>kube-scheduler</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03"/>
                        </a:lnSpc>
                        <a:buNone/>
                      </a:pPr>
                      <a:r>
                        <a:rPr lang="en-US" sz="1288" dirty="0">
                          <a:solidFill>
                            <a:srgbClr val="3F3C6B"/>
                          </a:solidFill>
                          <a:latin typeface="IBM Plex Sans" pitchFamily="34" charset="0"/>
                          <a:ea typeface="IBM Plex Sans" pitchFamily="34" charset="-122"/>
                          <a:cs typeface="IBM Plex Sans" pitchFamily="34" charset="-120"/>
                        </a:rPr>
                        <a:t>Choisit un nœud pour chaque pod qui n'en a pas</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03"/>
                        </a:lnSpc>
                        <a:buNone/>
                      </a:pPr>
                      <a:r>
                        <a:rPr lang="en-US" sz="1288" dirty="0">
                          <a:solidFill>
                            <a:srgbClr val="3F3C6B"/>
                          </a:solidFill>
                          <a:latin typeface="IBM Plex Sans" pitchFamily="34" charset="0"/>
                          <a:ea typeface="IBM Plex Sans" pitchFamily="34" charset="-122"/>
                          <a:cs typeface="IBM Plex Sans" pitchFamily="34" charset="-120"/>
                        </a:rPr>
                        <a:t>10259</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03"/>
                        </a:lnSpc>
                        <a:buNone/>
                      </a:pPr>
                      <a:r>
                        <a:rPr lang="en-US" sz="1288" dirty="0">
                          <a:solidFill>
                            <a:srgbClr val="3F3C6B"/>
                          </a:solidFill>
                          <a:latin typeface="IBM Plex Sans" pitchFamily="34" charset="0"/>
                          <a:ea typeface="IBM Plex Sans" pitchFamily="34" charset="-122"/>
                          <a:cs typeface="IBM Plex Sans" pitchFamily="34" charset="-120"/>
                        </a:rPr>
                        <a:t>Pod statique</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51261">
                <a:tc>
                  <a:txBody>
                    <a:bodyPr/>
                    <a:lstStyle/>
                    <a:p>
                      <a:pPr indent="0" marL="0">
                        <a:lnSpc>
                          <a:spcPts val="1803"/>
                        </a:lnSpc>
                        <a:buNone/>
                      </a:pPr>
                      <a:r>
                        <a:rPr lang="en-US" sz="1288" dirty="0">
                          <a:solidFill>
                            <a:srgbClr val="0B0748"/>
                          </a:solidFill>
                          <a:latin typeface="IBM Plex Sans" pitchFamily="34" charset="0"/>
                          <a:ea typeface="IBM Plex Sans" pitchFamily="34" charset="-122"/>
                          <a:cs typeface="IBM Plex Sans" pitchFamily="34" charset="-120"/>
                        </a:rPr>
                        <a:t>kube-controller-manager</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03"/>
                        </a:lnSpc>
                        <a:buNone/>
                      </a:pPr>
                      <a:r>
                        <a:rPr lang="en-US" sz="1288" dirty="0">
                          <a:solidFill>
                            <a:srgbClr val="3F3C6B"/>
                          </a:solidFill>
                          <a:latin typeface="IBM Plex Sans" pitchFamily="34" charset="0"/>
                          <a:ea typeface="IBM Plex Sans" pitchFamily="34" charset="-122"/>
                          <a:cs typeface="IBM Plex Sans" pitchFamily="34" charset="-120"/>
                        </a:rPr>
                        <a:t>Exécute les boucles de contrôle intégrées</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03"/>
                        </a:lnSpc>
                        <a:buNone/>
                      </a:pPr>
                      <a:r>
                        <a:rPr lang="en-US" sz="1288" dirty="0">
                          <a:solidFill>
                            <a:srgbClr val="3F3C6B"/>
                          </a:solidFill>
                          <a:latin typeface="IBM Plex Sans" pitchFamily="34" charset="0"/>
                          <a:ea typeface="IBM Plex Sans" pitchFamily="34" charset="-122"/>
                          <a:cs typeface="IBM Plex Sans" pitchFamily="34" charset="-120"/>
                        </a:rPr>
                        <a:t>10257</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03"/>
                        </a:lnSpc>
                        <a:buNone/>
                      </a:pPr>
                      <a:r>
                        <a:rPr lang="en-US" sz="1288" dirty="0">
                          <a:solidFill>
                            <a:srgbClr val="3F3C6B"/>
                          </a:solidFill>
                          <a:latin typeface="IBM Plex Sans" pitchFamily="34" charset="0"/>
                          <a:ea typeface="IBM Plex Sans" pitchFamily="34" charset="-122"/>
                          <a:cs typeface="IBM Plex Sans" pitchFamily="34" charset="-120"/>
                        </a:rPr>
                        <a:t>Pod statique</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51261">
                <a:tc>
                  <a:txBody>
                    <a:bodyPr/>
                    <a:lstStyle/>
                    <a:p>
                      <a:pPr indent="0" marL="0">
                        <a:lnSpc>
                          <a:spcPts val="1803"/>
                        </a:lnSpc>
                        <a:buNone/>
                      </a:pPr>
                      <a:r>
                        <a:rPr lang="en-US" sz="1288" dirty="0">
                          <a:solidFill>
                            <a:srgbClr val="6B6890"/>
                          </a:solidFill>
                          <a:latin typeface="IBM Plex Sans" pitchFamily="34" charset="0"/>
                          <a:ea typeface="IBM Plex Sans" pitchFamily="34" charset="-122"/>
                          <a:cs typeface="IBM Plex Sans" pitchFamily="34" charset="-120"/>
                        </a:rPr>
                        <a:t>cloud-controller-manager</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03"/>
                        </a:lnSpc>
                        <a:buNone/>
                      </a:pPr>
                      <a:r>
                        <a:rPr lang="en-US" sz="1288" dirty="0">
                          <a:solidFill>
                            <a:srgbClr val="6B6890"/>
                          </a:solidFill>
                          <a:latin typeface="IBM Plex Sans" pitchFamily="34" charset="0"/>
                          <a:ea typeface="IBM Plex Sans" pitchFamily="34" charset="-122"/>
                          <a:cs typeface="IBM Plex Sans" pitchFamily="34" charset="-120"/>
                        </a:rPr>
                        <a:t>Lien avec un fournisseur Cloud : répartiteurs, disques, nœuds</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03"/>
                        </a:lnSpc>
                        <a:buNone/>
                      </a:pPr>
                      <a:r>
                        <a:rPr lang="en-US" sz="1288" dirty="0">
                          <a:solidFill>
                            <a:srgbClr val="6B6890"/>
                          </a:solidFill>
                          <a:latin typeface="IBM Plex Sans" pitchFamily="34" charset="0"/>
                          <a:ea typeface="IBM Plex Sans" pitchFamily="34" charset="-122"/>
                          <a:cs typeface="IBM Plex Sans" pitchFamily="34" charset="-120"/>
                        </a:rPr>
                        <a:t>—</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03"/>
                        </a:lnSpc>
                        <a:buNone/>
                      </a:pPr>
                      <a:r>
                        <a:rPr lang="en-US" sz="1288" dirty="0">
                          <a:solidFill>
                            <a:srgbClr val="6B6890"/>
                          </a:solidFill>
                          <a:latin typeface="IBM Plex Sans" pitchFamily="34" charset="0"/>
                          <a:ea typeface="IBM Plex Sans" pitchFamily="34" charset="-122"/>
                          <a:cs typeface="IBM Plex Sans" pitchFamily="34" charset="-120"/>
                        </a:rPr>
                        <a:t>Absent</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bl>
          </a:graphicData>
        </a:graphic>
      </p:graphicFrame>
      <p:sp>
        <p:nvSpPr>
          <p:cNvPr id="6" name="Shape 3"/>
          <p:cNvSpPr/>
          <p:nvPr/>
        </p:nvSpPr>
        <p:spPr>
          <a:xfrm>
            <a:off x="812800" y="4442147"/>
            <a:ext cx="10566400" cy="1399857"/>
          </a:xfrm>
          <a:prstGeom prst="roundRect">
            <a:avLst>
              <a:gd name="adj" fmla="val 9072"/>
            </a:avLst>
          </a:prstGeom>
          <a:solidFill>
            <a:srgbClr val="0B0748"/>
          </a:solidFill>
          <a:ln/>
        </p:spPr>
      </p:sp>
      <p:sp>
        <p:nvSpPr>
          <p:cNvPr id="7" name="Text 4"/>
          <p:cNvSpPr/>
          <p:nvPr/>
        </p:nvSpPr>
        <p:spPr>
          <a:xfrm>
            <a:off x="1066800" y="4645347"/>
            <a:ext cx="10360152" cy="25463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8F66"/>
                </a:solidFill>
                <a:latin typeface="IBM Plex Sans" pitchFamily="34" charset="0"/>
                <a:ea typeface="IBM Plex Sans" pitchFamily="34" charset="-122"/>
                <a:cs typeface="IBM Plex Sans" pitchFamily="34" charset="-120"/>
              </a:rPr>
              <a:t>kube-controller-manager</a:t>
            </a:r>
            <a:r>
              <a:rPr lang="en-US" sz="1300" dirty="0">
                <a:solidFill>
                  <a:srgbClr val="ECEAFF"/>
                </a:solidFill>
                <a:latin typeface="IBM Plex Sans" pitchFamily="34" charset="0"/>
                <a:ea typeface="IBM Plex Sans" pitchFamily="34" charset="-122"/>
                <a:cs typeface="IBM Plex Sans" pitchFamily="34" charset="-120"/>
              </a:rPr>
              <a:t> : un seul processus, des dizaines de contrôleurs.</a:t>
            </a:r>
            <a:endParaRPr lang="en-US" sz="1300" dirty="0"/>
          </a:p>
        </p:txBody>
      </p:sp>
      <p:sp>
        <p:nvSpPr>
          <p:cNvPr id="8" name="Text 5"/>
          <p:cNvSpPr/>
          <p:nvPr/>
        </p:nvSpPr>
        <p:spPr>
          <a:xfrm>
            <a:off x="1066800" y="4988880"/>
            <a:ext cx="1061826" cy="289560"/>
          </a:xfrm>
          <a:custGeom>
            <a:avLst/>
            <a:gdLst/>
            <a:ahLst/>
            <a:cxnLst/>
            <a:rect l="l" t="t" r="r" b="b"/>
            <a:pathLst>
              <a:path w="1061826" h="289560">
                <a:moveTo>
                  <a:pt x="144780" y="0"/>
                </a:moveTo>
                <a:lnTo>
                  <a:pt x="917046" y="0"/>
                </a:lnTo>
                <a:arcTo hR="144780" wR="144780" stAng="16200000" swAng="5400000"/>
                <a:lnTo>
                  <a:pt x="1061826" y="144780"/>
                </a:lnTo>
                <a:arcTo hR="144780" wR="144780" stAng="0" swAng="5400000"/>
                <a:lnTo>
                  <a:pt x="144780" y="289560"/>
                </a:lnTo>
                <a:arcTo hR="144780" wR="144780" stAng="5400000" swAng="5400000"/>
                <a:lnTo>
                  <a:pt x="0" y="144780"/>
                </a:lnTo>
                <a:arcTo hR="144780" wR="144780" stAng="10800000" swAng="5400000"/>
                <a:close/>
              </a:path>
            </a:pathLst>
          </a:custGeom>
          <a:solidFill>
            <a:srgbClr val="1D1870"/>
          </a:solidFill>
          <a:ln/>
        </p:spPr>
        <p:txBody>
          <a:bodyPr wrap="none" lIns="0" tIns="0" rIns="0" bIns="0" rtlCol="0" anchor="ctr">
            <a:normAutofit/>
          </a:bodyPr>
          <a:lstStyle/>
          <a:p>
            <a:pPr algn="ctr"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Deployment</a:t>
            </a:r>
            <a:endParaRPr lang="en-US" sz="1200" dirty="0"/>
          </a:p>
        </p:txBody>
      </p:sp>
      <p:sp>
        <p:nvSpPr>
          <p:cNvPr id="9" name="Text 6"/>
          <p:cNvSpPr/>
          <p:nvPr/>
        </p:nvSpPr>
        <p:spPr>
          <a:xfrm>
            <a:off x="2204826" y="4988880"/>
            <a:ext cx="959273" cy="289560"/>
          </a:xfrm>
          <a:custGeom>
            <a:avLst/>
            <a:gdLst/>
            <a:ahLst/>
            <a:cxnLst/>
            <a:rect l="l" t="t" r="r" b="b"/>
            <a:pathLst>
              <a:path w="959273" h="289560">
                <a:moveTo>
                  <a:pt x="144780" y="0"/>
                </a:moveTo>
                <a:lnTo>
                  <a:pt x="814493" y="0"/>
                </a:lnTo>
                <a:arcTo hR="144780" wR="144780" stAng="16200000" swAng="5400000"/>
                <a:lnTo>
                  <a:pt x="959273" y="144780"/>
                </a:lnTo>
                <a:arcTo hR="144780" wR="144780" stAng="0" swAng="5400000"/>
                <a:lnTo>
                  <a:pt x="144780" y="289560"/>
                </a:lnTo>
                <a:arcTo hR="144780" wR="144780" stAng="5400000" swAng="5400000"/>
                <a:lnTo>
                  <a:pt x="0" y="144780"/>
                </a:lnTo>
                <a:arcTo hR="144780" wR="144780" stAng="10800000" swAng="5400000"/>
                <a:close/>
              </a:path>
            </a:pathLst>
          </a:custGeom>
          <a:solidFill>
            <a:srgbClr val="1D1870"/>
          </a:solidFill>
          <a:ln/>
        </p:spPr>
        <p:txBody>
          <a:bodyPr wrap="none" lIns="0" tIns="0" rIns="0" bIns="0" rtlCol="0" anchor="ctr">
            <a:normAutofit/>
          </a:bodyPr>
          <a:lstStyle/>
          <a:p>
            <a:pPr algn="ctr"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ReplicaSet</a:t>
            </a:r>
            <a:endParaRPr lang="en-US" sz="1200" dirty="0"/>
          </a:p>
        </p:txBody>
      </p:sp>
      <p:sp>
        <p:nvSpPr>
          <p:cNvPr id="10" name="Text 7"/>
          <p:cNvSpPr/>
          <p:nvPr/>
        </p:nvSpPr>
        <p:spPr>
          <a:xfrm>
            <a:off x="3240299" y="4988880"/>
            <a:ext cx="479954" cy="289560"/>
          </a:xfrm>
          <a:custGeom>
            <a:avLst/>
            <a:gdLst/>
            <a:ahLst/>
            <a:cxnLst/>
            <a:rect l="l" t="t" r="r" b="b"/>
            <a:pathLst>
              <a:path w="479954" h="289560">
                <a:moveTo>
                  <a:pt x="144780" y="0"/>
                </a:moveTo>
                <a:lnTo>
                  <a:pt x="335174" y="0"/>
                </a:lnTo>
                <a:arcTo hR="144780" wR="144780" stAng="16200000" swAng="5400000"/>
                <a:lnTo>
                  <a:pt x="479954" y="144780"/>
                </a:lnTo>
                <a:arcTo hR="144780" wR="144780" stAng="0" swAng="5400000"/>
                <a:lnTo>
                  <a:pt x="144780" y="289560"/>
                </a:lnTo>
                <a:arcTo hR="144780" wR="144780" stAng="5400000" swAng="5400000"/>
                <a:lnTo>
                  <a:pt x="0" y="144780"/>
                </a:lnTo>
                <a:arcTo hR="144780" wR="144780" stAng="10800000" swAng="5400000"/>
                <a:close/>
              </a:path>
            </a:pathLst>
          </a:custGeom>
          <a:solidFill>
            <a:srgbClr val="1D1870"/>
          </a:solidFill>
          <a:ln/>
        </p:spPr>
        <p:txBody>
          <a:bodyPr wrap="none" lIns="0" tIns="0" rIns="0" bIns="0" rtlCol="0" anchor="ctr">
            <a:normAutofit/>
          </a:bodyPr>
          <a:lstStyle/>
          <a:p>
            <a:pPr algn="ctr"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Job</a:t>
            </a:r>
            <a:endParaRPr lang="en-US" sz="1200" dirty="0"/>
          </a:p>
        </p:txBody>
      </p:sp>
      <p:sp>
        <p:nvSpPr>
          <p:cNvPr id="11" name="Text 8"/>
          <p:cNvSpPr/>
          <p:nvPr/>
        </p:nvSpPr>
        <p:spPr>
          <a:xfrm>
            <a:off x="3796454" y="4988880"/>
            <a:ext cx="2716847" cy="289560"/>
          </a:xfrm>
          <a:custGeom>
            <a:avLst/>
            <a:gdLst/>
            <a:ahLst/>
            <a:cxnLst/>
            <a:rect l="l" t="t" r="r" b="b"/>
            <a:pathLst>
              <a:path w="2716847" h="289560">
                <a:moveTo>
                  <a:pt x="144780" y="0"/>
                </a:moveTo>
                <a:lnTo>
                  <a:pt x="2572067" y="0"/>
                </a:lnTo>
                <a:arcTo hR="144780" wR="144780" stAng="16200000" swAng="5400000"/>
                <a:lnTo>
                  <a:pt x="2716847" y="144780"/>
                </a:lnTo>
                <a:arcTo hR="144780" wR="144780" stAng="0" swAng="5400000"/>
                <a:lnTo>
                  <a:pt x="144780" y="289560"/>
                </a:lnTo>
                <a:arcTo hR="144780" wR="144780" stAng="5400000" swAng="5400000"/>
                <a:lnTo>
                  <a:pt x="0" y="144780"/>
                </a:lnTo>
                <a:arcTo hR="144780" wR="144780" stAng="10800000" swAng="5400000"/>
                <a:close/>
              </a:path>
            </a:pathLst>
          </a:custGeom>
          <a:solidFill>
            <a:srgbClr val="1D1870"/>
          </a:solidFill>
          <a:ln/>
        </p:spPr>
        <p:txBody>
          <a:bodyPr wrap="none" lIns="0" tIns="0" rIns="0" bIns="0" rtlCol="0" anchor="ctr">
            <a:normAutofit/>
          </a:bodyPr>
          <a:lstStyle/>
          <a:p>
            <a:pPr algn="ctr"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Node : nœuds qui ne répondent plus</a:t>
            </a:r>
            <a:endParaRPr lang="en-US" sz="1200" dirty="0"/>
          </a:p>
        </p:txBody>
      </p:sp>
      <p:sp>
        <p:nvSpPr>
          <p:cNvPr id="12" name="Text 9"/>
          <p:cNvSpPr/>
          <p:nvPr/>
        </p:nvSpPr>
        <p:spPr>
          <a:xfrm>
            <a:off x="6589501" y="4988880"/>
            <a:ext cx="3560339" cy="289560"/>
          </a:xfrm>
          <a:custGeom>
            <a:avLst/>
            <a:gdLst/>
            <a:ahLst/>
            <a:cxnLst/>
            <a:rect l="l" t="t" r="r" b="b"/>
            <a:pathLst>
              <a:path w="3560339" h="289560">
                <a:moveTo>
                  <a:pt x="144780" y="0"/>
                </a:moveTo>
                <a:lnTo>
                  <a:pt x="3415559" y="0"/>
                </a:lnTo>
                <a:arcTo hR="144780" wR="144780" stAng="16200000" swAng="5400000"/>
                <a:lnTo>
                  <a:pt x="3560339" y="144780"/>
                </a:lnTo>
                <a:arcTo hR="144780" wR="144780" stAng="0" swAng="5400000"/>
                <a:lnTo>
                  <a:pt x="144780" y="289560"/>
                </a:lnTo>
                <a:arcTo hR="144780" wR="144780" stAng="5400000" swAng="5400000"/>
                <a:lnTo>
                  <a:pt x="0" y="144780"/>
                </a:lnTo>
                <a:arcTo hR="144780" wR="144780" stAng="10800000" swAng="5400000"/>
                <a:close/>
              </a:path>
            </a:pathLst>
          </a:custGeom>
          <a:solidFill>
            <a:srgbClr val="1D1870"/>
          </a:solidFill>
          <a:ln/>
        </p:spPr>
        <p:txBody>
          <a:bodyPr wrap="none" lIns="0" tIns="0" rIns="0" bIns="0" rtlCol="0" anchor="ctr">
            <a:normAutofit/>
          </a:bodyPr>
          <a:lstStyle/>
          <a:p>
            <a:pPr algn="ctr"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EndpointSlice : adresses derrière chaque Service</a:t>
            </a:r>
            <a:endParaRPr lang="en-US" sz="1200" dirty="0"/>
          </a:p>
        </p:txBody>
      </p:sp>
      <p:sp>
        <p:nvSpPr>
          <p:cNvPr id="13" name="Text 10"/>
          <p:cNvSpPr/>
          <p:nvPr/>
        </p:nvSpPr>
        <p:spPr>
          <a:xfrm>
            <a:off x="1066800" y="5354638"/>
            <a:ext cx="1292013" cy="289560"/>
          </a:xfrm>
          <a:custGeom>
            <a:avLst/>
            <a:gdLst/>
            <a:ahLst/>
            <a:cxnLst/>
            <a:rect l="l" t="t" r="r" b="b"/>
            <a:pathLst>
              <a:path w="1292013" h="289560">
                <a:moveTo>
                  <a:pt x="144780" y="0"/>
                </a:moveTo>
                <a:lnTo>
                  <a:pt x="1147233" y="0"/>
                </a:lnTo>
                <a:arcTo hR="144780" wR="144780" stAng="16200000" swAng="5400000"/>
                <a:lnTo>
                  <a:pt x="1292013" y="144780"/>
                </a:lnTo>
                <a:arcTo hR="144780" wR="144780" stAng="0" swAng="5400000"/>
                <a:lnTo>
                  <a:pt x="144780" y="289560"/>
                </a:lnTo>
                <a:arcTo hR="144780" wR="144780" stAng="5400000" swAng="5400000"/>
                <a:lnTo>
                  <a:pt x="0" y="144780"/>
                </a:lnTo>
                <a:arcTo hR="144780" wR="144780" stAng="10800000" swAng="5400000"/>
                <a:close/>
              </a:path>
            </a:pathLst>
          </a:custGeom>
          <a:solidFill>
            <a:srgbClr val="1D1870"/>
          </a:solidFill>
          <a:ln/>
        </p:spPr>
        <p:txBody>
          <a:bodyPr wrap="none" lIns="0" tIns="0" rIns="0" bIns="0" rtlCol="0" anchor="ctr">
            <a:normAutofit/>
          </a:bodyPr>
          <a:lstStyle/>
          <a:p>
            <a:pPr algn="ctr"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ServiceAccount</a:t>
            </a:r>
            <a:endParaRPr lang="en-US" sz="1200" dirty="0"/>
          </a:p>
        </p:txBody>
      </p:sp>
      <p:sp>
        <p:nvSpPr>
          <p:cNvPr id="14" name="Text 11"/>
          <p:cNvSpPr/>
          <p:nvPr/>
        </p:nvSpPr>
        <p:spPr>
          <a:xfrm>
            <a:off x="2435013" y="5354638"/>
            <a:ext cx="1037908" cy="289560"/>
          </a:xfrm>
          <a:custGeom>
            <a:avLst/>
            <a:gdLst/>
            <a:ahLst/>
            <a:cxnLst/>
            <a:rect l="l" t="t" r="r" b="b"/>
            <a:pathLst>
              <a:path w="1037908" h="289560">
                <a:moveTo>
                  <a:pt x="144780" y="0"/>
                </a:moveTo>
                <a:lnTo>
                  <a:pt x="893128" y="0"/>
                </a:lnTo>
                <a:arcTo hR="144780" wR="144780" stAng="16200000" swAng="5400000"/>
                <a:lnTo>
                  <a:pt x="1037908" y="144780"/>
                </a:lnTo>
                <a:arcTo hR="144780" wR="144780" stAng="0" swAng="5400000"/>
                <a:lnTo>
                  <a:pt x="144780" y="289560"/>
                </a:lnTo>
                <a:arcTo hR="144780" wR="144780" stAng="5400000" swAng="5400000"/>
                <a:lnTo>
                  <a:pt x="0" y="144780"/>
                </a:lnTo>
                <a:arcTo hR="144780" wR="144780" stAng="10800000" swAng="5400000"/>
                <a:close/>
              </a:path>
            </a:pathLst>
          </a:custGeom>
          <a:solidFill>
            <a:srgbClr val="1D1870"/>
          </a:solidFill>
          <a:ln/>
        </p:spPr>
        <p:txBody>
          <a:bodyPr wrap="none" lIns="0" tIns="0" rIns="0" bIns="0" rtlCol="0" anchor="ctr">
            <a:normAutofit/>
          </a:bodyPr>
          <a:lstStyle/>
          <a:p>
            <a:pPr algn="ctr"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Namespace</a:t>
            </a:r>
            <a:endParaRPr lang="en-US" sz="1200" dirty="0"/>
          </a:p>
        </p:txBody>
      </p:sp>
      <p:pic>
        <p:nvPicPr>
          <p:cNvPr id="15"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6" name="Text 12"/>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7" name="Image 1" descr="Parcours : module 2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02 · ARCHITECTURE DE KUBERNETES</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API server, etcd et scheduler en détail</a:t>
            </a:r>
            <a:endParaRPr lang="en-US" sz="2800" dirty="0"/>
          </a:p>
        </p:txBody>
      </p:sp>
      <p:sp>
        <p:nvSpPr>
          <p:cNvPr id="4" name="Shape 2"/>
          <p:cNvSpPr/>
          <p:nvPr/>
        </p:nvSpPr>
        <p:spPr>
          <a:xfrm>
            <a:off x="815975" y="1598290"/>
            <a:ext cx="3397250" cy="4240530"/>
          </a:xfrm>
          <a:prstGeom prst="roundRect">
            <a:avLst>
              <a:gd name="adj" fmla="val 3645"/>
            </a:avLst>
          </a:prstGeom>
          <a:solidFill>
            <a:srgbClr val="FDFDFF"/>
          </a:solidFill>
          <a:ln w="6350">
            <a:solidFill>
              <a:srgbClr val="E1DFEE"/>
            </a:solidFill>
            <a:prstDash val="solid"/>
          </a:ln>
        </p:spPr>
      </p:sp>
      <p:sp>
        <p:nvSpPr>
          <p:cNvPr id="5" name="Text 3"/>
          <p:cNvSpPr/>
          <p:nvPr/>
        </p:nvSpPr>
        <p:spPr>
          <a:xfrm>
            <a:off x="1023091" y="1805409"/>
            <a:ext cx="307250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JetBrains Mono" pitchFamily="49" charset="0"/>
                <a:ea typeface="JetBrains Mono" pitchFamily="49" charset="-122"/>
                <a:cs typeface="JetBrains Mono" pitchFamily="49" charset="-120"/>
              </a:rPr>
              <a:t>kube-apiserver</a:t>
            </a:r>
            <a:endParaRPr lang="en-US" sz="1400" dirty="0"/>
          </a:p>
        </p:txBody>
      </p:sp>
      <p:sp>
        <p:nvSpPr>
          <p:cNvPr id="6" name="Text 4"/>
          <p:cNvSpPr/>
          <p:nvPr/>
        </p:nvSpPr>
        <p:spPr>
          <a:xfrm>
            <a:off x="1023091" y="2155937"/>
            <a:ext cx="307250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Toute requête traverse les mêmes étapes :</a:t>
            </a:r>
            <a:endParaRPr lang="en-US" sz="1300" dirty="0"/>
          </a:p>
        </p:txBody>
      </p:sp>
      <p:sp>
        <p:nvSpPr>
          <p:cNvPr id="7" name="Text 5"/>
          <p:cNvSpPr/>
          <p:nvPr/>
        </p:nvSpPr>
        <p:spPr>
          <a:xfrm>
            <a:off x="1023091" y="2719809"/>
            <a:ext cx="2983018" cy="332740"/>
          </a:xfrm>
          <a:prstGeom prst="roundRect">
            <a:avLst>
              <a:gd name="adj" fmla="val 19084"/>
            </a:avLst>
          </a:prstGeom>
          <a:solidFill>
            <a:srgbClr val="ECEAF6"/>
          </a:solidFill>
          <a:ln/>
        </p:spPr>
        <p:txBody>
          <a:bodyPr wrap="square" lIns="95701" tIns="32201" rIns="13069" bIns="6801"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1 · Authentification : qui êtes-vous ?</a:t>
            </a:r>
            <a:endParaRPr lang="en-US" sz="1300" dirty="0"/>
          </a:p>
        </p:txBody>
      </p:sp>
      <p:sp>
        <p:nvSpPr>
          <p:cNvPr id="8" name="Text 6"/>
          <p:cNvSpPr/>
          <p:nvPr/>
        </p:nvSpPr>
        <p:spPr>
          <a:xfrm>
            <a:off x="1023091" y="3103352"/>
            <a:ext cx="2983018" cy="332740"/>
          </a:xfrm>
          <a:prstGeom prst="roundRect">
            <a:avLst>
              <a:gd name="adj" fmla="val 19084"/>
            </a:avLst>
          </a:prstGeom>
          <a:solidFill>
            <a:srgbClr val="ECEAF6"/>
          </a:solidFill>
          <a:ln/>
        </p:spPr>
        <p:txBody>
          <a:bodyPr wrap="square" lIns="95701" tIns="32201" rIns="13069" bIns="6801"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2 · Autorisation RBAC (module 15)</a:t>
            </a:r>
            <a:endParaRPr lang="en-US" sz="1300" dirty="0"/>
          </a:p>
        </p:txBody>
      </p:sp>
      <p:sp>
        <p:nvSpPr>
          <p:cNvPr id="9" name="Text 7"/>
          <p:cNvSpPr/>
          <p:nvPr/>
        </p:nvSpPr>
        <p:spPr>
          <a:xfrm>
            <a:off x="1023091" y="3486894"/>
            <a:ext cx="2983018" cy="332740"/>
          </a:xfrm>
          <a:prstGeom prst="roundRect">
            <a:avLst>
              <a:gd name="adj" fmla="val 19084"/>
            </a:avLst>
          </a:prstGeom>
          <a:solidFill>
            <a:srgbClr val="ECEAF6"/>
          </a:solidFill>
          <a:ln/>
        </p:spPr>
        <p:txBody>
          <a:bodyPr wrap="square" lIns="95701" tIns="32201" rIns="13069" bIns="6801"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3 · Admission : défauts, politiques</a:t>
            </a:r>
            <a:endParaRPr lang="en-US" sz="1300" dirty="0"/>
          </a:p>
        </p:txBody>
      </p:sp>
      <p:sp>
        <p:nvSpPr>
          <p:cNvPr id="10" name="Text 8"/>
          <p:cNvSpPr/>
          <p:nvPr/>
        </p:nvSpPr>
        <p:spPr>
          <a:xfrm>
            <a:off x="1023091" y="3870437"/>
            <a:ext cx="2983018" cy="332740"/>
          </a:xfrm>
          <a:prstGeom prst="roundRect">
            <a:avLst>
              <a:gd name="adj" fmla="val 19084"/>
            </a:avLst>
          </a:prstGeom>
          <a:solidFill>
            <a:srgbClr val="ECEAF6"/>
          </a:solidFill>
          <a:ln/>
        </p:spPr>
        <p:txBody>
          <a:bodyPr wrap="square" lIns="95701" tIns="32201" rIns="13069" bIns="6801"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4 · Validation, puis écriture dans etcd</a:t>
            </a:r>
            <a:endParaRPr lang="en-US" sz="1300" dirty="0"/>
          </a:p>
        </p:txBody>
      </p:sp>
      <p:sp>
        <p:nvSpPr>
          <p:cNvPr id="11" name="Text 9"/>
          <p:cNvSpPr/>
          <p:nvPr/>
        </p:nvSpPr>
        <p:spPr>
          <a:xfrm>
            <a:off x="1023091" y="4304767"/>
            <a:ext cx="307250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Les autres composants s'abonnent à ses changements : c'est le </a:t>
            </a:r>
            <a:r>
              <a:rPr lang="en-US" sz="1300" b="1" dirty="0">
                <a:solidFill>
                  <a:srgbClr val="6B6890"/>
                </a:solidFill>
                <a:latin typeface="IBM Plex Sans" pitchFamily="34" charset="0"/>
                <a:ea typeface="IBM Plex Sans" pitchFamily="34" charset="-122"/>
                <a:cs typeface="IBM Plex Sans" pitchFamily="34" charset="-120"/>
              </a:rPr>
              <a:t>watch</a:t>
            </a:r>
            <a:r>
              <a:rPr lang="en-US" sz="1300" dirty="0">
                <a:solidFill>
                  <a:srgbClr val="6B6890"/>
                </a:solidFill>
                <a:latin typeface="IBM Plex Sans" pitchFamily="34" charset="0"/>
                <a:ea typeface="IBM Plex Sans" pitchFamily="34" charset="-122"/>
                <a:cs typeface="IBM Plex Sans" pitchFamily="34" charset="-120"/>
              </a:rPr>
              <a:t>.</a:t>
            </a:r>
            <a:endParaRPr lang="en-US" sz="1300" dirty="0"/>
          </a:p>
        </p:txBody>
      </p:sp>
      <p:sp>
        <p:nvSpPr>
          <p:cNvPr id="12" name="Shape 10"/>
          <p:cNvSpPr/>
          <p:nvPr/>
        </p:nvSpPr>
        <p:spPr>
          <a:xfrm>
            <a:off x="4397375" y="1598290"/>
            <a:ext cx="3397250" cy="4240530"/>
          </a:xfrm>
          <a:prstGeom prst="roundRect">
            <a:avLst>
              <a:gd name="adj" fmla="val 3645"/>
            </a:avLst>
          </a:prstGeom>
          <a:solidFill>
            <a:srgbClr val="FDFDFF"/>
          </a:solidFill>
          <a:ln w="6350">
            <a:solidFill>
              <a:srgbClr val="E1DFEE"/>
            </a:solidFill>
            <a:prstDash val="solid"/>
          </a:ln>
        </p:spPr>
      </p:sp>
      <p:sp>
        <p:nvSpPr>
          <p:cNvPr id="13" name="Text 11"/>
          <p:cNvSpPr/>
          <p:nvPr/>
        </p:nvSpPr>
        <p:spPr>
          <a:xfrm>
            <a:off x="4604491" y="1805409"/>
            <a:ext cx="307250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JetBrains Mono" pitchFamily="49" charset="0"/>
                <a:ea typeface="JetBrains Mono" pitchFamily="49" charset="-122"/>
                <a:cs typeface="JetBrains Mono" pitchFamily="49" charset="-120"/>
              </a:rPr>
              <a:t>etcd</a:t>
            </a:r>
            <a:endParaRPr lang="en-US" sz="1400" dirty="0"/>
          </a:p>
        </p:txBody>
      </p:sp>
      <p:sp>
        <p:nvSpPr>
          <p:cNvPr id="14" name="Text 12"/>
          <p:cNvSpPr/>
          <p:nvPr/>
        </p:nvSpPr>
        <p:spPr>
          <a:xfrm>
            <a:off x="4604491" y="2155937"/>
            <a:ext cx="307250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Base clé-valeur distribuée, consensus Raft.</a:t>
            </a:r>
            <a:endParaRPr lang="en-US" sz="1300" dirty="0"/>
          </a:p>
        </p:txBody>
      </p:sp>
      <p:sp>
        <p:nvSpPr>
          <p:cNvPr id="15" name="Text 13"/>
          <p:cNvSpPr/>
          <p:nvPr/>
        </p:nvSpPr>
        <p:spPr>
          <a:xfrm>
            <a:off x="4604491" y="2719809"/>
            <a:ext cx="150854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25A2C"/>
                </a:solidFill>
                <a:latin typeface="Sora" pitchFamily="34" charset="0"/>
                <a:ea typeface="Sora" pitchFamily="34" charset="-122"/>
                <a:cs typeface="Sora" pitchFamily="34" charset="-120"/>
              </a:rPr>
              <a:t>3 ou 5</a:t>
            </a:r>
            <a:endParaRPr lang="en-US" sz="3600" dirty="0"/>
          </a:p>
        </p:txBody>
      </p:sp>
      <p:sp>
        <p:nvSpPr>
          <p:cNvPr id="16" name="Text 14"/>
          <p:cNvSpPr/>
          <p:nvPr/>
        </p:nvSpPr>
        <p:spPr>
          <a:xfrm>
            <a:off x="6113039" y="2742667"/>
            <a:ext cx="152527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membres en haute disponibilité</a:t>
            </a:r>
            <a:endParaRPr lang="en-US" sz="1200" dirty="0"/>
          </a:p>
        </p:txBody>
      </p:sp>
      <p:sp>
        <p:nvSpPr>
          <p:cNvPr id="17" name="Text 15"/>
          <p:cNvSpPr/>
          <p:nvPr/>
        </p:nvSpPr>
        <p:spPr>
          <a:xfrm>
            <a:off x="4604491" y="3278609"/>
            <a:ext cx="307250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Inscriptible tant qu'une majorité, le quorum, répond. Sensible à la latence disque : SSD recommandés.</a:t>
            </a:r>
            <a:endParaRPr lang="en-US" sz="1300" dirty="0"/>
          </a:p>
        </p:txBody>
      </p:sp>
      <p:sp>
        <p:nvSpPr>
          <p:cNvPr id="18" name="Text 16"/>
          <p:cNvSpPr/>
          <p:nvPr/>
        </p:nvSpPr>
        <p:spPr>
          <a:xfrm>
            <a:off x="4604491" y="4073637"/>
            <a:ext cx="3072509"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Perdre etcd sans sauvegarde, c'est perdre le cluster.</a:t>
            </a:r>
            <a:endParaRPr lang="en-US" sz="1300" dirty="0"/>
          </a:p>
        </p:txBody>
      </p:sp>
      <p:sp>
        <p:nvSpPr>
          <p:cNvPr id="19" name="Shape 17"/>
          <p:cNvSpPr/>
          <p:nvPr/>
        </p:nvSpPr>
        <p:spPr>
          <a:xfrm>
            <a:off x="7978775" y="1598290"/>
            <a:ext cx="3397250" cy="4240530"/>
          </a:xfrm>
          <a:prstGeom prst="roundRect">
            <a:avLst>
              <a:gd name="adj" fmla="val 3645"/>
            </a:avLst>
          </a:prstGeom>
          <a:solidFill>
            <a:srgbClr val="FDFDFF"/>
          </a:solidFill>
          <a:ln w="6350">
            <a:solidFill>
              <a:srgbClr val="E1DFEE"/>
            </a:solidFill>
            <a:prstDash val="solid"/>
          </a:ln>
        </p:spPr>
      </p:sp>
      <p:sp>
        <p:nvSpPr>
          <p:cNvPr id="20" name="Text 18"/>
          <p:cNvSpPr/>
          <p:nvPr/>
        </p:nvSpPr>
        <p:spPr>
          <a:xfrm>
            <a:off x="8185891" y="1805409"/>
            <a:ext cx="307250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JetBrains Mono" pitchFamily="49" charset="0"/>
                <a:ea typeface="JetBrains Mono" pitchFamily="49" charset="-122"/>
                <a:cs typeface="JetBrains Mono" pitchFamily="49" charset="-120"/>
              </a:rPr>
              <a:t>kube-scheduler</a:t>
            </a:r>
            <a:endParaRPr lang="en-US" sz="1400" dirty="0"/>
          </a:p>
        </p:txBody>
      </p:sp>
      <p:sp>
        <p:nvSpPr>
          <p:cNvPr id="21" name="Text 19"/>
          <p:cNvSpPr/>
          <p:nvPr/>
        </p:nvSpPr>
        <p:spPr>
          <a:xfrm>
            <a:off x="8185891" y="2155937"/>
            <a:ext cx="307250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Pour chaque pod sans nœud, en deux temps :</a:t>
            </a:r>
            <a:endParaRPr lang="en-US" sz="1300" dirty="0"/>
          </a:p>
        </p:txBody>
      </p:sp>
      <p:sp>
        <p:nvSpPr>
          <p:cNvPr id="22" name="Shape 20"/>
          <p:cNvSpPr/>
          <p:nvPr/>
        </p:nvSpPr>
        <p:spPr>
          <a:xfrm>
            <a:off x="8198591" y="2719809"/>
            <a:ext cx="0" cy="695960"/>
          </a:xfrm>
          <a:prstGeom prst="line">
            <a:avLst/>
          </a:prstGeom>
          <a:noFill/>
          <a:ln w="25400">
            <a:solidFill>
              <a:srgbClr val="E25A2C"/>
            </a:solidFill>
            <a:prstDash val="solid"/>
          </a:ln>
        </p:spPr>
      </p:sp>
      <p:sp>
        <p:nvSpPr>
          <p:cNvPr id="23" name="Text 21"/>
          <p:cNvSpPr/>
          <p:nvPr/>
        </p:nvSpPr>
        <p:spPr>
          <a:xfrm>
            <a:off x="8334163" y="2719809"/>
            <a:ext cx="291978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1 · Filtrage</a:t>
            </a:r>
            <a:endParaRPr lang="en-US" sz="1300" dirty="0"/>
          </a:p>
        </p:txBody>
      </p:sp>
      <p:sp>
        <p:nvSpPr>
          <p:cNvPr id="24" name="Text 22"/>
          <p:cNvSpPr/>
          <p:nvPr/>
        </p:nvSpPr>
        <p:spPr>
          <a:xfrm>
            <a:off x="8334163" y="2989052"/>
            <a:ext cx="291978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écarte les nœuds qui ne conviennent pas : ressources, taint, affinité, port pris.</a:t>
            </a:r>
            <a:endParaRPr lang="en-US" sz="1200" dirty="0"/>
          </a:p>
        </p:txBody>
      </p:sp>
      <p:sp>
        <p:nvSpPr>
          <p:cNvPr id="25" name="Shape 23"/>
          <p:cNvSpPr/>
          <p:nvPr/>
        </p:nvSpPr>
        <p:spPr>
          <a:xfrm>
            <a:off x="8198591" y="3517367"/>
            <a:ext cx="0" cy="909320"/>
          </a:xfrm>
          <a:prstGeom prst="line">
            <a:avLst/>
          </a:prstGeom>
          <a:noFill/>
          <a:ln w="25400">
            <a:solidFill>
              <a:srgbClr val="0B0748"/>
            </a:solidFill>
            <a:prstDash val="solid"/>
          </a:ln>
        </p:spPr>
      </p:sp>
      <p:sp>
        <p:nvSpPr>
          <p:cNvPr id="26" name="Text 24"/>
          <p:cNvSpPr/>
          <p:nvPr/>
        </p:nvSpPr>
        <p:spPr>
          <a:xfrm>
            <a:off x="8334163" y="3517367"/>
            <a:ext cx="291978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2 · Notation</a:t>
            </a:r>
            <a:endParaRPr lang="en-US" sz="1300" dirty="0"/>
          </a:p>
        </p:txBody>
      </p:sp>
      <p:sp>
        <p:nvSpPr>
          <p:cNvPr id="27" name="Text 25"/>
          <p:cNvSpPr/>
          <p:nvPr/>
        </p:nvSpPr>
        <p:spPr>
          <a:xfrm>
            <a:off x="8334163" y="3786609"/>
            <a:ext cx="291978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classe les restants : équilibrage, répartition des réplicas, image déjà présente.</a:t>
            </a:r>
            <a:endParaRPr lang="en-US" sz="1200" dirty="0"/>
          </a:p>
        </p:txBody>
      </p:sp>
      <p:sp>
        <p:nvSpPr>
          <p:cNvPr id="28" name="Text 26"/>
          <p:cNvSpPr/>
          <p:nvPr/>
        </p:nvSpPr>
        <p:spPr>
          <a:xfrm>
            <a:off x="8185891" y="4528294"/>
            <a:ext cx="307250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Il inscrit spec.nodeName dans le pod. Il ne démarre rien lui-même.</a:t>
            </a:r>
            <a:endParaRPr lang="en-US" sz="1300" dirty="0"/>
          </a:p>
        </p:txBody>
      </p:sp>
      <p:pic>
        <p:nvPicPr>
          <p:cNvPr id="29"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30" name="Text 2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1" name="Image 1" descr="Parcours : module 2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02 · ARCHITECTURE DE KUBERNETES</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composants des nœuds</a:t>
            </a:r>
            <a:endParaRPr lang="en-US" sz="2800" dirty="0"/>
          </a:p>
        </p:txBody>
      </p:sp>
      <p:sp>
        <p:nvSpPr>
          <p:cNvPr id="4" name="Shape 2"/>
          <p:cNvSpPr/>
          <p:nvPr/>
        </p:nvSpPr>
        <p:spPr>
          <a:xfrm>
            <a:off x="812800" y="1595115"/>
            <a:ext cx="3928110" cy="3335549"/>
          </a:xfrm>
          <a:prstGeom prst="roundRect">
            <a:avLst>
              <a:gd name="adj" fmla="val 3807"/>
            </a:avLst>
          </a:prstGeom>
          <a:solidFill>
            <a:srgbClr val="0B0748"/>
          </a:solidFill>
          <a:ln/>
        </p:spPr>
      </p:sp>
      <p:sp>
        <p:nvSpPr>
          <p:cNvPr id="5" name="Text 3"/>
          <p:cNvSpPr/>
          <p:nvPr/>
        </p:nvSpPr>
        <p:spPr>
          <a:xfrm>
            <a:off x="1041400" y="1823715"/>
            <a:ext cx="3575037" cy="309033"/>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8F66"/>
                </a:solidFill>
                <a:latin typeface="JetBrains Mono" pitchFamily="49" charset="0"/>
                <a:ea typeface="JetBrains Mono" pitchFamily="49" charset="-122"/>
                <a:cs typeface="JetBrains Mono" pitchFamily="49" charset="-120"/>
              </a:rPr>
              <a:t>kubelet</a:t>
            </a:r>
            <a:endParaRPr lang="en-US" sz="1600" dirty="0"/>
          </a:p>
        </p:txBody>
      </p:sp>
      <p:sp>
        <p:nvSpPr>
          <p:cNvPr id="6" name="Text 4"/>
          <p:cNvSpPr/>
          <p:nvPr/>
        </p:nvSpPr>
        <p:spPr>
          <a:xfrm>
            <a:off x="1041400" y="2208957"/>
            <a:ext cx="2272136" cy="288925"/>
          </a:xfrm>
          <a:custGeom>
            <a:avLst/>
            <a:gdLst/>
            <a:ahLst/>
            <a:cxnLst/>
            <a:rect l="l" t="t" r="r" b="b"/>
            <a:pathLst>
              <a:path w="2272136" h="288925">
                <a:moveTo>
                  <a:pt x="144463" y="0"/>
                </a:moveTo>
                <a:lnTo>
                  <a:pt x="2127673" y="0"/>
                </a:lnTo>
                <a:arcTo hR="144463" wR="144463" stAng="16200000" swAng="5400000"/>
                <a:lnTo>
                  <a:pt x="2272136" y="144463"/>
                </a:lnTo>
                <a:arcTo hR="144463" wR="144463" stAng="0" swAng="5400000"/>
                <a:lnTo>
                  <a:pt x="144463" y="288925"/>
                </a:lnTo>
                <a:arcTo hR="144463" wR="144463" stAng="5400000" swAng="5400000"/>
                <a:lnTo>
                  <a:pt x="0" y="144463"/>
                </a:lnTo>
                <a:arcTo hR="144463" wR="144463" stAng="10800000" swAng="5400000"/>
                <a:close/>
              </a:path>
            </a:pathLst>
          </a:custGeom>
          <a:solidFill>
            <a:srgbClr val="FF8F66"/>
          </a:solidFill>
          <a:ln/>
        </p:spPr>
        <p:txBody>
          <a:bodyPr wrap="none" lIns="0" tIns="0" rIns="0" bIns="0" rtlCol="0" anchor="ctr">
            <a:normAutofit/>
          </a:bodyPr>
          <a:lstStyle/>
          <a:p>
            <a:pPr algn="ctr"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Service systemd · port 10250</a:t>
            </a:r>
            <a:endParaRPr lang="en-US" sz="1200" dirty="0"/>
          </a:p>
        </p:txBody>
      </p:sp>
      <p:sp>
        <p:nvSpPr>
          <p:cNvPr id="7" name="Text 5"/>
          <p:cNvSpPr/>
          <p:nvPr/>
        </p:nvSpPr>
        <p:spPr>
          <a:xfrm>
            <a:off x="1041400" y="2599482"/>
            <a:ext cx="3575037" cy="1310428"/>
          </a:xfrm>
          <a:prstGeom prst="rect">
            <a:avLst/>
          </a:prstGeom>
          <a:noFill/>
          <a:ln/>
        </p:spPr>
        <p:txBody>
          <a:bodyPr wrap="square" lIns="0" tIns="0" rIns="0" bIns="0" rtlCol="0" anchor="t">
            <a:normAutofit/>
          </a:bodyPr>
          <a:lstStyle/>
          <a:p>
            <a:pPr algn="l" indent="0" marL="0">
              <a:lnSpc>
                <a:spcPts val="2024"/>
              </a:lnSpc>
              <a:buNone/>
            </a:pPr>
            <a:r>
              <a:rPr lang="en-US" sz="1396" dirty="0">
                <a:solidFill>
                  <a:srgbClr val="ECEAFF"/>
                </a:solidFill>
                <a:latin typeface="IBM Plex Sans" pitchFamily="34" charset="0"/>
                <a:ea typeface="IBM Plex Sans" pitchFamily="34" charset="-122"/>
                <a:cs typeface="IBM Plex Sans" pitchFamily="34" charset="-120"/>
              </a:rPr>
              <a:t>L'agent du nœud : il lit dans l'API les pods qui lui sont attribués, les fait créer par containerd (CRI), configure leur réseau (CNI), exécute les probes et remonte leur état.</a:t>
            </a:r>
            <a:endParaRPr lang="en-US" sz="1396" dirty="0"/>
          </a:p>
        </p:txBody>
      </p:sp>
      <p:sp>
        <p:nvSpPr>
          <p:cNvPr id="8" name="Text 6"/>
          <p:cNvSpPr/>
          <p:nvPr/>
        </p:nvSpPr>
        <p:spPr>
          <a:xfrm>
            <a:off x="1041400" y="3986101"/>
            <a:ext cx="3575037" cy="74136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B6E8"/>
                </a:solidFill>
                <a:latin typeface="IBM Plex Sans" pitchFamily="34" charset="0"/>
                <a:ea typeface="IBM Plex Sans" pitchFamily="34" charset="-122"/>
                <a:cs typeface="IBM Plex Sans" pitchFamily="34" charset="-120"/>
              </a:rPr>
              <a:t>Ce n'est pas un pod : c'est lui qui fait tourner les pods, y compris les pods statiques de /etc/kubernetes/manifests.</a:t>
            </a:r>
            <a:endParaRPr lang="en-US" sz="1300" dirty="0"/>
          </a:p>
        </p:txBody>
      </p:sp>
      <p:sp>
        <p:nvSpPr>
          <p:cNvPr id="9" name="Shape 7"/>
          <p:cNvSpPr/>
          <p:nvPr/>
        </p:nvSpPr>
        <p:spPr>
          <a:xfrm>
            <a:off x="4921885" y="1598290"/>
            <a:ext cx="3134995" cy="3329199"/>
          </a:xfrm>
          <a:prstGeom prst="roundRect">
            <a:avLst>
              <a:gd name="adj" fmla="val 3950"/>
            </a:avLst>
          </a:prstGeom>
          <a:solidFill>
            <a:srgbClr val="FDFDFF"/>
          </a:solidFill>
          <a:ln w="6350">
            <a:solidFill>
              <a:srgbClr val="E1DFEE"/>
            </a:solidFill>
            <a:prstDash val="solid"/>
          </a:ln>
        </p:spPr>
      </p:sp>
      <p:sp>
        <p:nvSpPr>
          <p:cNvPr id="10" name="Text 8"/>
          <p:cNvSpPr/>
          <p:nvPr/>
        </p:nvSpPr>
        <p:spPr>
          <a:xfrm>
            <a:off x="5154401" y="1830809"/>
            <a:ext cx="275006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JetBrains Mono" pitchFamily="49" charset="0"/>
                <a:ea typeface="JetBrains Mono" pitchFamily="49" charset="-122"/>
                <a:cs typeface="JetBrains Mono" pitchFamily="49" charset="-120"/>
              </a:rPr>
              <a:t>containerd</a:t>
            </a:r>
            <a:endParaRPr lang="en-US" sz="1600" dirty="0"/>
          </a:p>
        </p:txBody>
      </p:sp>
      <p:sp>
        <p:nvSpPr>
          <p:cNvPr id="11" name="Text 9"/>
          <p:cNvSpPr/>
          <p:nvPr/>
        </p:nvSpPr>
        <p:spPr>
          <a:xfrm>
            <a:off x="5154401" y="2216894"/>
            <a:ext cx="1358900" cy="289560"/>
          </a:xfrm>
          <a:custGeom>
            <a:avLst/>
            <a:gdLst/>
            <a:ahLst/>
            <a:cxnLst/>
            <a:rect l="l" t="t" r="r" b="b"/>
            <a:pathLst>
              <a:path w="1358900" h="289560">
                <a:moveTo>
                  <a:pt x="144780" y="0"/>
                </a:moveTo>
                <a:lnTo>
                  <a:pt x="1214120" y="0"/>
                </a:lnTo>
                <a:arcTo hR="144780" wR="144780" stAng="16200000" swAng="5400000"/>
                <a:lnTo>
                  <a:pt x="1358900" y="144780"/>
                </a:lnTo>
                <a:arcTo hR="144780" wR="144780" stAng="0" swAng="5400000"/>
                <a:lnTo>
                  <a:pt x="144780" y="289560"/>
                </a:lnTo>
                <a:arcTo hR="144780" wR="144780" stAng="5400000" swAng="5400000"/>
                <a:lnTo>
                  <a:pt x="0" y="144780"/>
                </a:lnTo>
                <a:arcTo hR="144780" wR="144780" stAng="10800000" swAng="5400000"/>
                <a:close/>
              </a:path>
            </a:pathLst>
          </a:custGeom>
          <a:solidFill>
            <a:srgbClr val="ECEAF6"/>
          </a:solidFill>
          <a:ln/>
        </p:spPr>
        <p:txBody>
          <a:bodyPr wrap="none" lIns="0" tIns="0" rIns="0" bIns="0" rtlCol="0" anchor="ctr">
            <a:normAutofit/>
          </a:bodyPr>
          <a:lstStyle/>
          <a:p>
            <a:pPr algn="ctr"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Service systemd</a:t>
            </a:r>
            <a:endParaRPr lang="en-US" sz="1200" dirty="0"/>
          </a:p>
        </p:txBody>
      </p:sp>
      <p:sp>
        <p:nvSpPr>
          <p:cNvPr id="12" name="Text 10"/>
          <p:cNvSpPr/>
          <p:nvPr/>
        </p:nvSpPr>
        <p:spPr>
          <a:xfrm>
            <a:off x="5154401" y="2608052"/>
            <a:ext cx="2750062"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Le runtime de conteneurs : télécharge les images et démarre les conteneurs via runc.</a:t>
            </a:r>
            <a:endParaRPr lang="en-US" sz="1400" dirty="0"/>
          </a:p>
        </p:txBody>
      </p:sp>
      <p:sp>
        <p:nvSpPr>
          <p:cNvPr id="13" name="Shape 11"/>
          <p:cNvSpPr/>
          <p:nvPr/>
        </p:nvSpPr>
        <p:spPr>
          <a:xfrm>
            <a:off x="8241030" y="1598290"/>
            <a:ext cx="3134995" cy="3329199"/>
          </a:xfrm>
          <a:prstGeom prst="roundRect">
            <a:avLst>
              <a:gd name="adj" fmla="val 3950"/>
            </a:avLst>
          </a:prstGeom>
          <a:solidFill>
            <a:srgbClr val="FDFDFF"/>
          </a:solidFill>
          <a:ln w="6350">
            <a:solidFill>
              <a:srgbClr val="E1DFEE"/>
            </a:solidFill>
            <a:prstDash val="solid"/>
          </a:ln>
        </p:spPr>
      </p:sp>
      <p:sp>
        <p:nvSpPr>
          <p:cNvPr id="14" name="Text 12"/>
          <p:cNvSpPr/>
          <p:nvPr/>
        </p:nvSpPr>
        <p:spPr>
          <a:xfrm>
            <a:off x="8473546" y="1830809"/>
            <a:ext cx="275006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JetBrains Mono" pitchFamily="49" charset="0"/>
                <a:ea typeface="JetBrains Mono" pitchFamily="49" charset="-122"/>
                <a:cs typeface="JetBrains Mono" pitchFamily="49" charset="-120"/>
              </a:rPr>
              <a:t>kube-proxy</a:t>
            </a:r>
            <a:endParaRPr lang="en-US" sz="1600" dirty="0"/>
          </a:p>
        </p:txBody>
      </p:sp>
      <p:sp>
        <p:nvSpPr>
          <p:cNvPr id="15" name="Text 13"/>
          <p:cNvSpPr/>
          <p:nvPr/>
        </p:nvSpPr>
        <p:spPr>
          <a:xfrm>
            <a:off x="8473546" y="2216894"/>
            <a:ext cx="2351617" cy="289560"/>
          </a:xfrm>
          <a:custGeom>
            <a:avLst/>
            <a:gdLst/>
            <a:ahLst/>
            <a:cxnLst/>
            <a:rect l="l" t="t" r="r" b="b"/>
            <a:pathLst>
              <a:path w="2351617" h="289560">
                <a:moveTo>
                  <a:pt x="144780" y="0"/>
                </a:moveTo>
                <a:lnTo>
                  <a:pt x="2206837" y="0"/>
                </a:lnTo>
                <a:arcTo hR="144780" wR="144780" stAng="16200000" swAng="5400000"/>
                <a:lnTo>
                  <a:pt x="2351617" y="144780"/>
                </a:lnTo>
                <a:arcTo hR="144780" wR="144780" stAng="0" swAng="5400000"/>
                <a:lnTo>
                  <a:pt x="144780" y="289560"/>
                </a:lnTo>
                <a:arcTo hR="144780" wR="144780" stAng="5400000" swAng="5400000"/>
                <a:lnTo>
                  <a:pt x="0" y="144780"/>
                </a:lnTo>
                <a:arcTo hR="144780" wR="144780" stAng="10800000" swAng="5400000"/>
                <a:close/>
              </a:path>
            </a:pathLst>
          </a:custGeom>
          <a:solidFill>
            <a:srgbClr val="ECEAF6"/>
          </a:solidFill>
          <a:ln/>
        </p:spPr>
        <p:txBody>
          <a:bodyPr wrap="none" lIns="0" tIns="0" rIns="0" bIns="0" rtlCol="0" anchor="ctr">
            <a:normAutofit/>
          </a:bodyPr>
          <a:lstStyle/>
          <a:p>
            <a:pPr algn="ctr"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DaemonSet · un pod par nœud</a:t>
            </a:r>
            <a:endParaRPr lang="en-US" sz="1200" dirty="0"/>
          </a:p>
        </p:txBody>
      </p:sp>
      <p:sp>
        <p:nvSpPr>
          <p:cNvPr id="16" name="Text 14"/>
          <p:cNvSpPr/>
          <p:nvPr/>
        </p:nvSpPr>
        <p:spPr>
          <a:xfrm>
            <a:off x="8473546" y="2608052"/>
            <a:ext cx="2750062"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Traduit chaque Service en règles réseau sur le nœud.</a:t>
            </a:r>
            <a:endParaRPr lang="en-US" sz="1400" dirty="0"/>
          </a:p>
        </p:txBody>
      </p:sp>
      <p:sp>
        <p:nvSpPr>
          <p:cNvPr id="17" name="Text 15"/>
          <p:cNvSpPr/>
          <p:nvPr/>
        </p:nvSpPr>
        <p:spPr>
          <a:xfrm>
            <a:off x="8473546" y="3225267"/>
            <a:ext cx="2750062"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6B6890"/>
                </a:solidFill>
                <a:latin typeface="IBM Plex Sans" pitchFamily="34" charset="0"/>
                <a:ea typeface="IBM Plex Sans" pitchFamily="34" charset="-122"/>
                <a:cs typeface="IBM Plex Sans" pitchFamily="34" charset="-120"/>
              </a:rPr>
              <a:t>Modes : iptables (défaut), nftables (son successeur), ipvs (déprécié). Cilium ou Calico en mode eBPF peuvent le remplacer.</a:t>
            </a:r>
            <a:endParaRPr lang="en-US" sz="1300" dirty="0"/>
          </a:p>
        </p:txBody>
      </p:sp>
      <p:sp>
        <p:nvSpPr>
          <p:cNvPr id="18" name="Shape 16"/>
          <p:cNvSpPr/>
          <p:nvPr/>
        </p:nvSpPr>
        <p:spPr>
          <a:xfrm>
            <a:off x="812800" y="5191013"/>
            <a:ext cx="10566400" cy="0"/>
          </a:xfrm>
          <a:prstGeom prst="line">
            <a:avLst/>
          </a:prstGeom>
          <a:noFill/>
          <a:ln w="12700">
            <a:solidFill>
              <a:srgbClr val="0B0748"/>
            </a:solidFill>
            <a:prstDash val="solid"/>
          </a:ln>
        </p:spPr>
      </p:sp>
      <p:pic>
        <p:nvPicPr>
          <p:cNvPr id="19" name="Image 0" descr="Lock">    </p:cNvPr>
          <p:cNvPicPr>
            <a:picLocks noChangeAspect="1"/>
          </p:cNvPicPr>
          <p:nvPr/>
        </p:nvPicPr>
        <p:blipFill>
          <a:blip r:embed="rId1"/>
          <a:srcRect l="0" r="0" t="0" b="0"/>
          <a:stretch/>
        </p:blipFill>
        <p:spPr>
          <a:xfrm>
            <a:off x="812800" y="5453385"/>
            <a:ext cx="279400" cy="279400"/>
          </a:xfrm>
          <a:prstGeom prst="rect">
            <a:avLst/>
          </a:prstGeom>
        </p:spPr>
      </p:pic>
      <p:sp>
        <p:nvSpPr>
          <p:cNvPr id="20" name="Text 17"/>
          <p:cNvSpPr/>
          <p:nvPr/>
        </p:nvSpPr>
        <p:spPr>
          <a:xfrm>
            <a:off x="1244600" y="5344158"/>
            <a:ext cx="104386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Le control plane a lui aussi un kubelet et containerd, pour ses pods statiques ; une taint l'empêche de recevoir vos applications (module 5).</a:t>
            </a:r>
            <a:endParaRPr lang="en-US" sz="1400" dirty="0"/>
          </a:p>
        </p:txBody>
      </p:sp>
      <p:pic>
        <p:nvPicPr>
          <p:cNvPr id="21" name="Image 1" descr="preencoded.png">    </p:cNvPr>
          <p:cNvPicPr>
            <a:picLocks noChangeAspect="1"/>
          </p:cNvPicPr>
          <p:nvPr/>
        </p:nvPicPr>
        <p:blipFill>
          <a:blip r:embed="rId2"/>
          <a:srcRect l="0" r="0" t="0" b="0"/>
          <a:stretch/>
        </p:blipFill>
        <p:spPr>
          <a:xfrm>
            <a:off x="812800" y="6299200"/>
            <a:ext cx="152400" cy="152400"/>
          </a:xfrm>
          <a:prstGeom prst="rect">
            <a:avLst/>
          </a:prstGeom>
        </p:spPr>
      </p:pic>
      <p:sp>
        <p:nvSpPr>
          <p:cNvPr id="22" name="Text 1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3" name="Image 2" descr="Parcours : module 2 sur 16">    </p:cNvPr>
          <p:cNvPicPr>
            <a:picLocks noChangeAspect="1"/>
          </p:cNvPicPr>
          <p:nvPr/>
        </p:nvPicPr>
        <p:blipFill>
          <a:blip r:embed="rId3"/>
          <a:srcRect l="0" r="0" t="0" b="0"/>
          <a:stretch/>
        </p:blipFill>
        <p:spPr>
          <a:xfrm>
            <a:off x="9207500" y="6299200"/>
            <a:ext cx="2171700" cy="1524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02 · ARCHITECTURE DE KUBERNETES</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add-ons indispensables</a:t>
            </a:r>
            <a:endParaRPr lang="en-US" sz="2800" dirty="0"/>
          </a:p>
        </p:txBody>
      </p:sp>
      <p:sp>
        <p:nvSpPr>
          <p:cNvPr id="4" name="Shape 2"/>
          <p:cNvSpPr/>
          <p:nvPr/>
        </p:nvSpPr>
        <p:spPr>
          <a:xfrm>
            <a:off x="815975" y="1598290"/>
            <a:ext cx="6250093" cy="4240530"/>
          </a:xfrm>
          <a:prstGeom prst="roundRect">
            <a:avLst>
              <a:gd name="adj" fmla="val 2920"/>
            </a:avLst>
          </a:prstGeom>
          <a:solidFill>
            <a:srgbClr val="FDFDFF"/>
          </a:solidFill>
          <a:ln w="6350">
            <a:solidFill>
              <a:srgbClr val="E1DFEE"/>
            </a:solidFill>
            <a:prstDash val="solid"/>
          </a:ln>
        </p:spPr>
      </p:sp>
      <p:sp>
        <p:nvSpPr>
          <p:cNvPr id="5" name="Text 3"/>
          <p:cNvSpPr/>
          <p:nvPr/>
        </p:nvSpPr>
        <p:spPr>
          <a:xfrm>
            <a:off x="1048491" y="1830809"/>
            <a:ext cx="595861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LE PLUGIN RÉSEAU (CNI)</a:t>
            </a:r>
            <a:endParaRPr lang="en-US" sz="1200" dirty="0"/>
          </a:p>
        </p:txBody>
      </p:sp>
      <p:sp>
        <p:nvSpPr>
          <p:cNvPr id="6" name="Text 4"/>
          <p:cNvSpPr/>
          <p:nvPr/>
        </p:nvSpPr>
        <p:spPr>
          <a:xfrm>
            <a:off x="1048491" y="2158467"/>
            <a:ext cx="595861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Kubernetes fixe les règles du réseau, sans les implémenter :</a:t>
            </a:r>
            <a:endParaRPr lang="en-US" sz="1400" dirty="0"/>
          </a:p>
        </p:txBody>
      </p:sp>
      <p:pic>
        <p:nvPicPr>
          <p:cNvPr id="7" name="Image 0" descr="Check">    </p:cNvPr>
          <p:cNvPicPr>
            <a:picLocks noChangeAspect="1"/>
          </p:cNvPicPr>
          <p:nvPr/>
        </p:nvPicPr>
        <p:blipFill>
          <a:blip r:embed="rId1"/>
          <a:srcRect l="0" r="0" t="0" b="0"/>
          <a:stretch/>
        </p:blipFill>
        <p:spPr>
          <a:xfrm>
            <a:off x="1048491" y="2521694"/>
            <a:ext cx="228600" cy="228600"/>
          </a:xfrm>
          <a:prstGeom prst="rect">
            <a:avLst/>
          </a:prstGeom>
        </p:spPr>
      </p:pic>
      <p:sp>
        <p:nvSpPr>
          <p:cNvPr id="8" name="Text 5"/>
          <p:cNvSpPr/>
          <p:nvPr/>
        </p:nvSpPr>
        <p:spPr>
          <a:xfrm>
            <a:off x="1378691" y="2521694"/>
            <a:ext cx="561850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chaque pod reçoit sa propre adresse IP ;</a:t>
            </a:r>
            <a:endParaRPr lang="en-US" sz="1400" dirty="0"/>
          </a:p>
        </p:txBody>
      </p:sp>
      <p:pic>
        <p:nvPicPr>
          <p:cNvPr id="9" name="Image 1" descr="Check">    </p:cNvPr>
          <p:cNvPicPr>
            <a:picLocks noChangeAspect="1"/>
          </p:cNvPicPr>
          <p:nvPr/>
        </p:nvPicPr>
        <p:blipFill>
          <a:blip r:embed="rId2"/>
          <a:srcRect l="0" r="0" t="0" b="0"/>
          <a:stretch/>
        </p:blipFill>
        <p:spPr>
          <a:xfrm>
            <a:off x="1048491" y="2884909"/>
            <a:ext cx="228600" cy="228600"/>
          </a:xfrm>
          <a:prstGeom prst="rect">
            <a:avLst/>
          </a:prstGeom>
        </p:spPr>
      </p:pic>
      <p:sp>
        <p:nvSpPr>
          <p:cNvPr id="10" name="Text 6"/>
          <p:cNvSpPr/>
          <p:nvPr/>
        </p:nvSpPr>
        <p:spPr>
          <a:xfrm>
            <a:off x="1378691" y="2884909"/>
            <a:ext cx="561850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tout pod joint tout autre pod, sur n'importe quel nœud, sans NAT ;</a:t>
            </a:r>
            <a:endParaRPr lang="en-US" sz="1400" dirty="0"/>
          </a:p>
        </p:txBody>
      </p:sp>
      <p:pic>
        <p:nvPicPr>
          <p:cNvPr id="11" name="Image 2" descr="Check">    </p:cNvPr>
          <p:cNvPicPr>
            <a:picLocks noChangeAspect="1"/>
          </p:cNvPicPr>
          <p:nvPr/>
        </p:nvPicPr>
        <p:blipFill>
          <a:blip r:embed="rId3"/>
          <a:srcRect l="0" r="0" t="0" b="0"/>
          <a:stretch/>
        </p:blipFill>
        <p:spPr>
          <a:xfrm>
            <a:off x="1048491" y="3248137"/>
            <a:ext cx="228600" cy="228600"/>
          </a:xfrm>
          <a:prstGeom prst="rect">
            <a:avLst/>
          </a:prstGeom>
        </p:spPr>
      </p:pic>
      <p:sp>
        <p:nvSpPr>
          <p:cNvPr id="12" name="Text 7"/>
          <p:cNvSpPr/>
          <p:nvPr/>
        </p:nvSpPr>
        <p:spPr>
          <a:xfrm>
            <a:off x="1378691" y="3248137"/>
            <a:ext cx="561850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les agents d'un nœud joignent tous les pods de ce nœud.</a:t>
            </a:r>
            <a:endParaRPr lang="en-US" sz="1400" dirty="0"/>
          </a:p>
        </p:txBody>
      </p:sp>
      <p:sp>
        <p:nvSpPr>
          <p:cNvPr id="13" name="Text 8"/>
          <p:cNvSpPr/>
          <p:nvPr/>
        </p:nvSpPr>
        <p:spPr>
          <a:xfrm>
            <a:off x="1048491" y="5144033"/>
            <a:ext cx="595861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Calico (le TP), Cilium, Flannel. Sans CNI, les nœuds restent NotReady et CoreDNS reste Pending.</a:t>
            </a:r>
            <a:endParaRPr lang="en-US" sz="1300" dirty="0"/>
          </a:p>
        </p:txBody>
      </p:sp>
      <p:sp>
        <p:nvSpPr>
          <p:cNvPr id="14" name="Shape 9"/>
          <p:cNvSpPr/>
          <p:nvPr/>
        </p:nvSpPr>
        <p:spPr>
          <a:xfrm>
            <a:off x="7247043" y="1595115"/>
            <a:ext cx="4132157" cy="2640753"/>
          </a:xfrm>
          <a:prstGeom prst="roundRect">
            <a:avLst>
              <a:gd name="adj" fmla="val 4809"/>
            </a:avLst>
          </a:prstGeom>
          <a:solidFill>
            <a:srgbClr val="0B0748"/>
          </a:solidFill>
          <a:ln/>
        </p:spPr>
      </p:sp>
      <p:sp>
        <p:nvSpPr>
          <p:cNvPr id="15" name="Text 10"/>
          <p:cNvSpPr/>
          <p:nvPr/>
        </p:nvSpPr>
        <p:spPr>
          <a:xfrm>
            <a:off x="7475643" y="1823715"/>
            <a:ext cx="378520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COREDNS</a:t>
            </a:r>
            <a:endParaRPr lang="en-US" sz="1200" dirty="0"/>
          </a:p>
        </p:txBody>
      </p:sp>
      <p:sp>
        <p:nvSpPr>
          <p:cNvPr id="16" name="Text 11"/>
          <p:cNvSpPr/>
          <p:nvPr/>
        </p:nvSpPr>
        <p:spPr>
          <a:xfrm>
            <a:off x="7475643" y="2138685"/>
            <a:ext cx="378520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Le DNS interne : il traduit le nom d'un Service en son adresse IP.</a:t>
            </a:r>
            <a:endParaRPr lang="en-US" sz="1400" dirty="0"/>
          </a:p>
        </p:txBody>
      </p:sp>
      <p:sp>
        <p:nvSpPr>
          <p:cNvPr id="17" name="Text 12"/>
          <p:cNvSpPr/>
          <p:nvPr/>
        </p:nvSpPr>
        <p:spPr>
          <a:xfrm>
            <a:off x="7475643" y="2738115"/>
            <a:ext cx="37852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B08F"/>
                </a:solidFill>
                <a:latin typeface="JetBrains Mono" pitchFamily="49" charset="0"/>
                <a:ea typeface="JetBrains Mono" pitchFamily="49" charset="-122"/>
                <a:cs typeface="JetBrains Mono" pitchFamily="49" charset="-120"/>
              </a:rPr>
              <a:t>redis.fil-rouge.svc.cluster.local</a:t>
            </a:r>
            <a:endParaRPr lang="en-US" sz="1200" dirty="0"/>
          </a:p>
        </p:txBody>
      </p:sp>
      <p:sp>
        <p:nvSpPr>
          <p:cNvPr id="18" name="Text 13"/>
          <p:cNvSpPr/>
          <p:nvPr/>
        </p:nvSpPr>
        <p:spPr>
          <a:xfrm>
            <a:off x="7475643" y="3053085"/>
            <a:ext cx="37852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6E8"/>
                </a:solidFill>
                <a:latin typeface="IBM Plex Sans" pitchFamily="34" charset="0"/>
                <a:ea typeface="IBM Plex Sans" pitchFamily="34" charset="-122"/>
                <a:cs typeface="IBM Plex Sans" pitchFamily="34" charset="-120"/>
              </a:rPr>
              <a:t>Un Deployment dans kube-system.</a:t>
            </a:r>
            <a:endParaRPr lang="en-US" sz="1200" dirty="0"/>
          </a:p>
        </p:txBody>
      </p:sp>
      <p:sp>
        <p:nvSpPr>
          <p:cNvPr id="19" name="Shape 14"/>
          <p:cNvSpPr/>
          <p:nvPr/>
        </p:nvSpPr>
        <p:spPr>
          <a:xfrm>
            <a:off x="7250218" y="4416847"/>
            <a:ext cx="4125807" cy="1421977"/>
          </a:xfrm>
          <a:prstGeom prst="roundRect">
            <a:avLst>
              <a:gd name="adj" fmla="val 8708"/>
            </a:avLst>
          </a:prstGeom>
          <a:solidFill>
            <a:srgbClr val="FDFDFF"/>
          </a:solidFill>
          <a:ln w="6350">
            <a:solidFill>
              <a:srgbClr val="E1DFEE"/>
            </a:solidFill>
            <a:prstDash val="solid"/>
          </a:ln>
        </p:spPr>
      </p:sp>
      <p:sp>
        <p:nvSpPr>
          <p:cNvPr id="20" name="Text 15"/>
          <p:cNvSpPr/>
          <p:nvPr/>
        </p:nvSpPr>
        <p:spPr>
          <a:xfrm>
            <a:off x="7482734" y="4623966"/>
            <a:ext cx="377059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ET AUSSI</a:t>
            </a:r>
            <a:endParaRPr lang="en-US" sz="1200" dirty="0"/>
          </a:p>
        </p:txBody>
      </p:sp>
      <p:sp>
        <p:nvSpPr>
          <p:cNvPr id="21" name="Text 16"/>
          <p:cNvSpPr/>
          <p:nvPr/>
        </p:nvSpPr>
        <p:spPr>
          <a:xfrm>
            <a:off x="7482734" y="4913523"/>
            <a:ext cx="3770598"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F3C6B"/>
                </a:solidFill>
                <a:latin typeface="IBM Plex Sans" pitchFamily="34" charset="0"/>
                <a:ea typeface="IBM Plex Sans" pitchFamily="34" charset="-122"/>
                <a:cs typeface="IBM Plex Sans" pitchFamily="34" charset="-120"/>
              </a:rPr>
              <a:t>metrics-server (module 10), un contrôleur Ingress ou Gateway pour l'entrée HTTP, des pilotes de stockage CSI (module 16).</a:t>
            </a:r>
            <a:endParaRPr lang="en-US" sz="1300" dirty="0"/>
          </a:p>
        </p:txBody>
      </p:sp>
      <p:pic>
        <p:nvPicPr>
          <p:cNvPr id="22" name="Image 3" descr="preencoded.png">    </p:cNvPr>
          <p:cNvPicPr>
            <a:picLocks noChangeAspect="1"/>
          </p:cNvPicPr>
          <p:nvPr/>
        </p:nvPicPr>
        <p:blipFill>
          <a:blip r:embed="rId4"/>
          <a:srcRect l="0" r="0" t="0" b="0"/>
          <a:stretch/>
        </p:blipFill>
        <p:spPr>
          <a:xfrm>
            <a:off x="812800" y="6299200"/>
            <a:ext cx="152400" cy="152400"/>
          </a:xfrm>
          <a:prstGeom prst="rect">
            <a:avLst/>
          </a:prstGeom>
        </p:spPr>
      </p:pic>
      <p:sp>
        <p:nvSpPr>
          <p:cNvPr id="23" name="Text 1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4" name="Image 4" descr="Parcours : module 2 sur 16">    </p:cNvPr>
          <p:cNvPicPr>
            <a:picLocks noChangeAspect="1"/>
          </p:cNvPicPr>
          <p:nvPr/>
        </p:nvPicPr>
        <p:blipFill>
          <a:blip r:embed="rId5"/>
          <a:srcRect l="0" r="0" t="0" b="0"/>
          <a:stretch/>
        </p:blipFill>
        <p:spPr>
          <a:xfrm>
            <a:off x="9207500" y="6299200"/>
            <a:ext cx="2171700" cy="1524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E6A3C"/>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0748"/>
                </a:solidFill>
                <a:latin typeface="IBM Plex Sans" pitchFamily="34" charset="0"/>
                <a:ea typeface="IBM Plex Sans" pitchFamily="34" charset="-122"/>
                <a:cs typeface="IBM Plex Sans" pitchFamily="34" charset="-120"/>
              </a:rPr>
              <a:t>MODULE 02 · L'IDÉE LA PLUS IMPORTANTE DE LA FORMATION</a:t>
            </a:r>
            <a:endParaRPr lang="en-US" sz="1200" dirty="0"/>
          </a:p>
        </p:txBody>
      </p:sp>
      <p:sp>
        <p:nvSpPr>
          <p:cNvPr id="3" name="Text 1"/>
          <p:cNvSpPr/>
          <p:nvPr>
            <p:ph type="title"/>
          </p:nvPr>
        </p:nvSpPr>
        <p:spPr>
          <a:xfrm>
            <a:off x="812800" y="1153158"/>
            <a:ext cx="10883392" cy="1067858"/>
          </a:xfrm>
          <a:prstGeom prst="rect">
            <a:avLst/>
          </a:prstGeom>
          <a:noFill/>
          <a:ln/>
        </p:spPr>
        <p:txBody>
          <a:bodyPr wrap="square" lIns="0" tIns="0" rIns="0" bIns="0" rtlCol="0" anchor="t">
            <a:normAutofit/>
          </a:bodyPr>
          <a:lstStyle/>
          <a:p>
            <a:pPr algn="l" indent="0" marL="0">
              <a:lnSpc>
                <a:spcPts val="4104"/>
              </a:lnSpc>
              <a:buNone/>
            </a:pPr>
            <a:r>
              <a:rPr lang="en-US" sz="3800" b="1" i="0" spc="-100" kern="0" dirty="0">
                <a:solidFill>
                  <a:srgbClr val="0B0748"/>
                </a:solidFill>
                <a:latin typeface="Sora" pitchFamily="34" charset="0"/>
                <a:ea typeface="Sora" pitchFamily="34" charset="-122"/>
                <a:cs typeface="Sora" pitchFamily="34" charset="-120"/>
              </a:rPr>
              <a:t>Vous décrivez l'état désiré.</a:t>
            </a:r>
            <a:endParaRPr lang="en-US" sz="3800" dirty="0"/>
          </a:p>
          <a:p>
            <a:pPr algn="l" indent="0" marL="0">
              <a:lnSpc>
                <a:spcPts val="4104"/>
              </a:lnSpc>
              <a:buNone/>
            </a:pPr>
            <a:r>
              <a:rPr lang="en-US" sz="3800" b="1" i="0" spc="-100" kern="0" dirty="0">
                <a:solidFill>
                  <a:srgbClr val="0B0748"/>
                </a:solidFill>
                <a:latin typeface="Sora" pitchFamily="34" charset="0"/>
                <a:ea typeface="Sora" pitchFamily="34" charset="-122"/>
                <a:cs typeface="Sora" pitchFamily="34" charset="-120"/>
              </a:rPr>
              <a:t>Des contrôleurs le réconcilient, en boucle.</a:t>
            </a:r>
            <a:endParaRPr lang="en-US" sz="3800" dirty="0"/>
          </a:p>
        </p:txBody>
      </p:sp>
      <p:sp>
        <p:nvSpPr>
          <p:cNvPr id="4" name="Shape 2"/>
          <p:cNvSpPr/>
          <p:nvPr/>
        </p:nvSpPr>
        <p:spPr>
          <a:xfrm>
            <a:off x="812800" y="3740150"/>
            <a:ext cx="3115733" cy="1440180"/>
          </a:xfrm>
          <a:prstGeom prst="roundRect">
            <a:avLst>
              <a:gd name="adj" fmla="val 8818"/>
            </a:avLst>
          </a:prstGeom>
          <a:solidFill>
            <a:srgbClr val="0B0748"/>
          </a:solidFill>
          <a:ln/>
        </p:spPr>
      </p:sp>
      <p:sp>
        <p:nvSpPr>
          <p:cNvPr id="5" name="Text 3"/>
          <p:cNvSpPr/>
          <p:nvPr/>
        </p:nvSpPr>
        <p:spPr>
          <a:xfrm>
            <a:off x="1041400" y="3943350"/>
            <a:ext cx="2738289"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8F66"/>
                </a:solidFill>
                <a:latin typeface="Sora" pitchFamily="34" charset="0"/>
                <a:ea typeface="Sora" pitchFamily="34" charset="-122"/>
                <a:cs typeface="Sora" pitchFamily="34" charset="-120"/>
              </a:rPr>
              <a:t>1</a:t>
            </a:r>
            <a:endParaRPr lang="en-US" sz="2800" dirty="0"/>
          </a:p>
        </p:txBody>
      </p:sp>
      <p:sp>
        <p:nvSpPr>
          <p:cNvPr id="6" name="Text 4"/>
          <p:cNvSpPr/>
          <p:nvPr/>
        </p:nvSpPr>
        <p:spPr>
          <a:xfrm>
            <a:off x="1041400" y="4362450"/>
            <a:ext cx="2738289"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5F4F9"/>
                </a:solidFill>
                <a:latin typeface="Sora" pitchFamily="34" charset="0"/>
                <a:ea typeface="Sora" pitchFamily="34" charset="-122"/>
                <a:cs typeface="Sora" pitchFamily="34" charset="-120"/>
              </a:rPr>
              <a:t>Observer</a:t>
            </a:r>
            <a:endParaRPr lang="en-US" sz="1800" dirty="0"/>
          </a:p>
        </p:txBody>
      </p:sp>
      <p:sp>
        <p:nvSpPr>
          <p:cNvPr id="7" name="Text 5"/>
          <p:cNvSpPr/>
          <p:nvPr/>
        </p:nvSpPr>
        <p:spPr>
          <a:xfrm>
            <a:off x="1041400" y="4745992"/>
            <a:ext cx="273828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6E8"/>
                </a:solidFill>
                <a:latin typeface="IBM Plex Sans" pitchFamily="34" charset="0"/>
                <a:ea typeface="IBM Plex Sans" pitchFamily="34" charset="-122"/>
                <a:cs typeface="IBM Plex Sans" pitchFamily="34" charset="-120"/>
              </a:rPr>
              <a:t>l'état réel, via l'API server</a:t>
            </a:r>
            <a:endParaRPr lang="en-US" sz="1300" dirty="0"/>
          </a:p>
        </p:txBody>
      </p:sp>
      <p:pic>
        <p:nvPicPr>
          <p:cNvPr id="8" name="Image 0" descr="arrow-right">    </p:cNvPr>
          <p:cNvPicPr>
            <a:picLocks noChangeAspect="1"/>
          </p:cNvPicPr>
          <p:nvPr/>
        </p:nvPicPr>
        <p:blipFill>
          <a:blip r:embed="rId1"/>
          <a:srcRect l="0" r="0" t="0" b="0"/>
          <a:stretch/>
        </p:blipFill>
        <p:spPr>
          <a:xfrm>
            <a:off x="4055533" y="4371342"/>
            <a:ext cx="355600" cy="177800"/>
          </a:xfrm>
          <a:prstGeom prst="rect">
            <a:avLst/>
          </a:prstGeom>
        </p:spPr>
      </p:pic>
      <p:sp>
        <p:nvSpPr>
          <p:cNvPr id="9" name="Shape 6"/>
          <p:cNvSpPr/>
          <p:nvPr/>
        </p:nvSpPr>
        <p:spPr>
          <a:xfrm>
            <a:off x="4538133" y="3740150"/>
            <a:ext cx="3115733" cy="1440180"/>
          </a:xfrm>
          <a:prstGeom prst="roundRect">
            <a:avLst>
              <a:gd name="adj" fmla="val 8818"/>
            </a:avLst>
          </a:prstGeom>
          <a:solidFill>
            <a:srgbClr val="0B0748"/>
          </a:solidFill>
          <a:ln/>
        </p:spPr>
      </p:sp>
      <p:sp>
        <p:nvSpPr>
          <p:cNvPr id="10" name="Text 7"/>
          <p:cNvSpPr/>
          <p:nvPr/>
        </p:nvSpPr>
        <p:spPr>
          <a:xfrm>
            <a:off x="4766733" y="3943350"/>
            <a:ext cx="2738289"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8F66"/>
                </a:solidFill>
                <a:latin typeface="Sora" pitchFamily="34" charset="0"/>
                <a:ea typeface="Sora" pitchFamily="34" charset="-122"/>
                <a:cs typeface="Sora" pitchFamily="34" charset="-120"/>
              </a:rPr>
              <a:t>2</a:t>
            </a:r>
            <a:endParaRPr lang="en-US" sz="2800" dirty="0"/>
          </a:p>
        </p:txBody>
      </p:sp>
      <p:sp>
        <p:nvSpPr>
          <p:cNvPr id="11" name="Text 8"/>
          <p:cNvSpPr/>
          <p:nvPr/>
        </p:nvSpPr>
        <p:spPr>
          <a:xfrm>
            <a:off x="4766733" y="4362450"/>
            <a:ext cx="2738289"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5F4F9"/>
                </a:solidFill>
                <a:latin typeface="Sora" pitchFamily="34" charset="0"/>
                <a:ea typeface="Sora" pitchFamily="34" charset="-122"/>
                <a:cs typeface="Sora" pitchFamily="34" charset="-120"/>
              </a:rPr>
              <a:t>Comparer</a:t>
            </a:r>
            <a:endParaRPr lang="en-US" sz="1800" dirty="0"/>
          </a:p>
        </p:txBody>
      </p:sp>
      <p:sp>
        <p:nvSpPr>
          <p:cNvPr id="12" name="Text 9"/>
          <p:cNvSpPr/>
          <p:nvPr/>
        </p:nvSpPr>
        <p:spPr>
          <a:xfrm>
            <a:off x="4766733" y="4745992"/>
            <a:ext cx="273828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6E8"/>
                </a:solidFill>
                <a:latin typeface="IBM Plex Sans" pitchFamily="34" charset="0"/>
                <a:ea typeface="IBM Plex Sans" pitchFamily="34" charset="-122"/>
                <a:cs typeface="IBM Plex Sans" pitchFamily="34" charset="-120"/>
              </a:rPr>
              <a:t>avec l'état désiré</a:t>
            </a:r>
            <a:endParaRPr lang="en-US" sz="1300" dirty="0"/>
          </a:p>
        </p:txBody>
      </p:sp>
      <p:pic>
        <p:nvPicPr>
          <p:cNvPr id="13" name="Image 1" descr="arrow-right">    </p:cNvPr>
          <p:cNvPicPr>
            <a:picLocks noChangeAspect="1"/>
          </p:cNvPicPr>
          <p:nvPr/>
        </p:nvPicPr>
        <p:blipFill>
          <a:blip r:embed="rId2"/>
          <a:srcRect l="0" r="0" t="0" b="0"/>
          <a:stretch/>
        </p:blipFill>
        <p:spPr>
          <a:xfrm>
            <a:off x="7780867" y="4371342"/>
            <a:ext cx="355600" cy="177800"/>
          </a:xfrm>
          <a:prstGeom prst="rect">
            <a:avLst/>
          </a:prstGeom>
        </p:spPr>
      </p:pic>
      <p:sp>
        <p:nvSpPr>
          <p:cNvPr id="14" name="Shape 10"/>
          <p:cNvSpPr/>
          <p:nvPr/>
        </p:nvSpPr>
        <p:spPr>
          <a:xfrm>
            <a:off x="8263467" y="3624585"/>
            <a:ext cx="3115733" cy="1671320"/>
          </a:xfrm>
          <a:prstGeom prst="roundRect">
            <a:avLst>
              <a:gd name="adj" fmla="val 7599"/>
            </a:avLst>
          </a:prstGeom>
          <a:solidFill>
            <a:srgbClr val="0B0748"/>
          </a:solidFill>
          <a:ln/>
        </p:spPr>
      </p:sp>
      <p:sp>
        <p:nvSpPr>
          <p:cNvPr id="15" name="Text 11"/>
          <p:cNvSpPr/>
          <p:nvPr/>
        </p:nvSpPr>
        <p:spPr>
          <a:xfrm>
            <a:off x="8492067" y="3827785"/>
            <a:ext cx="2738289"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8F66"/>
                </a:solidFill>
                <a:latin typeface="Sora" pitchFamily="34" charset="0"/>
                <a:ea typeface="Sora" pitchFamily="34" charset="-122"/>
                <a:cs typeface="Sora" pitchFamily="34" charset="-120"/>
              </a:rPr>
              <a:t>3</a:t>
            </a:r>
            <a:endParaRPr lang="en-US" sz="2800" dirty="0"/>
          </a:p>
        </p:txBody>
      </p:sp>
      <p:sp>
        <p:nvSpPr>
          <p:cNvPr id="16" name="Text 12"/>
          <p:cNvSpPr/>
          <p:nvPr/>
        </p:nvSpPr>
        <p:spPr>
          <a:xfrm>
            <a:off x="8492067" y="4246885"/>
            <a:ext cx="2738289"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5F4F9"/>
                </a:solidFill>
                <a:latin typeface="Sora" pitchFamily="34" charset="0"/>
                <a:ea typeface="Sora" pitchFamily="34" charset="-122"/>
                <a:cs typeface="Sora" pitchFamily="34" charset="-120"/>
              </a:rPr>
              <a:t>Agir</a:t>
            </a:r>
            <a:endParaRPr lang="en-US" sz="1800" dirty="0"/>
          </a:p>
        </p:txBody>
      </p:sp>
      <p:sp>
        <p:nvSpPr>
          <p:cNvPr id="17" name="Text 13"/>
          <p:cNvSpPr/>
          <p:nvPr/>
        </p:nvSpPr>
        <p:spPr>
          <a:xfrm>
            <a:off x="8492067" y="4630415"/>
            <a:ext cx="27382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6E8"/>
                </a:solidFill>
                <a:latin typeface="IBM Plex Sans" pitchFamily="34" charset="0"/>
                <a:ea typeface="IBM Plex Sans" pitchFamily="34" charset="-122"/>
                <a:cs typeface="IBM Plex Sans" pitchFamily="34" charset="-120"/>
              </a:rPr>
              <a:t>pour réduire l'écart, puis recommencer</a:t>
            </a:r>
            <a:endParaRPr lang="en-US" sz="1300" dirty="0"/>
          </a:p>
        </p:txBody>
      </p:sp>
      <p:sp>
        <p:nvSpPr>
          <p:cNvPr id="18" name="Text 14"/>
          <p:cNvSpPr/>
          <p:nvPr/>
        </p:nvSpPr>
        <p:spPr>
          <a:xfrm>
            <a:off x="812800" y="5575300"/>
            <a:ext cx="525856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spec</a:t>
            </a:r>
            <a:r>
              <a:rPr lang="en-US" sz="1500" dirty="0">
                <a:solidFill>
                  <a:srgbClr val="0B0748"/>
                </a:solidFill>
                <a:latin typeface="IBM Plex Sans" pitchFamily="34" charset="0"/>
                <a:ea typeface="IBM Plex Sans" pitchFamily="34" charset="-122"/>
                <a:cs typeface="IBM Plex Sans" pitchFamily="34" charset="-120"/>
              </a:rPr>
              <a:t> : l'état désiré, que vous écrivez.</a:t>
            </a:r>
            <a:endParaRPr lang="en-US" sz="1500" dirty="0"/>
          </a:p>
        </p:txBody>
      </p:sp>
      <p:sp>
        <p:nvSpPr>
          <p:cNvPr id="19" name="Text 15"/>
          <p:cNvSpPr/>
          <p:nvPr/>
        </p:nvSpPr>
        <p:spPr>
          <a:xfrm>
            <a:off x="6273800" y="5575300"/>
            <a:ext cx="525856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status</a:t>
            </a:r>
            <a:r>
              <a:rPr lang="en-US" sz="1500" dirty="0">
                <a:solidFill>
                  <a:srgbClr val="0B0748"/>
                </a:solidFill>
                <a:latin typeface="IBM Plex Sans" pitchFamily="34" charset="0"/>
                <a:ea typeface="IBM Plex Sans" pitchFamily="34" charset="-122"/>
                <a:cs typeface="IBM Plex Sans" pitchFamily="34" charset="-120"/>
              </a:rPr>
              <a:t> : l'état observé, que Kubernetes remplit.</a:t>
            </a:r>
            <a:endParaRPr lang="en-US" sz="1500" dirty="0"/>
          </a:p>
        </p:txBody>
      </p:sp>
      <p:pic>
        <p:nvPicPr>
          <p:cNvPr id="20" name="Image 2" descr="preencoded.png">    </p:cNvPr>
          <p:cNvPicPr>
            <a:picLocks noChangeAspect="1"/>
          </p:cNvPicPr>
          <p:nvPr/>
        </p:nvPicPr>
        <p:blipFill>
          <a:blip r:embed="rId3"/>
          <a:srcRect l="0" r="0" t="0" b="0"/>
          <a:stretch/>
        </p:blipFill>
        <p:spPr>
          <a:xfrm>
            <a:off x="812800" y="6299200"/>
            <a:ext cx="152400" cy="152400"/>
          </a:xfrm>
          <a:prstGeom prst="rect">
            <a:avLst/>
          </a:prstGeom>
        </p:spPr>
      </p:pic>
      <p:sp>
        <p:nvSpPr>
          <p:cNvPr id="21" name="Text 1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0B0748"/>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2" name="Image 3" descr="Parcours : module 2 sur 16">    </p:cNvPr>
          <p:cNvPicPr>
            <a:picLocks noChangeAspect="1"/>
          </p:cNvPicPr>
          <p:nvPr/>
        </p:nvPicPr>
        <p:blipFill>
          <a:blip r:embed="rId4"/>
          <a:srcRect l="0" r="0" t="0" b="0"/>
          <a:stretch/>
        </p:blipFill>
        <p:spPr>
          <a:xfrm>
            <a:off x="9207500" y="6299200"/>
            <a:ext cx="2171700" cy="1524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02 · ARCHITECTURE DE KUBERNETES</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Impératif ou déclaratif</a:t>
            </a:r>
            <a:endParaRPr lang="en-US" sz="2800" dirty="0"/>
          </a:p>
        </p:txBody>
      </p:sp>
      <p:sp>
        <p:nvSpPr>
          <p:cNvPr id="4" name="Shape 2"/>
          <p:cNvSpPr/>
          <p:nvPr/>
        </p:nvSpPr>
        <p:spPr>
          <a:xfrm>
            <a:off x="815975" y="1572890"/>
            <a:ext cx="5195041" cy="1911350"/>
          </a:xfrm>
          <a:prstGeom prst="roundRect">
            <a:avLst>
              <a:gd name="adj" fmla="val 6478"/>
            </a:avLst>
          </a:prstGeom>
          <a:solidFill>
            <a:srgbClr val="FDFDFF"/>
          </a:solidFill>
          <a:ln w="6350">
            <a:solidFill>
              <a:srgbClr val="E1DFEE"/>
            </a:solidFill>
            <a:prstDash val="solid"/>
          </a:ln>
        </p:spPr>
      </p:sp>
      <p:sp>
        <p:nvSpPr>
          <p:cNvPr id="5" name="Text 3"/>
          <p:cNvSpPr/>
          <p:nvPr/>
        </p:nvSpPr>
        <p:spPr>
          <a:xfrm>
            <a:off x="1048491" y="1805409"/>
            <a:ext cx="487190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IMPÉRATIF</a:t>
            </a:r>
            <a:endParaRPr lang="en-US" sz="1200" dirty="0"/>
          </a:p>
        </p:txBody>
      </p:sp>
      <p:sp>
        <p:nvSpPr>
          <p:cNvPr id="6" name="Text 4"/>
          <p:cNvSpPr/>
          <p:nvPr/>
        </p:nvSpPr>
        <p:spPr>
          <a:xfrm>
            <a:off x="1048491" y="2107667"/>
            <a:ext cx="4871909"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0B0748"/>
                </a:solidFill>
                <a:latin typeface="Sora" pitchFamily="34" charset="0"/>
                <a:ea typeface="Sora" pitchFamily="34" charset="-122"/>
                <a:cs typeface="Sora" pitchFamily="34" charset="-120"/>
              </a:rPr>
              <a:t>« Lance 3 conteneurs nginx. »</a:t>
            </a:r>
            <a:endParaRPr lang="en-US" sz="1800" dirty="0"/>
          </a:p>
        </p:txBody>
      </p:sp>
      <p:sp>
        <p:nvSpPr>
          <p:cNvPr id="7" name="Text 5"/>
          <p:cNvSpPr/>
          <p:nvPr/>
        </p:nvSpPr>
        <p:spPr>
          <a:xfrm>
            <a:off x="1048491" y="2482317"/>
            <a:ext cx="487190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Si l'un s'arrête demain, personne ne le relance.</a:t>
            </a:r>
            <a:endParaRPr lang="en-US" sz="1400" dirty="0"/>
          </a:p>
        </p:txBody>
      </p:sp>
      <p:sp>
        <p:nvSpPr>
          <p:cNvPr id="8" name="Shape 6"/>
          <p:cNvSpPr/>
          <p:nvPr/>
        </p:nvSpPr>
        <p:spPr>
          <a:xfrm>
            <a:off x="6191991" y="1569715"/>
            <a:ext cx="5187209" cy="1917700"/>
          </a:xfrm>
          <a:prstGeom prst="roundRect">
            <a:avLst>
              <a:gd name="adj" fmla="val 6623"/>
            </a:avLst>
          </a:prstGeom>
          <a:solidFill>
            <a:srgbClr val="0B0748"/>
          </a:solidFill>
          <a:ln/>
        </p:spPr>
      </p:sp>
      <p:sp>
        <p:nvSpPr>
          <p:cNvPr id="9" name="Text 7"/>
          <p:cNvSpPr/>
          <p:nvPr/>
        </p:nvSpPr>
        <p:spPr>
          <a:xfrm>
            <a:off x="6420591" y="1798315"/>
            <a:ext cx="487190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DÉCLARATIF · KUBERNETES</a:t>
            </a:r>
            <a:endParaRPr lang="en-US" sz="1200" dirty="0"/>
          </a:p>
        </p:txBody>
      </p:sp>
      <p:sp>
        <p:nvSpPr>
          <p:cNvPr id="10" name="Text 8"/>
          <p:cNvSpPr/>
          <p:nvPr/>
        </p:nvSpPr>
        <p:spPr>
          <a:xfrm>
            <a:off x="6420591" y="2100585"/>
            <a:ext cx="4871909"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5F4F9"/>
                </a:solidFill>
                <a:latin typeface="Sora" pitchFamily="34" charset="0"/>
                <a:ea typeface="Sora" pitchFamily="34" charset="-122"/>
                <a:cs typeface="Sora" pitchFamily="34" charset="-120"/>
              </a:rPr>
              <a:t>« Je veux en permanence 3 réplicas de nginx. »</a:t>
            </a:r>
            <a:endParaRPr lang="en-US" sz="1800" dirty="0"/>
          </a:p>
        </p:txBody>
      </p:sp>
      <p:sp>
        <p:nvSpPr>
          <p:cNvPr id="11" name="Text 9"/>
          <p:cNvSpPr/>
          <p:nvPr/>
        </p:nvSpPr>
        <p:spPr>
          <a:xfrm>
            <a:off x="6420591" y="2760985"/>
            <a:ext cx="487190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6E8"/>
                </a:solidFill>
                <a:latin typeface="IBM Plex Sans" pitchFamily="34" charset="0"/>
                <a:ea typeface="IBM Plex Sans" pitchFamily="34" charset="-122"/>
                <a:cs typeface="IBM Plex Sans" pitchFamily="34" charset="-120"/>
              </a:rPr>
              <a:t>Le système compare sans cesse ce qui existe à ce qui est demandé, et corrige.</a:t>
            </a:r>
            <a:endParaRPr lang="en-US" sz="1400" dirty="0"/>
          </a:p>
        </p:txBody>
      </p:sp>
      <p:sp>
        <p:nvSpPr>
          <p:cNvPr id="12" name="Shape 10"/>
          <p:cNvSpPr/>
          <p:nvPr/>
        </p:nvSpPr>
        <p:spPr>
          <a:xfrm>
            <a:off x="812800" y="3722365"/>
            <a:ext cx="5194300" cy="0"/>
          </a:xfrm>
          <a:prstGeom prst="line">
            <a:avLst/>
          </a:prstGeom>
          <a:noFill/>
          <a:ln w="12700">
            <a:solidFill>
              <a:srgbClr val="0B0748"/>
            </a:solidFill>
            <a:prstDash val="solid"/>
          </a:ln>
        </p:spPr>
      </p:sp>
      <p:pic>
        <p:nvPicPr>
          <p:cNvPr id="13" name="Image 0" descr="Settings">    </p:cNvPr>
          <p:cNvPicPr>
            <a:picLocks noChangeAspect="1"/>
          </p:cNvPicPr>
          <p:nvPr/>
        </p:nvPicPr>
        <p:blipFill>
          <a:blip r:embed="rId1"/>
          <a:srcRect l="0" r="0" t="0" b="0"/>
          <a:stretch/>
        </p:blipFill>
        <p:spPr>
          <a:xfrm>
            <a:off x="812800" y="3900909"/>
            <a:ext cx="304800" cy="304800"/>
          </a:xfrm>
          <a:prstGeom prst="rect">
            <a:avLst/>
          </a:prstGeom>
        </p:spPr>
      </p:pic>
      <p:sp>
        <p:nvSpPr>
          <p:cNvPr id="14" name="Text 11"/>
          <p:cNvSpPr/>
          <p:nvPr/>
        </p:nvSpPr>
        <p:spPr>
          <a:xfrm>
            <a:off x="1270000" y="3900909"/>
            <a:ext cx="4879213" cy="54102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0B0748"/>
                </a:solidFill>
                <a:latin typeface="IBM Plex Sans" pitchFamily="34" charset="0"/>
                <a:ea typeface="IBM Plex Sans" pitchFamily="34" charset="-122"/>
                <a:cs typeface="IBM Plex Sans" pitchFamily="34" charset="-120"/>
              </a:rPr>
              <a:t>Le thermostat.</a:t>
            </a:r>
            <a:r>
              <a:rPr lang="en-US" sz="1400" dirty="0">
                <a:solidFill>
                  <a:srgbClr val="0B0748"/>
                </a:solidFill>
                <a:latin typeface="IBM Plex Sans" pitchFamily="34" charset="0"/>
                <a:ea typeface="IBM Plex Sans" pitchFamily="34" charset="-122"/>
                <a:cs typeface="IBM Plex Sans" pitchFamily="34" charset="-120"/>
              </a:rPr>
              <a:t> Vous réglez 19 °C : il ne « chauffe pas pendant 2 heures », il mesure et corrige en continu.</a:t>
            </a:r>
            <a:endParaRPr lang="en-US" sz="1400" dirty="0"/>
          </a:p>
        </p:txBody>
      </p:sp>
      <p:sp>
        <p:nvSpPr>
          <p:cNvPr id="15" name="Shape 12"/>
          <p:cNvSpPr/>
          <p:nvPr/>
        </p:nvSpPr>
        <p:spPr>
          <a:xfrm>
            <a:off x="6184900" y="3722365"/>
            <a:ext cx="5194300" cy="0"/>
          </a:xfrm>
          <a:prstGeom prst="line">
            <a:avLst/>
          </a:prstGeom>
          <a:noFill/>
          <a:ln w="12700">
            <a:solidFill>
              <a:srgbClr val="0B0748"/>
            </a:solidFill>
            <a:prstDash val="solid"/>
          </a:ln>
        </p:spPr>
      </p:sp>
      <p:pic>
        <p:nvPicPr>
          <p:cNvPr id="16" name="Image 1" descr="Activity">    </p:cNvPr>
          <p:cNvPicPr>
            <a:picLocks noChangeAspect="1"/>
          </p:cNvPicPr>
          <p:nvPr/>
        </p:nvPicPr>
        <p:blipFill>
          <a:blip r:embed="rId2"/>
          <a:srcRect l="0" r="0" t="0" b="0"/>
          <a:stretch/>
        </p:blipFill>
        <p:spPr>
          <a:xfrm>
            <a:off x="6184900" y="3900909"/>
            <a:ext cx="304800" cy="304800"/>
          </a:xfrm>
          <a:prstGeom prst="rect">
            <a:avLst/>
          </a:prstGeom>
        </p:spPr>
      </p:pic>
      <p:sp>
        <p:nvSpPr>
          <p:cNvPr id="17" name="Text 13"/>
          <p:cNvSpPr/>
          <p:nvPr/>
        </p:nvSpPr>
        <p:spPr>
          <a:xfrm>
            <a:off x="6642100" y="3900909"/>
            <a:ext cx="4879213" cy="79883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0B0748"/>
                </a:solidFill>
                <a:latin typeface="IBM Plex Sans" pitchFamily="34" charset="0"/>
                <a:ea typeface="IBM Plex Sans" pitchFamily="34" charset="-122"/>
                <a:cs typeface="IBM Plex Sans" pitchFamily="34" charset="-120"/>
              </a:rPr>
              <a:t>Un pod supprimé à la main</a:t>
            </a:r>
            <a:r>
              <a:rPr lang="en-US" sz="1400" dirty="0">
                <a:solidFill>
                  <a:srgbClr val="0B0748"/>
                </a:solidFill>
                <a:latin typeface="IBM Plex Sans" pitchFamily="34" charset="0"/>
                <a:ea typeface="IBM Plex Sans" pitchFamily="34" charset="-122"/>
                <a:cs typeface="IBM Plex Sans" pitchFamily="34" charset="-120"/>
              </a:rPr>
              <a:t> est aussitôt remplacé. Pour l'arrêter durablement, on change l'état désiré (replicas: 0), pas le pod.</a:t>
            </a:r>
            <a:endParaRPr lang="en-US" sz="1400" dirty="0"/>
          </a:p>
        </p:txBody>
      </p:sp>
      <p:sp>
        <p:nvSpPr>
          <p:cNvPr id="18" name="Text 14"/>
          <p:cNvSpPr/>
          <p:nvPr/>
        </p:nvSpPr>
        <p:spPr>
          <a:xfrm>
            <a:off x="812800" y="5379715"/>
            <a:ext cx="108833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À ne pas confondre avec la section 6.6, où « impératif » désigne la façon de taper la commande. Un Deployment créé par kubectl create reste un état désiré, réconcilié en permanence.</a:t>
            </a:r>
            <a:endParaRPr lang="en-US" sz="1300" dirty="0"/>
          </a:p>
        </p:txBody>
      </p:sp>
      <p:pic>
        <p:nvPicPr>
          <p:cNvPr id="19" name="Image 2" descr="preencoded.png">    </p:cNvPr>
          <p:cNvPicPr>
            <a:picLocks noChangeAspect="1"/>
          </p:cNvPicPr>
          <p:nvPr/>
        </p:nvPicPr>
        <p:blipFill>
          <a:blip r:embed="rId3"/>
          <a:srcRect l="0" r="0" t="0" b="0"/>
          <a:stretch/>
        </p:blipFill>
        <p:spPr>
          <a:xfrm>
            <a:off x="812800" y="6299200"/>
            <a:ext cx="152400" cy="152400"/>
          </a:xfrm>
          <a:prstGeom prst="rect">
            <a:avLst/>
          </a:prstGeom>
        </p:spPr>
      </p:pic>
      <p:sp>
        <p:nvSpPr>
          <p:cNvPr id="20" name="Text 15"/>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1" name="Image 3" descr="Parcours : module 2 sur 16">    </p:cNvPr>
          <p:cNvPicPr>
            <a:picLocks noChangeAspect="1"/>
          </p:cNvPicPr>
          <p:nvPr/>
        </p:nvPicPr>
        <p:blipFill>
          <a:blip r:embed="rId4"/>
          <a:srcRect l="0" r="0" t="0" b="0"/>
          <a:stretch/>
        </p:blipFill>
        <p:spPr>
          <a:xfrm>
            <a:off x="9207500" y="6299200"/>
            <a:ext cx="2171700" cy="1524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02 · ARCHITECTURE DE KUBERNETES</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Parcours d'un kubectl apply</a:t>
            </a:r>
            <a:endParaRPr lang="en-US" sz="2800" dirty="0"/>
          </a:p>
        </p:txBody>
      </p:sp>
      <p:sp>
        <p:nvSpPr>
          <p:cNvPr id="4" name="Shape 2"/>
          <p:cNvSpPr/>
          <p:nvPr/>
        </p:nvSpPr>
        <p:spPr>
          <a:xfrm>
            <a:off x="812800" y="1569715"/>
            <a:ext cx="2546350" cy="3190240"/>
          </a:xfrm>
          <a:prstGeom prst="roundRect">
            <a:avLst>
              <a:gd name="adj" fmla="val 3990"/>
            </a:avLst>
          </a:prstGeom>
          <a:solidFill>
            <a:srgbClr val="FDFDFF"/>
          </a:solidFill>
          <a:ln/>
          <a:effectLst>
            <a:outerShdw sx="100000" sy="100000" kx="0" ky="0" algn="bl" rotWithShape="0" blurRad="152400" dist="25400" dir="5400000">
              <a:srgbClr val="0B0748">
                <a:alpha val="6000"/>
              </a:srgbClr>
            </a:outerShdw>
          </a:effectLst>
        </p:spPr>
      </p:sp>
      <p:sp>
        <p:nvSpPr>
          <p:cNvPr id="5" name="Shape 3"/>
          <p:cNvSpPr/>
          <p:nvPr/>
        </p:nvSpPr>
        <p:spPr>
          <a:xfrm>
            <a:off x="990600" y="1569715"/>
            <a:ext cx="2190750" cy="38100"/>
          </a:xfrm>
          <a:prstGeom prst="roundRect">
            <a:avLst>
              <a:gd name="adj" fmla="val 50000"/>
            </a:avLst>
          </a:prstGeom>
          <a:solidFill>
            <a:srgbClr val="E25A2C"/>
          </a:solidFill>
          <a:ln/>
        </p:spPr>
      </p:sp>
      <p:sp>
        <p:nvSpPr>
          <p:cNvPr id="6" name="Text 4"/>
          <p:cNvSpPr/>
          <p:nvPr/>
        </p:nvSpPr>
        <p:spPr>
          <a:xfrm>
            <a:off x="990600" y="1696715"/>
            <a:ext cx="2256473"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E25A2C"/>
                </a:solidFill>
                <a:latin typeface="Sora" pitchFamily="34" charset="0"/>
                <a:ea typeface="Sora" pitchFamily="34" charset="-122"/>
                <a:cs typeface="Sora" pitchFamily="34" charset="-120"/>
              </a:rPr>
              <a:t>1</a:t>
            </a:r>
            <a:endParaRPr lang="en-US" sz="2600" dirty="0"/>
          </a:p>
        </p:txBody>
      </p:sp>
      <p:sp>
        <p:nvSpPr>
          <p:cNvPr id="7" name="Text 5"/>
          <p:cNvSpPr/>
          <p:nvPr/>
        </p:nvSpPr>
        <p:spPr>
          <a:xfrm>
            <a:off x="990600" y="2115815"/>
            <a:ext cx="2256473"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IBM Plex Sans" pitchFamily="34" charset="0"/>
                <a:ea typeface="IBM Plex Sans" pitchFamily="34" charset="-122"/>
                <a:cs typeface="IBM Plex Sans" pitchFamily="34" charset="-120"/>
              </a:rPr>
              <a:t>kubectl enregistre l'état désiré</a:t>
            </a:r>
            <a:endParaRPr lang="en-US" sz="1400" dirty="0"/>
          </a:p>
        </p:txBody>
      </p:sp>
      <p:sp>
        <p:nvSpPr>
          <p:cNvPr id="8" name="Text 6"/>
          <p:cNvSpPr/>
          <p:nvPr/>
        </p:nvSpPr>
        <p:spPr>
          <a:xfrm>
            <a:off x="990600" y="2649215"/>
            <a:ext cx="2256473" cy="11303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F3C6B"/>
                </a:solidFill>
                <a:latin typeface="IBM Plex Sans" pitchFamily="34" charset="0"/>
                <a:ea typeface="IBM Plex Sans" pitchFamily="34" charset="-122"/>
                <a:cs typeface="IBM Plex Sans" pitchFamily="34" charset="-120"/>
              </a:rPr>
              <a:t>kubectl envoie le YAML en HTTPS. L'API server authentifie, vérifie les droits, passe l'admission, valide, puis enregistre dans etcd.</a:t>
            </a:r>
            <a:endParaRPr lang="en-US" sz="1200" dirty="0"/>
          </a:p>
        </p:txBody>
      </p:sp>
      <p:sp>
        <p:nvSpPr>
          <p:cNvPr id="9" name="Shape 7"/>
          <p:cNvSpPr/>
          <p:nvPr/>
        </p:nvSpPr>
        <p:spPr>
          <a:xfrm>
            <a:off x="3486150" y="1569715"/>
            <a:ext cx="2546350" cy="3190240"/>
          </a:xfrm>
          <a:prstGeom prst="roundRect">
            <a:avLst>
              <a:gd name="adj" fmla="val 3990"/>
            </a:avLst>
          </a:prstGeom>
          <a:solidFill>
            <a:srgbClr val="FDFDFF"/>
          </a:solidFill>
          <a:ln/>
          <a:effectLst>
            <a:outerShdw sx="100000" sy="100000" kx="0" ky="0" algn="bl" rotWithShape="0" blurRad="152400" dist="25400" dir="5400000">
              <a:srgbClr val="0B0748">
                <a:alpha val="6000"/>
              </a:srgbClr>
            </a:outerShdw>
          </a:effectLst>
        </p:spPr>
      </p:sp>
      <p:sp>
        <p:nvSpPr>
          <p:cNvPr id="10" name="Shape 8"/>
          <p:cNvSpPr/>
          <p:nvPr/>
        </p:nvSpPr>
        <p:spPr>
          <a:xfrm>
            <a:off x="3663950" y="1569715"/>
            <a:ext cx="2190750" cy="38100"/>
          </a:xfrm>
          <a:prstGeom prst="roundRect">
            <a:avLst>
              <a:gd name="adj" fmla="val 50000"/>
            </a:avLst>
          </a:prstGeom>
          <a:solidFill>
            <a:srgbClr val="0B0748"/>
          </a:solidFill>
          <a:ln/>
        </p:spPr>
      </p:sp>
      <p:sp>
        <p:nvSpPr>
          <p:cNvPr id="11" name="Text 9"/>
          <p:cNvSpPr/>
          <p:nvPr/>
        </p:nvSpPr>
        <p:spPr>
          <a:xfrm>
            <a:off x="3663950" y="1696715"/>
            <a:ext cx="2256473"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E25A2C"/>
                </a:solidFill>
                <a:latin typeface="Sora" pitchFamily="34" charset="0"/>
                <a:ea typeface="Sora" pitchFamily="34" charset="-122"/>
                <a:cs typeface="Sora" pitchFamily="34" charset="-120"/>
              </a:rPr>
              <a:t>2</a:t>
            </a:r>
            <a:endParaRPr lang="en-US" sz="2600" dirty="0"/>
          </a:p>
        </p:txBody>
      </p:sp>
      <p:sp>
        <p:nvSpPr>
          <p:cNvPr id="12" name="Text 10"/>
          <p:cNvSpPr/>
          <p:nvPr/>
        </p:nvSpPr>
        <p:spPr>
          <a:xfrm>
            <a:off x="3663950" y="2115815"/>
            <a:ext cx="2256473"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IBM Plex Sans" pitchFamily="34" charset="0"/>
                <a:ea typeface="IBM Plex Sans" pitchFamily="34" charset="-122"/>
                <a:cs typeface="IBM Plex Sans" pitchFamily="34" charset="-120"/>
              </a:rPr>
              <a:t>Les contrôleurs créent ReplicaSet et pods</a:t>
            </a:r>
            <a:endParaRPr lang="en-US" sz="1400" dirty="0"/>
          </a:p>
        </p:txBody>
      </p:sp>
      <p:sp>
        <p:nvSpPr>
          <p:cNvPr id="13" name="Text 11"/>
          <p:cNvSpPr/>
          <p:nvPr/>
        </p:nvSpPr>
        <p:spPr>
          <a:xfrm>
            <a:off x="3663950" y="2649215"/>
            <a:ext cx="2256473" cy="909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F3C6B"/>
                </a:solidFill>
                <a:latin typeface="IBM Plex Sans" pitchFamily="34" charset="0"/>
                <a:ea typeface="IBM Plex Sans" pitchFamily="34" charset="-122"/>
                <a:cs typeface="IBM Plex Sans" pitchFamily="34" charset="-120"/>
              </a:rPr>
              <a:t>Prévenu par le watch, le contrôleur Deployment crée un ReplicaSet ; celui-ci crée 3 pods, encore sans nœud.</a:t>
            </a:r>
            <a:endParaRPr lang="en-US" sz="1200" dirty="0"/>
          </a:p>
        </p:txBody>
      </p:sp>
      <p:sp>
        <p:nvSpPr>
          <p:cNvPr id="14" name="Shape 12"/>
          <p:cNvSpPr/>
          <p:nvPr/>
        </p:nvSpPr>
        <p:spPr>
          <a:xfrm>
            <a:off x="6159500" y="1569715"/>
            <a:ext cx="2546350" cy="3190240"/>
          </a:xfrm>
          <a:prstGeom prst="roundRect">
            <a:avLst>
              <a:gd name="adj" fmla="val 3990"/>
            </a:avLst>
          </a:prstGeom>
          <a:solidFill>
            <a:srgbClr val="FDFDFF"/>
          </a:solidFill>
          <a:ln/>
          <a:effectLst>
            <a:outerShdw sx="100000" sy="100000" kx="0" ky="0" algn="bl" rotWithShape="0" blurRad="152400" dist="25400" dir="5400000">
              <a:srgbClr val="0B0748">
                <a:alpha val="6000"/>
              </a:srgbClr>
            </a:outerShdw>
          </a:effectLst>
        </p:spPr>
      </p:sp>
      <p:sp>
        <p:nvSpPr>
          <p:cNvPr id="15" name="Shape 13"/>
          <p:cNvSpPr/>
          <p:nvPr/>
        </p:nvSpPr>
        <p:spPr>
          <a:xfrm>
            <a:off x="6337300" y="1569715"/>
            <a:ext cx="2190750" cy="38100"/>
          </a:xfrm>
          <a:prstGeom prst="roundRect">
            <a:avLst>
              <a:gd name="adj" fmla="val 50000"/>
            </a:avLst>
          </a:prstGeom>
          <a:solidFill>
            <a:srgbClr val="6B6890"/>
          </a:solidFill>
          <a:ln/>
        </p:spPr>
      </p:sp>
      <p:sp>
        <p:nvSpPr>
          <p:cNvPr id="16" name="Text 14"/>
          <p:cNvSpPr/>
          <p:nvPr/>
        </p:nvSpPr>
        <p:spPr>
          <a:xfrm>
            <a:off x="6337300" y="1696715"/>
            <a:ext cx="2256473"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E25A2C"/>
                </a:solidFill>
                <a:latin typeface="Sora" pitchFamily="34" charset="0"/>
                <a:ea typeface="Sora" pitchFamily="34" charset="-122"/>
                <a:cs typeface="Sora" pitchFamily="34" charset="-120"/>
              </a:rPr>
              <a:t>3</a:t>
            </a:r>
            <a:endParaRPr lang="en-US" sz="2600" dirty="0"/>
          </a:p>
        </p:txBody>
      </p:sp>
      <p:sp>
        <p:nvSpPr>
          <p:cNvPr id="17" name="Text 15"/>
          <p:cNvSpPr/>
          <p:nvPr/>
        </p:nvSpPr>
        <p:spPr>
          <a:xfrm>
            <a:off x="6337300" y="2115815"/>
            <a:ext cx="2256473"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IBM Plex Sans" pitchFamily="34" charset="0"/>
                <a:ea typeface="IBM Plex Sans" pitchFamily="34" charset="-122"/>
                <a:cs typeface="IBM Plex Sans" pitchFamily="34" charset="-120"/>
              </a:rPr>
              <a:t>Le scheduler choisit un nœud</a:t>
            </a:r>
            <a:endParaRPr lang="en-US" sz="1400" dirty="0"/>
          </a:p>
        </p:txBody>
      </p:sp>
      <p:sp>
        <p:nvSpPr>
          <p:cNvPr id="18" name="Text 16"/>
          <p:cNvSpPr/>
          <p:nvPr/>
        </p:nvSpPr>
        <p:spPr>
          <a:xfrm>
            <a:off x="6337300" y="2649215"/>
            <a:ext cx="2256473"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F3C6B"/>
                </a:solidFill>
                <a:latin typeface="IBM Plex Sans" pitchFamily="34" charset="0"/>
                <a:ea typeface="IBM Plex Sans" pitchFamily="34" charset="-122"/>
                <a:cs typeface="IBM Plex Sans" pitchFamily="34" charset="-120"/>
              </a:rPr>
              <a:t>Il voit 3 pods non placés, choisit un nœud pour chacun et l'inscrit dans le pod.</a:t>
            </a:r>
            <a:endParaRPr lang="en-US" sz="1200" dirty="0"/>
          </a:p>
        </p:txBody>
      </p:sp>
      <p:sp>
        <p:nvSpPr>
          <p:cNvPr id="19" name="Shape 17"/>
          <p:cNvSpPr/>
          <p:nvPr/>
        </p:nvSpPr>
        <p:spPr>
          <a:xfrm>
            <a:off x="8832850" y="1569715"/>
            <a:ext cx="2546350" cy="3190240"/>
          </a:xfrm>
          <a:prstGeom prst="roundRect">
            <a:avLst>
              <a:gd name="adj" fmla="val 3990"/>
            </a:avLst>
          </a:prstGeom>
          <a:solidFill>
            <a:srgbClr val="FDFDFF"/>
          </a:solidFill>
          <a:ln/>
          <a:effectLst>
            <a:outerShdw sx="100000" sy="100000" kx="0" ky="0" algn="bl" rotWithShape="0" blurRad="152400" dist="25400" dir="5400000">
              <a:srgbClr val="0B0748">
                <a:alpha val="6000"/>
              </a:srgbClr>
            </a:outerShdw>
          </a:effectLst>
        </p:spPr>
      </p:sp>
      <p:sp>
        <p:nvSpPr>
          <p:cNvPr id="20" name="Shape 18"/>
          <p:cNvSpPr/>
          <p:nvPr/>
        </p:nvSpPr>
        <p:spPr>
          <a:xfrm>
            <a:off x="9010650" y="1569715"/>
            <a:ext cx="2190750" cy="38100"/>
          </a:xfrm>
          <a:prstGeom prst="roundRect">
            <a:avLst>
              <a:gd name="adj" fmla="val 50000"/>
            </a:avLst>
          </a:prstGeom>
          <a:solidFill>
            <a:srgbClr val="B9B6E8"/>
          </a:solidFill>
          <a:ln/>
        </p:spPr>
      </p:sp>
      <p:sp>
        <p:nvSpPr>
          <p:cNvPr id="21" name="Text 19"/>
          <p:cNvSpPr/>
          <p:nvPr/>
        </p:nvSpPr>
        <p:spPr>
          <a:xfrm>
            <a:off x="9010650" y="1696715"/>
            <a:ext cx="2256473"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E25A2C"/>
                </a:solidFill>
                <a:latin typeface="Sora" pitchFamily="34" charset="0"/>
                <a:ea typeface="Sora" pitchFamily="34" charset="-122"/>
                <a:cs typeface="Sora" pitchFamily="34" charset="-120"/>
              </a:rPr>
              <a:t>4</a:t>
            </a:r>
            <a:endParaRPr lang="en-US" sz="2600" dirty="0"/>
          </a:p>
        </p:txBody>
      </p:sp>
      <p:sp>
        <p:nvSpPr>
          <p:cNvPr id="22" name="Text 20"/>
          <p:cNvSpPr/>
          <p:nvPr/>
        </p:nvSpPr>
        <p:spPr>
          <a:xfrm>
            <a:off x="9010650" y="2115815"/>
            <a:ext cx="23685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IBM Plex Sans" pitchFamily="34" charset="0"/>
                <a:ea typeface="IBM Plex Sans" pitchFamily="34" charset="-122"/>
                <a:cs typeface="IBM Plex Sans" pitchFamily="34" charset="-120"/>
              </a:rPr>
              <a:t>Le kubelet démarre le pod</a:t>
            </a:r>
            <a:endParaRPr lang="en-US" sz="1400" dirty="0"/>
          </a:p>
        </p:txBody>
      </p:sp>
      <p:sp>
        <p:nvSpPr>
          <p:cNvPr id="23" name="Text 21"/>
          <p:cNvSpPr/>
          <p:nvPr/>
        </p:nvSpPr>
        <p:spPr>
          <a:xfrm>
            <a:off x="9010650" y="2426965"/>
            <a:ext cx="2256473" cy="11303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F3C6B"/>
                </a:solidFill>
                <a:latin typeface="IBM Plex Sans" pitchFamily="34" charset="0"/>
                <a:ea typeface="IBM Plex Sans" pitchFamily="34" charset="-122"/>
                <a:cs typeface="IBM Plex Sans" pitchFamily="34" charset="-120"/>
              </a:rPr>
              <a:t>Dans cet ordre : volumes (CSI), sandbox et réseau (CNI), image et conteneurs. Il remonte Running ; EndpointSlice et kube-proxy suivent.</a:t>
            </a:r>
            <a:endParaRPr lang="en-US" sz="1200" dirty="0"/>
          </a:p>
        </p:txBody>
      </p:sp>
      <p:sp>
        <p:nvSpPr>
          <p:cNvPr id="24" name="Shape 22"/>
          <p:cNvSpPr/>
          <p:nvPr/>
        </p:nvSpPr>
        <p:spPr>
          <a:xfrm>
            <a:off x="812800" y="4988558"/>
            <a:ext cx="10566400" cy="853440"/>
          </a:xfrm>
          <a:prstGeom prst="roundRect">
            <a:avLst>
              <a:gd name="adj" fmla="val 14881"/>
            </a:avLst>
          </a:prstGeom>
          <a:solidFill>
            <a:srgbClr val="0B0748"/>
          </a:solidFill>
          <a:ln/>
        </p:spPr>
      </p:sp>
      <p:pic>
        <p:nvPicPr>
          <p:cNvPr id="25" name="Image 0" descr="Link">    </p:cNvPr>
          <p:cNvPicPr>
            <a:picLocks noChangeAspect="1"/>
          </p:cNvPicPr>
          <p:nvPr/>
        </p:nvPicPr>
        <p:blipFill>
          <a:blip r:embed="rId1"/>
          <a:srcRect l="0" r="0" t="0" b="0"/>
          <a:stretch/>
        </p:blipFill>
        <p:spPr>
          <a:xfrm>
            <a:off x="1041400" y="5275585"/>
            <a:ext cx="279400" cy="279400"/>
          </a:xfrm>
          <a:prstGeom prst="rect">
            <a:avLst/>
          </a:prstGeom>
        </p:spPr>
      </p:pic>
      <p:sp>
        <p:nvSpPr>
          <p:cNvPr id="26" name="Text 23"/>
          <p:cNvSpPr/>
          <p:nvPr/>
        </p:nvSpPr>
        <p:spPr>
          <a:xfrm>
            <a:off x="1473200" y="5166358"/>
            <a:ext cx="99677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Aucun composant ne transmet l'état à un autre : tous lisent et écrivent dans l'API server. Seule liaison directe : le kubelet et containerd, sur le nœud.</a:t>
            </a:r>
            <a:endParaRPr lang="en-US" sz="1400" dirty="0"/>
          </a:p>
        </p:txBody>
      </p:sp>
      <p:pic>
        <p:nvPicPr>
          <p:cNvPr id="27" name="Image 1" descr="preencoded.png">    </p:cNvPr>
          <p:cNvPicPr>
            <a:picLocks noChangeAspect="1"/>
          </p:cNvPicPr>
          <p:nvPr/>
        </p:nvPicPr>
        <p:blipFill>
          <a:blip r:embed="rId2"/>
          <a:srcRect l="0" r="0" t="0" b="0"/>
          <a:stretch/>
        </p:blipFill>
        <p:spPr>
          <a:xfrm>
            <a:off x="812800" y="6299200"/>
            <a:ext cx="152400" cy="152400"/>
          </a:xfrm>
          <a:prstGeom prst="rect">
            <a:avLst/>
          </a:prstGeom>
        </p:spPr>
      </p:pic>
      <p:sp>
        <p:nvSpPr>
          <p:cNvPr id="28" name="Text 24"/>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9" name="Image 2" descr="Parcours : module 2 sur 16">    </p:cNvPr>
          <p:cNvPicPr>
            <a:picLocks noChangeAspect="1"/>
          </p:cNvPicPr>
          <p:nvPr/>
        </p:nvPicPr>
        <p:blipFill>
          <a:blip r:embed="rId3"/>
          <a:srcRect l="0" r="0" t="0" b="0"/>
          <a:stretch/>
        </p:blipFill>
        <p:spPr>
          <a:xfrm>
            <a:off x="9207500" y="6299200"/>
            <a:ext cx="2171700" cy="1524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02 · ARCHITECTURE DE KUBERNETES</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objets de l'API</a:t>
            </a:r>
            <a:endParaRPr lang="en-US" sz="2800" dirty="0"/>
          </a:p>
        </p:txBody>
      </p:sp>
      <p:sp>
        <p:nvSpPr>
          <p:cNvPr id="4" name="Text 2"/>
          <p:cNvSpPr/>
          <p:nvPr/>
        </p:nvSpPr>
        <p:spPr>
          <a:xfrm>
            <a:off x="812800" y="156971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Tout, dans Kubernetes, est un objet de l'API, identifié par un </a:t>
            </a:r>
            <a:r>
              <a:rPr lang="en-US" sz="1500" b="1" dirty="0">
                <a:solidFill>
                  <a:srgbClr val="3F3C6B"/>
                </a:solidFill>
                <a:latin typeface="IBM Plex Sans" pitchFamily="34" charset="0"/>
                <a:ea typeface="IBM Plex Sans" pitchFamily="34" charset="-122"/>
                <a:cs typeface="IBM Plex Sans" pitchFamily="34" charset="-120"/>
              </a:rPr>
              <a:t>kind</a:t>
            </a:r>
            <a:r>
              <a:rPr lang="en-US" sz="1500" dirty="0">
                <a:solidFill>
                  <a:srgbClr val="3F3C6B"/>
                </a:solidFill>
                <a:latin typeface="IBM Plex Sans" pitchFamily="34" charset="0"/>
                <a:ea typeface="IBM Plex Sans" pitchFamily="34" charset="-122"/>
                <a:cs typeface="IBM Plex Sans" pitchFamily="34" charset="-120"/>
              </a:rPr>
              <a:t> (Pod, Deployment…) et une </a:t>
            </a:r>
            <a:r>
              <a:rPr lang="en-US" sz="1500" b="1" dirty="0">
                <a:solidFill>
                  <a:srgbClr val="3F3C6B"/>
                </a:solidFill>
                <a:latin typeface="IBM Plex Sans" pitchFamily="34" charset="0"/>
                <a:ea typeface="IBM Plex Sans" pitchFamily="34" charset="-122"/>
                <a:cs typeface="IBM Plex Sans" pitchFamily="34" charset="-120"/>
              </a:rPr>
              <a:t>apiVersion</a:t>
            </a:r>
            <a:r>
              <a:rPr lang="en-US" sz="1500" dirty="0">
                <a:solidFill>
                  <a:srgbClr val="3F3C6B"/>
                </a:solidFill>
                <a:latin typeface="IBM Plex Sans" pitchFamily="34" charset="0"/>
                <a:ea typeface="IBM Plex Sans" pitchFamily="34" charset="-122"/>
                <a:cs typeface="IBM Plex Sans" pitchFamily="34" charset="-120"/>
              </a:rPr>
              <a:t>.</a:t>
            </a:r>
            <a:endParaRPr lang="en-US" sz="1500" dirty="0"/>
          </a:p>
        </p:txBody>
      </p:sp>
      <p:sp>
        <p:nvSpPr>
          <p:cNvPr id="5" name="Shape 3"/>
          <p:cNvSpPr/>
          <p:nvPr/>
        </p:nvSpPr>
        <p:spPr>
          <a:xfrm>
            <a:off x="815975" y="2068190"/>
            <a:ext cx="3770101" cy="2469515"/>
          </a:xfrm>
          <a:prstGeom prst="roundRect">
            <a:avLst>
              <a:gd name="adj" fmla="val 5014"/>
            </a:avLst>
          </a:prstGeom>
          <a:solidFill>
            <a:srgbClr val="FDFDFF"/>
          </a:solidFill>
          <a:ln w="6350">
            <a:solidFill>
              <a:srgbClr val="E1DFEE"/>
            </a:solidFill>
            <a:prstDash val="solid"/>
          </a:ln>
        </p:spPr>
      </p:sp>
      <p:sp>
        <p:nvSpPr>
          <p:cNvPr id="6" name="Text 4"/>
          <p:cNvSpPr/>
          <p:nvPr/>
        </p:nvSpPr>
        <p:spPr>
          <a:xfrm>
            <a:off x="1023091" y="2275309"/>
            <a:ext cx="345654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GROUPES</a:t>
            </a:r>
            <a:endParaRPr lang="en-US" sz="1200" dirty="0"/>
          </a:p>
        </p:txBody>
      </p:sp>
      <p:sp>
        <p:nvSpPr>
          <p:cNvPr id="7" name="Text 5"/>
          <p:cNvSpPr/>
          <p:nvPr/>
        </p:nvSpPr>
        <p:spPr>
          <a:xfrm>
            <a:off x="1023091" y="2577567"/>
            <a:ext cx="18967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v1</a:t>
            </a:r>
            <a:endParaRPr lang="en-US" sz="1200" dirty="0"/>
          </a:p>
        </p:txBody>
      </p:sp>
      <p:sp>
        <p:nvSpPr>
          <p:cNvPr id="8" name="Text 6"/>
          <p:cNvSpPr/>
          <p:nvPr/>
        </p:nvSpPr>
        <p:spPr>
          <a:xfrm>
            <a:off x="2966191" y="2577567"/>
            <a:ext cx="146356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core : Pod, Service, ConfigMap</a:t>
            </a:r>
            <a:endParaRPr lang="en-US" sz="1200" dirty="0"/>
          </a:p>
        </p:txBody>
      </p:sp>
      <p:sp>
        <p:nvSpPr>
          <p:cNvPr id="9" name="Text 7"/>
          <p:cNvSpPr/>
          <p:nvPr/>
        </p:nvSpPr>
        <p:spPr>
          <a:xfrm>
            <a:off x="1023091" y="3093194"/>
            <a:ext cx="18967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apps/v1</a:t>
            </a:r>
            <a:endParaRPr lang="en-US" sz="1200" dirty="0"/>
          </a:p>
        </p:txBody>
      </p:sp>
      <p:sp>
        <p:nvSpPr>
          <p:cNvPr id="10" name="Text 8"/>
          <p:cNvSpPr/>
          <p:nvPr/>
        </p:nvSpPr>
        <p:spPr>
          <a:xfrm>
            <a:off x="2966191" y="3093194"/>
            <a:ext cx="14635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Deployment</a:t>
            </a:r>
            <a:endParaRPr lang="en-US" sz="1200" dirty="0"/>
          </a:p>
        </p:txBody>
      </p:sp>
      <p:sp>
        <p:nvSpPr>
          <p:cNvPr id="11" name="Text 9"/>
          <p:cNvSpPr/>
          <p:nvPr/>
        </p:nvSpPr>
        <p:spPr>
          <a:xfrm>
            <a:off x="1023091" y="3395452"/>
            <a:ext cx="18967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batch/v1</a:t>
            </a:r>
            <a:endParaRPr lang="en-US" sz="1200" dirty="0"/>
          </a:p>
        </p:txBody>
      </p:sp>
      <p:sp>
        <p:nvSpPr>
          <p:cNvPr id="12" name="Text 10"/>
          <p:cNvSpPr/>
          <p:nvPr/>
        </p:nvSpPr>
        <p:spPr>
          <a:xfrm>
            <a:off x="2966191" y="3395452"/>
            <a:ext cx="14635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Job</a:t>
            </a:r>
            <a:endParaRPr lang="en-US" sz="1200" dirty="0"/>
          </a:p>
        </p:txBody>
      </p:sp>
      <p:sp>
        <p:nvSpPr>
          <p:cNvPr id="13" name="Text 11"/>
          <p:cNvSpPr/>
          <p:nvPr/>
        </p:nvSpPr>
        <p:spPr>
          <a:xfrm>
            <a:off x="1023091" y="3697709"/>
            <a:ext cx="19431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networking.k8s.io/v1</a:t>
            </a:r>
            <a:endParaRPr lang="en-US" sz="1200" dirty="0"/>
          </a:p>
        </p:txBody>
      </p:sp>
      <p:sp>
        <p:nvSpPr>
          <p:cNvPr id="14" name="Text 12"/>
          <p:cNvSpPr/>
          <p:nvPr/>
        </p:nvSpPr>
        <p:spPr>
          <a:xfrm>
            <a:off x="2966191" y="3697709"/>
            <a:ext cx="14635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NetworkPolicy</a:t>
            </a:r>
            <a:endParaRPr lang="en-US" sz="1200" dirty="0"/>
          </a:p>
        </p:txBody>
      </p:sp>
      <p:sp>
        <p:nvSpPr>
          <p:cNvPr id="15" name="Shape 13"/>
          <p:cNvSpPr/>
          <p:nvPr/>
        </p:nvSpPr>
        <p:spPr>
          <a:xfrm>
            <a:off x="4770226" y="2068190"/>
            <a:ext cx="3210878" cy="2469515"/>
          </a:xfrm>
          <a:prstGeom prst="roundRect">
            <a:avLst>
              <a:gd name="adj" fmla="val 5014"/>
            </a:avLst>
          </a:prstGeom>
          <a:solidFill>
            <a:srgbClr val="FDFDFF"/>
          </a:solidFill>
          <a:ln w="6350">
            <a:solidFill>
              <a:srgbClr val="E1DFEE"/>
            </a:solidFill>
            <a:prstDash val="solid"/>
          </a:ln>
        </p:spPr>
      </p:sp>
      <p:sp>
        <p:nvSpPr>
          <p:cNvPr id="16" name="Text 14"/>
          <p:cNvSpPr/>
          <p:nvPr/>
        </p:nvSpPr>
        <p:spPr>
          <a:xfrm>
            <a:off x="4977342" y="2275309"/>
            <a:ext cx="288054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MATURITÉ</a:t>
            </a:r>
            <a:endParaRPr lang="en-US" sz="1200" dirty="0"/>
          </a:p>
        </p:txBody>
      </p:sp>
      <p:sp>
        <p:nvSpPr>
          <p:cNvPr id="17" name="Text 15"/>
          <p:cNvSpPr/>
          <p:nvPr/>
        </p:nvSpPr>
        <p:spPr>
          <a:xfrm>
            <a:off x="4977342" y="2577567"/>
            <a:ext cx="28805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v1alpha1</a:t>
            </a:r>
            <a:endParaRPr lang="en-US" sz="1200" dirty="0"/>
          </a:p>
        </p:txBody>
      </p:sp>
      <p:sp>
        <p:nvSpPr>
          <p:cNvPr id="18" name="Text 16"/>
          <p:cNvSpPr/>
          <p:nvPr/>
        </p:nvSpPr>
        <p:spPr>
          <a:xfrm>
            <a:off x="4977342" y="2803637"/>
            <a:ext cx="28805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expérimental, désactivé par défaut</a:t>
            </a:r>
            <a:endParaRPr lang="en-US" sz="1200" dirty="0"/>
          </a:p>
        </p:txBody>
      </p:sp>
      <p:sp>
        <p:nvSpPr>
          <p:cNvPr id="19" name="Text 17"/>
          <p:cNvSpPr/>
          <p:nvPr/>
        </p:nvSpPr>
        <p:spPr>
          <a:xfrm>
            <a:off x="4977342" y="3105894"/>
            <a:ext cx="28805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v1beta1</a:t>
            </a:r>
            <a:endParaRPr lang="en-US" sz="1200" dirty="0"/>
          </a:p>
        </p:txBody>
      </p:sp>
      <p:sp>
        <p:nvSpPr>
          <p:cNvPr id="20" name="Text 18"/>
          <p:cNvSpPr/>
          <p:nvPr/>
        </p:nvSpPr>
        <p:spPr>
          <a:xfrm>
            <a:off x="4977342" y="3331952"/>
            <a:ext cx="28805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testé, peut encore changer</a:t>
            </a:r>
            <a:endParaRPr lang="en-US" sz="1200" dirty="0"/>
          </a:p>
        </p:txBody>
      </p:sp>
      <p:sp>
        <p:nvSpPr>
          <p:cNvPr id="21" name="Text 19"/>
          <p:cNvSpPr/>
          <p:nvPr/>
        </p:nvSpPr>
        <p:spPr>
          <a:xfrm>
            <a:off x="4977342" y="3634209"/>
            <a:ext cx="28805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v1</a:t>
            </a:r>
            <a:endParaRPr lang="en-US" sz="1200" dirty="0"/>
          </a:p>
        </p:txBody>
      </p:sp>
      <p:sp>
        <p:nvSpPr>
          <p:cNvPr id="22" name="Text 20"/>
          <p:cNvSpPr/>
          <p:nvPr/>
        </p:nvSpPr>
        <p:spPr>
          <a:xfrm>
            <a:off x="4977342" y="3860267"/>
            <a:ext cx="28805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stable</a:t>
            </a:r>
            <a:endParaRPr lang="en-US" sz="1200" dirty="0"/>
          </a:p>
        </p:txBody>
      </p:sp>
      <p:sp>
        <p:nvSpPr>
          <p:cNvPr id="23" name="Shape 21"/>
          <p:cNvSpPr/>
          <p:nvPr/>
        </p:nvSpPr>
        <p:spPr>
          <a:xfrm>
            <a:off x="8165254" y="2068190"/>
            <a:ext cx="3210772" cy="2469515"/>
          </a:xfrm>
          <a:prstGeom prst="roundRect">
            <a:avLst>
              <a:gd name="adj" fmla="val 5014"/>
            </a:avLst>
          </a:prstGeom>
          <a:solidFill>
            <a:srgbClr val="FDFDFF"/>
          </a:solidFill>
          <a:ln w="6350">
            <a:solidFill>
              <a:srgbClr val="E1DFEE"/>
            </a:solidFill>
            <a:prstDash val="solid"/>
          </a:ln>
        </p:spPr>
      </p:sp>
      <p:sp>
        <p:nvSpPr>
          <p:cNvPr id="24" name="Text 22"/>
          <p:cNvSpPr/>
          <p:nvPr/>
        </p:nvSpPr>
        <p:spPr>
          <a:xfrm>
            <a:off x="8372370" y="2275309"/>
            <a:ext cx="288043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PORTÉE</a:t>
            </a:r>
            <a:endParaRPr lang="en-US" sz="1200" dirty="0"/>
          </a:p>
        </p:txBody>
      </p:sp>
      <p:sp>
        <p:nvSpPr>
          <p:cNvPr id="25" name="Text 23"/>
          <p:cNvSpPr/>
          <p:nvPr/>
        </p:nvSpPr>
        <p:spPr>
          <a:xfrm>
            <a:off x="8372370" y="2577567"/>
            <a:ext cx="288043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Dans un namespace</a:t>
            </a:r>
            <a:endParaRPr lang="en-US" sz="1300" dirty="0"/>
          </a:p>
        </p:txBody>
      </p:sp>
      <p:sp>
        <p:nvSpPr>
          <p:cNvPr id="26" name="Text 24"/>
          <p:cNvSpPr/>
          <p:nvPr/>
        </p:nvSpPr>
        <p:spPr>
          <a:xfrm>
            <a:off x="8372370" y="2821409"/>
            <a:ext cx="28804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la plupart : Pod, Service, Deployment</a:t>
            </a:r>
            <a:endParaRPr lang="en-US" sz="1200" dirty="0"/>
          </a:p>
        </p:txBody>
      </p:sp>
      <p:sp>
        <p:nvSpPr>
          <p:cNvPr id="27" name="Text 25"/>
          <p:cNvSpPr/>
          <p:nvPr/>
        </p:nvSpPr>
        <p:spPr>
          <a:xfrm>
            <a:off x="8372370" y="3123667"/>
            <a:ext cx="288043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Pour tout le cluster</a:t>
            </a:r>
            <a:endParaRPr lang="en-US" sz="1300" dirty="0"/>
          </a:p>
        </p:txBody>
      </p:sp>
      <p:sp>
        <p:nvSpPr>
          <p:cNvPr id="28" name="Text 26"/>
          <p:cNvSpPr/>
          <p:nvPr/>
        </p:nvSpPr>
        <p:spPr>
          <a:xfrm>
            <a:off x="8372370" y="3367509"/>
            <a:ext cx="28804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Node, PersistentVolume, Namespace lui-même</a:t>
            </a:r>
            <a:endParaRPr lang="en-US" sz="1200" dirty="0"/>
          </a:p>
        </p:txBody>
      </p:sp>
      <p:sp>
        <p:nvSpPr>
          <p:cNvPr id="29" name="Text 27"/>
          <p:cNvSpPr/>
          <p:nvPr/>
        </p:nvSpPr>
        <p:spPr>
          <a:xfrm>
            <a:off x="812800" y="4769483"/>
            <a:ext cx="10566400" cy="1072515"/>
          </a:xfrm>
          <a:prstGeom prst="roundRect">
            <a:avLst>
              <a:gd name="adj" fmla="val 9473"/>
            </a:avLst>
          </a:prstGeom>
          <a:solidFill>
            <a:srgbClr val="0B0748"/>
          </a:solidFill>
          <a:ln/>
        </p:spPr>
        <p:txBody>
          <a:bodyPr wrap="none" lIns="173442" tIns="122642" rIns="0" bIns="97242" rtlCol="0" anchor="t">
            <a:normAutofit/>
          </a:bodyPr>
          <a:lstStyle/>
          <a:p>
            <a:pPr algn="l" indent="0" marL="0">
              <a:lnSpc>
                <a:spcPts val="2015"/>
              </a:lnSpc>
              <a:buNone/>
            </a:pPr>
            <a:r>
              <a:rPr lang="en-US" sz="1300" dirty="0">
                <a:solidFill>
                  <a:srgbClr val="ECEAFF"/>
                </a:solidFill>
                <a:latin typeface="JetBrains Mono" pitchFamily="49" charset="0"/>
                <a:ea typeface="JetBrains Mono" pitchFamily="49" charset="-122"/>
                <a:cs typeface="JetBrains Mono" pitchFamily="49" charset="-120"/>
              </a:rPr>
              <a:t>kubectl api-resources                      </a:t>
            </a:r>
            <a:r>
              <a:rPr lang="en-US" sz="1300" dirty="0">
                <a:solidFill>
                  <a:srgbClr val="9A96D0"/>
                </a:solidFill>
                <a:latin typeface="JetBrains Mono" pitchFamily="49" charset="0"/>
                <a:ea typeface="JetBrains Mono" pitchFamily="49" charset="-122"/>
                <a:cs typeface="JetBrains Mono" pitchFamily="49" charset="-120"/>
              </a:rPr>
              <a:t># tous les types, leur groupe, leur portée</a:t>
            </a:r>
            <a:endParaRPr lang="en-US" sz="1300" dirty="0"/>
          </a:p>
          <a:p>
            <a:pPr algn="l" indent="0" marL="0">
              <a:lnSpc>
                <a:spcPts val="2015"/>
              </a:lnSpc>
              <a:buNone/>
            </a:pPr>
            <a:r>
              <a:rPr lang="en-US" sz="1300" dirty="0">
                <a:solidFill>
                  <a:srgbClr val="ECEAFF"/>
                </a:solidFill>
                <a:latin typeface="JetBrains Mono" pitchFamily="49" charset="0"/>
                <a:ea typeface="JetBrains Mono" pitchFamily="49" charset="-122"/>
                <a:cs typeface="JetBrains Mono" pitchFamily="49" charset="-120"/>
              </a:rPr>
              <a:t>kubectl api-resources --namespaced=false   </a:t>
            </a:r>
            <a:r>
              <a:rPr lang="en-US" sz="1300" dirty="0">
                <a:solidFill>
                  <a:srgbClr val="9A96D0"/>
                </a:solidFill>
                <a:latin typeface="JetBrains Mono" pitchFamily="49" charset="0"/>
                <a:ea typeface="JetBrains Mono" pitchFamily="49" charset="-122"/>
                <a:cs typeface="JetBrains Mono" pitchFamily="49" charset="-120"/>
              </a:rPr>
              <a:t># les types de portée cluster</a:t>
            </a:r>
            <a:endParaRPr lang="en-US" sz="1300" dirty="0"/>
          </a:p>
          <a:p>
            <a:pPr algn="l" indent="0" marL="0">
              <a:lnSpc>
                <a:spcPts val="2015"/>
              </a:lnSpc>
              <a:buNone/>
            </a:pPr>
            <a:r>
              <a:rPr lang="en-US" sz="1300" dirty="0">
                <a:solidFill>
                  <a:srgbClr val="ECEAFF"/>
                </a:solidFill>
                <a:latin typeface="JetBrains Mono" pitchFamily="49" charset="0"/>
                <a:ea typeface="JetBrains Mono" pitchFamily="49" charset="-122"/>
                <a:cs typeface="JetBrains Mono" pitchFamily="49" charset="-120"/>
              </a:rPr>
              <a:t>kubectl explain deployment                 </a:t>
            </a:r>
            <a:r>
              <a:rPr lang="en-US" sz="1300" dirty="0">
                <a:solidFill>
                  <a:srgbClr val="9A96D0"/>
                </a:solidFill>
                <a:latin typeface="JetBrains Mono" pitchFamily="49" charset="0"/>
                <a:ea typeface="JetBrains Mono" pitchFamily="49" charset="-122"/>
                <a:cs typeface="JetBrains Mono" pitchFamily="49" charset="-120"/>
              </a:rPr>
              <a:t># documentation intégrée</a:t>
            </a:r>
            <a:endParaRPr lang="en-US" sz="1300" dirty="0"/>
          </a:p>
        </p:txBody>
      </p:sp>
      <p:pic>
        <p:nvPicPr>
          <p:cNvPr id="30"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31" name="Text 2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2" name="Image 1" descr="Parcours : module 2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02 · ARCHITECTURE DE KUBERNETES</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Observer l'architecture sur votre cluster</a:t>
            </a:r>
            <a:endParaRPr lang="en-US" sz="2800" dirty="0"/>
          </a:p>
        </p:txBody>
      </p:sp>
      <p:sp>
        <p:nvSpPr>
          <p:cNvPr id="4" name="Text 2"/>
          <p:cNvSpPr/>
          <p:nvPr/>
        </p:nvSpPr>
        <p:spPr>
          <a:xfrm>
            <a:off x="812800" y="1595115"/>
            <a:ext cx="10566400" cy="2040890"/>
          </a:xfrm>
          <a:prstGeom prst="roundRect">
            <a:avLst>
              <a:gd name="adj" fmla="val 4978"/>
            </a:avLst>
          </a:prstGeom>
          <a:solidFill>
            <a:srgbClr val="0B0748"/>
          </a:solidFill>
          <a:ln/>
        </p:spPr>
        <p:txBody>
          <a:bodyPr wrap="none" lIns="224242" tIns="173442" rIns="0" bIns="148042" rtlCol="0" anchor="t">
            <a:normAutofit/>
          </a:bodyPr>
          <a:lstStyle/>
          <a:p>
            <a:pPr algn="l" indent="0" marL="0">
              <a:lnSpc>
                <a:spcPts val="2145"/>
              </a:lnSpc>
              <a:buNone/>
            </a:pPr>
            <a:r>
              <a:rPr lang="en-US" sz="1300" dirty="0">
                <a:solidFill>
                  <a:srgbClr val="ECEAFF"/>
                </a:solidFill>
                <a:latin typeface="JetBrains Mono" pitchFamily="49" charset="0"/>
                <a:ea typeface="JetBrains Mono" pitchFamily="49" charset="-122"/>
                <a:cs typeface="JetBrains Mono" pitchFamily="49" charset="-120"/>
              </a:rPr>
              <a:t>kubectl get nodes -o wide                  </a:t>
            </a:r>
            <a:r>
              <a:rPr lang="en-US" sz="1300" dirty="0">
                <a:solidFill>
                  <a:srgbClr val="9A96D0"/>
                </a:solidFill>
                <a:latin typeface="JetBrains Mono" pitchFamily="49" charset="0"/>
                <a:ea typeface="JetBrains Mono" pitchFamily="49" charset="-122"/>
                <a:cs typeface="JetBrains Mono" pitchFamily="49" charset="-120"/>
              </a:rPr>
              <a:t># nœuds, versions, runtime</a:t>
            </a:r>
            <a:endParaRPr lang="en-US" sz="1300" dirty="0"/>
          </a:p>
          <a:p>
            <a:pPr algn="l" indent="0" marL="0">
              <a:lnSpc>
                <a:spcPts val="2145"/>
              </a:lnSpc>
              <a:buNone/>
            </a:pPr>
            <a:r>
              <a:rPr lang="en-US" sz="1300" dirty="0">
                <a:solidFill>
                  <a:srgbClr val="ECEAFF"/>
                </a:solidFill>
                <a:latin typeface="JetBrains Mono" pitchFamily="49" charset="0"/>
                <a:ea typeface="JetBrains Mono" pitchFamily="49" charset="-122"/>
                <a:cs typeface="JetBrains Mono" pitchFamily="49" charset="-120"/>
              </a:rPr>
              <a:t>kubectl get pods -n kube-system -o wide    </a:t>
            </a:r>
            <a:r>
              <a:rPr lang="en-US" sz="1300" dirty="0">
                <a:solidFill>
                  <a:srgbClr val="9A96D0"/>
                </a:solidFill>
                <a:latin typeface="JetBrains Mono" pitchFamily="49" charset="0"/>
                <a:ea typeface="JetBrains Mono" pitchFamily="49" charset="-122"/>
                <a:cs typeface="JetBrains Mono" pitchFamily="49" charset="-120"/>
              </a:rPr>
              <a:t># composants et add-ons</a:t>
            </a:r>
            <a:endParaRPr lang="en-US" sz="1300" dirty="0"/>
          </a:p>
          <a:p>
            <a:pPr algn="l" indent="0" marL="0">
              <a:lnSpc>
                <a:spcPts val="2145"/>
              </a:lnSpc>
              <a:buNone/>
            </a:pPr>
            <a:r>
              <a:rPr lang="en-US" sz="1300" dirty="0">
                <a:solidFill>
                  <a:srgbClr val="ECEAFF"/>
                </a:solidFill>
                <a:latin typeface="JetBrains Mono" pitchFamily="49" charset="0"/>
                <a:ea typeface="JetBrains Mono" pitchFamily="49" charset="-122"/>
                <a:cs typeface="JetBrains Mono" pitchFamily="49" charset="-120"/>
              </a:rPr>
              <a:t>ls /etc/kubernetes/manifests               </a:t>
            </a:r>
            <a:r>
              <a:rPr lang="en-US" sz="1300" dirty="0">
                <a:solidFill>
                  <a:srgbClr val="9A96D0"/>
                </a:solidFill>
                <a:latin typeface="JetBrains Mono" pitchFamily="49" charset="0"/>
                <a:ea typeface="JetBrains Mono" pitchFamily="49" charset="-122"/>
                <a:cs typeface="JetBrains Mono" pitchFamily="49" charset="-120"/>
              </a:rPr>
              <a:t># [cp] les 4 pods statiques</a:t>
            </a:r>
            <a:endParaRPr lang="en-US" sz="1300" dirty="0"/>
          </a:p>
          <a:p>
            <a:pPr algn="l" indent="0" marL="0">
              <a:lnSpc>
                <a:spcPts val="2145"/>
              </a:lnSpc>
              <a:buNone/>
            </a:pPr>
            <a:r>
              <a:rPr lang="en-US" sz="1300" dirty="0">
                <a:solidFill>
                  <a:srgbClr val="ECEAFF"/>
                </a:solidFill>
                <a:latin typeface="JetBrains Mono" pitchFamily="49" charset="0"/>
                <a:ea typeface="JetBrains Mono" pitchFamily="49" charset="-122"/>
                <a:cs typeface="JetBrains Mono" pitchFamily="49" charset="-120"/>
              </a:rPr>
              <a:t>systemctl status kubelet                   </a:t>
            </a:r>
            <a:r>
              <a:rPr lang="en-US" sz="1300" dirty="0">
                <a:solidFill>
                  <a:srgbClr val="9A96D0"/>
                </a:solidFill>
                <a:latin typeface="JetBrains Mono" pitchFamily="49" charset="0"/>
                <a:ea typeface="JetBrains Mono" pitchFamily="49" charset="-122"/>
                <a:cs typeface="JetBrains Mono" pitchFamily="49" charset="-120"/>
              </a:rPr>
              <a:t># [tous] le kubelet est un service</a:t>
            </a:r>
            <a:endParaRPr lang="en-US" sz="1300" dirty="0"/>
          </a:p>
          <a:p>
            <a:pPr algn="l" indent="0" marL="0">
              <a:lnSpc>
                <a:spcPts val="2145"/>
              </a:lnSpc>
              <a:buNone/>
            </a:pPr>
            <a:r>
              <a:rPr lang="en-US" sz="1300" dirty="0">
                <a:solidFill>
                  <a:srgbClr val="ECEAFF"/>
                </a:solidFill>
                <a:latin typeface="JetBrains Mono" pitchFamily="49" charset="0"/>
                <a:ea typeface="JetBrains Mono" pitchFamily="49" charset="-122"/>
                <a:cs typeface="JetBrains Mono" pitchFamily="49" charset="-120"/>
              </a:rPr>
              <a:t>sudo crictl ps                             </a:t>
            </a:r>
            <a:r>
              <a:rPr lang="en-US" sz="1300" dirty="0">
                <a:solidFill>
                  <a:srgbClr val="9A96D0"/>
                </a:solidFill>
                <a:latin typeface="JetBrains Mono" pitchFamily="49" charset="0"/>
                <a:ea typeface="JetBrains Mono" pitchFamily="49" charset="-122"/>
                <a:cs typeface="JetBrains Mono" pitchFamily="49" charset="-120"/>
              </a:rPr>
              <a:t># [tous] conteneurs vus par containerd</a:t>
            </a:r>
            <a:endParaRPr lang="en-US" sz="1300" dirty="0"/>
          </a:p>
          <a:p>
            <a:pPr algn="l" indent="0" marL="0">
              <a:lnSpc>
                <a:spcPts val="2145"/>
              </a:lnSpc>
              <a:buNone/>
            </a:pPr>
            <a:r>
              <a:rPr lang="en-US" sz="1300" dirty="0">
                <a:solidFill>
                  <a:srgbClr val="ECEAFF"/>
                </a:solidFill>
                <a:latin typeface="JetBrains Mono" pitchFamily="49" charset="0"/>
                <a:ea typeface="JetBrains Mono" pitchFamily="49" charset="-122"/>
                <a:cs typeface="JetBrains Mono" pitchFamily="49" charset="-120"/>
              </a:rPr>
              <a:t>kubectl get --raw='/readyz?verbose'        </a:t>
            </a:r>
            <a:r>
              <a:rPr lang="en-US" sz="1300" dirty="0">
                <a:solidFill>
                  <a:srgbClr val="9A96D0"/>
                </a:solidFill>
                <a:latin typeface="JetBrains Mono" pitchFamily="49" charset="0"/>
                <a:ea typeface="JetBrains Mono" pitchFamily="49" charset="-122"/>
                <a:cs typeface="JetBrains Mono" pitchFamily="49" charset="-120"/>
              </a:rPr>
              <a:t># état détaillé de l'API server</a:t>
            </a:r>
            <a:endParaRPr lang="en-US" sz="1300" dirty="0"/>
          </a:p>
        </p:txBody>
      </p:sp>
      <p:sp>
        <p:nvSpPr>
          <p:cNvPr id="5" name="Shape 3"/>
          <p:cNvSpPr/>
          <p:nvPr/>
        </p:nvSpPr>
        <p:spPr>
          <a:xfrm>
            <a:off x="815975" y="3893183"/>
            <a:ext cx="5187950" cy="1945640"/>
          </a:xfrm>
          <a:prstGeom prst="roundRect">
            <a:avLst>
              <a:gd name="adj" fmla="val 6364"/>
            </a:avLst>
          </a:prstGeom>
          <a:solidFill>
            <a:srgbClr val="FDFDFF"/>
          </a:solidFill>
          <a:ln w="6350">
            <a:solidFill>
              <a:srgbClr val="E1DFEE"/>
            </a:solidFill>
            <a:prstDash val="solid"/>
          </a:ln>
        </p:spPr>
      </p:sp>
      <p:pic>
        <p:nvPicPr>
          <p:cNvPr id="6" name="Image 0" descr="Warning">    </p:cNvPr>
          <p:cNvPicPr>
            <a:picLocks noChangeAspect="1"/>
          </p:cNvPicPr>
          <p:nvPr/>
        </p:nvPicPr>
        <p:blipFill>
          <a:blip r:embed="rId1"/>
          <a:srcRect l="0" r="0" t="0" b="0"/>
          <a:stretch/>
        </p:blipFill>
        <p:spPr>
          <a:xfrm>
            <a:off x="1048491" y="4100302"/>
            <a:ext cx="254000" cy="254000"/>
          </a:xfrm>
          <a:prstGeom prst="rect">
            <a:avLst/>
          </a:prstGeom>
        </p:spPr>
      </p:pic>
      <p:sp>
        <p:nvSpPr>
          <p:cNvPr id="7" name="Text 4"/>
          <p:cNvSpPr/>
          <p:nvPr/>
        </p:nvSpPr>
        <p:spPr>
          <a:xfrm>
            <a:off x="1404091" y="4120617"/>
            <a:ext cx="296773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SI LE CONTROL PLANE TOMBE</a:t>
            </a:r>
            <a:endParaRPr lang="en-US" sz="1200" dirty="0"/>
          </a:p>
        </p:txBody>
      </p:sp>
      <p:sp>
        <p:nvSpPr>
          <p:cNvPr id="8" name="Text 5"/>
          <p:cNvSpPr/>
          <p:nvPr/>
        </p:nvSpPr>
        <p:spPr>
          <a:xfrm>
            <a:off x="1048491" y="4443202"/>
            <a:ext cx="4864606"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0B0748"/>
                </a:solidFill>
                <a:latin typeface="IBM Plex Sans" pitchFamily="34" charset="0"/>
                <a:ea typeface="IBM Plex Sans" pitchFamily="34" charset="-122"/>
                <a:cs typeface="IBM Plex Sans" pitchFamily="34" charset="-120"/>
              </a:rPr>
              <a:t>Les applications déjà lancées continuent de tourner : kubelets et kube-proxy gardent leur dernière configuration.</a:t>
            </a:r>
            <a:endParaRPr lang="en-US" sz="1400" dirty="0"/>
          </a:p>
        </p:txBody>
      </p:sp>
      <p:sp>
        <p:nvSpPr>
          <p:cNvPr id="9" name="Text 6"/>
          <p:cNvSpPr/>
          <p:nvPr/>
        </p:nvSpPr>
        <p:spPr>
          <a:xfrm>
            <a:off x="1048491" y="5047717"/>
            <a:ext cx="4864606"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Mais plus aucune modification, plus de placement, plus d'auto-réparation.</a:t>
            </a:r>
            <a:endParaRPr lang="en-US" sz="1400" dirty="0"/>
          </a:p>
        </p:txBody>
      </p:sp>
      <p:sp>
        <p:nvSpPr>
          <p:cNvPr id="10" name="Shape 7"/>
          <p:cNvSpPr/>
          <p:nvPr/>
        </p:nvSpPr>
        <p:spPr>
          <a:xfrm>
            <a:off x="6188075" y="3893183"/>
            <a:ext cx="5187950" cy="1945640"/>
          </a:xfrm>
          <a:prstGeom prst="roundRect">
            <a:avLst>
              <a:gd name="adj" fmla="val 6364"/>
            </a:avLst>
          </a:prstGeom>
          <a:solidFill>
            <a:srgbClr val="FDFDFF"/>
          </a:solidFill>
          <a:ln w="6350">
            <a:solidFill>
              <a:srgbClr val="E1DFEE"/>
            </a:solidFill>
            <a:prstDash val="solid"/>
          </a:ln>
        </p:spPr>
      </p:sp>
      <p:pic>
        <p:nvPicPr>
          <p:cNvPr id="11" name="Image 1" descr="Users">    </p:cNvPr>
          <p:cNvPicPr>
            <a:picLocks noChangeAspect="1"/>
          </p:cNvPicPr>
          <p:nvPr/>
        </p:nvPicPr>
        <p:blipFill>
          <a:blip r:embed="rId2"/>
          <a:srcRect l="0" r="0" t="0" b="0"/>
          <a:stretch/>
        </p:blipFill>
        <p:spPr>
          <a:xfrm>
            <a:off x="6420591" y="4100302"/>
            <a:ext cx="254000" cy="254000"/>
          </a:xfrm>
          <a:prstGeom prst="rect">
            <a:avLst/>
          </a:prstGeom>
        </p:spPr>
      </p:pic>
      <p:sp>
        <p:nvSpPr>
          <p:cNvPr id="12" name="Text 8"/>
          <p:cNvSpPr/>
          <p:nvPr/>
        </p:nvSpPr>
        <p:spPr>
          <a:xfrm>
            <a:off x="6776191" y="4120617"/>
            <a:ext cx="199009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TP OU PRODUCTION</a:t>
            </a:r>
            <a:endParaRPr lang="en-US" sz="1200" dirty="0"/>
          </a:p>
        </p:txBody>
      </p:sp>
      <p:sp>
        <p:nvSpPr>
          <p:cNvPr id="13" name="Text 9"/>
          <p:cNvSpPr/>
          <p:nvPr/>
        </p:nvSpPr>
        <p:spPr>
          <a:xfrm>
            <a:off x="6420591" y="4443202"/>
            <a:ext cx="4864606"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0B0748"/>
                </a:solidFill>
                <a:latin typeface="IBM Plex Sans" pitchFamily="34" charset="0"/>
                <a:ea typeface="IBM Plex Sans" pitchFamily="34" charset="-122"/>
                <a:cs typeface="IBM Plex Sans" pitchFamily="34" charset="-120"/>
              </a:rPr>
              <a:t>Votre cluster de TP n'a qu'un control plane : un point unique de défaillance, acceptable pour apprendre.</a:t>
            </a:r>
            <a:endParaRPr lang="en-US" sz="1400" dirty="0"/>
          </a:p>
        </p:txBody>
      </p:sp>
      <p:sp>
        <p:nvSpPr>
          <p:cNvPr id="14" name="Text 10"/>
          <p:cNvSpPr/>
          <p:nvPr/>
        </p:nvSpPr>
        <p:spPr>
          <a:xfrm>
            <a:off x="6420591" y="5047717"/>
            <a:ext cx="4864606"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En production : 3 nœuds de control plane derrière un répartiteur de charge.</a:t>
            </a:r>
            <a:endParaRPr lang="en-US" sz="1400" dirty="0"/>
          </a:p>
        </p:txBody>
      </p:sp>
      <p:pic>
        <p:nvPicPr>
          <p:cNvPr id="15" name="Image 2" descr="preencoded.png">    </p:cNvPr>
          <p:cNvPicPr>
            <a:picLocks noChangeAspect="1"/>
          </p:cNvPicPr>
          <p:nvPr/>
        </p:nvPicPr>
        <p:blipFill>
          <a:blip r:embed="rId3"/>
          <a:srcRect l="0" r="0" t="0" b="0"/>
          <a:stretch/>
        </p:blipFill>
        <p:spPr>
          <a:xfrm>
            <a:off x="812800" y="6299200"/>
            <a:ext cx="152400" cy="152400"/>
          </a:xfrm>
          <a:prstGeom prst="rect">
            <a:avLst/>
          </a:prstGeom>
        </p:spPr>
      </p:pic>
      <p:sp>
        <p:nvSpPr>
          <p:cNvPr id="16" name="Text 11"/>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7" name="Image 3" descr="Parcours : module 2 sur 16">    </p:cNvPr>
          <p:cNvPicPr>
            <a:picLocks noChangeAspect="1"/>
          </p:cNvPicPr>
          <p:nvPr/>
        </p:nvPicPr>
        <p:blipFill>
          <a:blip r:embed="rId4"/>
          <a:srcRect l="0" r="0" t="0" b="0"/>
          <a:stretch/>
        </p:blipFill>
        <p:spPr>
          <a:xfrm>
            <a:off x="9207500" y="6299200"/>
            <a:ext cx="2171700" cy="1524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02 · BILAN</a:t>
            </a:r>
            <a:endParaRPr lang="en-US" sz="1200" dirty="0"/>
          </a:p>
        </p:txBody>
      </p:sp>
      <p:sp>
        <p:nvSpPr>
          <p:cNvPr id="3" name="Text 1"/>
          <p:cNvSpPr/>
          <p:nvPr>
            <p:ph type="title"/>
          </p:nvPr>
        </p:nvSpPr>
        <p:spPr>
          <a:xfrm>
            <a:off x="812800" y="9499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15"/>
            <a:ext cx="6138333"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15"/>
            <a:ext cx="228600" cy="228600"/>
          </a:xfrm>
          <a:prstGeom prst="rect">
            <a:avLst/>
          </a:prstGeom>
        </p:spPr>
      </p:pic>
      <p:sp>
        <p:nvSpPr>
          <p:cNvPr id="6" name="Text 3"/>
          <p:cNvSpPr/>
          <p:nvPr/>
        </p:nvSpPr>
        <p:spPr>
          <a:xfrm>
            <a:off x="1511300" y="1874515"/>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L'API server est le centre : seul à parler à etcd, tous les autres composants passent par lui.</a:t>
            </a:r>
            <a:endParaRPr lang="en-US" sz="1500" dirty="0"/>
          </a:p>
        </p:txBody>
      </p:sp>
      <p:pic>
        <p:nvPicPr>
          <p:cNvPr id="7" name="Image 1" descr="Check">    </p:cNvPr>
          <p:cNvPicPr>
            <a:picLocks noChangeAspect="1"/>
          </p:cNvPicPr>
          <p:nvPr/>
        </p:nvPicPr>
        <p:blipFill>
          <a:blip r:embed="rId2"/>
          <a:srcRect l="0" r="0" t="0" b="0"/>
          <a:stretch/>
        </p:blipFill>
        <p:spPr>
          <a:xfrm>
            <a:off x="1143000" y="2585715"/>
            <a:ext cx="228600" cy="228600"/>
          </a:xfrm>
          <a:prstGeom prst="rect">
            <a:avLst/>
          </a:prstGeom>
        </p:spPr>
      </p:pic>
      <p:sp>
        <p:nvSpPr>
          <p:cNvPr id="8" name="Text 4"/>
          <p:cNvSpPr/>
          <p:nvPr/>
        </p:nvSpPr>
        <p:spPr>
          <a:xfrm>
            <a:off x="1511300" y="2585715"/>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Le scheduler choisit un nœud ; le kubelet démarre réellement les conteneurs.</a:t>
            </a:r>
            <a:endParaRPr lang="en-US" sz="1500" dirty="0"/>
          </a:p>
        </p:txBody>
      </p:sp>
      <p:pic>
        <p:nvPicPr>
          <p:cNvPr id="9" name="Image 2" descr="Check">    </p:cNvPr>
          <p:cNvPicPr>
            <a:picLocks noChangeAspect="1"/>
          </p:cNvPicPr>
          <p:nvPr/>
        </p:nvPicPr>
        <p:blipFill>
          <a:blip r:embed="rId3"/>
          <a:srcRect l="0" r="0" t="0" b="0"/>
          <a:stretch/>
        </p:blipFill>
        <p:spPr>
          <a:xfrm>
            <a:off x="1143000" y="3296915"/>
            <a:ext cx="228600" cy="228600"/>
          </a:xfrm>
          <a:prstGeom prst="rect">
            <a:avLst/>
          </a:prstGeom>
        </p:spPr>
      </p:pic>
      <p:sp>
        <p:nvSpPr>
          <p:cNvPr id="10" name="Text 5"/>
          <p:cNvSpPr/>
          <p:nvPr/>
        </p:nvSpPr>
        <p:spPr>
          <a:xfrm>
            <a:off x="1511300" y="3296915"/>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Vous décrivez un état désiré (spec) ; des contrôleurs le réconcilient en boucle avec l'état réel (status).</a:t>
            </a:r>
            <a:endParaRPr lang="en-US" sz="1500" dirty="0"/>
          </a:p>
        </p:txBody>
      </p:sp>
      <p:pic>
        <p:nvPicPr>
          <p:cNvPr id="11" name="Image 3" descr="Check">    </p:cNvPr>
          <p:cNvPicPr>
            <a:picLocks noChangeAspect="1"/>
          </p:cNvPicPr>
          <p:nvPr/>
        </p:nvPicPr>
        <p:blipFill>
          <a:blip r:embed="rId4"/>
          <a:srcRect l="0" r="0" t="0" b="0"/>
          <a:stretch/>
        </p:blipFill>
        <p:spPr>
          <a:xfrm>
            <a:off x="1143000" y="4008115"/>
            <a:ext cx="228600" cy="228600"/>
          </a:xfrm>
          <a:prstGeom prst="rect">
            <a:avLst/>
          </a:prstGeom>
        </p:spPr>
      </p:pic>
      <p:sp>
        <p:nvSpPr>
          <p:cNvPr id="12" name="Text 6"/>
          <p:cNvSpPr/>
          <p:nvPr/>
        </p:nvSpPr>
        <p:spPr>
          <a:xfrm>
            <a:off x="1511300" y="4008115"/>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etcd contient tout le cluster : il se sauvegarde, et se déploie en nombre impair en production.</a:t>
            </a:r>
            <a:endParaRPr lang="en-US" sz="1500" dirty="0"/>
          </a:p>
        </p:txBody>
      </p:sp>
      <p:sp>
        <p:nvSpPr>
          <p:cNvPr id="13" name="Shape 7"/>
          <p:cNvSpPr/>
          <p:nvPr/>
        </p:nvSpPr>
        <p:spPr>
          <a:xfrm>
            <a:off x="7157508" y="1598290"/>
            <a:ext cx="4218517" cy="4240530"/>
          </a:xfrm>
          <a:prstGeom prst="roundRect">
            <a:avLst>
              <a:gd name="adj" fmla="val 3537"/>
            </a:avLst>
          </a:prstGeom>
          <a:solidFill>
            <a:srgbClr val="FDFDFF"/>
          </a:solidFill>
          <a:ln w="6350">
            <a:solidFill>
              <a:srgbClr val="E1DFEE"/>
            </a:solidFill>
            <a:prstDash val="solid"/>
          </a:ln>
        </p:spPr>
      </p:sp>
      <p:sp>
        <p:nvSpPr>
          <p:cNvPr id="14" name="Text 8"/>
          <p:cNvSpPr/>
          <p:nvPr/>
        </p:nvSpPr>
        <p:spPr>
          <a:xfrm>
            <a:off x="7440824" y="1856209"/>
            <a:ext cx="376144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5" name="Text 9"/>
          <p:cNvSpPr/>
          <p:nvPr/>
        </p:nvSpPr>
        <p:spPr>
          <a:xfrm>
            <a:off x="7440824" y="2196567"/>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1</a:t>
            </a:r>
            <a:endParaRPr lang="en-US" sz="1300" dirty="0"/>
          </a:p>
        </p:txBody>
      </p:sp>
      <p:sp>
        <p:nvSpPr>
          <p:cNvPr id="16" name="Text 10"/>
          <p:cNvSpPr/>
          <p:nvPr/>
        </p:nvSpPr>
        <p:spPr>
          <a:xfrm>
            <a:off x="7720224" y="2196567"/>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Pourquoi le kubelet est-il un service systemd et non un pod ?</a:t>
            </a:r>
            <a:endParaRPr lang="en-US" sz="1300" dirty="0"/>
          </a:p>
        </p:txBody>
      </p:sp>
      <p:sp>
        <p:nvSpPr>
          <p:cNvPr id="17" name="Text 11"/>
          <p:cNvSpPr/>
          <p:nvPr/>
        </p:nvSpPr>
        <p:spPr>
          <a:xfrm>
            <a:off x="7440824" y="2785839"/>
            <a:ext cx="22860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2</a:t>
            </a:r>
            <a:endParaRPr lang="en-US" sz="1300" dirty="0"/>
          </a:p>
        </p:txBody>
      </p:sp>
      <p:sp>
        <p:nvSpPr>
          <p:cNvPr id="18" name="Text 12"/>
          <p:cNvSpPr/>
          <p:nvPr/>
        </p:nvSpPr>
        <p:spPr>
          <a:xfrm>
            <a:off x="7720224" y="2785839"/>
            <a:ext cx="347365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Un pod reste en Pending : quel composant n'a pas fait son travail, et pourquoi peut-il refuser ?</a:t>
            </a:r>
            <a:endParaRPr lang="en-US" sz="1300" dirty="0"/>
          </a:p>
        </p:txBody>
      </p:sp>
      <p:sp>
        <p:nvSpPr>
          <p:cNvPr id="19" name="Text 13"/>
          <p:cNvSpPr/>
          <p:nvPr/>
        </p:nvSpPr>
        <p:spPr>
          <a:xfrm>
            <a:off x="7440824" y="3606279"/>
            <a:ext cx="22860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3</a:t>
            </a:r>
            <a:endParaRPr lang="en-US" sz="1300" dirty="0"/>
          </a:p>
        </p:txBody>
      </p:sp>
      <p:sp>
        <p:nvSpPr>
          <p:cNvPr id="20" name="Text 14"/>
          <p:cNvSpPr/>
          <p:nvPr/>
        </p:nvSpPr>
        <p:spPr>
          <a:xfrm>
            <a:off x="7720224" y="3606279"/>
            <a:ext cx="347365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Vous supprimez un pod d'un Deployment : quels composants interviennent, dans quel ordre ?</a:t>
            </a:r>
            <a:endParaRPr lang="en-US" sz="1300" dirty="0"/>
          </a:p>
        </p:txBody>
      </p:sp>
      <p:sp>
        <p:nvSpPr>
          <p:cNvPr id="21" name="Text 15"/>
          <p:cNvSpPr/>
          <p:nvPr/>
        </p:nvSpPr>
        <p:spPr>
          <a:xfrm>
            <a:off x="7440824" y="4426694"/>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4</a:t>
            </a:r>
            <a:endParaRPr lang="en-US" sz="1300" dirty="0"/>
          </a:p>
        </p:txBody>
      </p:sp>
      <p:sp>
        <p:nvSpPr>
          <p:cNvPr id="22" name="Text 16"/>
          <p:cNvSpPr/>
          <p:nvPr/>
        </p:nvSpPr>
        <p:spPr>
          <a:xfrm>
            <a:off x="7720224" y="4426694"/>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Que deviennent les applications si le nœud de control plane s'arrête ?</a:t>
            </a:r>
            <a:endParaRPr lang="en-US" sz="1300" dirty="0"/>
          </a:p>
        </p:txBody>
      </p:sp>
      <p:pic>
        <p:nvPicPr>
          <p:cNvPr id="23"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24" name="Text 1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5" descr="Parcours : module 2 sur 16">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1 · COMPRENDRE ET INSTALLER</a:t>
            </a:r>
            <a:endParaRPr lang="en-US" sz="1200" dirty="0"/>
          </a:p>
        </p:txBody>
      </p:sp>
      <p:sp>
        <p:nvSpPr>
          <p:cNvPr id="3" name="Text 1"/>
          <p:cNvSpPr/>
          <p:nvPr/>
        </p:nvSpPr>
        <p:spPr>
          <a:xfrm>
            <a:off x="812800" y="1076970"/>
            <a:ext cx="2004060"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03</a:t>
            </a:r>
            <a:endParaRPr lang="en-US" sz="10000" dirty="0"/>
          </a:p>
        </p:txBody>
      </p:sp>
      <p:sp>
        <p:nvSpPr>
          <p:cNvPr id="4" name="Text 2"/>
          <p:cNvSpPr/>
          <p:nvPr>
            <p:ph type="title"/>
          </p:nvPr>
        </p:nvSpPr>
        <p:spPr>
          <a:xfrm>
            <a:off x="2838450" y="1127770"/>
            <a:ext cx="8796973" cy="10922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Kubernetes dans l'écosystème Cloud</a:t>
            </a:r>
            <a:endParaRPr lang="en-US" sz="4000" dirty="0"/>
          </a:p>
        </p:txBody>
      </p:sp>
      <p:sp>
        <p:nvSpPr>
          <p:cNvPr id="5" name="Text 3"/>
          <p:cNvSpPr/>
          <p:nvPr/>
        </p:nvSpPr>
        <p:spPr>
          <a:xfrm>
            <a:off x="2838450" y="2346970"/>
            <a:ext cx="879697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Le Kubernetes installé avec kubeadm est le même que celui des offres Cloud : seule change la répartition des responsabilités.</a:t>
            </a:r>
            <a:endParaRPr lang="en-US" sz="1500" dirty="0"/>
          </a:p>
        </p:txBody>
      </p:sp>
      <p:sp>
        <p:nvSpPr>
          <p:cNvPr id="6" name="Text 4"/>
          <p:cNvSpPr/>
          <p:nvPr/>
        </p:nvSpPr>
        <p:spPr>
          <a:xfrm>
            <a:off x="2838450" y="3032770"/>
            <a:ext cx="2375958"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Managé · auto-hébergé · local</a:t>
            </a:r>
            <a:endParaRPr lang="en-US" sz="1200" dirty="0"/>
          </a:p>
        </p:txBody>
      </p:sp>
      <p:pic>
        <p:nvPicPr>
          <p:cNvPr id="7" name="Image 0" descr="Parcours de la formation : module 3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03 · KUBERNETES DANS L'ÉCOSYSTÈME CLOUD</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Trois façons d'obtenir un cluster</a:t>
            </a:r>
            <a:endParaRPr lang="en-US" sz="2800" dirty="0"/>
          </a:p>
        </p:txBody>
      </p:sp>
      <p:sp>
        <p:nvSpPr>
          <p:cNvPr id="4" name="Shape 2"/>
          <p:cNvSpPr/>
          <p:nvPr/>
        </p:nvSpPr>
        <p:spPr>
          <a:xfrm>
            <a:off x="815975" y="1598290"/>
            <a:ext cx="3401907" cy="3524250"/>
          </a:xfrm>
          <a:prstGeom prst="roundRect">
            <a:avLst>
              <a:gd name="adj" fmla="val 3640"/>
            </a:avLst>
          </a:prstGeom>
          <a:solidFill>
            <a:srgbClr val="FDFDFF"/>
          </a:solidFill>
          <a:ln w="6350">
            <a:solidFill>
              <a:srgbClr val="E1DFEE"/>
            </a:solidFill>
            <a:prstDash val="solid"/>
          </a:ln>
        </p:spPr>
      </p:sp>
      <p:pic>
        <p:nvPicPr>
          <p:cNvPr id="5" name="Image 0" descr="Cloud">    </p:cNvPr>
          <p:cNvPicPr>
            <a:picLocks noChangeAspect="1"/>
          </p:cNvPicPr>
          <p:nvPr/>
        </p:nvPicPr>
        <p:blipFill>
          <a:blip r:embed="rId1"/>
          <a:srcRect l="0" r="0" t="0" b="0"/>
          <a:stretch/>
        </p:blipFill>
        <p:spPr>
          <a:xfrm>
            <a:off x="1048491" y="1830809"/>
            <a:ext cx="330200" cy="330200"/>
          </a:xfrm>
          <a:prstGeom prst="rect">
            <a:avLst/>
          </a:prstGeom>
        </p:spPr>
      </p:pic>
      <p:sp>
        <p:nvSpPr>
          <p:cNvPr id="6" name="Text 3"/>
          <p:cNvSpPr/>
          <p:nvPr/>
        </p:nvSpPr>
        <p:spPr>
          <a:xfrm>
            <a:off x="1048491" y="2262609"/>
            <a:ext cx="302498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0748"/>
                </a:solidFill>
                <a:latin typeface="Sora" pitchFamily="34" charset="0"/>
                <a:ea typeface="Sora" pitchFamily="34" charset="-122"/>
                <a:cs typeface="Sora" pitchFamily="34" charset="-120"/>
              </a:rPr>
              <a:t>Service managé</a:t>
            </a:r>
            <a:endParaRPr lang="en-US" sz="1800" dirty="0"/>
          </a:p>
        </p:txBody>
      </p:sp>
      <p:sp>
        <p:nvSpPr>
          <p:cNvPr id="7" name="Text 4"/>
          <p:cNvSpPr/>
          <p:nvPr/>
        </p:nvSpPr>
        <p:spPr>
          <a:xfrm>
            <a:off x="1048491" y="2638524"/>
            <a:ext cx="302498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Le fournisseur Cloud gère le control plane.</a:t>
            </a:r>
            <a:endParaRPr lang="en-US" sz="1400" dirty="0"/>
          </a:p>
        </p:txBody>
      </p:sp>
      <p:sp>
        <p:nvSpPr>
          <p:cNvPr id="8" name="Text 5"/>
          <p:cNvSpPr/>
          <p:nvPr/>
        </p:nvSpPr>
        <p:spPr>
          <a:xfrm>
            <a:off x="1048491" y="3237979"/>
            <a:ext cx="3024981"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F3C6B"/>
                </a:solidFill>
                <a:latin typeface="IBM Plex Sans" pitchFamily="34" charset="0"/>
                <a:ea typeface="IBM Plex Sans" pitchFamily="34" charset="-122"/>
                <a:cs typeface="IBM Plex Sans" pitchFamily="34" charset="-120"/>
              </a:rPr>
              <a:t>Google GKE, Amazon EKS, Microsoft AKS ; en France, OVHcloud Managed Kubernetes, Scaleway Kapsule.</a:t>
            </a:r>
            <a:endParaRPr lang="en-US" sz="1300" dirty="0"/>
          </a:p>
        </p:txBody>
      </p:sp>
      <p:sp>
        <p:nvSpPr>
          <p:cNvPr id="9" name="Shape 6"/>
          <p:cNvSpPr/>
          <p:nvPr/>
        </p:nvSpPr>
        <p:spPr>
          <a:xfrm>
            <a:off x="1048491" y="4370487"/>
            <a:ext cx="2936875" cy="0"/>
          </a:xfrm>
          <a:prstGeom prst="line">
            <a:avLst/>
          </a:prstGeom>
          <a:noFill/>
          <a:ln w="6350">
            <a:solidFill>
              <a:srgbClr val="E1DFEE"/>
            </a:solidFill>
            <a:prstDash val="solid"/>
          </a:ln>
        </p:spPr>
      </p:sp>
      <p:sp>
        <p:nvSpPr>
          <p:cNvPr id="10" name="Text 7"/>
          <p:cNvSpPr/>
          <p:nvPr/>
        </p:nvSpPr>
        <p:spPr>
          <a:xfrm>
            <a:off x="1048491" y="4463303"/>
            <a:ext cx="302498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Pour les équipes qui veulent se concentrer sur les applications.</a:t>
            </a:r>
            <a:endParaRPr lang="en-US" sz="1200" dirty="0"/>
          </a:p>
        </p:txBody>
      </p:sp>
      <p:sp>
        <p:nvSpPr>
          <p:cNvPr id="11" name="Shape 8"/>
          <p:cNvSpPr/>
          <p:nvPr/>
        </p:nvSpPr>
        <p:spPr>
          <a:xfrm>
            <a:off x="4398857" y="1595115"/>
            <a:ext cx="3394181" cy="3530600"/>
          </a:xfrm>
          <a:prstGeom prst="roundRect">
            <a:avLst>
              <a:gd name="adj" fmla="val 3742"/>
            </a:avLst>
          </a:prstGeom>
          <a:solidFill>
            <a:srgbClr val="0B0748"/>
          </a:solidFill>
          <a:ln/>
        </p:spPr>
      </p:sp>
      <p:pic>
        <p:nvPicPr>
          <p:cNvPr id="12" name="Image 1" descr="Database">    </p:cNvPr>
          <p:cNvPicPr>
            <a:picLocks noChangeAspect="1"/>
          </p:cNvPicPr>
          <p:nvPr/>
        </p:nvPicPr>
        <p:blipFill>
          <a:blip r:embed="rId2"/>
          <a:srcRect l="0" r="0" t="0" b="0"/>
          <a:stretch/>
        </p:blipFill>
        <p:spPr>
          <a:xfrm>
            <a:off x="4627457" y="1823715"/>
            <a:ext cx="330200" cy="330200"/>
          </a:xfrm>
          <a:prstGeom prst="rect">
            <a:avLst/>
          </a:prstGeom>
        </p:spPr>
      </p:pic>
      <p:sp>
        <p:nvSpPr>
          <p:cNvPr id="13" name="Text 9"/>
          <p:cNvSpPr/>
          <p:nvPr/>
        </p:nvSpPr>
        <p:spPr>
          <a:xfrm>
            <a:off x="4627457" y="2255515"/>
            <a:ext cx="302509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4F9"/>
                </a:solidFill>
                <a:latin typeface="Sora" pitchFamily="34" charset="0"/>
                <a:ea typeface="Sora" pitchFamily="34" charset="-122"/>
                <a:cs typeface="Sora" pitchFamily="34" charset="-120"/>
              </a:rPr>
              <a:t>Distribution installée</a:t>
            </a:r>
            <a:endParaRPr lang="en-US" sz="1800" dirty="0"/>
          </a:p>
        </p:txBody>
      </p:sp>
      <p:sp>
        <p:nvSpPr>
          <p:cNvPr id="14" name="Text 10"/>
          <p:cNvSpPr/>
          <p:nvPr/>
        </p:nvSpPr>
        <p:spPr>
          <a:xfrm>
            <a:off x="4627457" y="2631430"/>
            <a:ext cx="302509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Vous gérez le control plane, outillé par l'éditeur.</a:t>
            </a:r>
            <a:endParaRPr lang="en-US" sz="1400" dirty="0"/>
          </a:p>
        </p:txBody>
      </p:sp>
      <p:sp>
        <p:nvSpPr>
          <p:cNvPr id="15" name="Text 11"/>
          <p:cNvSpPr/>
          <p:nvPr/>
        </p:nvSpPr>
        <p:spPr>
          <a:xfrm>
            <a:off x="4627457" y="3230885"/>
            <a:ext cx="3025090"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B6E8"/>
                </a:solidFill>
                <a:latin typeface="IBM Plex Sans" pitchFamily="34" charset="0"/>
                <a:ea typeface="IBM Plex Sans" pitchFamily="34" charset="-122"/>
                <a:cs typeface="IBM Plex Sans" pitchFamily="34" charset="-120"/>
              </a:rPr>
              <a:t>Red Hat OpenShift, SUSE Rancher (RKE2), k3s, Talos Linux, ou </a:t>
            </a:r>
            <a:r>
              <a:rPr lang="en-US" sz="1300" b="1" dirty="0">
                <a:solidFill>
                  <a:srgbClr val="FF8F66"/>
                </a:solidFill>
                <a:latin typeface="IBM Plex Sans" pitchFamily="34" charset="0"/>
                <a:ea typeface="IBM Plex Sans" pitchFamily="34" charset="-122"/>
                <a:cs typeface="IBM Plex Sans" pitchFamily="34" charset="-120"/>
              </a:rPr>
              <a:t>kubeadm</a:t>
            </a:r>
            <a:r>
              <a:rPr lang="en-US" sz="1300" dirty="0">
                <a:solidFill>
                  <a:srgbClr val="B9B6E8"/>
                </a:solidFill>
                <a:latin typeface="IBM Plex Sans" pitchFamily="34" charset="0"/>
                <a:ea typeface="IBM Plex Sans" pitchFamily="34" charset="-122"/>
                <a:cs typeface="IBM Plex Sans" pitchFamily="34" charset="-120"/>
              </a:rPr>
              <a:t> directement.</a:t>
            </a:r>
            <a:endParaRPr lang="en-US" sz="1300" dirty="0"/>
          </a:p>
        </p:txBody>
      </p:sp>
      <p:sp>
        <p:nvSpPr>
          <p:cNvPr id="16" name="Shape 12"/>
          <p:cNvSpPr/>
          <p:nvPr/>
        </p:nvSpPr>
        <p:spPr>
          <a:xfrm>
            <a:off x="4627457" y="4377581"/>
            <a:ext cx="2936981" cy="0"/>
          </a:xfrm>
          <a:prstGeom prst="line">
            <a:avLst/>
          </a:prstGeom>
          <a:noFill/>
          <a:ln w="6350">
            <a:solidFill>
              <a:srgbClr val="2E2A80"/>
            </a:solidFill>
            <a:prstDash val="solid"/>
          </a:ln>
        </p:spPr>
      </p:sp>
      <p:sp>
        <p:nvSpPr>
          <p:cNvPr id="17" name="Text 13"/>
          <p:cNvSpPr/>
          <p:nvPr/>
        </p:nvSpPr>
        <p:spPr>
          <a:xfrm>
            <a:off x="4627457" y="4470397"/>
            <a:ext cx="30250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6E8"/>
                </a:solidFill>
                <a:latin typeface="IBM Plex Sans" pitchFamily="34" charset="0"/>
                <a:ea typeface="IBM Plex Sans" pitchFamily="34" charset="-122"/>
                <a:cs typeface="IBM Plex Sans" pitchFamily="34" charset="-120"/>
              </a:rPr>
              <a:t>Centres de données internes, besoins de maîtrise ou de souveraineté.</a:t>
            </a:r>
            <a:endParaRPr lang="en-US" sz="1200" dirty="0"/>
          </a:p>
        </p:txBody>
      </p:sp>
      <p:sp>
        <p:nvSpPr>
          <p:cNvPr id="18" name="Shape 14"/>
          <p:cNvSpPr/>
          <p:nvPr/>
        </p:nvSpPr>
        <p:spPr>
          <a:xfrm>
            <a:off x="7974013" y="1598290"/>
            <a:ext cx="3402013" cy="3524250"/>
          </a:xfrm>
          <a:prstGeom prst="roundRect">
            <a:avLst>
              <a:gd name="adj" fmla="val 3640"/>
            </a:avLst>
          </a:prstGeom>
          <a:solidFill>
            <a:srgbClr val="FDFDFF"/>
          </a:solidFill>
          <a:ln w="6350">
            <a:solidFill>
              <a:srgbClr val="E1DFEE"/>
            </a:solidFill>
            <a:prstDash val="solid"/>
          </a:ln>
        </p:spPr>
      </p:sp>
      <p:pic>
        <p:nvPicPr>
          <p:cNvPr id="19" name="Image 2" descr="Home">    </p:cNvPr>
          <p:cNvPicPr>
            <a:picLocks noChangeAspect="1"/>
          </p:cNvPicPr>
          <p:nvPr/>
        </p:nvPicPr>
        <p:blipFill>
          <a:blip r:embed="rId3"/>
          <a:srcRect l="0" r="0" t="0" b="0"/>
          <a:stretch/>
        </p:blipFill>
        <p:spPr>
          <a:xfrm>
            <a:off x="8206529" y="1830809"/>
            <a:ext cx="330200" cy="330200"/>
          </a:xfrm>
          <a:prstGeom prst="rect">
            <a:avLst/>
          </a:prstGeom>
        </p:spPr>
      </p:pic>
      <p:sp>
        <p:nvSpPr>
          <p:cNvPr id="20" name="Text 15"/>
          <p:cNvSpPr/>
          <p:nvPr/>
        </p:nvSpPr>
        <p:spPr>
          <a:xfrm>
            <a:off x="8206529" y="2262609"/>
            <a:ext cx="302509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0748"/>
                </a:solidFill>
                <a:latin typeface="Sora" pitchFamily="34" charset="0"/>
                <a:ea typeface="Sora" pitchFamily="34" charset="-122"/>
                <a:cs typeface="Sora" pitchFamily="34" charset="-120"/>
              </a:rPr>
              <a:t>Cluster local</a:t>
            </a:r>
            <a:endParaRPr lang="en-US" sz="1800" dirty="0"/>
          </a:p>
        </p:txBody>
      </p:sp>
      <p:sp>
        <p:nvSpPr>
          <p:cNvPr id="21" name="Text 16"/>
          <p:cNvSpPr/>
          <p:nvPr/>
        </p:nvSpPr>
        <p:spPr>
          <a:xfrm>
            <a:off x="8206529" y="2638524"/>
            <a:ext cx="302509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Vous, sur votre poste.</a:t>
            </a:r>
            <a:endParaRPr lang="en-US" sz="1400" dirty="0"/>
          </a:p>
        </p:txBody>
      </p:sp>
      <p:sp>
        <p:nvSpPr>
          <p:cNvPr id="22" name="Text 17"/>
          <p:cNvSpPr/>
          <p:nvPr/>
        </p:nvSpPr>
        <p:spPr>
          <a:xfrm>
            <a:off x="8206529" y="2989039"/>
            <a:ext cx="302509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F3C6B"/>
                </a:solidFill>
                <a:latin typeface="IBM Plex Sans" pitchFamily="34" charset="0"/>
                <a:ea typeface="IBM Plex Sans" pitchFamily="34" charset="-122"/>
                <a:cs typeface="IBM Plex Sans" pitchFamily="34" charset="-120"/>
              </a:rPr>
              <a:t>minikube, kind, k3d, Docker Desktop, Rancher Desktop.</a:t>
            </a:r>
            <a:endParaRPr lang="en-US" sz="1300" dirty="0"/>
          </a:p>
        </p:txBody>
      </p:sp>
      <p:sp>
        <p:nvSpPr>
          <p:cNvPr id="23" name="Shape 18"/>
          <p:cNvSpPr/>
          <p:nvPr/>
        </p:nvSpPr>
        <p:spPr>
          <a:xfrm>
            <a:off x="8206529" y="4583857"/>
            <a:ext cx="2936981" cy="0"/>
          </a:xfrm>
          <a:prstGeom prst="line">
            <a:avLst/>
          </a:prstGeom>
          <a:noFill/>
          <a:ln w="6350">
            <a:solidFill>
              <a:srgbClr val="E1DFEE"/>
            </a:solidFill>
            <a:prstDash val="solid"/>
          </a:ln>
        </p:spPr>
      </p:sp>
      <p:sp>
        <p:nvSpPr>
          <p:cNvPr id="24" name="Text 19"/>
          <p:cNvSpPr/>
          <p:nvPr/>
        </p:nvSpPr>
        <p:spPr>
          <a:xfrm>
            <a:off x="8206529" y="4676672"/>
            <a:ext cx="30250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Développement, tests, apprentissage.</a:t>
            </a:r>
            <a:endParaRPr lang="en-US" sz="1200" dirty="0"/>
          </a:p>
        </p:txBody>
      </p:sp>
      <p:sp>
        <p:nvSpPr>
          <p:cNvPr id="25" name="Text 20"/>
          <p:cNvSpPr/>
          <p:nvPr/>
        </p:nvSpPr>
        <p:spPr>
          <a:xfrm>
            <a:off x="812800" y="5379715"/>
            <a:ext cx="10883392"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F3C6B"/>
                </a:solidFill>
                <a:latin typeface="IBM Plex Sans" pitchFamily="34" charset="0"/>
                <a:ea typeface="IBM Plex Sans" pitchFamily="34" charset="-122"/>
                <a:cs typeface="IBM Plex Sans" pitchFamily="34" charset="-120"/>
              </a:rPr>
              <a:t>Secteur public</a:t>
            </a:r>
            <a:r>
              <a:rPr lang="en-US" sz="1300" dirty="0">
                <a:solidFill>
                  <a:srgbClr val="3F3C6B"/>
                </a:solidFill>
                <a:latin typeface="IBM Plex Sans" pitchFamily="34" charset="0"/>
                <a:ea typeface="IBM Plex Sans" pitchFamily="34" charset="-122"/>
                <a:cs typeface="IBM Plex Sans" pitchFamily="34" charset="-120"/>
              </a:rPr>
              <a:t> : la doctrine « cloud au centre » de l'État et la qualification SecNumCloud de l'ANSSI orientent vers des offres de confiance ou des infrastructures internes.</a:t>
            </a:r>
            <a:endParaRPr lang="en-US" sz="1300" dirty="0"/>
          </a:p>
        </p:txBody>
      </p:sp>
      <p:pic>
        <p:nvPicPr>
          <p:cNvPr id="26" name="Image 3" descr="preencoded.png">    </p:cNvPr>
          <p:cNvPicPr>
            <a:picLocks noChangeAspect="1"/>
          </p:cNvPicPr>
          <p:nvPr/>
        </p:nvPicPr>
        <p:blipFill>
          <a:blip r:embed="rId4"/>
          <a:srcRect l="0" r="0" t="0" b="0"/>
          <a:stretch/>
        </p:blipFill>
        <p:spPr>
          <a:xfrm>
            <a:off x="812800" y="6299200"/>
            <a:ext cx="152400" cy="152400"/>
          </a:xfrm>
          <a:prstGeom prst="rect">
            <a:avLst/>
          </a:prstGeom>
        </p:spPr>
      </p:pic>
      <p:sp>
        <p:nvSpPr>
          <p:cNvPr id="27" name="Text 21"/>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8" name="Image 4" descr="Parcours : module 3 sur 16">    </p:cNvPr>
          <p:cNvPicPr>
            <a:picLocks noChangeAspect="1"/>
          </p:cNvPicPr>
          <p:nvPr/>
        </p:nvPicPr>
        <p:blipFill>
          <a:blip r:embed="rId5"/>
          <a:srcRect l="0" r="0" t="0" b="0"/>
          <a:stretch/>
        </p:blipFill>
        <p:spPr>
          <a:xfrm>
            <a:off x="9207500" y="6299200"/>
            <a:ext cx="2171700" cy="1524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29341"/>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B8421A"/>
                </a:solidFill>
                <a:latin typeface="IBM Plex Sans" pitchFamily="34" charset="0"/>
                <a:ea typeface="IBM Plex Sans" pitchFamily="34" charset="-122"/>
                <a:cs typeface="IBM Plex Sans" pitchFamily="34" charset="-120"/>
              </a:rPr>
              <a:t>MODULE 03 · KUBERNETES DANS L'ÉCOSYSTÈME CLOUD</a:t>
            </a:r>
            <a:endParaRPr lang="en-US" sz="1159" dirty="0"/>
          </a:p>
        </p:txBody>
      </p:sp>
      <p:sp>
        <p:nvSpPr>
          <p:cNvPr id="3" name="Text 1"/>
          <p:cNvSpPr/>
          <p:nvPr>
            <p:ph type="title"/>
          </p:nvPr>
        </p:nvSpPr>
        <p:spPr>
          <a:xfrm>
            <a:off x="812800" y="940544"/>
            <a:ext cx="10883392" cy="399309"/>
          </a:xfrm>
          <a:prstGeom prst="rect">
            <a:avLst/>
          </a:prstGeom>
          <a:noFill/>
          <a:ln/>
        </p:spPr>
        <p:txBody>
          <a:bodyPr wrap="square" lIns="0" tIns="0" rIns="0" bIns="0" rtlCol="0" anchor="t">
            <a:normAutofit/>
          </a:bodyPr>
          <a:lstStyle/>
          <a:p>
            <a:pPr algn="l" indent="0" marL="0">
              <a:lnSpc>
                <a:spcPts val="2974"/>
              </a:lnSpc>
              <a:buNone/>
            </a:pPr>
            <a:r>
              <a:rPr lang="en-US" sz="2704" b="1" i="0" spc="-50" kern="0" dirty="0">
                <a:solidFill>
                  <a:srgbClr val="0B0748"/>
                </a:solidFill>
                <a:latin typeface="Sora" pitchFamily="34" charset="0"/>
                <a:ea typeface="Sora" pitchFamily="34" charset="-122"/>
                <a:cs typeface="Sora" pitchFamily="34" charset="-120"/>
              </a:rPr>
              <a:t>Managé ou auto-hébergé : qui fait quoi</a:t>
            </a:r>
            <a:endParaRPr lang="en-US" sz="2704" dirty="0"/>
          </a:p>
        </p:txBody>
      </p:sp>
      <p:sp>
        <p:nvSpPr>
          <p:cNvPr id="4" name="Shape 2"/>
          <p:cNvSpPr/>
          <p:nvPr/>
        </p:nvSpPr>
        <p:spPr>
          <a:xfrm>
            <a:off x="812800" y="1568450"/>
            <a:ext cx="10566400" cy="2931583"/>
          </a:xfrm>
          <a:prstGeom prst="rect">
            <a:avLst/>
          </a:prstGeom>
          <a:solidFill>
            <a:srgbClr val="FDFD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9891" y="1575541"/>
          <a:ext cx="10559309" cy="2924493"/>
        </p:xfrm>
        <a:graphic>
          <a:graphicData uri="http://schemas.openxmlformats.org/drawingml/2006/table">
            <a:tbl>
              <a:tblPr/>
              <a:tblGrid>
                <a:gridCol w="3590165"/>
                <a:gridCol w="2745420"/>
                <a:gridCol w="4223724"/>
              </a:tblGrid>
              <a:tr h="365654">
                <a:tc>
                  <a:txBody>
                    <a:bodyPr/>
                    <a:lstStyle/>
                    <a:p>
                      <a:pPr indent="0" marL="0">
                        <a:lnSpc>
                          <a:spcPts val="1880"/>
                        </a:lnSpc>
                        <a:buNone/>
                      </a:pPr>
                      <a:r>
                        <a:rPr lang="en-US" sz="1343" b="1" dirty="0">
                          <a:solidFill>
                            <a:srgbClr val="F5F4F9"/>
                          </a:solidFill>
                          <a:latin typeface="IBM Plex Sans" pitchFamily="34" charset="0"/>
                          <a:ea typeface="IBM Plex Sans" pitchFamily="34" charset="-122"/>
                          <a:cs typeface="IBM Plex Sans" pitchFamily="34" charset="-120"/>
                        </a:rPr>
                        <a:t>Responsabilité</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80"/>
                        </a:lnSpc>
                        <a:buNone/>
                      </a:pPr>
                      <a:r>
                        <a:rPr lang="en-US" sz="1343" b="1" dirty="0">
                          <a:solidFill>
                            <a:srgbClr val="F5F4F9"/>
                          </a:solidFill>
                          <a:latin typeface="IBM Plex Sans" pitchFamily="34" charset="0"/>
                          <a:ea typeface="IBM Plex Sans" pitchFamily="34" charset="-122"/>
                          <a:cs typeface="IBM Plex Sans" pitchFamily="34" charset="-120"/>
                        </a:rPr>
                        <a:t>Service managé</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80"/>
                        </a:lnSpc>
                        <a:buNone/>
                      </a:pPr>
                      <a:r>
                        <a:rPr lang="en-US" sz="1343" b="1" dirty="0">
                          <a:solidFill>
                            <a:srgbClr val="FF8F66"/>
                          </a:solidFill>
                          <a:latin typeface="IBM Plex Sans" pitchFamily="34" charset="0"/>
                          <a:ea typeface="IBM Plex Sans" pitchFamily="34" charset="-122"/>
                          <a:cs typeface="IBM Plex Sans" pitchFamily="34" charset="-120"/>
                        </a:rPr>
                        <a:t>Auto-hébergé (kubeadm, distribution)</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65548">
                <a:tc>
                  <a:txBody>
                    <a:bodyPr/>
                    <a:lstStyle/>
                    <a:p>
                      <a:pPr indent="0" marL="0">
                        <a:lnSpc>
                          <a:spcPts val="1880"/>
                        </a:lnSpc>
                        <a:buNone/>
                      </a:pPr>
                      <a:r>
                        <a:rPr lang="en-US" sz="1343" dirty="0">
                          <a:solidFill>
                            <a:srgbClr val="0B0748"/>
                          </a:solidFill>
                          <a:latin typeface="IBM Plex Sans" pitchFamily="34" charset="0"/>
                          <a:ea typeface="IBM Plex Sans" pitchFamily="34" charset="-122"/>
                          <a:cs typeface="IBM Plex Sans" pitchFamily="34" charset="-120"/>
                        </a:rPr>
                        <a:t>Haute disponibilité du control plane</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Fournisseur</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Vous : 3 nœuds, un répartiteur</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65548">
                <a:tc>
                  <a:txBody>
                    <a:bodyPr/>
                    <a:lstStyle/>
                    <a:p>
                      <a:pPr indent="0" marL="0">
                        <a:lnSpc>
                          <a:spcPts val="1880"/>
                        </a:lnSpc>
                        <a:buNone/>
                      </a:pPr>
                      <a:r>
                        <a:rPr lang="en-US" sz="1343" dirty="0">
                          <a:solidFill>
                            <a:srgbClr val="0B0748"/>
                          </a:solidFill>
                          <a:latin typeface="IBM Plex Sans" pitchFamily="34" charset="0"/>
                          <a:ea typeface="IBM Plex Sans" pitchFamily="34" charset="-122"/>
                          <a:cs typeface="IBM Plex Sans" pitchFamily="34" charset="-120"/>
                        </a:rPr>
                        <a:t>Sauvegarde d'etcd</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Fournisseur</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Vous</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65548">
                <a:tc>
                  <a:txBody>
                    <a:bodyPr/>
                    <a:lstStyle/>
                    <a:p>
                      <a:pPr indent="0" marL="0">
                        <a:lnSpc>
                          <a:spcPts val="1880"/>
                        </a:lnSpc>
                        <a:buNone/>
                      </a:pPr>
                      <a:r>
                        <a:rPr lang="en-US" sz="1343" dirty="0">
                          <a:solidFill>
                            <a:srgbClr val="0B0748"/>
                          </a:solidFill>
                          <a:latin typeface="IBM Plex Sans" pitchFamily="34" charset="0"/>
                          <a:ea typeface="IBM Plex Sans" pitchFamily="34" charset="-122"/>
                          <a:cs typeface="IBM Plex Sans" pitchFamily="34" charset="-120"/>
                        </a:rPr>
                        <a:t>Mises à jour de Kubernetes</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Un clic, ou automatiques</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Vous, mineure par mineure</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65548">
                <a:tc>
                  <a:txBody>
                    <a:bodyPr/>
                    <a:lstStyle/>
                    <a:p>
                      <a:pPr indent="0" marL="0">
                        <a:lnSpc>
                          <a:spcPts val="1880"/>
                        </a:lnSpc>
                        <a:buNone/>
                      </a:pPr>
                      <a:r>
                        <a:rPr lang="en-US" sz="1343" dirty="0">
                          <a:solidFill>
                            <a:srgbClr val="0B0748"/>
                          </a:solidFill>
                          <a:latin typeface="IBM Plex Sans" pitchFamily="34" charset="0"/>
                          <a:ea typeface="IBM Plex Sans" pitchFamily="34" charset="-122"/>
                          <a:cs typeface="IBM Plex Sans" pitchFamily="34" charset="-120"/>
                        </a:rPr>
                        <a:t>Service de type LoadBalancer</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Fourni</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À ajouter (MetalLB par exemple)</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65548">
                <a:tc>
                  <a:txBody>
                    <a:bodyPr/>
                    <a:lstStyle/>
                    <a:p>
                      <a:pPr indent="0" marL="0">
                        <a:lnSpc>
                          <a:spcPts val="1880"/>
                        </a:lnSpc>
                        <a:buNone/>
                      </a:pPr>
                      <a:r>
                        <a:rPr lang="en-US" sz="1343" dirty="0">
                          <a:solidFill>
                            <a:srgbClr val="0B0748"/>
                          </a:solidFill>
                          <a:latin typeface="IBM Plex Sans" pitchFamily="34" charset="0"/>
                          <a:ea typeface="IBM Plex Sans" pitchFamily="34" charset="-122"/>
                          <a:cs typeface="IBM Plex Sans" pitchFamily="34" charset="-120"/>
                        </a:rPr>
                        <a:t>Stockage dynamique</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Disques Cloud prêts</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À ajouter (Ceph, NFS, CSI de la baie)</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65548">
                <a:tc>
                  <a:txBody>
                    <a:bodyPr/>
                    <a:lstStyle/>
                    <a:p>
                      <a:pPr indent="0" marL="0">
                        <a:lnSpc>
                          <a:spcPts val="1880"/>
                        </a:lnSpc>
                        <a:buNone/>
                      </a:pPr>
                      <a:r>
                        <a:rPr lang="en-US" sz="1343" dirty="0">
                          <a:solidFill>
                            <a:srgbClr val="0B0748"/>
                          </a:solidFill>
                          <a:latin typeface="IBM Plex Sans" pitchFamily="34" charset="0"/>
                          <a:ea typeface="IBM Plex Sans" pitchFamily="34" charset="-122"/>
                          <a:cs typeface="IBM Plex Sans" pitchFamily="34" charset="-120"/>
                        </a:rPr>
                        <a:t>Ajout automatique de nœuds</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Disponible</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Difficile sans virtualisation pilotable</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65548">
                <a:tc>
                  <a:txBody>
                    <a:bodyPr/>
                    <a:lstStyle/>
                    <a:p>
                      <a:pPr indent="0" marL="0">
                        <a:lnSpc>
                          <a:spcPts val="1880"/>
                        </a:lnSpc>
                        <a:buNone/>
                      </a:pPr>
                      <a:r>
                        <a:rPr lang="en-US" sz="1343" dirty="0">
                          <a:solidFill>
                            <a:srgbClr val="0B0748"/>
                          </a:solidFill>
                          <a:latin typeface="IBM Plex Sans" pitchFamily="34" charset="0"/>
                          <a:ea typeface="IBM Plex Sans" pitchFamily="34" charset="-122"/>
                          <a:cs typeface="IBM Plex Sans" pitchFamily="34" charset="-120"/>
                        </a:rPr>
                        <a:t>Applications, sécurité des workloads</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Vous</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80"/>
                        </a:lnSpc>
                        <a:buNone/>
                      </a:pPr>
                      <a:r>
                        <a:rPr lang="en-US" sz="1343" dirty="0">
                          <a:solidFill>
                            <a:srgbClr val="3F3C6B"/>
                          </a:solidFill>
                          <a:latin typeface="IBM Plex Sans" pitchFamily="34" charset="0"/>
                          <a:ea typeface="IBM Plex Sans" pitchFamily="34" charset="-122"/>
                          <a:cs typeface="IBM Plex Sans" pitchFamily="34" charset="-120"/>
                        </a:rPr>
                        <a:t>Vous</a:t>
                      </a:r>
                      <a:endParaRPr lang="en-US" sz="1343" dirty="0">
                        <a:latin typeface="IBM Plex Sans" charset="0"/>
                        <a:ea typeface="IBM Plex Sans" charset="0"/>
                        <a:cs typeface="IBM Plex Sans" charset="0"/>
                      </a:endParaRPr>
                    </a:p>
                  </a:txBody>
                  <a:tcPr marL="59702" marR="59702" marT="59702" marB="59702"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bl>
          </a:graphicData>
        </a:graphic>
      </p:graphicFrame>
      <p:sp>
        <p:nvSpPr>
          <p:cNvPr id="6" name="Shape 3"/>
          <p:cNvSpPr/>
          <p:nvPr/>
        </p:nvSpPr>
        <p:spPr>
          <a:xfrm>
            <a:off x="812800" y="5008042"/>
            <a:ext cx="10566400" cy="833967"/>
          </a:xfrm>
          <a:prstGeom prst="roundRect">
            <a:avLst>
              <a:gd name="adj" fmla="val 15228"/>
            </a:avLst>
          </a:prstGeom>
          <a:solidFill>
            <a:srgbClr val="0B0748"/>
          </a:solidFill>
          <a:ln/>
        </p:spPr>
      </p:sp>
      <p:pic>
        <p:nvPicPr>
          <p:cNvPr id="7" name="Image 0" descr="Users">    </p:cNvPr>
          <p:cNvPicPr>
            <a:picLocks noChangeAspect="1"/>
          </p:cNvPicPr>
          <p:nvPr/>
        </p:nvPicPr>
        <p:blipFill>
          <a:blip r:embed="rId1"/>
          <a:srcRect l="0" r="0" t="0" b="0"/>
          <a:stretch/>
        </p:blipFill>
        <p:spPr>
          <a:xfrm>
            <a:off x="1041400" y="5285308"/>
            <a:ext cx="279400" cy="279400"/>
          </a:xfrm>
          <a:prstGeom prst="rect">
            <a:avLst/>
          </a:prstGeom>
        </p:spPr>
      </p:pic>
      <p:sp>
        <p:nvSpPr>
          <p:cNvPr id="8" name="Text 4"/>
          <p:cNvSpPr/>
          <p:nvPr/>
        </p:nvSpPr>
        <p:spPr>
          <a:xfrm>
            <a:off x="1473200" y="5176093"/>
            <a:ext cx="99677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Manifestes, RBAC, quotas, NetworkPolicies restent toujours votre responsabilité : tout ce qui suit le module 6 s'applique à l'identique sur un service managé.</a:t>
            </a:r>
            <a:endParaRPr lang="en-US" sz="1400" dirty="0"/>
          </a:p>
        </p:txBody>
      </p:sp>
      <p:pic>
        <p:nvPicPr>
          <p:cNvPr id="9" name="Image 1" descr="preencoded.png">    </p:cNvPr>
          <p:cNvPicPr>
            <a:picLocks noChangeAspect="1"/>
          </p:cNvPicPr>
          <p:nvPr/>
        </p:nvPicPr>
        <p:blipFill>
          <a:blip r:embed="rId2"/>
          <a:srcRect l="0" r="0" t="0" b="0"/>
          <a:stretch/>
        </p:blipFill>
        <p:spPr>
          <a:xfrm>
            <a:off x="812800" y="6299200"/>
            <a:ext cx="152400" cy="152400"/>
          </a:xfrm>
          <a:prstGeom prst="rect">
            <a:avLst/>
          </a:prstGeom>
        </p:spPr>
      </p:pic>
      <p:sp>
        <p:nvSpPr>
          <p:cNvPr id="10" name="Text 5"/>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1" name="Image 2" descr="Parcours : module 3 sur 16">    </p:cNvPr>
          <p:cNvPicPr>
            <a:picLocks noChangeAspect="1"/>
          </p:cNvPicPr>
          <p:nvPr/>
        </p:nvPicPr>
        <p:blipFill>
          <a:blip r:embed="rId3"/>
          <a:srcRect l="0" r="0" t="0" b="0"/>
          <a:stretch/>
        </p:blipFill>
        <p:spPr>
          <a:xfrm>
            <a:off x="9207500" y="6299200"/>
            <a:ext cx="2171700" cy="1524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03 · KUBERNETES DANS L'ÉCOSYSTÈME CLOUD</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Pourquoi apprendre avec kubeadm</a:t>
            </a:r>
            <a:endParaRPr lang="en-US" sz="2800" dirty="0"/>
          </a:p>
        </p:txBody>
      </p:sp>
      <p:sp>
        <p:nvSpPr>
          <p:cNvPr id="4" name="Shape 2"/>
          <p:cNvSpPr/>
          <p:nvPr/>
        </p:nvSpPr>
        <p:spPr>
          <a:xfrm>
            <a:off x="812800" y="2834964"/>
            <a:ext cx="10566400" cy="0"/>
          </a:xfrm>
          <a:prstGeom prst="line">
            <a:avLst/>
          </a:prstGeom>
          <a:noFill/>
          <a:ln w="6350">
            <a:solidFill>
              <a:srgbClr val="E1DFEE"/>
            </a:solidFill>
            <a:prstDash val="solid"/>
          </a:ln>
        </p:spPr>
      </p:sp>
      <p:sp>
        <p:nvSpPr>
          <p:cNvPr id="5" name="Text 3"/>
          <p:cNvSpPr/>
          <p:nvPr/>
        </p:nvSpPr>
        <p:spPr>
          <a:xfrm>
            <a:off x="812800" y="2041748"/>
            <a:ext cx="8128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25A2C"/>
                </a:solidFill>
                <a:latin typeface="Sora" pitchFamily="34" charset="0"/>
                <a:ea typeface="Sora" pitchFamily="34" charset="-122"/>
                <a:cs typeface="Sora" pitchFamily="34" charset="-120"/>
              </a:rPr>
              <a:t>1</a:t>
            </a:r>
            <a:endParaRPr lang="en-US" sz="4800" dirty="0"/>
          </a:p>
        </p:txBody>
      </p:sp>
      <p:sp>
        <p:nvSpPr>
          <p:cNvPr id="6" name="Text 4"/>
          <p:cNvSpPr/>
          <p:nvPr/>
        </p:nvSpPr>
        <p:spPr>
          <a:xfrm>
            <a:off x="1879600" y="2039838"/>
            <a:ext cx="9784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0748"/>
                </a:solidFill>
                <a:latin typeface="Sora" pitchFamily="34" charset="0"/>
                <a:ea typeface="Sora" pitchFamily="34" charset="-122"/>
                <a:cs typeface="Sora" pitchFamily="34" charset="-120"/>
              </a:rPr>
              <a:t>L'outil officiel du projet</a:t>
            </a:r>
            <a:endParaRPr lang="en-US" sz="2000" dirty="0"/>
          </a:p>
        </p:txBody>
      </p:sp>
      <p:sp>
        <p:nvSpPr>
          <p:cNvPr id="7" name="Text 5"/>
          <p:cNvSpPr/>
          <p:nvPr/>
        </p:nvSpPr>
        <p:spPr>
          <a:xfrm>
            <a:off x="1879600" y="2395438"/>
            <a:ext cx="9784588"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Il crée un cluster conforme et sert de brique à de nombreux outils : Cluster API, plusieurs distributions.</a:t>
            </a:r>
            <a:endParaRPr lang="en-US" sz="1400" dirty="0"/>
          </a:p>
        </p:txBody>
      </p:sp>
      <p:sp>
        <p:nvSpPr>
          <p:cNvPr id="8" name="Shape 6"/>
          <p:cNvSpPr/>
          <p:nvPr/>
        </p:nvSpPr>
        <p:spPr>
          <a:xfrm>
            <a:off x="812800" y="4335886"/>
            <a:ext cx="10566400" cy="0"/>
          </a:xfrm>
          <a:prstGeom prst="line">
            <a:avLst/>
          </a:prstGeom>
          <a:noFill/>
          <a:ln w="6350">
            <a:solidFill>
              <a:srgbClr val="E1DFEE"/>
            </a:solidFill>
            <a:prstDash val="solid"/>
          </a:ln>
        </p:spPr>
      </p:sp>
      <p:sp>
        <p:nvSpPr>
          <p:cNvPr id="9" name="Text 7"/>
          <p:cNvSpPr/>
          <p:nvPr/>
        </p:nvSpPr>
        <p:spPr>
          <a:xfrm>
            <a:off x="812800" y="3413770"/>
            <a:ext cx="8128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25A2C"/>
                </a:solidFill>
                <a:latin typeface="Sora" pitchFamily="34" charset="0"/>
                <a:ea typeface="Sora" pitchFamily="34" charset="-122"/>
                <a:cs typeface="Sora" pitchFamily="34" charset="-120"/>
              </a:rPr>
              <a:t>2</a:t>
            </a:r>
            <a:endParaRPr lang="en-US" sz="4800" dirty="0"/>
          </a:p>
        </p:txBody>
      </p:sp>
      <p:sp>
        <p:nvSpPr>
          <p:cNvPr id="10" name="Text 8"/>
          <p:cNvSpPr/>
          <p:nvPr/>
        </p:nvSpPr>
        <p:spPr>
          <a:xfrm>
            <a:off x="1879600" y="3282950"/>
            <a:ext cx="9784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0748"/>
                </a:solidFill>
                <a:latin typeface="Sora" pitchFamily="34" charset="0"/>
                <a:ea typeface="Sora" pitchFamily="34" charset="-122"/>
                <a:cs typeface="Sora" pitchFamily="34" charset="-120"/>
              </a:rPr>
              <a:t>Il montre ce que le managé cache</a:t>
            </a:r>
            <a:endParaRPr lang="en-US" sz="2000" dirty="0"/>
          </a:p>
        </p:txBody>
      </p:sp>
      <p:sp>
        <p:nvSpPr>
          <p:cNvPr id="11" name="Text 9"/>
          <p:cNvSpPr/>
          <p:nvPr/>
        </p:nvSpPr>
        <p:spPr>
          <a:xfrm>
            <a:off x="1879600" y="3638550"/>
            <a:ext cx="9784588"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Certificats, pods statiques, etcd, plugin réseau : savoir ce qu'il y a sous le capot aide à diagnostiquer, même sur un cluster managé.</a:t>
            </a:r>
            <a:endParaRPr lang="en-US" sz="1400" dirty="0"/>
          </a:p>
        </p:txBody>
      </p:sp>
      <p:sp>
        <p:nvSpPr>
          <p:cNvPr id="12" name="Text 10"/>
          <p:cNvSpPr/>
          <p:nvPr/>
        </p:nvSpPr>
        <p:spPr>
          <a:xfrm>
            <a:off x="812800" y="4785792"/>
            <a:ext cx="8128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25A2C"/>
                </a:solidFill>
                <a:latin typeface="Sora" pitchFamily="34" charset="0"/>
                <a:ea typeface="Sora" pitchFamily="34" charset="-122"/>
                <a:cs typeface="Sora" pitchFamily="34" charset="-120"/>
              </a:rPr>
              <a:t>3</a:t>
            </a:r>
            <a:endParaRPr lang="en-US" sz="4800" dirty="0"/>
          </a:p>
        </p:txBody>
      </p:sp>
      <p:sp>
        <p:nvSpPr>
          <p:cNvPr id="13" name="Text 11"/>
          <p:cNvSpPr/>
          <p:nvPr/>
        </p:nvSpPr>
        <p:spPr>
          <a:xfrm>
            <a:off x="1879600" y="4783882"/>
            <a:ext cx="9784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0748"/>
                </a:solidFill>
                <a:latin typeface="Sora" pitchFamily="34" charset="0"/>
                <a:ea typeface="Sora" pitchFamily="34" charset="-122"/>
                <a:cs typeface="Sora" pitchFamily="34" charset="-120"/>
              </a:rPr>
              <a:t>Il ne fait que l'essentiel</a:t>
            </a:r>
            <a:endParaRPr lang="en-US" sz="2000" dirty="0"/>
          </a:p>
        </p:txBody>
      </p:sp>
      <p:sp>
        <p:nvSpPr>
          <p:cNvPr id="14" name="Text 12"/>
          <p:cNvSpPr/>
          <p:nvPr/>
        </p:nvSpPr>
        <p:spPr>
          <a:xfrm>
            <a:off x="1879600" y="5139482"/>
            <a:ext cx="9784588"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Pas de répartiteur de charge, pas de stockage, pas de supervision : vous verrez ce qu'il faut ajouter.</a:t>
            </a:r>
            <a:endParaRPr lang="en-US" sz="1400" dirty="0"/>
          </a:p>
        </p:txBody>
      </p:sp>
      <p:pic>
        <p:nvPicPr>
          <p:cNvPr id="15"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6" name="Text 13"/>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7" name="Image 1" descr="Parcours : module 3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03 · KUBERNETES DANS L'ÉCOSYSTÈME CLOUD</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L'écosystème CNCF</a:t>
            </a:r>
            <a:endParaRPr lang="en-US" sz="2800" dirty="0"/>
          </a:p>
        </p:txBody>
      </p:sp>
      <p:sp>
        <p:nvSpPr>
          <p:cNvPr id="4" name="Shape 2"/>
          <p:cNvSpPr/>
          <p:nvPr/>
        </p:nvSpPr>
        <p:spPr>
          <a:xfrm>
            <a:off x="815975" y="1598290"/>
            <a:ext cx="2005330" cy="1597978"/>
          </a:xfrm>
          <a:prstGeom prst="roundRect">
            <a:avLst>
              <a:gd name="adj" fmla="val 6954"/>
            </a:avLst>
          </a:prstGeom>
          <a:solidFill>
            <a:srgbClr val="FDFDFF"/>
          </a:solidFill>
          <a:ln w="6350">
            <a:solidFill>
              <a:srgbClr val="E1DFEE"/>
            </a:solidFill>
            <a:prstDash val="solid"/>
          </a:ln>
        </p:spPr>
      </p:sp>
      <p:sp>
        <p:nvSpPr>
          <p:cNvPr id="5" name="Text 3"/>
          <p:cNvSpPr/>
          <p:nvPr/>
        </p:nvSpPr>
        <p:spPr>
          <a:xfrm>
            <a:off x="972291" y="1754609"/>
            <a:ext cx="174349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8421A"/>
                </a:solidFill>
                <a:latin typeface="IBM Plex Sans" pitchFamily="34" charset="0"/>
                <a:ea typeface="IBM Plex Sans" pitchFamily="34" charset="-122"/>
                <a:cs typeface="IBM Plex Sans" pitchFamily="34" charset="-120"/>
              </a:rPr>
              <a:t>Réseau des pods</a:t>
            </a:r>
            <a:endParaRPr lang="en-US" sz="1200" dirty="0"/>
          </a:p>
        </p:txBody>
      </p:sp>
      <p:sp>
        <p:nvSpPr>
          <p:cNvPr id="6" name="Text 4"/>
          <p:cNvSpPr/>
          <p:nvPr/>
        </p:nvSpPr>
        <p:spPr>
          <a:xfrm>
            <a:off x="972291" y="2016224"/>
            <a:ext cx="174349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Calico, Cilium, Flannel</a:t>
            </a:r>
            <a:endParaRPr lang="en-US" sz="1400" dirty="0"/>
          </a:p>
        </p:txBody>
      </p:sp>
      <p:sp>
        <p:nvSpPr>
          <p:cNvPr id="7" name="Shape 5"/>
          <p:cNvSpPr/>
          <p:nvPr/>
        </p:nvSpPr>
        <p:spPr>
          <a:xfrm>
            <a:off x="2954655" y="1598290"/>
            <a:ext cx="2005330" cy="1597978"/>
          </a:xfrm>
          <a:prstGeom prst="roundRect">
            <a:avLst>
              <a:gd name="adj" fmla="val 6954"/>
            </a:avLst>
          </a:prstGeom>
          <a:solidFill>
            <a:srgbClr val="FDFDFF"/>
          </a:solidFill>
          <a:ln w="6350">
            <a:solidFill>
              <a:srgbClr val="E1DFEE"/>
            </a:solidFill>
            <a:prstDash val="solid"/>
          </a:ln>
        </p:spPr>
      </p:sp>
      <p:sp>
        <p:nvSpPr>
          <p:cNvPr id="8" name="Text 6"/>
          <p:cNvSpPr/>
          <p:nvPr/>
        </p:nvSpPr>
        <p:spPr>
          <a:xfrm>
            <a:off x="3110971" y="1754609"/>
            <a:ext cx="174349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8421A"/>
                </a:solidFill>
                <a:latin typeface="IBM Plex Sans" pitchFamily="34" charset="0"/>
                <a:ea typeface="IBM Plex Sans" pitchFamily="34" charset="-122"/>
                <a:cs typeface="IBM Plex Sans" pitchFamily="34" charset="-120"/>
              </a:rPr>
              <a:t>Entrée HTTP</a:t>
            </a:r>
            <a:endParaRPr lang="en-US" sz="1200" dirty="0"/>
          </a:p>
        </p:txBody>
      </p:sp>
      <p:sp>
        <p:nvSpPr>
          <p:cNvPr id="9" name="Text 7"/>
          <p:cNvSpPr/>
          <p:nvPr/>
        </p:nvSpPr>
        <p:spPr>
          <a:xfrm>
            <a:off x="3110971" y="2016224"/>
            <a:ext cx="1743498"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Ingress, Gateway API : Envoy Gateway, Traefik, Istio</a:t>
            </a:r>
            <a:endParaRPr lang="en-US" sz="1400" dirty="0"/>
          </a:p>
        </p:txBody>
      </p:sp>
      <p:sp>
        <p:nvSpPr>
          <p:cNvPr id="10" name="Shape 8"/>
          <p:cNvSpPr/>
          <p:nvPr/>
        </p:nvSpPr>
        <p:spPr>
          <a:xfrm>
            <a:off x="5093335" y="1598290"/>
            <a:ext cx="2005330" cy="1597978"/>
          </a:xfrm>
          <a:prstGeom prst="roundRect">
            <a:avLst>
              <a:gd name="adj" fmla="val 6954"/>
            </a:avLst>
          </a:prstGeom>
          <a:solidFill>
            <a:srgbClr val="FDFDFF"/>
          </a:solidFill>
          <a:ln w="6350">
            <a:solidFill>
              <a:srgbClr val="E1DFEE"/>
            </a:solidFill>
            <a:prstDash val="solid"/>
          </a:ln>
        </p:spPr>
      </p:sp>
      <p:sp>
        <p:nvSpPr>
          <p:cNvPr id="11" name="Text 9"/>
          <p:cNvSpPr/>
          <p:nvPr/>
        </p:nvSpPr>
        <p:spPr>
          <a:xfrm>
            <a:off x="5249651" y="1754609"/>
            <a:ext cx="174349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8421A"/>
                </a:solidFill>
                <a:latin typeface="IBM Plex Sans" pitchFamily="34" charset="0"/>
                <a:ea typeface="IBM Plex Sans" pitchFamily="34" charset="-122"/>
                <a:cs typeface="IBM Plex Sans" pitchFamily="34" charset="-120"/>
              </a:rPr>
              <a:t>Paquets et modèles</a:t>
            </a:r>
            <a:endParaRPr lang="en-US" sz="1200" dirty="0"/>
          </a:p>
        </p:txBody>
      </p:sp>
      <p:sp>
        <p:nvSpPr>
          <p:cNvPr id="12" name="Text 10"/>
          <p:cNvSpPr/>
          <p:nvPr/>
        </p:nvSpPr>
        <p:spPr>
          <a:xfrm>
            <a:off x="5249651" y="2016224"/>
            <a:ext cx="1743498"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Helm, Kustomize</a:t>
            </a:r>
            <a:endParaRPr lang="en-US" sz="1400" dirty="0"/>
          </a:p>
        </p:txBody>
      </p:sp>
      <p:sp>
        <p:nvSpPr>
          <p:cNvPr id="13" name="Shape 11"/>
          <p:cNvSpPr/>
          <p:nvPr/>
        </p:nvSpPr>
        <p:spPr>
          <a:xfrm>
            <a:off x="7232015" y="1598290"/>
            <a:ext cx="2005330" cy="1597978"/>
          </a:xfrm>
          <a:prstGeom prst="roundRect">
            <a:avLst>
              <a:gd name="adj" fmla="val 6954"/>
            </a:avLst>
          </a:prstGeom>
          <a:solidFill>
            <a:srgbClr val="FDFDFF"/>
          </a:solidFill>
          <a:ln w="6350">
            <a:solidFill>
              <a:srgbClr val="E1DFEE"/>
            </a:solidFill>
            <a:prstDash val="solid"/>
          </a:ln>
        </p:spPr>
      </p:sp>
      <p:sp>
        <p:nvSpPr>
          <p:cNvPr id="14" name="Text 12"/>
          <p:cNvSpPr/>
          <p:nvPr/>
        </p:nvSpPr>
        <p:spPr>
          <a:xfrm>
            <a:off x="7388330" y="1754609"/>
            <a:ext cx="174349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8421A"/>
                </a:solidFill>
                <a:latin typeface="IBM Plex Sans" pitchFamily="34" charset="0"/>
                <a:ea typeface="IBM Plex Sans" pitchFamily="34" charset="-122"/>
                <a:cs typeface="IBM Plex Sans" pitchFamily="34" charset="-120"/>
              </a:rPr>
              <a:t>GitOps</a:t>
            </a:r>
            <a:endParaRPr lang="en-US" sz="1200" dirty="0"/>
          </a:p>
        </p:txBody>
      </p:sp>
      <p:sp>
        <p:nvSpPr>
          <p:cNvPr id="15" name="Text 13"/>
          <p:cNvSpPr/>
          <p:nvPr/>
        </p:nvSpPr>
        <p:spPr>
          <a:xfrm>
            <a:off x="7388330" y="2016224"/>
            <a:ext cx="1743498"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Argo CD, Flux</a:t>
            </a:r>
            <a:endParaRPr lang="en-US" sz="1400" dirty="0"/>
          </a:p>
        </p:txBody>
      </p:sp>
      <p:sp>
        <p:nvSpPr>
          <p:cNvPr id="16" name="Shape 14"/>
          <p:cNvSpPr/>
          <p:nvPr/>
        </p:nvSpPr>
        <p:spPr>
          <a:xfrm>
            <a:off x="9370695" y="1598290"/>
            <a:ext cx="2005330" cy="1597978"/>
          </a:xfrm>
          <a:prstGeom prst="roundRect">
            <a:avLst>
              <a:gd name="adj" fmla="val 6954"/>
            </a:avLst>
          </a:prstGeom>
          <a:solidFill>
            <a:srgbClr val="FDFDFF"/>
          </a:solidFill>
          <a:ln w="6350">
            <a:solidFill>
              <a:srgbClr val="E1DFEE"/>
            </a:solidFill>
            <a:prstDash val="solid"/>
          </a:ln>
        </p:spPr>
      </p:sp>
      <p:sp>
        <p:nvSpPr>
          <p:cNvPr id="17" name="Text 15"/>
          <p:cNvSpPr/>
          <p:nvPr/>
        </p:nvSpPr>
        <p:spPr>
          <a:xfrm>
            <a:off x="9527011" y="1754609"/>
            <a:ext cx="174349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8421A"/>
                </a:solidFill>
                <a:latin typeface="IBM Plex Sans" pitchFamily="34" charset="0"/>
                <a:ea typeface="IBM Plex Sans" pitchFamily="34" charset="-122"/>
                <a:cs typeface="IBM Plex Sans" pitchFamily="34" charset="-120"/>
              </a:rPr>
              <a:t>Métriques et alertes</a:t>
            </a:r>
            <a:endParaRPr lang="en-US" sz="1200" dirty="0"/>
          </a:p>
        </p:txBody>
      </p:sp>
      <p:sp>
        <p:nvSpPr>
          <p:cNvPr id="18" name="Text 16"/>
          <p:cNvSpPr/>
          <p:nvPr/>
        </p:nvSpPr>
        <p:spPr>
          <a:xfrm>
            <a:off x="9527011" y="2016224"/>
            <a:ext cx="1743498"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Prometheus, Grafana, OpenTelemetry</a:t>
            </a:r>
            <a:endParaRPr lang="en-US" sz="1400" dirty="0"/>
          </a:p>
        </p:txBody>
      </p:sp>
      <p:sp>
        <p:nvSpPr>
          <p:cNvPr id="19" name="Shape 17"/>
          <p:cNvSpPr/>
          <p:nvPr/>
        </p:nvSpPr>
        <p:spPr>
          <a:xfrm>
            <a:off x="815975" y="3329632"/>
            <a:ext cx="2005330" cy="1597977"/>
          </a:xfrm>
          <a:prstGeom prst="roundRect">
            <a:avLst>
              <a:gd name="adj" fmla="val 6954"/>
            </a:avLst>
          </a:prstGeom>
          <a:solidFill>
            <a:srgbClr val="FDFDFF"/>
          </a:solidFill>
          <a:ln w="6350">
            <a:solidFill>
              <a:srgbClr val="E1DFEE"/>
            </a:solidFill>
            <a:prstDash val="solid"/>
          </a:ln>
        </p:spPr>
      </p:sp>
      <p:sp>
        <p:nvSpPr>
          <p:cNvPr id="20" name="Text 18"/>
          <p:cNvSpPr/>
          <p:nvPr/>
        </p:nvSpPr>
        <p:spPr>
          <a:xfrm>
            <a:off x="972291" y="3485927"/>
            <a:ext cx="174349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8421A"/>
                </a:solidFill>
                <a:latin typeface="IBM Plex Sans" pitchFamily="34" charset="0"/>
                <a:ea typeface="IBM Plex Sans" pitchFamily="34" charset="-122"/>
                <a:cs typeface="IBM Plex Sans" pitchFamily="34" charset="-120"/>
              </a:rPr>
              <a:t>Logs</a:t>
            </a:r>
            <a:endParaRPr lang="en-US" sz="1200" dirty="0"/>
          </a:p>
        </p:txBody>
      </p:sp>
      <p:sp>
        <p:nvSpPr>
          <p:cNvPr id="21" name="Text 19"/>
          <p:cNvSpPr/>
          <p:nvPr/>
        </p:nvSpPr>
        <p:spPr>
          <a:xfrm>
            <a:off x="972291" y="3747567"/>
            <a:ext cx="1743498"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Loki, Fluent Bit</a:t>
            </a:r>
            <a:endParaRPr lang="en-US" sz="1400" dirty="0"/>
          </a:p>
        </p:txBody>
      </p:sp>
      <p:sp>
        <p:nvSpPr>
          <p:cNvPr id="22" name="Shape 20"/>
          <p:cNvSpPr/>
          <p:nvPr/>
        </p:nvSpPr>
        <p:spPr>
          <a:xfrm>
            <a:off x="2954655" y="3329632"/>
            <a:ext cx="2005330" cy="1597977"/>
          </a:xfrm>
          <a:prstGeom prst="roundRect">
            <a:avLst>
              <a:gd name="adj" fmla="val 6954"/>
            </a:avLst>
          </a:prstGeom>
          <a:solidFill>
            <a:srgbClr val="FDFDFF"/>
          </a:solidFill>
          <a:ln w="6350">
            <a:solidFill>
              <a:srgbClr val="E1DFEE"/>
            </a:solidFill>
            <a:prstDash val="solid"/>
          </a:ln>
        </p:spPr>
      </p:sp>
      <p:sp>
        <p:nvSpPr>
          <p:cNvPr id="23" name="Text 21"/>
          <p:cNvSpPr/>
          <p:nvPr/>
        </p:nvSpPr>
        <p:spPr>
          <a:xfrm>
            <a:off x="3110971" y="3485927"/>
            <a:ext cx="174349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8421A"/>
                </a:solidFill>
                <a:latin typeface="IBM Plex Sans" pitchFamily="34" charset="0"/>
                <a:ea typeface="IBM Plex Sans" pitchFamily="34" charset="-122"/>
                <a:cs typeface="IBM Plex Sans" pitchFamily="34" charset="-120"/>
              </a:rPr>
              <a:t>Stockage</a:t>
            </a:r>
            <a:endParaRPr lang="en-US" sz="1200" dirty="0"/>
          </a:p>
        </p:txBody>
      </p:sp>
      <p:sp>
        <p:nvSpPr>
          <p:cNvPr id="24" name="Text 22"/>
          <p:cNvSpPr/>
          <p:nvPr/>
        </p:nvSpPr>
        <p:spPr>
          <a:xfrm>
            <a:off x="3110971" y="3747567"/>
            <a:ext cx="1743498"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Rook (Ceph), Longhorn, pilotes CSI</a:t>
            </a:r>
            <a:endParaRPr lang="en-US" sz="1400" dirty="0"/>
          </a:p>
        </p:txBody>
      </p:sp>
      <p:sp>
        <p:nvSpPr>
          <p:cNvPr id="25" name="Shape 23"/>
          <p:cNvSpPr/>
          <p:nvPr/>
        </p:nvSpPr>
        <p:spPr>
          <a:xfrm>
            <a:off x="5093335" y="3329632"/>
            <a:ext cx="2005330" cy="1597977"/>
          </a:xfrm>
          <a:prstGeom prst="roundRect">
            <a:avLst>
              <a:gd name="adj" fmla="val 6954"/>
            </a:avLst>
          </a:prstGeom>
          <a:solidFill>
            <a:srgbClr val="FDFDFF"/>
          </a:solidFill>
          <a:ln w="6350">
            <a:solidFill>
              <a:srgbClr val="E1DFEE"/>
            </a:solidFill>
            <a:prstDash val="solid"/>
          </a:ln>
        </p:spPr>
      </p:sp>
      <p:sp>
        <p:nvSpPr>
          <p:cNvPr id="26" name="Text 24"/>
          <p:cNvSpPr/>
          <p:nvPr/>
        </p:nvSpPr>
        <p:spPr>
          <a:xfrm>
            <a:off x="5249651" y="3485927"/>
            <a:ext cx="174349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8421A"/>
                </a:solidFill>
                <a:latin typeface="IBM Plex Sans" pitchFamily="34" charset="0"/>
                <a:ea typeface="IBM Plex Sans" pitchFamily="34" charset="-122"/>
                <a:cs typeface="IBM Plex Sans" pitchFamily="34" charset="-120"/>
              </a:rPr>
              <a:t>Sécurité et conformité</a:t>
            </a:r>
            <a:endParaRPr lang="en-US" sz="1200" dirty="0"/>
          </a:p>
        </p:txBody>
      </p:sp>
      <p:sp>
        <p:nvSpPr>
          <p:cNvPr id="27" name="Text 25"/>
          <p:cNvSpPr/>
          <p:nvPr/>
        </p:nvSpPr>
        <p:spPr>
          <a:xfrm>
            <a:off x="5249651" y="3747567"/>
            <a:ext cx="1743498" cy="9855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cert-manager, Kyverno, OPA Gatekeeper, Falco, Trivy</a:t>
            </a:r>
            <a:endParaRPr lang="en-US" sz="1400" dirty="0"/>
          </a:p>
        </p:txBody>
      </p:sp>
      <p:sp>
        <p:nvSpPr>
          <p:cNvPr id="28" name="Shape 26"/>
          <p:cNvSpPr/>
          <p:nvPr/>
        </p:nvSpPr>
        <p:spPr>
          <a:xfrm>
            <a:off x="7232015" y="3329632"/>
            <a:ext cx="2005330" cy="1597977"/>
          </a:xfrm>
          <a:prstGeom prst="roundRect">
            <a:avLst>
              <a:gd name="adj" fmla="val 6954"/>
            </a:avLst>
          </a:prstGeom>
          <a:solidFill>
            <a:srgbClr val="FDFDFF"/>
          </a:solidFill>
          <a:ln w="6350">
            <a:solidFill>
              <a:srgbClr val="E1DFEE"/>
            </a:solidFill>
            <a:prstDash val="solid"/>
          </a:ln>
        </p:spPr>
      </p:sp>
      <p:sp>
        <p:nvSpPr>
          <p:cNvPr id="29" name="Text 27"/>
          <p:cNvSpPr/>
          <p:nvPr/>
        </p:nvSpPr>
        <p:spPr>
          <a:xfrm>
            <a:off x="7388330" y="3485927"/>
            <a:ext cx="174349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8421A"/>
                </a:solidFill>
                <a:latin typeface="IBM Plex Sans" pitchFamily="34" charset="0"/>
                <a:ea typeface="IBM Plex Sans" pitchFamily="34" charset="-122"/>
                <a:cs typeface="IBM Plex Sans" pitchFamily="34" charset="-120"/>
              </a:rPr>
              <a:t>Montée en charge</a:t>
            </a:r>
            <a:endParaRPr lang="en-US" sz="1200" dirty="0"/>
          </a:p>
        </p:txBody>
      </p:sp>
      <p:sp>
        <p:nvSpPr>
          <p:cNvPr id="30" name="Text 28"/>
          <p:cNvSpPr/>
          <p:nvPr/>
        </p:nvSpPr>
        <p:spPr>
          <a:xfrm>
            <a:off x="7388330" y="3747567"/>
            <a:ext cx="174349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KEDA, Karpenter, Cluster Autoscaler</a:t>
            </a:r>
            <a:endParaRPr lang="en-US" sz="1400" dirty="0"/>
          </a:p>
        </p:txBody>
      </p:sp>
      <p:sp>
        <p:nvSpPr>
          <p:cNvPr id="31" name="Shape 29"/>
          <p:cNvSpPr/>
          <p:nvPr/>
        </p:nvSpPr>
        <p:spPr>
          <a:xfrm>
            <a:off x="9370695" y="3329632"/>
            <a:ext cx="2005330" cy="1597977"/>
          </a:xfrm>
          <a:prstGeom prst="roundRect">
            <a:avLst>
              <a:gd name="adj" fmla="val 6954"/>
            </a:avLst>
          </a:prstGeom>
          <a:solidFill>
            <a:srgbClr val="FDFDFF"/>
          </a:solidFill>
          <a:ln w="6350">
            <a:solidFill>
              <a:srgbClr val="E1DFEE"/>
            </a:solidFill>
            <a:prstDash val="solid"/>
          </a:ln>
        </p:spPr>
      </p:sp>
      <p:sp>
        <p:nvSpPr>
          <p:cNvPr id="32" name="Text 30"/>
          <p:cNvSpPr/>
          <p:nvPr/>
        </p:nvSpPr>
        <p:spPr>
          <a:xfrm>
            <a:off x="9527011" y="3485927"/>
            <a:ext cx="174349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8421A"/>
                </a:solidFill>
                <a:latin typeface="IBM Plex Sans" pitchFamily="34" charset="0"/>
                <a:ea typeface="IBM Plex Sans" pitchFamily="34" charset="-122"/>
                <a:cs typeface="IBM Plex Sans" pitchFamily="34" charset="-120"/>
              </a:rPr>
              <a:t>Registre d'images</a:t>
            </a:r>
            <a:endParaRPr lang="en-US" sz="1200" dirty="0"/>
          </a:p>
        </p:txBody>
      </p:sp>
      <p:sp>
        <p:nvSpPr>
          <p:cNvPr id="33" name="Text 31"/>
          <p:cNvSpPr/>
          <p:nvPr/>
        </p:nvSpPr>
        <p:spPr>
          <a:xfrm>
            <a:off x="9527011" y="3747567"/>
            <a:ext cx="1743498"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Harbor</a:t>
            </a:r>
            <a:endParaRPr lang="en-US" sz="1400" dirty="0"/>
          </a:p>
        </p:txBody>
      </p:sp>
      <p:sp>
        <p:nvSpPr>
          <p:cNvPr id="34" name="Shape 32"/>
          <p:cNvSpPr/>
          <p:nvPr/>
        </p:nvSpPr>
        <p:spPr>
          <a:xfrm>
            <a:off x="812800" y="5191026"/>
            <a:ext cx="10566400" cy="0"/>
          </a:xfrm>
          <a:prstGeom prst="line">
            <a:avLst/>
          </a:prstGeom>
          <a:noFill/>
          <a:ln w="12700">
            <a:solidFill>
              <a:srgbClr val="0B0748"/>
            </a:solidFill>
            <a:prstDash val="solid"/>
          </a:ln>
        </p:spPr>
      </p:sp>
      <p:pic>
        <p:nvPicPr>
          <p:cNvPr id="35" name="Image 0" descr="Verified">    </p:cNvPr>
          <p:cNvPicPr>
            <a:picLocks noChangeAspect="1"/>
          </p:cNvPicPr>
          <p:nvPr/>
        </p:nvPicPr>
        <p:blipFill>
          <a:blip r:embed="rId1"/>
          <a:srcRect l="0" r="0" t="0" b="0"/>
          <a:stretch/>
        </p:blipFill>
        <p:spPr>
          <a:xfrm>
            <a:off x="812800" y="5453385"/>
            <a:ext cx="279400" cy="279400"/>
          </a:xfrm>
          <a:prstGeom prst="rect">
            <a:avLst/>
          </a:prstGeom>
        </p:spPr>
      </p:pic>
      <p:sp>
        <p:nvSpPr>
          <p:cNvPr id="36" name="Text 33"/>
          <p:cNvSpPr/>
          <p:nvPr/>
        </p:nvSpPr>
        <p:spPr>
          <a:xfrm>
            <a:off x="1244600" y="5344170"/>
            <a:ext cx="10438638"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IBM Plex Sans" pitchFamily="34" charset="0"/>
                <a:ea typeface="IBM Plex Sans" pitchFamily="34" charset="-122"/>
                <a:cs typeface="IBM Plex Sans" pitchFamily="34" charset="-120"/>
              </a:rPr>
              <a:t>Certified Kubernetes</a:t>
            </a:r>
            <a:r>
              <a:rPr lang="en-US" sz="1400" dirty="0">
                <a:solidFill>
                  <a:srgbClr val="0B0748"/>
                </a:solidFill>
                <a:latin typeface="IBM Plex Sans" pitchFamily="34" charset="0"/>
                <a:ea typeface="IBM Plex Sans" pitchFamily="34" charset="-122"/>
                <a:cs typeface="IBM Plex Sans" pitchFamily="34" charset="-120"/>
              </a:rPr>
              <a:t> : un manifeste qui fonctionne sur une offre conforme fonctionne sur une autre, sauf extensions propres à un fournisseur.</a:t>
            </a:r>
            <a:endParaRPr lang="en-US" sz="1400" dirty="0"/>
          </a:p>
        </p:txBody>
      </p:sp>
      <p:pic>
        <p:nvPicPr>
          <p:cNvPr id="37" name="Image 1" descr="preencoded.png">    </p:cNvPr>
          <p:cNvPicPr>
            <a:picLocks noChangeAspect="1"/>
          </p:cNvPicPr>
          <p:nvPr/>
        </p:nvPicPr>
        <p:blipFill>
          <a:blip r:embed="rId2"/>
          <a:srcRect l="0" r="0" t="0" b="0"/>
          <a:stretch/>
        </p:blipFill>
        <p:spPr>
          <a:xfrm>
            <a:off x="812800" y="6299200"/>
            <a:ext cx="152400" cy="152400"/>
          </a:xfrm>
          <a:prstGeom prst="rect">
            <a:avLst/>
          </a:prstGeom>
        </p:spPr>
      </p:pic>
      <p:sp>
        <p:nvSpPr>
          <p:cNvPr id="38" name="Text 34"/>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9" name="Image 2" descr="Parcours : module 3 sur 16">    </p:cNvPr>
          <p:cNvPicPr>
            <a:picLocks noChangeAspect="1"/>
          </p:cNvPicPr>
          <p:nvPr/>
        </p:nvPicPr>
        <p:blipFill>
          <a:blip r:embed="rId3"/>
          <a:srcRect l="0" r="0" t="0" b="0"/>
          <a:stretch/>
        </p:blipFill>
        <p:spPr>
          <a:xfrm>
            <a:off x="9207500" y="6299200"/>
            <a:ext cx="2171700" cy="1524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03 · KUBERNETES DANS L'ÉCOSYSTÈME CLOUD</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Clusters locaux et interfaces graphiques</a:t>
            </a:r>
            <a:endParaRPr lang="en-US" sz="2800" dirty="0"/>
          </a:p>
        </p:txBody>
      </p:sp>
      <p:sp>
        <p:nvSpPr>
          <p:cNvPr id="4" name="Text 2"/>
          <p:cNvSpPr/>
          <p:nvPr/>
        </p:nvSpPr>
        <p:spPr>
          <a:xfrm>
            <a:off x="812800" y="1569715"/>
            <a:ext cx="6096000" cy="2280920"/>
          </a:xfrm>
          <a:prstGeom prst="roundRect">
            <a:avLst>
              <a:gd name="adj" fmla="val 4454"/>
            </a:avLst>
          </a:prstGeom>
          <a:solidFill>
            <a:srgbClr val="0B0748"/>
          </a:solidFill>
          <a:ln/>
        </p:spPr>
        <p:txBody>
          <a:bodyPr wrap="none" lIns="173442" tIns="135342" rIns="2754" bIns="109942" rtlCol="0" anchor="t">
            <a:normAutofit/>
          </a:bodyPr>
          <a:lstStyle/>
          <a:p>
            <a:pPr algn="l" indent="0" marL="0">
              <a:lnSpc>
                <a:spcPts val="1920"/>
              </a:lnSpc>
              <a:buNone/>
            </a:pPr>
            <a:r>
              <a:rPr lang="en-US" sz="1200" dirty="0">
                <a:solidFill>
                  <a:srgbClr val="9A96D0"/>
                </a:solidFill>
                <a:latin typeface="JetBrains Mono" pitchFamily="49" charset="0"/>
                <a:ea typeface="JetBrains Mono" pitchFamily="49" charset="-122"/>
                <a:cs typeface="JetBrains Mono" pitchFamily="49" charset="-120"/>
              </a:rPr>
              <a:t># minikube : un nœud, dans un conteneur ou une VM</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minikube start --cpus=2 --memory=4g</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get nodes</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minikube delete</a:t>
            </a:r>
            <a:endParaRPr lang="en-US" sz="1200" dirty="0"/>
          </a:p>
          <a:p>
            <a:pPr algn="l" indent="0" marL="0">
              <a:lnSpc>
                <a:spcPts val="1920"/>
              </a:lnSpc>
              <a:buNone/>
            </a:pPr>
            <a:r>
              <a:rPr lang="en-US" sz="1200" dirty="0">
                <a:solidFill>
                  <a:srgbClr val="9A96D0"/>
                </a:solidFill>
                <a:latin typeface="JetBrains Mono" pitchFamily="49" charset="0"/>
                <a:ea typeface="JetBrains Mono" pitchFamily="49" charset="-122"/>
                <a:cs typeface="JetBrains Mono" pitchFamily="49" charset="-120"/>
              </a:rPr>
              <a:t># kind : Kubernetes dans des conteneurs Docker (CI)</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kind create cluster --name essai</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cluster-info --context kind-essai</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kind delete cluster --name essai</a:t>
            </a:r>
            <a:endParaRPr lang="en-US" sz="1200" dirty="0"/>
          </a:p>
        </p:txBody>
      </p:sp>
      <p:sp>
        <p:nvSpPr>
          <p:cNvPr id="5" name="Text 3"/>
          <p:cNvSpPr/>
          <p:nvPr/>
        </p:nvSpPr>
        <p:spPr>
          <a:xfrm>
            <a:off x="812800" y="3964930"/>
            <a:ext cx="62788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Pour développer et tester des manifestes. Pas pour l'exploitation, le réseau multi-nœuds ou la mesure de performances.</a:t>
            </a:r>
            <a:endParaRPr lang="en-US" sz="1300" dirty="0"/>
          </a:p>
        </p:txBody>
      </p:sp>
      <p:sp>
        <p:nvSpPr>
          <p:cNvPr id="6" name="Shape 4"/>
          <p:cNvSpPr/>
          <p:nvPr/>
        </p:nvSpPr>
        <p:spPr>
          <a:xfrm>
            <a:off x="7213600" y="1569715"/>
            <a:ext cx="4165600" cy="665480"/>
          </a:xfrm>
          <a:prstGeom prst="roundRect">
            <a:avLst>
              <a:gd name="adj" fmla="val 13359"/>
            </a:avLst>
          </a:prstGeom>
          <a:solidFill>
            <a:srgbClr val="FCE6DC"/>
          </a:solidFill>
          <a:ln/>
        </p:spPr>
      </p:sp>
      <p:pic>
        <p:nvPicPr>
          <p:cNvPr id="7" name="Image 0" descr="Warning">    </p:cNvPr>
          <p:cNvPicPr>
            <a:picLocks noChangeAspect="1"/>
          </p:cNvPicPr>
          <p:nvPr/>
        </p:nvPicPr>
        <p:blipFill>
          <a:blip r:embed="rId1"/>
          <a:srcRect l="0" r="0" t="0" b="0"/>
          <a:stretch/>
        </p:blipFill>
        <p:spPr>
          <a:xfrm>
            <a:off x="7340600" y="1671315"/>
            <a:ext cx="228600" cy="228600"/>
          </a:xfrm>
          <a:prstGeom prst="rect">
            <a:avLst/>
          </a:prstGeom>
        </p:spPr>
      </p:pic>
      <p:sp>
        <p:nvSpPr>
          <p:cNvPr id="8" name="Text 5"/>
          <p:cNvSpPr/>
          <p:nvPr/>
        </p:nvSpPr>
        <p:spPr>
          <a:xfrm>
            <a:off x="7670800" y="1671315"/>
            <a:ext cx="3688842"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Kubernetes Dashboard</a:t>
            </a:r>
            <a:r>
              <a:rPr lang="en-US" sz="1300" dirty="0">
                <a:solidFill>
                  <a:srgbClr val="0B0748"/>
                </a:solidFill>
                <a:latin typeface="IBM Plex Sans" pitchFamily="34" charset="0"/>
                <a:ea typeface="IBM Plex Sans" pitchFamily="34" charset="-122"/>
                <a:cs typeface="IBM Plex Sans" pitchFamily="34" charset="-120"/>
              </a:rPr>
              <a:t> : archivé le 21 janvier 2026, plus de correctifs de sécurité.</a:t>
            </a:r>
            <a:endParaRPr lang="en-US" sz="1300" dirty="0"/>
          </a:p>
        </p:txBody>
      </p:sp>
      <p:pic>
        <p:nvPicPr>
          <p:cNvPr id="9" name="Image 1" descr="Globe">    </p:cNvPr>
          <p:cNvPicPr>
            <a:picLocks noChangeAspect="1"/>
          </p:cNvPicPr>
          <p:nvPr/>
        </p:nvPicPr>
        <p:blipFill>
          <a:blip r:embed="rId2"/>
          <a:srcRect l="0" r="0" t="0" b="0"/>
          <a:stretch/>
        </p:blipFill>
        <p:spPr>
          <a:xfrm>
            <a:off x="7340600" y="2349500"/>
            <a:ext cx="228600" cy="228600"/>
          </a:xfrm>
          <a:prstGeom prst="rect">
            <a:avLst/>
          </a:prstGeom>
        </p:spPr>
      </p:pic>
      <p:sp>
        <p:nvSpPr>
          <p:cNvPr id="10" name="Text 6"/>
          <p:cNvSpPr/>
          <p:nvPr/>
        </p:nvSpPr>
        <p:spPr>
          <a:xfrm>
            <a:off x="7670800" y="2349500"/>
            <a:ext cx="3688842"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F3C6B"/>
                </a:solidFill>
                <a:latin typeface="IBM Plex Sans" pitchFamily="34" charset="0"/>
                <a:ea typeface="IBM Plex Sans" pitchFamily="34" charset="-122"/>
                <a:cs typeface="IBM Plex Sans" pitchFamily="34" charset="-120"/>
              </a:rPr>
              <a:t>Headlamp</a:t>
            </a:r>
            <a:r>
              <a:rPr lang="en-US" sz="1300" dirty="0">
                <a:solidFill>
                  <a:srgbClr val="3F3C6B"/>
                </a:solidFill>
                <a:latin typeface="IBM Plex Sans" pitchFamily="34" charset="0"/>
                <a:ea typeface="IBM Plex Sans" pitchFamily="34" charset="-122"/>
                <a:cs typeface="IBM Plex Sans" pitchFamily="34" charset="-120"/>
              </a:rPr>
              <a:t> : son successeur, web et extensible, qui respecte les droits RBAC. En démonstration.</a:t>
            </a:r>
            <a:endParaRPr lang="en-US" sz="1300" dirty="0"/>
          </a:p>
        </p:txBody>
      </p:sp>
      <p:pic>
        <p:nvPicPr>
          <p:cNvPr id="11" name="Image 2" descr="Code">    </p:cNvPr>
          <p:cNvPicPr>
            <a:picLocks noChangeAspect="1"/>
          </p:cNvPicPr>
          <p:nvPr/>
        </p:nvPicPr>
        <p:blipFill>
          <a:blip r:embed="rId3"/>
          <a:srcRect l="0" r="0" t="0" b="0"/>
          <a:stretch/>
        </p:blipFill>
        <p:spPr>
          <a:xfrm>
            <a:off x="7340600" y="2926085"/>
            <a:ext cx="228600" cy="228600"/>
          </a:xfrm>
          <a:prstGeom prst="rect">
            <a:avLst/>
          </a:prstGeom>
        </p:spPr>
      </p:pic>
      <p:sp>
        <p:nvSpPr>
          <p:cNvPr id="12" name="Text 7"/>
          <p:cNvSpPr/>
          <p:nvPr/>
        </p:nvSpPr>
        <p:spPr>
          <a:xfrm>
            <a:off x="7670800" y="2926085"/>
            <a:ext cx="3688842"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F3C6B"/>
                </a:solidFill>
                <a:latin typeface="IBM Plex Sans" pitchFamily="34" charset="0"/>
                <a:ea typeface="IBM Plex Sans" pitchFamily="34" charset="-122"/>
                <a:cs typeface="IBM Plex Sans" pitchFamily="34" charset="-120"/>
              </a:rPr>
              <a:t>k9s</a:t>
            </a:r>
            <a:r>
              <a:rPr lang="en-US" sz="1300" dirty="0">
                <a:solidFill>
                  <a:srgbClr val="3F3C6B"/>
                </a:solidFill>
                <a:latin typeface="IBM Plex Sans" pitchFamily="34" charset="0"/>
                <a:ea typeface="IBM Plex Sans" pitchFamily="34" charset="-122"/>
                <a:cs typeface="IBM Plex Sans" pitchFamily="34" charset="-120"/>
              </a:rPr>
              <a:t> : interface en mode texte, dans le terminal. Au TP9.</a:t>
            </a:r>
            <a:endParaRPr lang="en-US" sz="1300" dirty="0"/>
          </a:p>
        </p:txBody>
      </p:sp>
      <p:pic>
        <p:nvPicPr>
          <p:cNvPr id="13" name="Image 3" descr="Home">    </p:cNvPr>
          <p:cNvPicPr>
            <a:picLocks noChangeAspect="1"/>
          </p:cNvPicPr>
          <p:nvPr/>
        </p:nvPicPr>
        <p:blipFill>
          <a:blip r:embed="rId4"/>
          <a:srcRect l="0" r="0" t="0" b="0"/>
          <a:stretch/>
        </p:blipFill>
        <p:spPr>
          <a:xfrm>
            <a:off x="7340600" y="3502670"/>
            <a:ext cx="228600" cy="228600"/>
          </a:xfrm>
          <a:prstGeom prst="rect">
            <a:avLst/>
          </a:prstGeom>
        </p:spPr>
      </p:pic>
      <p:sp>
        <p:nvSpPr>
          <p:cNvPr id="14" name="Text 8"/>
          <p:cNvSpPr/>
          <p:nvPr/>
        </p:nvSpPr>
        <p:spPr>
          <a:xfrm>
            <a:off x="7670800" y="3502670"/>
            <a:ext cx="3688842"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F3C6B"/>
                </a:solidFill>
                <a:latin typeface="IBM Plex Sans" pitchFamily="34" charset="0"/>
                <a:ea typeface="IBM Plex Sans" pitchFamily="34" charset="-122"/>
                <a:cs typeface="IBM Plex Sans" pitchFamily="34" charset="-120"/>
              </a:rPr>
              <a:t>Lens</a:t>
            </a:r>
            <a:r>
              <a:rPr lang="en-US" sz="1300" dirty="0">
                <a:solidFill>
                  <a:srgbClr val="3F3C6B"/>
                </a:solidFill>
                <a:latin typeface="IBM Plex Sans" pitchFamily="34" charset="0"/>
                <a:ea typeface="IBM Plex Sans" pitchFamily="34" charset="-122"/>
                <a:cs typeface="IBM Plex Sans" pitchFamily="34" charset="-120"/>
              </a:rPr>
              <a:t> et son fork libre </a:t>
            </a:r>
            <a:r>
              <a:rPr lang="en-US" sz="1300" b="1" dirty="0">
                <a:solidFill>
                  <a:srgbClr val="3F3C6B"/>
                </a:solidFill>
                <a:latin typeface="IBM Plex Sans" pitchFamily="34" charset="0"/>
                <a:ea typeface="IBM Plex Sans" pitchFamily="34" charset="-122"/>
                <a:cs typeface="IBM Plex Sans" pitchFamily="34" charset="-120"/>
              </a:rPr>
              <a:t>FreeLens</a:t>
            </a:r>
            <a:r>
              <a:rPr lang="en-US" sz="1300" dirty="0">
                <a:solidFill>
                  <a:srgbClr val="3F3C6B"/>
                </a:solidFill>
                <a:latin typeface="IBM Plex Sans" pitchFamily="34" charset="0"/>
                <a:ea typeface="IBM Plex Sans" pitchFamily="34" charset="-122"/>
                <a:cs typeface="IBM Plex Sans" pitchFamily="34" charset="-120"/>
              </a:rPr>
              <a:t> : applications de bureau.</a:t>
            </a:r>
            <a:endParaRPr lang="en-US" sz="1300" dirty="0"/>
          </a:p>
        </p:txBody>
      </p:sp>
      <p:sp>
        <p:nvSpPr>
          <p:cNvPr id="15" name="Text 9"/>
          <p:cNvSpPr/>
          <p:nvPr/>
        </p:nvSpPr>
        <p:spPr>
          <a:xfrm>
            <a:off x="7340600" y="4079230"/>
            <a:ext cx="402894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kubectl et les YAML restent la référence : eux seuls se versionnent et se rejouent.</a:t>
            </a:r>
            <a:endParaRPr lang="en-US" sz="1200" dirty="0"/>
          </a:p>
        </p:txBody>
      </p:sp>
      <p:sp>
        <p:nvSpPr>
          <p:cNvPr id="16" name="Shape 10"/>
          <p:cNvSpPr/>
          <p:nvPr/>
        </p:nvSpPr>
        <p:spPr>
          <a:xfrm>
            <a:off x="812800" y="5412011"/>
            <a:ext cx="10566400" cy="0"/>
          </a:xfrm>
          <a:prstGeom prst="line">
            <a:avLst/>
          </a:prstGeom>
          <a:noFill/>
          <a:ln w="12700">
            <a:solidFill>
              <a:srgbClr val="0B0748"/>
            </a:solidFill>
            <a:prstDash val="solid"/>
          </a:ln>
        </p:spPr>
      </p:sp>
      <p:sp>
        <p:nvSpPr>
          <p:cNvPr id="17" name="Text 11"/>
          <p:cNvSpPr/>
          <p:nvPr/>
        </p:nvSpPr>
        <p:spPr>
          <a:xfrm>
            <a:off x="812800" y="5590530"/>
            <a:ext cx="15995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CERTIFICATIONS</a:t>
            </a:r>
            <a:endParaRPr lang="en-US" sz="1200" dirty="0"/>
          </a:p>
        </p:txBody>
      </p:sp>
      <p:sp>
        <p:nvSpPr>
          <p:cNvPr id="18" name="Text 12"/>
          <p:cNvSpPr/>
          <p:nvPr/>
        </p:nvSpPr>
        <p:spPr>
          <a:xfrm>
            <a:off x="2412365" y="5552430"/>
            <a:ext cx="610870" cy="289560"/>
          </a:xfrm>
          <a:custGeom>
            <a:avLst/>
            <a:gdLst/>
            <a:ahLst/>
            <a:cxnLst/>
            <a:rect l="l" t="t" r="r" b="b"/>
            <a:pathLst>
              <a:path w="610870" h="289560">
                <a:moveTo>
                  <a:pt x="144780" y="0"/>
                </a:moveTo>
                <a:lnTo>
                  <a:pt x="466090" y="0"/>
                </a:lnTo>
                <a:arcTo hR="144780" wR="144780" stAng="16200000" swAng="5400000"/>
                <a:lnTo>
                  <a:pt x="610870" y="144780"/>
                </a:lnTo>
                <a:arcTo hR="144780" wR="144780" stAng="0" swAng="5400000"/>
                <a:lnTo>
                  <a:pt x="144780" y="289560"/>
                </a:lnTo>
                <a:arcTo hR="144780" wR="144780" stAng="5400000" swAng="5400000"/>
                <a:lnTo>
                  <a:pt x="0" y="144780"/>
                </a:lnTo>
                <a:arcTo hR="144780" wR="144780" stAng="10800000" swAng="5400000"/>
                <a:close/>
              </a:path>
            </a:pathLst>
          </a:custGeom>
          <a:solidFill>
            <a:srgbClr val="ECEAF6"/>
          </a:solidFill>
          <a:ln/>
        </p:spPr>
        <p:txBody>
          <a:bodyPr wrap="none" lIns="0" tIns="0" rIns="0" bIns="0" rtlCol="0" anchor="ctr">
            <a:normAutofit/>
          </a:bodyPr>
          <a:lstStyle/>
          <a:p>
            <a:pPr algn="ctr"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KCNA</a:t>
            </a:r>
            <a:endParaRPr lang="en-US" sz="1200" dirty="0"/>
          </a:p>
        </p:txBody>
      </p:sp>
      <p:sp>
        <p:nvSpPr>
          <p:cNvPr id="19" name="Text 13"/>
          <p:cNvSpPr/>
          <p:nvPr/>
        </p:nvSpPr>
        <p:spPr>
          <a:xfrm>
            <a:off x="3124835" y="5552430"/>
            <a:ext cx="611717" cy="289560"/>
          </a:xfrm>
          <a:custGeom>
            <a:avLst/>
            <a:gdLst/>
            <a:ahLst/>
            <a:cxnLst/>
            <a:rect l="l" t="t" r="r" b="b"/>
            <a:pathLst>
              <a:path w="611717" h="289560">
                <a:moveTo>
                  <a:pt x="144780" y="0"/>
                </a:moveTo>
                <a:lnTo>
                  <a:pt x="466937" y="0"/>
                </a:lnTo>
                <a:arcTo hR="144780" wR="144780" stAng="16200000" swAng="5400000"/>
                <a:lnTo>
                  <a:pt x="611717" y="144780"/>
                </a:lnTo>
                <a:arcTo hR="144780" wR="144780" stAng="0" swAng="5400000"/>
                <a:lnTo>
                  <a:pt x="144780" y="289560"/>
                </a:lnTo>
                <a:arcTo hR="144780" wR="144780" stAng="5400000" swAng="5400000"/>
                <a:lnTo>
                  <a:pt x="0" y="144780"/>
                </a:lnTo>
                <a:arcTo hR="144780" wR="144780" stAng="10800000" swAng="5400000"/>
                <a:close/>
              </a:path>
            </a:pathLst>
          </a:custGeom>
          <a:solidFill>
            <a:srgbClr val="ECEAF6"/>
          </a:solidFill>
          <a:ln/>
        </p:spPr>
        <p:txBody>
          <a:bodyPr wrap="none" lIns="0" tIns="0" rIns="0" bIns="0" rtlCol="0" anchor="ctr">
            <a:normAutofit/>
          </a:bodyPr>
          <a:lstStyle/>
          <a:p>
            <a:pPr algn="ctr"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CKAD</a:t>
            </a:r>
            <a:endParaRPr lang="en-US" sz="1200" dirty="0"/>
          </a:p>
        </p:txBody>
      </p:sp>
      <p:sp>
        <p:nvSpPr>
          <p:cNvPr id="20" name="Text 14"/>
          <p:cNvSpPr/>
          <p:nvPr/>
        </p:nvSpPr>
        <p:spPr>
          <a:xfrm>
            <a:off x="3838152" y="5552430"/>
            <a:ext cx="506730" cy="289560"/>
          </a:xfrm>
          <a:custGeom>
            <a:avLst/>
            <a:gdLst/>
            <a:ahLst/>
            <a:cxnLst/>
            <a:rect l="l" t="t" r="r" b="b"/>
            <a:pathLst>
              <a:path w="506730" h="289560">
                <a:moveTo>
                  <a:pt x="144780" y="0"/>
                </a:moveTo>
                <a:lnTo>
                  <a:pt x="361950" y="0"/>
                </a:lnTo>
                <a:arcTo hR="144780" wR="144780" stAng="16200000" swAng="5400000"/>
                <a:lnTo>
                  <a:pt x="506730" y="144780"/>
                </a:lnTo>
                <a:arcTo hR="144780" wR="144780" stAng="0" swAng="5400000"/>
                <a:lnTo>
                  <a:pt x="144780" y="289560"/>
                </a:lnTo>
                <a:arcTo hR="144780" wR="144780" stAng="5400000" swAng="5400000"/>
                <a:lnTo>
                  <a:pt x="0" y="144780"/>
                </a:lnTo>
                <a:arcTo hR="144780" wR="144780" stAng="10800000" swAng="5400000"/>
                <a:close/>
              </a:path>
            </a:pathLst>
          </a:custGeom>
          <a:solidFill>
            <a:srgbClr val="0B0748"/>
          </a:solidFill>
          <a:ln/>
        </p:spPr>
        <p:txBody>
          <a:bodyPr wrap="none" lIns="0" tIns="0" rIns="0" bIns="0" rtlCol="0" anchor="ctr">
            <a:normAutofit/>
          </a:bodyPr>
          <a:lstStyle/>
          <a:p>
            <a:pPr algn="ct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CKA</a:t>
            </a:r>
            <a:endParaRPr lang="en-US" sz="1200" dirty="0"/>
          </a:p>
        </p:txBody>
      </p:sp>
      <p:sp>
        <p:nvSpPr>
          <p:cNvPr id="21" name="Text 15"/>
          <p:cNvSpPr/>
          <p:nvPr/>
        </p:nvSpPr>
        <p:spPr>
          <a:xfrm>
            <a:off x="4446482" y="5552430"/>
            <a:ext cx="496147" cy="289560"/>
          </a:xfrm>
          <a:custGeom>
            <a:avLst/>
            <a:gdLst/>
            <a:ahLst/>
            <a:cxnLst/>
            <a:rect l="l" t="t" r="r" b="b"/>
            <a:pathLst>
              <a:path w="496147" h="289560">
                <a:moveTo>
                  <a:pt x="144780" y="0"/>
                </a:moveTo>
                <a:lnTo>
                  <a:pt x="351367" y="0"/>
                </a:lnTo>
                <a:arcTo hR="144780" wR="144780" stAng="16200000" swAng="5400000"/>
                <a:lnTo>
                  <a:pt x="496147" y="144780"/>
                </a:lnTo>
                <a:arcTo hR="144780" wR="144780" stAng="0" swAng="5400000"/>
                <a:lnTo>
                  <a:pt x="144780" y="289560"/>
                </a:lnTo>
                <a:arcTo hR="144780" wR="144780" stAng="5400000" swAng="5400000"/>
                <a:lnTo>
                  <a:pt x="0" y="144780"/>
                </a:lnTo>
                <a:arcTo hR="144780" wR="144780" stAng="10800000" swAng="5400000"/>
                <a:close/>
              </a:path>
            </a:pathLst>
          </a:custGeom>
          <a:solidFill>
            <a:srgbClr val="ECEAF6"/>
          </a:solidFill>
          <a:ln/>
        </p:spPr>
        <p:txBody>
          <a:bodyPr wrap="none" lIns="0" tIns="0" rIns="0" bIns="0" rtlCol="0" anchor="ctr">
            <a:normAutofit/>
          </a:bodyPr>
          <a:lstStyle/>
          <a:p>
            <a:pPr algn="ctr"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CKS</a:t>
            </a:r>
            <a:endParaRPr lang="en-US" sz="1200" dirty="0"/>
          </a:p>
        </p:txBody>
      </p:sp>
      <p:sp>
        <p:nvSpPr>
          <p:cNvPr id="22" name="Text 16"/>
          <p:cNvSpPr/>
          <p:nvPr/>
        </p:nvSpPr>
        <p:spPr>
          <a:xfrm>
            <a:off x="5120429" y="5585768"/>
            <a:ext cx="6446535"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Cette formation couvre une bonne partie du programme CKA.</a:t>
            </a:r>
            <a:endParaRPr lang="en-US" sz="1300" dirty="0"/>
          </a:p>
        </p:txBody>
      </p:sp>
      <p:pic>
        <p:nvPicPr>
          <p:cNvPr id="23"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24" name="Text 1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5" descr="Parcours : module 3 sur 16">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03 · BILAN</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15"/>
            <a:ext cx="6138333"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15"/>
            <a:ext cx="228600" cy="228600"/>
          </a:xfrm>
          <a:prstGeom prst="rect">
            <a:avLst/>
          </a:prstGeom>
        </p:spPr>
      </p:pic>
      <p:sp>
        <p:nvSpPr>
          <p:cNvPr id="6" name="Text 3"/>
          <p:cNvSpPr/>
          <p:nvPr/>
        </p:nvSpPr>
        <p:spPr>
          <a:xfrm>
            <a:off x="1511300" y="1874515"/>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Un service managé prend en charge le control plane, pas vos applications ni leur sécurité.</a:t>
            </a:r>
            <a:endParaRPr lang="en-US" sz="1500" dirty="0"/>
          </a:p>
        </p:txBody>
      </p:sp>
      <p:pic>
        <p:nvPicPr>
          <p:cNvPr id="7" name="Image 1" descr="Check">    </p:cNvPr>
          <p:cNvPicPr>
            <a:picLocks noChangeAspect="1"/>
          </p:cNvPicPr>
          <p:nvPr/>
        </p:nvPicPr>
        <p:blipFill>
          <a:blip r:embed="rId2"/>
          <a:srcRect l="0" r="0" t="0" b="0"/>
          <a:stretch/>
        </p:blipFill>
        <p:spPr>
          <a:xfrm>
            <a:off x="1143000" y="2585715"/>
            <a:ext cx="228600" cy="228600"/>
          </a:xfrm>
          <a:prstGeom prst="rect">
            <a:avLst/>
          </a:prstGeom>
        </p:spPr>
      </p:pic>
      <p:sp>
        <p:nvSpPr>
          <p:cNvPr id="8" name="Text 4"/>
          <p:cNvSpPr/>
          <p:nvPr/>
        </p:nvSpPr>
        <p:spPr>
          <a:xfrm>
            <a:off x="1511300" y="2585715"/>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Les manifestes Kubernetes sont portables d'un cluster conforme à l'autre.</a:t>
            </a:r>
            <a:endParaRPr lang="en-US" sz="1500" dirty="0"/>
          </a:p>
        </p:txBody>
      </p:sp>
      <p:pic>
        <p:nvPicPr>
          <p:cNvPr id="9" name="Image 2" descr="Check">    </p:cNvPr>
          <p:cNvPicPr>
            <a:picLocks noChangeAspect="1"/>
          </p:cNvPicPr>
          <p:nvPr/>
        </p:nvPicPr>
        <p:blipFill>
          <a:blip r:embed="rId3"/>
          <a:srcRect l="0" r="0" t="0" b="0"/>
          <a:stretch/>
        </p:blipFill>
        <p:spPr>
          <a:xfrm>
            <a:off x="1143000" y="3296915"/>
            <a:ext cx="228600" cy="228600"/>
          </a:xfrm>
          <a:prstGeom prst="rect">
            <a:avLst/>
          </a:prstGeom>
        </p:spPr>
      </p:pic>
      <p:sp>
        <p:nvSpPr>
          <p:cNvPr id="10" name="Text 5"/>
          <p:cNvSpPr/>
          <p:nvPr/>
        </p:nvSpPr>
        <p:spPr>
          <a:xfrm>
            <a:off x="1511300" y="3296915"/>
            <a:ext cx="52629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kubeadm est l'outil de référence pour comprendre et monter un cluster ; il faut lui ajouter réseau, stockage et supervision.</a:t>
            </a:r>
            <a:endParaRPr lang="en-US" sz="1500" dirty="0"/>
          </a:p>
        </p:txBody>
      </p:sp>
      <p:pic>
        <p:nvPicPr>
          <p:cNvPr id="11" name="Image 3" descr="Check">    </p:cNvPr>
          <p:cNvPicPr>
            <a:picLocks noChangeAspect="1"/>
          </p:cNvPicPr>
          <p:nvPr/>
        </p:nvPicPr>
        <p:blipFill>
          <a:blip r:embed="rId4"/>
          <a:srcRect l="0" r="0" t="0" b="0"/>
          <a:stretch/>
        </p:blipFill>
        <p:spPr>
          <a:xfrm>
            <a:off x="1143000" y="4274815"/>
            <a:ext cx="228600" cy="228600"/>
          </a:xfrm>
          <a:prstGeom prst="rect">
            <a:avLst/>
          </a:prstGeom>
        </p:spPr>
      </p:pic>
      <p:sp>
        <p:nvSpPr>
          <p:cNvPr id="12" name="Text 6"/>
          <p:cNvSpPr/>
          <p:nvPr/>
        </p:nvSpPr>
        <p:spPr>
          <a:xfrm>
            <a:off x="1511300" y="4274815"/>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Le Kubernetes Dashboard est archivé depuis janvier 2026 : utilisez Headlamp (web) ou k9s (terminal).</a:t>
            </a:r>
            <a:endParaRPr lang="en-US" sz="1500" dirty="0"/>
          </a:p>
        </p:txBody>
      </p:sp>
      <p:sp>
        <p:nvSpPr>
          <p:cNvPr id="13" name="Shape 7"/>
          <p:cNvSpPr/>
          <p:nvPr/>
        </p:nvSpPr>
        <p:spPr>
          <a:xfrm>
            <a:off x="7157508" y="1598290"/>
            <a:ext cx="4218517" cy="4240530"/>
          </a:xfrm>
          <a:prstGeom prst="roundRect">
            <a:avLst>
              <a:gd name="adj" fmla="val 3537"/>
            </a:avLst>
          </a:prstGeom>
          <a:solidFill>
            <a:srgbClr val="FDFDFF"/>
          </a:solidFill>
          <a:ln w="6350">
            <a:solidFill>
              <a:srgbClr val="E1DFEE"/>
            </a:solidFill>
            <a:prstDash val="solid"/>
          </a:ln>
        </p:spPr>
      </p:sp>
      <p:sp>
        <p:nvSpPr>
          <p:cNvPr id="14" name="Text 8"/>
          <p:cNvSpPr/>
          <p:nvPr/>
        </p:nvSpPr>
        <p:spPr>
          <a:xfrm>
            <a:off x="7440824" y="1856209"/>
            <a:ext cx="376144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5" name="Text 9"/>
          <p:cNvSpPr/>
          <p:nvPr/>
        </p:nvSpPr>
        <p:spPr>
          <a:xfrm>
            <a:off x="7440824" y="2196579"/>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1</a:t>
            </a:r>
            <a:endParaRPr lang="en-US" sz="1300" dirty="0"/>
          </a:p>
        </p:txBody>
      </p:sp>
      <p:sp>
        <p:nvSpPr>
          <p:cNvPr id="16" name="Text 10"/>
          <p:cNvSpPr/>
          <p:nvPr/>
        </p:nvSpPr>
        <p:spPr>
          <a:xfrm>
            <a:off x="7720224" y="2196579"/>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Citez deux responsabilités qui restent les vôtres sur un service Kubernetes managé.</a:t>
            </a:r>
            <a:endParaRPr lang="en-US" sz="1300" dirty="0"/>
          </a:p>
        </p:txBody>
      </p:sp>
      <p:sp>
        <p:nvSpPr>
          <p:cNvPr id="17" name="Text 11"/>
          <p:cNvSpPr/>
          <p:nvPr/>
        </p:nvSpPr>
        <p:spPr>
          <a:xfrm>
            <a:off x="7440824" y="2785839"/>
            <a:ext cx="22860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2</a:t>
            </a:r>
            <a:endParaRPr lang="en-US" sz="1300" dirty="0"/>
          </a:p>
        </p:txBody>
      </p:sp>
      <p:sp>
        <p:nvSpPr>
          <p:cNvPr id="18" name="Text 12"/>
          <p:cNvSpPr/>
          <p:nvPr/>
        </p:nvSpPr>
        <p:spPr>
          <a:xfrm>
            <a:off x="7720224" y="2785839"/>
            <a:ext cx="347365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Pourquoi un Service de type LoadBalancer reste-t-il en attente sur un cluster kubeadm sans ajout ?</a:t>
            </a:r>
            <a:endParaRPr lang="en-US" sz="1300" dirty="0"/>
          </a:p>
        </p:txBody>
      </p:sp>
      <p:sp>
        <p:nvSpPr>
          <p:cNvPr id="19" name="Text 13"/>
          <p:cNvSpPr/>
          <p:nvPr/>
        </p:nvSpPr>
        <p:spPr>
          <a:xfrm>
            <a:off x="7440824" y="3606279"/>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3</a:t>
            </a:r>
            <a:endParaRPr lang="en-US" sz="1300" dirty="0"/>
          </a:p>
        </p:txBody>
      </p:sp>
      <p:sp>
        <p:nvSpPr>
          <p:cNvPr id="20" name="Text 14"/>
          <p:cNvSpPr/>
          <p:nvPr/>
        </p:nvSpPr>
        <p:spPr>
          <a:xfrm>
            <a:off x="7720224" y="3606279"/>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Dans quel cas préférer kind ou minikube à un cluster de VM ?</a:t>
            </a:r>
            <a:endParaRPr lang="en-US" sz="1300" dirty="0"/>
          </a:p>
        </p:txBody>
      </p:sp>
      <p:pic>
        <p:nvPicPr>
          <p:cNvPr id="21"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22" name="Text 15"/>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3" name="Image 5" descr="Parcours : module 3 sur 16">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1 · COMPRENDRE ET INSTALLER</a:t>
            </a:r>
            <a:endParaRPr lang="en-US" sz="1200" dirty="0"/>
          </a:p>
        </p:txBody>
      </p:sp>
      <p:sp>
        <p:nvSpPr>
          <p:cNvPr id="3" name="Text 1"/>
          <p:cNvSpPr/>
          <p:nvPr/>
        </p:nvSpPr>
        <p:spPr>
          <a:xfrm>
            <a:off x="812800" y="1076970"/>
            <a:ext cx="2065020"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04</a:t>
            </a:r>
            <a:endParaRPr lang="en-US" sz="10000" dirty="0"/>
          </a:p>
        </p:txBody>
      </p:sp>
      <p:sp>
        <p:nvSpPr>
          <p:cNvPr id="4" name="Text 2"/>
          <p:cNvSpPr/>
          <p:nvPr>
            <p:ph type="title"/>
          </p:nvPr>
        </p:nvSpPr>
        <p:spPr>
          <a:xfrm>
            <a:off x="2889250" y="1127770"/>
            <a:ext cx="9302750" cy="5588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Installer un cluster avec kubeadm</a:t>
            </a:r>
            <a:endParaRPr lang="en-US" sz="4000" dirty="0"/>
          </a:p>
        </p:txBody>
      </p:sp>
      <p:sp>
        <p:nvSpPr>
          <p:cNvPr id="5" name="Text 3"/>
          <p:cNvSpPr/>
          <p:nvPr/>
        </p:nvSpPr>
        <p:spPr>
          <a:xfrm>
            <a:off x="2889250" y="1813570"/>
            <a:ext cx="874464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Préparer les nœuds, installer le runtime et les binaires, initialiser le control plane, puis ajouter le réseau et les workers.</a:t>
            </a:r>
            <a:endParaRPr lang="en-US" sz="1500" dirty="0"/>
          </a:p>
        </p:txBody>
      </p:sp>
      <p:sp>
        <p:nvSpPr>
          <p:cNvPr id="6" name="Text 4"/>
          <p:cNvSpPr/>
          <p:nvPr/>
        </p:nvSpPr>
        <p:spPr>
          <a:xfrm>
            <a:off x="2889250" y="2499370"/>
            <a:ext cx="2816754"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TP1 · Préparer les nœuds · J1 10:50</a:t>
            </a:r>
            <a:endParaRPr lang="en-US" sz="1200" dirty="0"/>
          </a:p>
        </p:txBody>
      </p:sp>
      <p:sp>
        <p:nvSpPr>
          <p:cNvPr id="7" name="Text 5"/>
          <p:cNvSpPr/>
          <p:nvPr/>
        </p:nvSpPr>
        <p:spPr>
          <a:xfrm>
            <a:off x="5807604" y="2499370"/>
            <a:ext cx="2810722"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TP2 · Initialiser le cluster · J1 13:15</a:t>
            </a:r>
            <a:endParaRPr lang="en-US" sz="1200" dirty="0"/>
          </a:p>
        </p:txBody>
      </p:sp>
      <p:pic>
        <p:nvPicPr>
          <p:cNvPr id="8" name="Image 0" descr="Parcours de la formation : module 4 sur 16">    </p:cNvPr>
          <p:cNvPicPr>
            <a:picLocks noChangeAspect="1"/>
          </p:cNvPicPr>
          <p:nvPr/>
        </p:nvPicPr>
        <p:blipFill>
          <a:blip r:embed="rId1"/>
          <a:srcRect l="0" r="0" t="0" b="0"/>
          <a:stretch/>
        </p:blipFill>
        <p:spPr>
          <a:xfrm>
            <a:off x="812800" y="4165600"/>
            <a:ext cx="10566400" cy="1981200"/>
          </a:xfrm>
          <a:prstGeom prst="rect">
            <a:avLst/>
          </a:prstGeom>
        </p:spPr>
      </p:pic>
      <p:sp>
        <p:nvSpPr>
          <p:cNvPr id="9" name="Text 6"/>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10" name="Text 7"/>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1" name="Text 8"/>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2" name="Text 9"/>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04</a:t>
            </a:r>
            <a:endParaRPr lang="en-US" sz="1200" dirty="0"/>
          </a:p>
        </p:txBody>
      </p:sp>
      <p:sp>
        <p:nvSpPr>
          <p:cNvPr id="13" name="Text 10"/>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05</a:t>
            </a:r>
            <a:endParaRPr lang="en-US" sz="1200" dirty="0"/>
          </a:p>
        </p:txBody>
      </p:sp>
      <p:sp>
        <p:nvSpPr>
          <p:cNvPr id="14" name="Text 11"/>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06</a:t>
            </a:r>
            <a:endParaRPr lang="en-US" sz="1200" dirty="0"/>
          </a:p>
        </p:txBody>
      </p:sp>
      <p:sp>
        <p:nvSpPr>
          <p:cNvPr id="15" name="Text 12"/>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07</a:t>
            </a:r>
            <a:endParaRPr lang="en-US" sz="1200" dirty="0"/>
          </a:p>
        </p:txBody>
      </p:sp>
      <p:sp>
        <p:nvSpPr>
          <p:cNvPr id="16" name="Text 13"/>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08</a:t>
            </a:r>
            <a:endParaRPr lang="en-US" sz="1200" dirty="0"/>
          </a:p>
        </p:txBody>
      </p:sp>
      <p:sp>
        <p:nvSpPr>
          <p:cNvPr id="17" name="Text 14"/>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09</a:t>
            </a:r>
            <a:endParaRPr lang="en-US" sz="1200" dirty="0"/>
          </a:p>
        </p:txBody>
      </p:sp>
      <p:sp>
        <p:nvSpPr>
          <p:cNvPr id="18" name="Text 15"/>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10</a:t>
            </a:r>
            <a:endParaRPr lang="en-US" sz="1200" dirty="0"/>
          </a:p>
        </p:txBody>
      </p:sp>
      <p:sp>
        <p:nvSpPr>
          <p:cNvPr id="19" name="Text 16"/>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11</a:t>
            </a:r>
            <a:endParaRPr lang="en-US" sz="1200" dirty="0"/>
          </a:p>
        </p:txBody>
      </p:sp>
      <p:sp>
        <p:nvSpPr>
          <p:cNvPr id="20" name="Text 17"/>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12</a:t>
            </a:r>
            <a:endParaRPr lang="en-US" sz="1200" dirty="0"/>
          </a:p>
        </p:txBody>
      </p:sp>
      <p:sp>
        <p:nvSpPr>
          <p:cNvPr id="21" name="Text 18"/>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13</a:t>
            </a:r>
            <a:endParaRPr lang="en-US" sz="1200" dirty="0"/>
          </a:p>
        </p:txBody>
      </p:sp>
      <p:sp>
        <p:nvSpPr>
          <p:cNvPr id="22" name="Text 19"/>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14</a:t>
            </a:r>
            <a:endParaRPr lang="en-US" sz="1200" dirty="0"/>
          </a:p>
        </p:txBody>
      </p:sp>
      <p:sp>
        <p:nvSpPr>
          <p:cNvPr id="23" name="Text 20"/>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4" name="Text 21"/>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5" name="Text 22"/>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6" name="Text 23"/>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1</a:t>
            </a:r>
            <a:endParaRPr lang="en-US" sz="1200" dirty="0"/>
          </a:p>
        </p:txBody>
      </p:sp>
      <p:sp>
        <p:nvSpPr>
          <p:cNvPr id="27" name="Text 24"/>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2</a:t>
            </a:r>
            <a:endParaRPr lang="en-US" sz="1200" dirty="0"/>
          </a:p>
        </p:txBody>
      </p:sp>
      <p:sp>
        <p:nvSpPr>
          <p:cNvPr id="28" name="Text 25"/>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04 · INSTALLER UN CLUSTER AVEC KUBEADM</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cluster cible</a:t>
            </a:r>
            <a:endParaRPr lang="en-US" sz="2800" dirty="0"/>
          </a:p>
        </p:txBody>
      </p:sp>
      <p:sp>
        <p:nvSpPr>
          <p:cNvPr id="4" name="Shape 2"/>
          <p:cNvSpPr/>
          <p:nvPr/>
        </p:nvSpPr>
        <p:spPr>
          <a:xfrm>
            <a:off x="812800" y="1531615"/>
            <a:ext cx="3928110" cy="1564640"/>
          </a:xfrm>
          <a:prstGeom prst="roundRect">
            <a:avLst>
              <a:gd name="adj" fmla="val 8117"/>
            </a:avLst>
          </a:prstGeom>
          <a:solidFill>
            <a:srgbClr val="0B0748"/>
          </a:solidFill>
          <a:ln/>
        </p:spPr>
      </p:sp>
      <p:sp>
        <p:nvSpPr>
          <p:cNvPr id="5" name="Text 3"/>
          <p:cNvSpPr/>
          <p:nvPr/>
        </p:nvSpPr>
        <p:spPr>
          <a:xfrm>
            <a:off x="1041400" y="1734815"/>
            <a:ext cx="3575037"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8F66"/>
                </a:solidFill>
                <a:latin typeface="JetBrains Mono" pitchFamily="49" charset="0"/>
                <a:ea typeface="JetBrains Mono" pitchFamily="49" charset="-122"/>
                <a:cs typeface="JetBrains Mono" pitchFamily="49" charset="-120"/>
              </a:rPr>
              <a:t>k8s-cp</a:t>
            </a:r>
            <a:endParaRPr lang="en-US" sz="1800" dirty="0"/>
          </a:p>
        </p:txBody>
      </p:sp>
      <p:sp>
        <p:nvSpPr>
          <p:cNvPr id="6" name="Text 4"/>
          <p:cNvSpPr/>
          <p:nvPr/>
        </p:nvSpPr>
        <p:spPr>
          <a:xfrm>
            <a:off x="1041400" y="2118370"/>
            <a:ext cx="357503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Control plane : API server, etcd, scheduler, controller-manager</a:t>
            </a:r>
            <a:endParaRPr lang="en-US" sz="1300" dirty="0"/>
          </a:p>
        </p:txBody>
      </p:sp>
      <p:sp>
        <p:nvSpPr>
          <p:cNvPr id="7" name="Text 5"/>
          <p:cNvSpPr/>
          <p:nvPr/>
        </p:nvSpPr>
        <p:spPr>
          <a:xfrm>
            <a:off x="1041400" y="2644130"/>
            <a:ext cx="357503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6E8"/>
                </a:solidFill>
                <a:latin typeface="JetBrains Mono" pitchFamily="49" charset="0"/>
                <a:ea typeface="JetBrains Mono" pitchFamily="49" charset="-122"/>
                <a:cs typeface="JetBrains Mono" pitchFamily="49" charset="-120"/>
              </a:rPr>
              <a:t>10.10.0.10</a:t>
            </a:r>
            <a:endParaRPr lang="en-US" sz="1400" dirty="0"/>
          </a:p>
        </p:txBody>
      </p:sp>
      <p:sp>
        <p:nvSpPr>
          <p:cNvPr id="8" name="Shape 6"/>
          <p:cNvSpPr/>
          <p:nvPr/>
        </p:nvSpPr>
        <p:spPr>
          <a:xfrm>
            <a:off x="4921885" y="1534790"/>
            <a:ext cx="3134995" cy="1558290"/>
          </a:xfrm>
          <a:prstGeom prst="roundRect">
            <a:avLst>
              <a:gd name="adj" fmla="val 7946"/>
            </a:avLst>
          </a:prstGeom>
          <a:solidFill>
            <a:srgbClr val="FDFDFF"/>
          </a:solidFill>
          <a:ln w="6350">
            <a:solidFill>
              <a:srgbClr val="E1DFEE"/>
            </a:solidFill>
            <a:prstDash val="solid"/>
          </a:ln>
        </p:spPr>
      </p:sp>
      <p:sp>
        <p:nvSpPr>
          <p:cNvPr id="9" name="Text 7"/>
          <p:cNvSpPr/>
          <p:nvPr/>
        </p:nvSpPr>
        <p:spPr>
          <a:xfrm>
            <a:off x="5154401" y="1741909"/>
            <a:ext cx="275006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0748"/>
                </a:solidFill>
                <a:latin typeface="JetBrains Mono" pitchFamily="49" charset="0"/>
                <a:ea typeface="JetBrains Mono" pitchFamily="49" charset="-122"/>
                <a:cs typeface="JetBrains Mono" pitchFamily="49" charset="-120"/>
              </a:rPr>
              <a:t>k8s-w1</a:t>
            </a:r>
            <a:endParaRPr lang="en-US" sz="1800" dirty="0"/>
          </a:p>
        </p:txBody>
      </p:sp>
      <p:sp>
        <p:nvSpPr>
          <p:cNvPr id="10" name="Text 8"/>
          <p:cNvSpPr/>
          <p:nvPr/>
        </p:nvSpPr>
        <p:spPr>
          <a:xfrm>
            <a:off x="5154401" y="2125439"/>
            <a:ext cx="27500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Worker</a:t>
            </a:r>
            <a:endParaRPr lang="en-US" sz="1300" dirty="0"/>
          </a:p>
        </p:txBody>
      </p:sp>
      <p:sp>
        <p:nvSpPr>
          <p:cNvPr id="11" name="Text 9"/>
          <p:cNvSpPr/>
          <p:nvPr/>
        </p:nvSpPr>
        <p:spPr>
          <a:xfrm>
            <a:off x="5154401" y="2637061"/>
            <a:ext cx="275006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890"/>
                </a:solidFill>
                <a:latin typeface="JetBrains Mono" pitchFamily="49" charset="0"/>
                <a:ea typeface="JetBrains Mono" pitchFamily="49" charset="-122"/>
                <a:cs typeface="JetBrains Mono" pitchFamily="49" charset="-120"/>
              </a:rPr>
              <a:t>10.10.0.20</a:t>
            </a:r>
            <a:endParaRPr lang="en-US" sz="1400" dirty="0"/>
          </a:p>
        </p:txBody>
      </p:sp>
      <p:sp>
        <p:nvSpPr>
          <p:cNvPr id="12" name="Shape 10"/>
          <p:cNvSpPr/>
          <p:nvPr/>
        </p:nvSpPr>
        <p:spPr>
          <a:xfrm>
            <a:off x="8241030" y="1534790"/>
            <a:ext cx="3134995" cy="1558290"/>
          </a:xfrm>
          <a:prstGeom prst="roundRect">
            <a:avLst>
              <a:gd name="adj" fmla="val 7946"/>
            </a:avLst>
          </a:prstGeom>
          <a:solidFill>
            <a:srgbClr val="FDFDFF"/>
          </a:solidFill>
          <a:ln w="6350">
            <a:solidFill>
              <a:srgbClr val="E1DFEE"/>
            </a:solidFill>
            <a:prstDash val="solid"/>
          </a:ln>
        </p:spPr>
      </p:sp>
      <p:sp>
        <p:nvSpPr>
          <p:cNvPr id="13" name="Text 11"/>
          <p:cNvSpPr/>
          <p:nvPr/>
        </p:nvSpPr>
        <p:spPr>
          <a:xfrm>
            <a:off x="8473546" y="1741909"/>
            <a:ext cx="275006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0748"/>
                </a:solidFill>
                <a:latin typeface="JetBrains Mono" pitchFamily="49" charset="0"/>
                <a:ea typeface="JetBrains Mono" pitchFamily="49" charset="-122"/>
                <a:cs typeface="JetBrains Mono" pitchFamily="49" charset="-120"/>
              </a:rPr>
              <a:t>k8s-w2</a:t>
            </a:r>
            <a:endParaRPr lang="en-US" sz="1800" dirty="0"/>
          </a:p>
        </p:txBody>
      </p:sp>
      <p:sp>
        <p:nvSpPr>
          <p:cNvPr id="14" name="Text 12"/>
          <p:cNvSpPr/>
          <p:nvPr/>
        </p:nvSpPr>
        <p:spPr>
          <a:xfrm>
            <a:off x="8473546" y="2125439"/>
            <a:ext cx="27500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Worker</a:t>
            </a:r>
            <a:endParaRPr lang="en-US" sz="1300" dirty="0"/>
          </a:p>
        </p:txBody>
      </p:sp>
      <p:sp>
        <p:nvSpPr>
          <p:cNvPr id="15" name="Text 13"/>
          <p:cNvSpPr/>
          <p:nvPr/>
        </p:nvSpPr>
        <p:spPr>
          <a:xfrm>
            <a:off x="8473546" y="2637061"/>
            <a:ext cx="275006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890"/>
                </a:solidFill>
                <a:latin typeface="JetBrains Mono" pitchFamily="49" charset="0"/>
                <a:ea typeface="JetBrains Mono" pitchFamily="49" charset="-122"/>
                <a:cs typeface="JetBrains Mono" pitchFamily="49" charset="-120"/>
              </a:rPr>
              <a:t>10.10.0.30</a:t>
            </a:r>
            <a:endParaRPr lang="en-US" sz="1400" dirty="0"/>
          </a:p>
        </p:txBody>
      </p:sp>
      <p:sp>
        <p:nvSpPr>
          <p:cNvPr id="16" name="Text 14"/>
          <p:cNvSpPr/>
          <p:nvPr/>
        </p:nvSpPr>
        <p:spPr>
          <a:xfrm>
            <a:off x="812800" y="3770412"/>
            <a:ext cx="10883392"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B0748"/>
                </a:solidFill>
                <a:latin typeface="Sora" pitchFamily="34" charset="0"/>
                <a:ea typeface="Sora" pitchFamily="34" charset="-122"/>
                <a:cs typeface="Sora" pitchFamily="34" charset="-120"/>
              </a:rPr>
              <a:t>Trois plages d'adresses, qui ne doivent jamais se chevaucher</a:t>
            </a:r>
            <a:endParaRPr lang="en-US" sz="1700" dirty="0"/>
          </a:p>
        </p:txBody>
      </p:sp>
      <p:sp>
        <p:nvSpPr>
          <p:cNvPr id="17" name="Shape 15"/>
          <p:cNvSpPr/>
          <p:nvPr/>
        </p:nvSpPr>
        <p:spPr>
          <a:xfrm>
            <a:off x="815975" y="4266357"/>
            <a:ext cx="10560050" cy="470112"/>
          </a:xfrm>
          <a:prstGeom prst="roundRect">
            <a:avLst>
              <a:gd name="adj" fmla="val 20937"/>
            </a:avLst>
          </a:prstGeom>
          <a:solidFill>
            <a:srgbClr val="FDFDFF"/>
          </a:solidFill>
          <a:ln w="6350">
            <a:solidFill>
              <a:srgbClr val="E1DFEE"/>
            </a:solidFill>
            <a:prstDash val="solid"/>
          </a:ln>
        </p:spPr>
      </p:sp>
      <p:sp>
        <p:nvSpPr>
          <p:cNvPr id="18" name="Text 16"/>
          <p:cNvSpPr/>
          <p:nvPr/>
        </p:nvSpPr>
        <p:spPr>
          <a:xfrm>
            <a:off x="1023091" y="4376961"/>
            <a:ext cx="274701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IBM Plex Sans" pitchFamily="34" charset="0"/>
                <a:ea typeface="IBM Plex Sans" pitchFamily="34" charset="-122"/>
                <a:cs typeface="IBM Plex Sans" pitchFamily="34" charset="-120"/>
              </a:rPr>
              <a:t>Réseau des VM</a:t>
            </a:r>
            <a:endParaRPr lang="en-US" sz="1400" dirty="0"/>
          </a:p>
        </p:txBody>
      </p:sp>
      <p:sp>
        <p:nvSpPr>
          <p:cNvPr id="19" name="Text 17"/>
          <p:cNvSpPr/>
          <p:nvPr/>
        </p:nvSpPr>
        <p:spPr>
          <a:xfrm>
            <a:off x="3867891" y="4359176"/>
            <a:ext cx="274701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JetBrains Mono" pitchFamily="49" charset="0"/>
                <a:ea typeface="JetBrains Mono" pitchFamily="49" charset="-122"/>
                <a:cs typeface="JetBrains Mono" pitchFamily="49" charset="-120"/>
              </a:rPr>
              <a:t>10.10.0.0/24</a:t>
            </a:r>
            <a:endParaRPr lang="en-US" sz="1600" dirty="0"/>
          </a:p>
        </p:txBody>
      </p:sp>
      <p:sp>
        <p:nvSpPr>
          <p:cNvPr id="20" name="Text 18"/>
          <p:cNvSpPr/>
          <p:nvPr/>
        </p:nvSpPr>
        <p:spPr>
          <a:xfrm>
            <a:off x="6712691" y="4385841"/>
            <a:ext cx="458990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les adresses des nœuds</a:t>
            </a:r>
            <a:endParaRPr lang="en-US" sz="1300" dirty="0"/>
          </a:p>
        </p:txBody>
      </p:sp>
      <p:sp>
        <p:nvSpPr>
          <p:cNvPr id="21" name="Shape 19"/>
          <p:cNvSpPr/>
          <p:nvPr/>
        </p:nvSpPr>
        <p:spPr>
          <a:xfrm>
            <a:off x="812800" y="4828530"/>
            <a:ext cx="10566400" cy="462280"/>
          </a:xfrm>
          <a:prstGeom prst="roundRect">
            <a:avLst>
              <a:gd name="adj" fmla="val 21978"/>
            </a:avLst>
          </a:prstGeom>
          <a:solidFill>
            <a:srgbClr val="FCE6DC"/>
          </a:solidFill>
          <a:ln/>
        </p:spPr>
      </p:sp>
      <p:sp>
        <p:nvSpPr>
          <p:cNvPr id="22" name="Text 20"/>
          <p:cNvSpPr/>
          <p:nvPr/>
        </p:nvSpPr>
        <p:spPr>
          <a:xfrm>
            <a:off x="1016000" y="4935215"/>
            <a:ext cx="274701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IBM Plex Sans" pitchFamily="34" charset="0"/>
                <a:ea typeface="IBM Plex Sans" pitchFamily="34" charset="-122"/>
                <a:cs typeface="IBM Plex Sans" pitchFamily="34" charset="-120"/>
              </a:rPr>
              <a:t>Réseau des pods</a:t>
            </a:r>
            <a:endParaRPr lang="en-US" sz="1400" dirty="0"/>
          </a:p>
        </p:txBody>
      </p:sp>
      <p:sp>
        <p:nvSpPr>
          <p:cNvPr id="23" name="Text 21"/>
          <p:cNvSpPr/>
          <p:nvPr/>
        </p:nvSpPr>
        <p:spPr>
          <a:xfrm>
            <a:off x="3860800" y="4917430"/>
            <a:ext cx="274701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421A"/>
                </a:solidFill>
                <a:latin typeface="JetBrains Mono" pitchFamily="49" charset="0"/>
                <a:ea typeface="JetBrains Mono" pitchFamily="49" charset="-122"/>
                <a:cs typeface="JetBrains Mono" pitchFamily="49" charset="-120"/>
              </a:rPr>
              <a:t>10.244.0.0/16</a:t>
            </a:r>
            <a:endParaRPr lang="en-US" sz="1600" dirty="0"/>
          </a:p>
        </p:txBody>
      </p:sp>
      <p:sp>
        <p:nvSpPr>
          <p:cNvPr id="24" name="Text 22"/>
          <p:cNvSpPr/>
          <p:nvPr/>
        </p:nvSpPr>
        <p:spPr>
          <a:xfrm>
            <a:off x="6705600" y="4944120"/>
            <a:ext cx="460451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une IP par pod, fournie par Calico</a:t>
            </a:r>
            <a:endParaRPr lang="en-US" sz="1300" dirty="0"/>
          </a:p>
        </p:txBody>
      </p:sp>
      <p:sp>
        <p:nvSpPr>
          <p:cNvPr id="25" name="Shape 23"/>
          <p:cNvSpPr/>
          <p:nvPr/>
        </p:nvSpPr>
        <p:spPr>
          <a:xfrm>
            <a:off x="812800" y="5379715"/>
            <a:ext cx="10566400" cy="462280"/>
          </a:xfrm>
          <a:prstGeom prst="roundRect">
            <a:avLst>
              <a:gd name="adj" fmla="val 21978"/>
            </a:avLst>
          </a:prstGeom>
          <a:solidFill>
            <a:srgbClr val="ECEAF6"/>
          </a:solidFill>
          <a:ln/>
        </p:spPr>
      </p:sp>
      <p:sp>
        <p:nvSpPr>
          <p:cNvPr id="26" name="Text 24"/>
          <p:cNvSpPr/>
          <p:nvPr/>
        </p:nvSpPr>
        <p:spPr>
          <a:xfrm>
            <a:off x="1016000" y="5486400"/>
            <a:ext cx="274701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IBM Plex Sans" pitchFamily="34" charset="0"/>
                <a:ea typeface="IBM Plex Sans" pitchFamily="34" charset="-122"/>
                <a:cs typeface="IBM Plex Sans" pitchFamily="34" charset="-120"/>
              </a:rPr>
              <a:t>Réseau des Services</a:t>
            </a:r>
            <a:endParaRPr lang="en-US" sz="1400" dirty="0"/>
          </a:p>
        </p:txBody>
      </p:sp>
      <p:sp>
        <p:nvSpPr>
          <p:cNvPr id="27" name="Text 25"/>
          <p:cNvSpPr/>
          <p:nvPr/>
        </p:nvSpPr>
        <p:spPr>
          <a:xfrm>
            <a:off x="3860800" y="5468615"/>
            <a:ext cx="274701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JetBrains Mono" pitchFamily="49" charset="0"/>
                <a:ea typeface="JetBrains Mono" pitchFamily="49" charset="-122"/>
                <a:cs typeface="JetBrains Mono" pitchFamily="49" charset="-120"/>
              </a:rPr>
              <a:t>10.96.0.0/12</a:t>
            </a:r>
            <a:endParaRPr lang="en-US" sz="1600" dirty="0"/>
          </a:p>
        </p:txBody>
      </p:sp>
      <p:sp>
        <p:nvSpPr>
          <p:cNvPr id="28" name="Text 26"/>
          <p:cNvSpPr/>
          <p:nvPr/>
        </p:nvSpPr>
        <p:spPr>
          <a:xfrm>
            <a:off x="6705600" y="5495280"/>
            <a:ext cx="460451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les ClusterIP, défaut de kubeadm</a:t>
            </a:r>
            <a:endParaRPr lang="en-US" sz="1300" dirty="0"/>
          </a:p>
        </p:txBody>
      </p:sp>
      <p:pic>
        <p:nvPicPr>
          <p:cNvPr id="29"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30" name="Text 2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1" name="Image 1" descr="Parcours : module 4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04 · INSTALLER UN CLUSTER AVEC KUBEADM</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Prérequis système et leur raison d'être</a:t>
            </a:r>
            <a:endParaRPr lang="en-US" sz="2800" dirty="0"/>
          </a:p>
        </p:txBody>
      </p:sp>
      <p:sp>
        <p:nvSpPr>
          <p:cNvPr id="4" name="Shape 2"/>
          <p:cNvSpPr/>
          <p:nvPr/>
        </p:nvSpPr>
        <p:spPr>
          <a:xfrm>
            <a:off x="812800" y="1595115"/>
            <a:ext cx="10566400" cy="3811799"/>
          </a:xfrm>
          <a:prstGeom prst="rect">
            <a:avLst/>
          </a:prstGeom>
          <a:solidFill>
            <a:srgbClr val="FDFD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9891" y="1602206"/>
          <a:ext cx="10559309" cy="3804708"/>
        </p:xfrm>
        <a:graphic>
          <a:graphicData uri="http://schemas.openxmlformats.org/drawingml/2006/table">
            <a:tbl>
              <a:tblPr/>
              <a:tblGrid>
                <a:gridCol w="4434910"/>
                <a:gridCol w="6124399"/>
              </a:tblGrid>
              <a:tr h="380471">
                <a:tc>
                  <a:txBody>
                    <a:bodyPr/>
                    <a:lstStyle/>
                    <a:p>
                      <a:pPr indent="0" marL="0">
                        <a:lnSpc>
                          <a:spcPts val="1960"/>
                        </a:lnSpc>
                        <a:buNone/>
                      </a:pPr>
                      <a:r>
                        <a:rPr lang="en-US" sz="1400" b="1" dirty="0">
                          <a:solidFill>
                            <a:srgbClr val="F5F4F9"/>
                          </a:solidFill>
                          <a:latin typeface="IBM Plex Sans" pitchFamily="34" charset="0"/>
                          <a:ea typeface="IBM Plex Sans" pitchFamily="34" charset="-122"/>
                          <a:cs typeface="IBM Plex Sans" pitchFamily="34" charset="-120"/>
                        </a:rPr>
                        <a:t>Prérequis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960"/>
                        </a:lnSpc>
                        <a:buNone/>
                      </a:pPr>
                      <a:r>
                        <a:rPr lang="en-US" sz="1400" b="1" dirty="0">
                          <a:solidFill>
                            <a:srgbClr val="F5F4F9"/>
                          </a:solidFill>
                          <a:latin typeface="IBM Plex Sans" pitchFamily="34" charset="0"/>
                          <a:ea typeface="IBM Plex Sans" pitchFamily="34" charset="-122"/>
                          <a:cs typeface="IBM Plex Sans" pitchFamily="34" charset="-120"/>
                        </a:rPr>
                        <a:t>Pourquoi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2 vCPU et 2 Go de RAM (control plane)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kubeadm le vérifie au démarrage et refuse en dessous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Nom d'hôte, MAC, machine-id uniques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Le nom d'hôte devient le nom du nœud dans le cluster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Swap désactivé</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Par défaut, le kubelet refuse de démarrer avec du swap actif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Modules overlay et br_netfilter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Fichiers en couches ; iptables voit le trafic des ponts réseau</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net.ipv4.ip_forward =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Le nœud route les paquets entre pods et vers l'extérieur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net.bridge.bridge-nf-call-iptables =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Les règles des Services s'appliquent au trafic ponté</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Ports ouverts entre nœuds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6443 · 2379-2380 · 10250 · 10257 · 10259 · 30000-32767 · CNI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Horloge synchronisée (NTP)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Une horloge décalée fait rejeter les certificats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Runtime compatible CRI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Kubernetes ne lance pas les conteneurs lui-même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bl>
          </a:graphicData>
        </a:graphic>
      </p:graphicFrame>
      <p:pic>
        <p:nvPicPr>
          <p:cNvPr id="6"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7" name="Text 3"/>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8" name="Image 1" descr="Parcours : module 4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04 · INSTALLER UN CLUSTER AVEC KUBEADM</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runtime : containerd 2</a:t>
            </a:r>
            <a:endParaRPr lang="en-US" sz="2800" dirty="0"/>
          </a:p>
        </p:txBody>
      </p:sp>
      <p:sp>
        <p:nvSpPr>
          <p:cNvPr id="4" name="Text 2"/>
          <p:cNvSpPr/>
          <p:nvPr/>
        </p:nvSpPr>
        <p:spPr>
          <a:xfrm>
            <a:off x="812800" y="154431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Depuis la 1.36, Kubernetes exige containerd 2.0 ou plus. Ubuntu 24.04 fournit encore la 1.7 : on installe le paquet containerd.io du dépôt Docker, puis on régénère sa configuration, qui désactive l'interface CRI.</a:t>
            </a:r>
            <a:endParaRPr lang="en-US" sz="1500" dirty="0"/>
          </a:p>
        </p:txBody>
      </p:sp>
      <p:sp>
        <p:nvSpPr>
          <p:cNvPr id="5" name="Text 3"/>
          <p:cNvSpPr/>
          <p:nvPr/>
        </p:nvSpPr>
        <p:spPr>
          <a:xfrm>
            <a:off x="812800" y="2280915"/>
            <a:ext cx="10566400" cy="1036320"/>
          </a:xfrm>
          <a:prstGeom prst="roundRect">
            <a:avLst>
              <a:gd name="adj" fmla="val 9804"/>
            </a:avLst>
          </a:prstGeom>
          <a:solidFill>
            <a:srgbClr val="0B0748"/>
          </a:solidFill>
          <a:ln/>
        </p:spPr>
        <p:txBody>
          <a:bodyPr wrap="none" lIns="173442" tIns="122642" rIns="0" bIns="97242" rtlCol="0" anchor="t">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containerd config default | sudo tee /etc/containerd/config.toml &gt; /dev/null</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sudo sed -i 's/SystemdCgroup = false/</a:t>
            </a:r>
            <a:r>
              <a:rPr lang="en-US" sz="1200" dirty="0">
                <a:solidFill>
                  <a:srgbClr val="FFB08F"/>
                </a:solidFill>
                <a:latin typeface="JetBrains Mono" pitchFamily="49" charset="0"/>
                <a:ea typeface="JetBrains Mono" pitchFamily="49" charset="-122"/>
                <a:cs typeface="JetBrains Mono" pitchFamily="49" charset="-120"/>
              </a:rPr>
              <a:t>SystemdCgroup = true</a:t>
            </a:r>
            <a:r>
              <a:rPr lang="en-US" sz="1200" dirty="0">
                <a:solidFill>
                  <a:srgbClr val="ECEAFF"/>
                </a:solidFill>
                <a:latin typeface="JetBrains Mono" pitchFamily="49" charset="0"/>
                <a:ea typeface="JetBrains Mono" pitchFamily="49" charset="-122"/>
                <a:cs typeface="JetBrains Mono" pitchFamily="49" charset="-120"/>
              </a:rPr>
              <a:t>/' /etc/containerd/config.toml</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sudo systemctl restart containerd</a:t>
            </a:r>
            <a:endParaRPr lang="en-US" sz="1200" dirty="0"/>
          </a:p>
        </p:txBody>
      </p:sp>
      <p:sp>
        <p:nvSpPr>
          <p:cNvPr id="6" name="Shape 4"/>
          <p:cNvSpPr/>
          <p:nvPr/>
        </p:nvSpPr>
        <p:spPr>
          <a:xfrm>
            <a:off x="815975" y="3523605"/>
            <a:ext cx="5187950" cy="2315210"/>
          </a:xfrm>
          <a:prstGeom prst="roundRect">
            <a:avLst>
              <a:gd name="adj" fmla="val 5348"/>
            </a:avLst>
          </a:prstGeom>
          <a:solidFill>
            <a:srgbClr val="FDFDFF"/>
          </a:solidFill>
          <a:ln w="6350">
            <a:solidFill>
              <a:srgbClr val="E1DFEE"/>
            </a:solidFill>
            <a:prstDash val="solid"/>
          </a:ln>
        </p:spPr>
      </p:sp>
      <p:sp>
        <p:nvSpPr>
          <p:cNvPr id="7" name="Text 5"/>
          <p:cNvSpPr/>
          <p:nvPr/>
        </p:nvSpPr>
        <p:spPr>
          <a:xfrm>
            <a:off x="1035791" y="3718024"/>
            <a:ext cx="489076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POURQUOI SYSTEMDCGROUP = TRUE ?</a:t>
            </a:r>
            <a:endParaRPr lang="en-US" sz="1200" dirty="0"/>
          </a:p>
        </p:txBody>
      </p:sp>
      <p:sp>
        <p:nvSpPr>
          <p:cNvPr id="8" name="Text 6"/>
          <p:cNvSpPr/>
          <p:nvPr/>
        </p:nvSpPr>
        <p:spPr>
          <a:xfrm>
            <a:off x="1035791" y="4007594"/>
            <a:ext cx="4890768"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0B0748"/>
                </a:solidFill>
                <a:latin typeface="IBM Plex Sans" pitchFamily="34" charset="0"/>
                <a:ea typeface="IBM Plex Sans" pitchFamily="34" charset="-122"/>
                <a:cs typeface="IBM Plex Sans" pitchFamily="34" charset="-120"/>
              </a:rPr>
              <a:t>Un seul gestionnaire des cgroups par machine : le kubelet et le runtime doivent utiliser le même pilote, systemd. Sinon, le nœud devient instable sous charge.</a:t>
            </a:r>
            <a:endParaRPr lang="en-US" sz="1300" dirty="0"/>
          </a:p>
        </p:txBody>
      </p:sp>
      <p:sp>
        <p:nvSpPr>
          <p:cNvPr id="9" name="Text 7"/>
          <p:cNvSpPr/>
          <p:nvPr/>
        </p:nvSpPr>
        <p:spPr>
          <a:xfrm>
            <a:off x="1035791" y="4801964"/>
            <a:ext cx="48907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Avec containerd 2, le kubelet détecte le pilote automatiquement.</a:t>
            </a:r>
            <a:endParaRPr lang="en-US" sz="1200" dirty="0"/>
          </a:p>
        </p:txBody>
      </p:sp>
      <p:sp>
        <p:nvSpPr>
          <p:cNvPr id="10" name="Shape 8"/>
          <p:cNvSpPr/>
          <p:nvPr/>
        </p:nvSpPr>
        <p:spPr>
          <a:xfrm>
            <a:off x="6188075" y="3523605"/>
            <a:ext cx="5187950" cy="2315210"/>
          </a:xfrm>
          <a:prstGeom prst="roundRect">
            <a:avLst>
              <a:gd name="adj" fmla="val 5348"/>
            </a:avLst>
          </a:prstGeom>
          <a:solidFill>
            <a:srgbClr val="FDFDFF"/>
          </a:solidFill>
          <a:ln w="6350">
            <a:solidFill>
              <a:srgbClr val="E1DFEE"/>
            </a:solidFill>
            <a:prstDash val="solid"/>
          </a:ln>
        </p:spPr>
      </p:sp>
      <p:sp>
        <p:nvSpPr>
          <p:cNvPr id="11" name="Text 9"/>
          <p:cNvSpPr/>
          <p:nvPr/>
        </p:nvSpPr>
        <p:spPr>
          <a:xfrm>
            <a:off x="6407891" y="3718024"/>
            <a:ext cx="489076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CRICTL, LE DIAGNOSTIC CÔTÉ NŒUD</a:t>
            </a:r>
            <a:endParaRPr lang="en-US" sz="1200" dirty="0"/>
          </a:p>
        </p:txBody>
      </p:sp>
      <p:sp>
        <p:nvSpPr>
          <p:cNvPr id="12" name="Text 10"/>
          <p:cNvSpPr/>
          <p:nvPr/>
        </p:nvSpPr>
        <p:spPr>
          <a:xfrm>
            <a:off x="6407891" y="4007594"/>
            <a:ext cx="4890768"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0B0748"/>
                </a:solidFill>
                <a:latin typeface="IBM Plex Sans" pitchFamily="34" charset="0"/>
                <a:ea typeface="IBM Plex Sans" pitchFamily="34" charset="-122"/>
                <a:cs typeface="IBM Plex Sans" pitchFamily="34" charset="-120"/>
              </a:rPr>
              <a:t>Il parle au runtime sans passer par l'API server : il marche même control plane en panne. Paquet cri-tools, à installer.</a:t>
            </a:r>
            <a:endParaRPr lang="en-US" sz="1300" dirty="0"/>
          </a:p>
        </p:txBody>
      </p:sp>
      <p:sp>
        <p:nvSpPr>
          <p:cNvPr id="13" name="Text 11"/>
          <p:cNvSpPr/>
          <p:nvPr/>
        </p:nvSpPr>
        <p:spPr>
          <a:xfrm>
            <a:off x="6407891" y="4562574"/>
            <a:ext cx="4748318" cy="355600"/>
          </a:xfrm>
          <a:prstGeom prst="roundRect">
            <a:avLst>
              <a:gd name="adj" fmla="val 17857"/>
            </a:avLst>
          </a:prstGeom>
          <a:solidFill>
            <a:srgbClr val="ECEAF6"/>
          </a:solidFill>
          <a:ln/>
        </p:spPr>
        <p:txBody>
          <a:bodyPr wrap="square" lIns="83001" tIns="44901" rIns="0" bIns="19501" rtlCol="0" anchor="t">
            <a:normAutofit/>
          </a:bodyPr>
          <a:lstStyle/>
          <a:p>
            <a:pPr algn="l" indent="0" marL="0">
              <a:lnSpc>
                <a:spcPts val="1800"/>
              </a:lnSpc>
              <a:buNone/>
            </a:pPr>
            <a:r>
              <a:rPr lang="en-US" sz="1200" dirty="0">
                <a:solidFill>
                  <a:srgbClr val="0B0748"/>
                </a:solidFill>
                <a:latin typeface="JetBrains Mono" pitchFamily="49" charset="0"/>
                <a:ea typeface="JetBrains Mono" pitchFamily="49" charset="-122"/>
                <a:cs typeface="JetBrains Mono" pitchFamily="49" charset="-120"/>
              </a:rPr>
              <a:t>sudo crictl ps · pods · images · logs &lt;id&gt;</a:t>
            </a:r>
            <a:endParaRPr lang="en-US" sz="1200" dirty="0"/>
          </a:p>
        </p:txBody>
      </p:sp>
      <p:pic>
        <p:nvPicPr>
          <p:cNvPr id="14"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5" name="Text 12"/>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6" name="Image 1" descr="Parcours : module 4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04 · INSTALLER UN CLUSTER AVEC KUBEADM</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trois binaires Kubernetes</a:t>
            </a:r>
            <a:endParaRPr lang="en-US" sz="2800" dirty="0"/>
          </a:p>
        </p:txBody>
      </p:sp>
      <p:sp>
        <p:nvSpPr>
          <p:cNvPr id="4" name="Shape 2"/>
          <p:cNvSpPr/>
          <p:nvPr/>
        </p:nvSpPr>
        <p:spPr>
          <a:xfrm>
            <a:off x="815975" y="1598290"/>
            <a:ext cx="3397250" cy="1773132"/>
          </a:xfrm>
          <a:prstGeom prst="roundRect">
            <a:avLst>
              <a:gd name="adj" fmla="val 6983"/>
            </a:avLst>
          </a:prstGeom>
          <a:solidFill>
            <a:srgbClr val="FDFDFF"/>
          </a:solidFill>
          <a:ln w="6350">
            <a:solidFill>
              <a:srgbClr val="E1DFEE"/>
            </a:solidFill>
            <a:prstDash val="solid"/>
          </a:ln>
        </p:spPr>
      </p:sp>
      <p:sp>
        <p:nvSpPr>
          <p:cNvPr id="5" name="Text 3"/>
          <p:cNvSpPr/>
          <p:nvPr/>
        </p:nvSpPr>
        <p:spPr>
          <a:xfrm>
            <a:off x="1035791" y="1818109"/>
            <a:ext cx="304634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0748"/>
                </a:solidFill>
                <a:latin typeface="JetBrains Mono" pitchFamily="49" charset="0"/>
                <a:ea typeface="JetBrains Mono" pitchFamily="49" charset="-122"/>
                <a:cs typeface="JetBrains Mono" pitchFamily="49" charset="-120"/>
              </a:rPr>
              <a:t>kubeadm</a:t>
            </a:r>
            <a:endParaRPr lang="en-US" sz="2000" dirty="0"/>
          </a:p>
        </p:txBody>
      </p:sp>
      <p:sp>
        <p:nvSpPr>
          <p:cNvPr id="6" name="Text 4"/>
          <p:cNvSpPr/>
          <p:nvPr/>
        </p:nvSpPr>
        <p:spPr>
          <a:xfrm>
            <a:off x="1035791" y="2262609"/>
            <a:ext cx="304634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Crée, joint, met à jour et réinitialise un cluster.</a:t>
            </a:r>
            <a:endParaRPr lang="en-US" sz="1400" dirty="0"/>
          </a:p>
        </p:txBody>
      </p:sp>
      <p:sp>
        <p:nvSpPr>
          <p:cNvPr id="7" name="Text 5"/>
          <p:cNvSpPr/>
          <p:nvPr/>
        </p:nvSpPr>
        <p:spPr>
          <a:xfrm>
            <a:off x="1035791" y="2938239"/>
            <a:ext cx="30463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IBM Plex Sans" pitchFamily="34" charset="0"/>
                <a:ea typeface="IBM Plex Sans" pitchFamily="34" charset="-122"/>
                <a:cs typeface="IBM Plex Sans" pitchFamily="34" charset="-120"/>
              </a:rPr>
              <a:t>Sur tous les nœuds</a:t>
            </a:r>
            <a:endParaRPr lang="en-US" sz="1200" dirty="0"/>
          </a:p>
        </p:txBody>
      </p:sp>
      <p:sp>
        <p:nvSpPr>
          <p:cNvPr id="8" name="Shape 6"/>
          <p:cNvSpPr/>
          <p:nvPr/>
        </p:nvSpPr>
        <p:spPr>
          <a:xfrm>
            <a:off x="4397375" y="1598290"/>
            <a:ext cx="3397250" cy="1773132"/>
          </a:xfrm>
          <a:prstGeom prst="roundRect">
            <a:avLst>
              <a:gd name="adj" fmla="val 6983"/>
            </a:avLst>
          </a:prstGeom>
          <a:solidFill>
            <a:srgbClr val="FDFDFF"/>
          </a:solidFill>
          <a:ln w="6350">
            <a:solidFill>
              <a:srgbClr val="E1DFEE"/>
            </a:solidFill>
            <a:prstDash val="solid"/>
          </a:ln>
        </p:spPr>
      </p:sp>
      <p:sp>
        <p:nvSpPr>
          <p:cNvPr id="9" name="Text 7"/>
          <p:cNvSpPr/>
          <p:nvPr/>
        </p:nvSpPr>
        <p:spPr>
          <a:xfrm>
            <a:off x="4617191" y="1818109"/>
            <a:ext cx="304634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0748"/>
                </a:solidFill>
                <a:latin typeface="JetBrains Mono" pitchFamily="49" charset="0"/>
                <a:ea typeface="JetBrains Mono" pitchFamily="49" charset="-122"/>
                <a:cs typeface="JetBrains Mono" pitchFamily="49" charset="-120"/>
              </a:rPr>
              <a:t>kubelet</a:t>
            </a:r>
            <a:endParaRPr lang="en-US" sz="2000" dirty="0"/>
          </a:p>
        </p:txBody>
      </p:sp>
      <p:sp>
        <p:nvSpPr>
          <p:cNvPr id="10" name="Text 8"/>
          <p:cNvSpPr/>
          <p:nvPr/>
        </p:nvSpPr>
        <p:spPr>
          <a:xfrm>
            <a:off x="4617191" y="2262609"/>
            <a:ext cx="304634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L'agent qui fait tourner les pods.</a:t>
            </a:r>
            <a:endParaRPr lang="en-US" sz="1400" dirty="0"/>
          </a:p>
        </p:txBody>
      </p:sp>
      <p:sp>
        <p:nvSpPr>
          <p:cNvPr id="11" name="Text 9"/>
          <p:cNvSpPr/>
          <p:nvPr/>
        </p:nvSpPr>
        <p:spPr>
          <a:xfrm>
            <a:off x="4617191" y="2938239"/>
            <a:ext cx="30463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IBM Plex Sans" pitchFamily="34" charset="0"/>
                <a:ea typeface="IBM Plex Sans" pitchFamily="34" charset="-122"/>
                <a:cs typeface="IBM Plex Sans" pitchFamily="34" charset="-120"/>
              </a:rPr>
              <a:t>Sur tous les nœuds</a:t>
            </a:r>
            <a:endParaRPr lang="en-US" sz="1200" dirty="0"/>
          </a:p>
        </p:txBody>
      </p:sp>
      <p:sp>
        <p:nvSpPr>
          <p:cNvPr id="12" name="Shape 10"/>
          <p:cNvSpPr/>
          <p:nvPr/>
        </p:nvSpPr>
        <p:spPr>
          <a:xfrm>
            <a:off x="7978775" y="1598290"/>
            <a:ext cx="3397250" cy="1773132"/>
          </a:xfrm>
          <a:prstGeom prst="roundRect">
            <a:avLst>
              <a:gd name="adj" fmla="val 6983"/>
            </a:avLst>
          </a:prstGeom>
          <a:solidFill>
            <a:srgbClr val="FDFDFF"/>
          </a:solidFill>
          <a:ln w="6350">
            <a:solidFill>
              <a:srgbClr val="E1DFEE"/>
            </a:solidFill>
            <a:prstDash val="solid"/>
          </a:ln>
        </p:spPr>
      </p:sp>
      <p:sp>
        <p:nvSpPr>
          <p:cNvPr id="13" name="Text 11"/>
          <p:cNvSpPr/>
          <p:nvPr/>
        </p:nvSpPr>
        <p:spPr>
          <a:xfrm>
            <a:off x="8198591" y="1818109"/>
            <a:ext cx="304634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0748"/>
                </a:solidFill>
                <a:latin typeface="JetBrains Mono" pitchFamily="49" charset="0"/>
                <a:ea typeface="JetBrains Mono" pitchFamily="49" charset="-122"/>
                <a:cs typeface="JetBrains Mono" pitchFamily="49" charset="-120"/>
              </a:rPr>
              <a:t>kubectl</a:t>
            </a:r>
            <a:endParaRPr lang="en-US" sz="2000" dirty="0"/>
          </a:p>
        </p:txBody>
      </p:sp>
      <p:sp>
        <p:nvSpPr>
          <p:cNvPr id="14" name="Text 12"/>
          <p:cNvSpPr/>
          <p:nvPr/>
        </p:nvSpPr>
        <p:spPr>
          <a:xfrm>
            <a:off x="8198591" y="2262609"/>
            <a:ext cx="304634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Le client en ligne de commande de l'API.</a:t>
            </a:r>
            <a:endParaRPr lang="en-US" sz="1400" dirty="0"/>
          </a:p>
        </p:txBody>
      </p:sp>
      <p:sp>
        <p:nvSpPr>
          <p:cNvPr id="15" name="Text 13"/>
          <p:cNvSpPr/>
          <p:nvPr/>
        </p:nvSpPr>
        <p:spPr>
          <a:xfrm>
            <a:off x="8198591" y="2938239"/>
            <a:ext cx="30463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IBM Plex Sans" pitchFamily="34" charset="0"/>
                <a:ea typeface="IBM Plex Sans" pitchFamily="34" charset="-122"/>
                <a:cs typeface="IBM Plex Sans" pitchFamily="34" charset="-120"/>
              </a:rPr>
              <a:t>Là où vous administrez : ici k8s-cp</a:t>
            </a:r>
            <a:endParaRPr lang="en-US" sz="1200" dirty="0"/>
          </a:p>
        </p:txBody>
      </p:sp>
      <p:sp>
        <p:nvSpPr>
          <p:cNvPr id="16" name="Shape 14"/>
          <p:cNvSpPr/>
          <p:nvPr/>
        </p:nvSpPr>
        <p:spPr>
          <a:xfrm>
            <a:off x="812800" y="4334520"/>
            <a:ext cx="5194300" cy="1507490"/>
          </a:xfrm>
          <a:prstGeom prst="roundRect">
            <a:avLst>
              <a:gd name="adj" fmla="val 8425"/>
            </a:avLst>
          </a:prstGeom>
          <a:solidFill>
            <a:srgbClr val="0B0748"/>
          </a:solidFill>
          <a:ln/>
        </p:spPr>
      </p:sp>
      <p:sp>
        <p:nvSpPr>
          <p:cNvPr id="17" name="Text 15"/>
          <p:cNvSpPr/>
          <p:nvPr/>
        </p:nvSpPr>
        <p:spPr>
          <a:xfrm>
            <a:off x="1041400" y="4537720"/>
            <a:ext cx="487921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UN DÉPÔT PAR VERSION MINEURE</a:t>
            </a:r>
            <a:endParaRPr lang="en-US" sz="1200" dirty="0"/>
          </a:p>
        </p:txBody>
      </p:sp>
      <p:sp>
        <p:nvSpPr>
          <p:cNvPr id="18" name="Text 16"/>
          <p:cNvSpPr/>
          <p:nvPr/>
        </p:nvSpPr>
        <p:spPr>
          <a:xfrm>
            <a:off x="1041400" y="4839965"/>
            <a:ext cx="48792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B08F"/>
                </a:solidFill>
                <a:latin typeface="JetBrains Mono" pitchFamily="49" charset="0"/>
                <a:ea typeface="JetBrains Mono" pitchFamily="49" charset="-122"/>
                <a:cs typeface="JetBrains Mono" pitchFamily="49" charset="-120"/>
              </a:rPr>
              <a:t>pkgs.k8s.io/core:/stable:/v1.37/deb/</a:t>
            </a:r>
            <a:endParaRPr lang="en-US" sz="1300" dirty="0"/>
          </a:p>
        </p:txBody>
      </p:sp>
      <p:sp>
        <p:nvSpPr>
          <p:cNvPr id="19" name="Text 17"/>
          <p:cNvSpPr/>
          <p:nvPr/>
        </p:nvSpPr>
        <p:spPr>
          <a:xfrm>
            <a:off x="1041400" y="5160020"/>
            <a:ext cx="4879213" cy="26479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CEAFF"/>
                </a:solidFill>
                <a:latin typeface="IBM Plex Sans" pitchFamily="34" charset="0"/>
                <a:ea typeface="IBM Plex Sans" pitchFamily="34" charset="-122"/>
                <a:cs typeface="IBM Plex Sans" pitchFamily="34" charset="-120"/>
              </a:rPr>
              <a:t>Pour passer en 1.38, il faudra changer l'adresse du dépôt.</a:t>
            </a:r>
            <a:endParaRPr lang="en-US" sz="1300" dirty="0"/>
          </a:p>
        </p:txBody>
      </p:sp>
      <p:sp>
        <p:nvSpPr>
          <p:cNvPr id="20" name="Shape 18"/>
          <p:cNvSpPr/>
          <p:nvPr/>
        </p:nvSpPr>
        <p:spPr>
          <a:xfrm>
            <a:off x="6184900" y="4334520"/>
            <a:ext cx="5194300" cy="1507490"/>
          </a:xfrm>
          <a:prstGeom prst="roundRect">
            <a:avLst>
              <a:gd name="adj" fmla="val 8425"/>
            </a:avLst>
          </a:prstGeom>
          <a:solidFill>
            <a:srgbClr val="0B0748"/>
          </a:solidFill>
          <a:ln/>
        </p:spPr>
      </p:sp>
      <p:sp>
        <p:nvSpPr>
          <p:cNvPr id="21" name="Text 19"/>
          <p:cNvSpPr/>
          <p:nvPr/>
        </p:nvSpPr>
        <p:spPr>
          <a:xfrm>
            <a:off x="6413500" y="4537720"/>
            <a:ext cx="487921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APT-MARK HOLD</a:t>
            </a:r>
            <a:endParaRPr lang="en-US" sz="1200" dirty="0"/>
          </a:p>
        </p:txBody>
      </p:sp>
      <p:sp>
        <p:nvSpPr>
          <p:cNvPr id="22" name="Text 20"/>
          <p:cNvSpPr/>
          <p:nvPr/>
        </p:nvSpPr>
        <p:spPr>
          <a:xfrm>
            <a:off x="6413500" y="4839965"/>
            <a:ext cx="48792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B08F"/>
                </a:solidFill>
                <a:latin typeface="JetBrains Mono" pitchFamily="49" charset="0"/>
                <a:ea typeface="JetBrains Mono" pitchFamily="49" charset="-122"/>
                <a:cs typeface="JetBrains Mono" pitchFamily="49" charset="-120"/>
              </a:rPr>
              <a:t>sudo apt-mark hold kubelet kubeadm kubectl</a:t>
            </a:r>
            <a:endParaRPr lang="en-US" sz="1300" dirty="0"/>
          </a:p>
        </p:txBody>
      </p:sp>
      <p:sp>
        <p:nvSpPr>
          <p:cNvPr id="23" name="Text 21"/>
          <p:cNvSpPr/>
          <p:nvPr/>
        </p:nvSpPr>
        <p:spPr>
          <a:xfrm>
            <a:off x="6413500" y="5160020"/>
            <a:ext cx="4879213"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CEAFF"/>
                </a:solidFill>
                <a:latin typeface="IBM Plex Sans" pitchFamily="34" charset="0"/>
                <a:ea typeface="IBM Plex Sans" pitchFamily="34" charset="-122"/>
                <a:cs typeface="IBM Plex Sans" pitchFamily="34" charset="-120"/>
              </a:rPr>
              <a:t>Une mise à jour système ne doit jamais changer la version de Kubernetes hors procédure.</a:t>
            </a:r>
            <a:endParaRPr lang="en-US" sz="1300" dirty="0"/>
          </a:p>
        </p:txBody>
      </p:sp>
      <p:pic>
        <p:nvPicPr>
          <p:cNvPr id="24"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5" name="Text 22"/>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6" name="Image 1" descr="Parcours : module 4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0E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TRAVAUX PRATIQUES · À FAIRE MAINTENANT</a:t>
            </a:r>
            <a:endParaRPr lang="en-US" sz="1200" dirty="0"/>
          </a:p>
        </p:txBody>
      </p:sp>
      <p:sp>
        <p:nvSpPr>
          <p:cNvPr id="3" name="Text 1"/>
          <p:cNvSpPr/>
          <p:nvPr/>
        </p:nvSpPr>
        <p:spPr>
          <a:xfrm>
            <a:off x="812800" y="1127770"/>
            <a:ext cx="3008630" cy="1054100"/>
          </a:xfrm>
          <a:prstGeom prst="rect">
            <a:avLst/>
          </a:prstGeom>
          <a:noFill/>
          <a:ln/>
        </p:spPr>
        <p:txBody>
          <a:bodyPr wrap="square" lIns="0" tIns="0" rIns="0" bIns="0" rtlCol="0" anchor="t">
            <a:normAutofit/>
          </a:bodyPr>
          <a:lstStyle/>
          <a:p>
            <a:pPr algn="l" indent="0" marL="0">
              <a:lnSpc>
                <a:spcPts val="8100"/>
              </a:lnSpc>
              <a:buNone/>
            </a:pPr>
            <a:r>
              <a:rPr lang="en-US" sz="9000" b="1" spc="-300" kern="0" dirty="0">
                <a:solidFill>
                  <a:srgbClr val="E25A2C"/>
                </a:solidFill>
                <a:latin typeface="Sora" pitchFamily="34" charset="0"/>
                <a:ea typeface="Sora" pitchFamily="34" charset="-122"/>
                <a:cs typeface="Sora" pitchFamily="34" charset="-120"/>
              </a:rPr>
              <a:t>TP1</a:t>
            </a:r>
            <a:endParaRPr lang="en-US" sz="9000" dirty="0"/>
          </a:p>
        </p:txBody>
      </p:sp>
      <p:pic>
        <p:nvPicPr>
          <p:cNvPr id="4" name="Image 0" descr="Clock">    </p:cNvPr>
          <p:cNvPicPr>
            <a:picLocks noChangeAspect="1"/>
          </p:cNvPicPr>
          <p:nvPr/>
        </p:nvPicPr>
        <p:blipFill>
          <a:blip r:embed="rId1"/>
          <a:srcRect l="0" r="0" t="0" b="0"/>
          <a:stretch/>
        </p:blipFill>
        <p:spPr>
          <a:xfrm>
            <a:off x="812800" y="2467620"/>
            <a:ext cx="254000" cy="254000"/>
          </a:xfrm>
          <a:prstGeom prst="rect">
            <a:avLst/>
          </a:prstGeom>
        </p:spPr>
      </p:pic>
      <p:sp>
        <p:nvSpPr>
          <p:cNvPr id="5" name="Text 2"/>
          <p:cNvSpPr/>
          <p:nvPr/>
        </p:nvSpPr>
        <p:spPr>
          <a:xfrm>
            <a:off x="1181100" y="2461270"/>
            <a:ext cx="1477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Jour 1 · 10:50</a:t>
            </a:r>
            <a:endParaRPr lang="en-US" sz="1500" dirty="0"/>
          </a:p>
        </p:txBody>
      </p:sp>
      <p:pic>
        <p:nvPicPr>
          <p:cNvPr id="6" name="Image 1" descr="Activity">    </p:cNvPr>
          <p:cNvPicPr>
            <a:picLocks noChangeAspect="1"/>
          </p:cNvPicPr>
          <p:nvPr/>
        </p:nvPicPr>
        <p:blipFill>
          <a:blip r:embed="rId2"/>
          <a:srcRect l="0" r="0" t="0" b="0"/>
          <a:stretch/>
        </p:blipFill>
        <p:spPr>
          <a:xfrm>
            <a:off x="812800" y="2835920"/>
            <a:ext cx="254000" cy="254000"/>
          </a:xfrm>
          <a:prstGeom prst="rect">
            <a:avLst/>
          </a:prstGeom>
        </p:spPr>
      </p:pic>
      <p:sp>
        <p:nvSpPr>
          <p:cNvPr id="7" name="Text 3"/>
          <p:cNvSpPr/>
          <p:nvPr/>
        </p:nvSpPr>
        <p:spPr>
          <a:xfrm>
            <a:off x="1181100" y="2829570"/>
            <a:ext cx="11889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70 minutes</a:t>
            </a:r>
            <a:endParaRPr lang="en-US" sz="1500" dirty="0"/>
          </a:p>
        </p:txBody>
      </p:sp>
      <p:pic>
        <p:nvPicPr>
          <p:cNvPr id="8" name="Image 2" descr="Book">    </p:cNvPr>
          <p:cNvPicPr>
            <a:picLocks noChangeAspect="1"/>
          </p:cNvPicPr>
          <p:nvPr/>
        </p:nvPicPr>
        <p:blipFill>
          <a:blip r:embed="rId3"/>
          <a:srcRect l="0" r="0" t="0" b="0"/>
          <a:stretch/>
        </p:blipFill>
        <p:spPr>
          <a:xfrm>
            <a:off x="812800" y="3197870"/>
            <a:ext cx="254000" cy="254000"/>
          </a:xfrm>
          <a:prstGeom prst="rect">
            <a:avLst/>
          </a:prstGeom>
        </p:spPr>
      </p:pic>
      <p:sp>
        <p:nvSpPr>
          <p:cNvPr id="9" name="Text 4"/>
          <p:cNvSpPr/>
          <p:nvPr/>
        </p:nvSpPr>
        <p:spPr>
          <a:xfrm>
            <a:off x="1181100" y="3200400"/>
            <a:ext cx="232079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Sections 4.2 à 4.4 et 1.8</a:t>
            </a:r>
            <a:endParaRPr lang="en-US" sz="1400" dirty="0"/>
          </a:p>
        </p:txBody>
      </p:sp>
      <p:sp>
        <p:nvSpPr>
          <p:cNvPr id="10" name="Text 5"/>
          <p:cNvSpPr/>
          <p:nvPr>
            <p:ph type="title"/>
          </p:nvPr>
        </p:nvSpPr>
        <p:spPr>
          <a:xfrm>
            <a:off x="4191000" y="1127770"/>
            <a:ext cx="7403846" cy="8077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Préparer les nœuds et premiers conteneurs</a:t>
            </a:r>
            <a:endParaRPr lang="en-US" sz="2800" dirty="0"/>
          </a:p>
        </p:txBody>
      </p:sp>
      <p:sp>
        <p:nvSpPr>
          <p:cNvPr id="11" name="Text 6"/>
          <p:cNvSpPr/>
          <p:nvPr/>
        </p:nvSpPr>
        <p:spPr>
          <a:xfrm>
            <a:off x="4191000" y="2113285"/>
            <a:ext cx="7403846"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F3C6B"/>
                </a:solidFill>
                <a:latin typeface="IBM Plex Sans" pitchFamily="34" charset="0"/>
                <a:ea typeface="IBM Plex Sans" pitchFamily="34" charset="-122"/>
                <a:cs typeface="IBM Plex Sans" pitchFamily="34" charset="-120"/>
              </a:rPr>
              <a:t>Appliquer les prérequis sur k8s-cp, installer containerd et les trois binaires, puis manipuler un premier conteneur avec ctr. Un script prépare ensuite les deux workers.</a:t>
            </a:r>
            <a:endParaRPr lang="en-US" sz="1600" dirty="0"/>
          </a:p>
        </p:txBody>
      </p:sp>
      <p:sp>
        <p:nvSpPr>
          <p:cNvPr id="12" name="Shape 7"/>
          <p:cNvSpPr/>
          <p:nvPr/>
        </p:nvSpPr>
        <p:spPr>
          <a:xfrm>
            <a:off x="4194175" y="4893742"/>
            <a:ext cx="7181850" cy="945092"/>
          </a:xfrm>
          <a:prstGeom prst="roundRect">
            <a:avLst>
              <a:gd name="adj" fmla="val 13102"/>
            </a:avLst>
          </a:prstGeom>
          <a:solidFill>
            <a:srgbClr val="FDFDFF"/>
          </a:solidFill>
          <a:ln w="6350">
            <a:solidFill>
              <a:srgbClr val="EBDDD2"/>
            </a:solidFill>
            <a:prstDash val="solid"/>
          </a:ln>
        </p:spPr>
      </p:sp>
      <p:pic>
        <p:nvPicPr>
          <p:cNvPr id="13" name="Image 3" descr="CheckCircle">    </p:cNvPr>
          <p:cNvPicPr>
            <a:picLocks noChangeAspect="1"/>
          </p:cNvPicPr>
          <p:nvPr/>
        </p:nvPicPr>
        <p:blipFill>
          <a:blip r:embed="rId4"/>
          <a:srcRect l="0" r="0" t="0" b="0"/>
          <a:stretch/>
        </p:blipFill>
        <p:spPr>
          <a:xfrm>
            <a:off x="4452091" y="5100861"/>
            <a:ext cx="355600" cy="355600"/>
          </a:xfrm>
          <a:prstGeom prst="rect">
            <a:avLst/>
          </a:prstGeom>
        </p:spPr>
      </p:pic>
      <p:sp>
        <p:nvSpPr>
          <p:cNvPr id="14" name="Text 8"/>
          <p:cNvSpPr/>
          <p:nvPr/>
        </p:nvSpPr>
        <p:spPr>
          <a:xfrm>
            <a:off x="4985491" y="5100861"/>
            <a:ext cx="63165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POINT DE CONTRÔLE</a:t>
            </a:r>
            <a:endParaRPr lang="en-US" sz="1200" dirty="0"/>
          </a:p>
        </p:txBody>
      </p:sp>
      <p:sp>
        <p:nvSpPr>
          <p:cNvPr id="15" name="Text 9"/>
          <p:cNvSpPr/>
          <p:nvPr/>
        </p:nvSpPr>
        <p:spPr>
          <a:xfrm>
            <a:off x="4985491" y="5365006"/>
            <a:ext cx="63873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containerd en 2.x, kubeadm en v1.37.x, swap désactivé, ip_forward à 1.</a:t>
            </a:r>
            <a:endParaRPr lang="en-US" sz="1500" dirty="0"/>
          </a:p>
        </p:txBody>
      </p:sp>
      <p:pic>
        <p:nvPicPr>
          <p:cNvPr id="16"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17" name="Text 1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5" descr="Parcours : module 4 sur 16">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04 · INSTALLER UN CLUSTER AVEC KUBEADM</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Ce que fait kubeadm init</a:t>
            </a:r>
            <a:endParaRPr lang="en-US" sz="2800" dirty="0"/>
          </a:p>
        </p:txBody>
      </p:sp>
      <p:sp>
        <p:nvSpPr>
          <p:cNvPr id="4" name="Text 2"/>
          <p:cNvSpPr/>
          <p:nvPr/>
        </p:nvSpPr>
        <p:spPr>
          <a:xfrm>
            <a:off x="812800" y="1544315"/>
            <a:ext cx="10566400" cy="741680"/>
          </a:xfrm>
          <a:prstGeom prst="roundRect">
            <a:avLst>
              <a:gd name="adj" fmla="val 13699"/>
            </a:avLst>
          </a:prstGeom>
          <a:solidFill>
            <a:srgbClr val="0B0748"/>
          </a:solidFill>
          <a:ln/>
        </p:spPr>
        <p:txBody>
          <a:bodyPr wrap="none" lIns="173442" tIns="97242" rIns="0" bIns="71842" rtlCol="0" anchor="t">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sudo kubeadm init --apiserver-advertise-address=10.10.0.10 --pod-network-cidr=10.244.0.0/16</a:t>
            </a:r>
            <a:endParaRPr lang="en-US" sz="1200" dirty="0"/>
          </a:p>
          <a:p>
            <a:pPr algn="l" indent="0" marL="0">
              <a:lnSpc>
                <a:spcPts val="1920"/>
              </a:lnSpc>
              <a:buNone/>
            </a:pPr>
            <a:r>
              <a:rPr lang="en-US" sz="1200" dirty="0">
                <a:solidFill>
                  <a:srgbClr val="9A96D0"/>
                </a:solidFill>
                <a:latin typeface="JetBrains Mono" pitchFamily="49" charset="0"/>
                <a:ea typeface="JetBrains Mono" pitchFamily="49" charset="-122"/>
                <a:cs typeface="JetBrains Mono" pitchFamily="49" charset="-120"/>
              </a:rPr>
              <a:t># chaque phase se lance aussi seule : kubeadm init phase --help</a:t>
            </a:r>
            <a:endParaRPr lang="en-US" sz="1200" dirty="0"/>
          </a:p>
        </p:txBody>
      </p:sp>
      <p:sp>
        <p:nvSpPr>
          <p:cNvPr id="5" name="Shape 3"/>
          <p:cNvSpPr/>
          <p:nvPr/>
        </p:nvSpPr>
        <p:spPr>
          <a:xfrm>
            <a:off x="812800" y="2489200"/>
            <a:ext cx="10566400" cy="3278399"/>
          </a:xfrm>
          <a:prstGeom prst="rect">
            <a:avLst/>
          </a:prstGeom>
          <a:solidFill>
            <a:srgbClr val="FDFD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9891" y="2496291"/>
          <a:ext cx="10559309" cy="3271308"/>
        </p:xfrm>
        <a:graphic>
          <a:graphicData uri="http://schemas.openxmlformats.org/drawingml/2006/table">
            <a:tbl>
              <a:tblPr/>
              <a:tblGrid>
                <a:gridCol w="2323048"/>
                <a:gridCol w="4646096"/>
                <a:gridCol w="3590165"/>
              </a:tblGrid>
              <a:tr h="327131">
                <a:tc>
                  <a:txBody>
                    <a:bodyPr/>
                    <a:lstStyle/>
                    <a:p>
                      <a:pPr indent="0" marL="0">
                        <a:lnSpc>
                          <a:spcPts val="1680"/>
                        </a:lnSpc>
                        <a:buNone/>
                      </a:pPr>
                      <a:r>
                        <a:rPr lang="en-US" sz="1200" b="1" dirty="0">
                          <a:solidFill>
                            <a:srgbClr val="FF8F66"/>
                          </a:solidFill>
                          <a:latin typeface="IBM Plex Sans" pitchFamily="34" charset="0"/>
                          <a:ea typeface="IBM Plex Sans" pitchFamily="34" charset="-122"/>
                          <a:cs typeface="IBM Plex Sans" pitchFamily="34" charset="-120"/>
                        </a:rPr>
                        <a:t>Phase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Ce qu'elle fait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Résultat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preflight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Vérifie les prérequis, télécharge les images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Erreurs si swap, ports pris, ip_forward…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certs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Crée les autorités et les certificats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/etc/kubernetes/pki/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kubeconfig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Fichiers d'accès des composants et de l'admin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/etc/kubernetes/*.conf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kubelet-start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Écrit la configuration du kubelet et le démarre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/var/lib/kubelet/config.yaml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control-plane, etcd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Écrit les manifestes des pods statiques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/etc/kubernetes/manifests/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upload-config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Enregistre la configuration dans l'API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ConfigMap kubeadm-config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mark-control-plane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Ajoute le label et la taint du control plane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Les applications évitent ce nœud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bootstrap-token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Crée le jeton qui permettra aux workers de rejoindre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Valable 24 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addon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Installe CoreDNS et kube-proxy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Deployment et DaemonSet dans kube-system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bl>
          </a:graphicData>
        </a:graphic>
      </p:graphicFrame>
      <p:pic>
        <p:nvPicPr>
          <p:cNvPr id="7"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8" name="Text 4"/>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9" name="Image 1" descr="Parcours : module 4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04 · INSTALLER UN CLUSTER AVEC KUBEADM</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kubeadm init : options et configuration</a:t>
            </a:r>
            <a:endParaRPr lang="en-US" sz="2800" dirty="0"/>
          </a:p>
        </p:txBody>
      </p:sp>
      <p:sp>
        <p:nvSpPr>
          <p:cNvPr id="4" name="Shape 2"/>
          <p:cNvSpPr/>
          <p:nvPr/>
        </p:nvSpPr>
        <p:spPr>
          <a:xfrm>
            <a:off x="812800" y="1569715"/>
            <a:ext cx="10566400" cy="1969876"/>
          </a:xfrm>
          <a:prstGeom prst="rect">
            <a:avLst/>
          </a:prstGeom>
          <a:solidFill>
            <a:srgbClr val="FDFD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9891" y="1576806"/>
          <a:ext cx="10559309" cy="1962785"/>
        </p:xfrm>
        <a:graphic>
          <a:graphicData uri="http://schemas.openxmlformats.org/drawingml/2006/table">
            <a:tbl>
              <a:tblPr/>
              <a:tblGrid>
                <a:gridCol w="3378979"/>
                <a:gridCol w="5068468"/>
                <a:gridCol w="2111862"/>
              </a:tblGrid>
              <a:tr h="327131">
                <a:tc>
                  <a:txBody>
                    <a:bodyPr/>
                    <a:lstStyle/>
                    <a:p>
                      <a:pPr indent="0" marL="0">
                        <a:lnSpc>
                          <a:spcPts val="1680"/>
                        </a:lnSpc>
                        <a:buNone/>
                      </a:pPr>
                      <a:r>
                        <a:rPr lang="en-US" sz="1200" b="1" dirty="0">
                          <a:solidFill>
                            <a:srgbClr val="FF8F66"/>
                          </a:solidFill>
                          <a:latin typeface="IBM Plex Sans" pitchFamily="34" charset="0"/>
                          <a:ea typeface="IBM Plex Sans" pitchFamily="34" charset="-122"/>
                          <a:cs typeface="IBM Plex Sans" pitchFamily="34" charset="-120"/>
                        </a:rPr>
                        <a:t>Option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Rôle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Défaut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--apiserver-advertise-address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Adresse où l'API server écoute et se fait connaître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Route par défaut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--pod-network-cidr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Plage des adresses de pods, à accorder avec le CNI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Aucune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--service-cidr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Plage des adresses de Services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10.96.0.0/12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--control-plane-endpoint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Nom ou IP stable du répartiteur : indispensable en haute disponibilité</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Aucun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--upload-certs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Partage les certificats pour ajouter d'autres control planes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Désactivé</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bl>
          </a:graphicData>
        </a:graphic>
      </p:graphicFrame>
      <p:sp>
        <p:nvSpPr>
          <p:cNvPr id="6" name="Text 3"/>
          <p:cNvSpPr/>
          <p:nvPr/>
        </p:nvSpPr>
        <p:spPr>
          <a:xfrm>
            <a:off x="812800" y="4112270"/>
            <a:ext cx="319176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EN PRODUCTION</a:t>
            </a:r>
            <a:endParaRPr lang="en-US" sz="1200" dirty="0"/>
          </a:p>
        </p:txBody>
      </p:sp>
      <p:sp>
        <p:nvSpPr>
          <p:cNvPr id="7" name="Text 4"/>
          <p:cNvSpPr/>
          <p:nvPr/>
        </p:nvSpPr>
        <p:spPr>
          <a:xfrm>
            <a:off x="812800" y="4414515"/>
            <a:ext cx="319176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0B0748"/>
                </a:solidFill>
                <a:latin typeface="IBM Plex Sans" pitchFamily="34" charset="0"/>
                <a:ea typeface="IBM Plex Sans" pitchFamily="34" charset="-122"/>
                <a:cs typeface="IBM Plex Sans" pitchFamily="34" charset="-120"/>
              </a:rPr>
              <a:t>Un fichier versionné : sudo kubeadm init --config kubeadm.yaml</a:t>
            </a:r>
            <a:endParaRPr lang="en-US" sz="1400" dirty="0"/>
          </a:p>
        </p:txBody>
      </p:sp>
      <p:sp>
        <p:nvSpPr>
          <p:cNvPr id="8" name="Text 5"/>
          <p:cNvSpPr/>
          <p:nvPr/>
        </p:nvSpPr>
        <p:spPr>
          <a:xfrm>
            <a:off x="812800" y="5019030"/>
            <a:ext cx="319176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6B6890"/>
                </a:solidFill>
                <a:latin typeface="IBM Plex Sans" pitchFamily="34" charset="0"/>
                <a:ea typeface="IBM Plex Sans" pitchFamily="34" charset="-122"/>
                <a:cs typeface="IBM Plex Sans" pitchFamily="34" charset="-120"/>
              </a:rPr>
              <a:t>kubeadm config print init-defaults en donne un modèle complet.</a:t>
            </a:r>
            <a:endParaRPr lang="en-US" sz="1300" dirty="0"/>
          </a:p>
        </p:txBody>
      </p:sp>
      <p:sp>
        <p:nvSpPr>
          <p:cNvPr id="9" name="Text 6"/>
          <p:cNvSpPr/>
          <p:nvPr/>
        </p:nvSpPr>
        <p:spPr>
          <a:xfrm>
            <a:off x="4089400" y="3768204"/>
            <a:ext cx="3556000" cy="2073804"/>
          </a:xfrm>
          <a:prstGeom prst="roundRect">
            <a:avLst>
              <a:gd name="adj" fmla="val 4899"/>
            </a:avLst>
          </a:prstGeom>
          <a:solidFill>
            <a:srgbClr val="0B0748"/>
          </a:solidFill>
          <a:ln/>
        </p:spPr>
        <p:txBody>
          <a:bodyPr wrap="none" lIns="160742" tIns="122642" rIns="65492" bIns="122642" rtlCol="0" anchor="ctr">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apiVersion: kubeadm.k8s.io/v1beta4</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kind: </a:t>
            </a:r>
            <a:r>
              <a:rPr lang="en-US" sz="1200" dirty="0">
                <a:solidFill>
                  <a:srgbClr val="FFB08F"/>
                </a:solidFill>
                <a:latin typeface="JetBrains Mono" pitchFamily="49" charset="0"/>
                <a:ea typeface="JetBrains Mono" pitchFamily="49" charset="-122"/>
                <a:cs typeface="JetBrains Mono" pitchFamily="49" charset="-120"/>
              </a:rPr>
              <a:t>InitConfiguration</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localAPIEndpoint:</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advertiseAddress: 10.10.0.10</a:t>
            </a:r>
            <a:endParaRPr lang="en-US" sz="1200" dirty="0"/>
          </a:p>
        </p:txBody>
      </p:sp>
      <p:sp>
        <p:nvSpPr>
          <p:cNvPr id="10" name="Text 7"/>
          <p:cNvSpPr/>
          <p:nvPr/>
        </p:nvSpPr>
        <p:spPr>
          <a:xfrm>
            <a:off x="7823200" y="3768204"/>
            <a:ext cx="3556000" cy="2073804"/>
          </a:xfrm>
          <a:prstGeom prst="roundRect">
            <a:avLst>
              <a:gd name="adj" fmla="val 4899"/>
            </a:avLst>
          </a:prstGeom>
          <a:solidFill>
            <a:srgbClr val="0B0748"/>
          </a:solidFill>
          <a:ln/>
        </p:spPr>
        <p:txBody>
          <a:bodyPr wrap="none" lIns="160742" tIns="122642" rIns="65492" bIns="122642" rtlCol="0" anchor="ctr">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apiVersion: kubeadm.k8s.io/v1beta4</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kind: </a:t>
            </a:r>
            <a:r>
              <a:rPr lang="en-US" sz="1200" dirty="0">
                <a:solidFill>
                  <a:srgbClr val="FFB08F"/>
                </a:solidFill>
                <a:latin typeface="JetBrains Mono" pitchFamily="49" charset="0"/>
                <a:ea typeface="JetBrains Mono" pitchFamily="49" charset="-122"/>
                <a:cs typeface="JetBrains Mono" pitchFamily="49" charset="-120"/>
              </a:rPr>
              <a:t>ClusterConfiguration</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networking:</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podSubnet: 10.244.0.0/16</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serviceSubnet: 10.96.0.0/12</a:t>
            </a:r>
            <a:endParaRPr lang="en-US" sz="1200" dirty="0"/>
          </a:p>
        </p:txBody>
      </p:sp>
      <p:pic>
        <p:nvPicPr>
          <p:cNvPr id="11"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2" name="Text 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3" name="Image 1" descr="Parcours : module 4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04 · INSTALLER UN CLUSTER AVEC KUBEADM</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La PKI du cluster</a:t>
            </a:r>
            <a:endParaRPr lang="en-US" sz="2800" dirty="0"/>
          </a:p>
        </p:txBody>
      </p:sp>
      <p:sp>
        <p:nvSpPr>
          <p:cNvPr id="4" name="Text 2"/>
          <p:cNvSpPr/>
          <p:nvPr/>
        </p:nvSpPr>
        <p:spPr>
          <a:xfrm>
            <a:off x="812800" y="1569715"/>
            <a:ext cx="6514338"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Les échanges entre composants sont chiffrés et authentifiés par TLS. Les autorités, dans </a:t>
            </a:r>
            <a:r>
              <a:rPr lang="en-US" sz="1400" b="1" dirty="0">
                <a:solidFill>
                  <a:srgbClr val="3F3C6B"/>
                </a:solidFill>
                <a:latin typeface="IBM Plex Sans" pitchFamily="34" charset="0"/>
                <a:ea typeface="IBM Plex Sans" pitchFamily="34" charset="-122"/>
                <a:cs typeface="IBM Plex Sans" pitchFamily="34" charset="-120"/>
              </a:rPr>
              <a:t>/etc/kubernetes/pki/</a:t>
            </a:r>
            <a:r>
              <a:rPr lang="en-US" sz="1400" dirty="0">
                <a:solidFill>
                  <a:srgbClr val="3F3C6B"/>
                </a:solidFill>
                <a:latin typeface="IBM Plex Sans" pitchFamily="34" charset="0"/>
                <a:ea typeface="IBM Plex Sans" pitchFamily="34" charset="-122"/>
                <a:cs typeface="IBM Plex Sans" pitchFamily="34" charset="-120"/>
              </a:rPr>
              <a:t> :</a:t>
            </a:r>
            <a:endParaRPr lang="en-US" sz="1400" dirty="0"/>
          </a:p>
        </p:txBody>
      </p:sp>
      <p:sp>
        <p:nvSpPr>
          <p:cNvPr id="5" name="Shape 3"/>
          <p:cNvSpPr/>
          <p:nvPr/>
        </p:nvSpPr>
        <p:spPr>
          <a:xfrm>
            <a:off x="812800" y="2712816"/>
            <a:ext cx="6324600" cy="0"/>
          </a:xfrm>
          <a:prstGeom prst="line">
            <a:avLst/>
          </a:prstGeom>
          <a:noFill/>
          <a:ln w="6350">
            <a:solidFill>
              <a:srgbClr val="E1DFEE"/>
            </a:solidFill>
            <a:prstDash val="solid"/>
          </a:ln>
        </p:spPr>
      </p:sp>
      <p:sp>
        <p:nvSpPr>
          <p:cNvPr id="6" name="Text 4"/>
          <p:cNvSpPr/>
          <p:nvPr/>
        </p:nvSpPr>
        <p:spPr>
          <a:xfrm>
            <a:off x="812800" y="2198787"/>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ca.crt / ca.key</a:t>
            </a:r>
            <a:endParaRPr lang="en-US" sz="1200" dirty="0"/>
          </a:p>
        </p:txBody>
      </p:sp>
      <p:sp>
        <p:nvSpPr>
          <p:cNvPr id="7" name="Text 5"/>
          <p:cNvSpPr/>
          <p:nvPr/>
        </p:nvSpPr>
        <p:spPr>
          <a:xfrm>
            <a:off x="2844800" y="2186930"/>
            <a:ext cx="442137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l'autorité principale : API server, kubelets, administrateurs</a:t>
            </a:r>
            <a:endParaRPr lang="en-US" sz="1300" dirty="0"/>
          </a:p>
        </p:txBody>
      </p:sp>
      <p:sp>
        <p:nvSpPr>
          <p:cNvPr id="8" name="Shape 6"/>
          <p:cNvSpPr/>
          <p:nvPr/>
        </p:nvSpPr>
        <p:spPr>
          <a:xfrm>
            <a:off x="812800" y="3122918"/>
            <a:ext cx="6324600" cy="0"/>
          </a:xfrm>
          <a:prstGeom prst="line">
            <a:avLst/>
          </a:prstGeom>
          <a:noFill/>
          <a:ln w="6350">
            <a:solidFill>
              <a:srgbClr val="E1DFEE"/>
            </a:solidFill>
            <a:prstDash val="solid"/>
          </a:ln>
        </p:spPr>
      </p:sp>
      <p:sp>
        <p:nvSpPr>
          <p:cNvPr id="9" name="Text 7"/>
          <p:cNvSpPr/>
          <p:nvPr/>
        </p:nvSpPr>
        <p:spPr>
          <a:xfrm>
            <a:off x="812800" y="2829446"/>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etcd/ca.crt</a:t>
            </a:r>
            <a:endParaRPr lang="en-US" sz="1200" dirty="0"/>
          </a:p>
        </p:txBody>
      </p:sp>
      <p:sp>
        <p:nvSpPr>
          <p:cNvPr id="10" name="Text 8"/>
          <p:cNvSpPr/>
          <p:nvPr/>
        </p:nvSpPr>
        <p:spPr>
          <a:xfrm>
            <a:off x="2844800" y="2817589"/>
            <a:ext cx="442137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une autorité dédiée à etcd</a:t>
            </a:r>
            <a:endParaRPr lang="en-US" sz="1300" dirty="0"/>
          </a:p>
        </p:txBody>
      </p:sp>
      <p:sp>
        <p:nvSpPr>
          <p:cNvPr id="11" name="Shape 9"/>
          <p:cNvSpPr/>
          <p:nvPr/>
        </p:nvSpPr>
        <p:spPr>
          <a:xfrm>
            <a:off x="812800" y="3533039"/>
            <a:ext cx="6324600" cy="0"/>
          </a:xfrm>
          <a:prstGeom prst="line">
            <a:avLst/>
          </a:prstGeom>
          <a:noFill/>
          <a:ln w="6350">
            <a:solidFill>
              <a:srgbClr val="E1DFEE"/>
            </a:solidFill>
            <a:prstDash val="solid"/>
          </a:ln>
        </p:spPr>
      </p:sp>
      <p:sp>
        <p:nvSpPr>
          <p:cNvPr id="12" name="Text 10"/>
          <p:cNvSpPr/>
          <p:nvPr/>
        </p:nvSpPr>
        <p:spPr>
          <a:xfrm>
            <a:off x="812800" y="3239567"/>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front-proxy-ca.crt</a:t>
            </a:r>
            <a:endParaRPr lang="en-US" sz="1200" dirty="0"/>
          </a:p>
        </p:txBody>
      </p:sp>
      <p:sp>
        <p:nvSpPr>
          <p:cNvPr id="13" name="Text 11"/>
          <p:cNvSpPr/>
          <p:nvPr/>
        </p:nvSpPr>
        <p:spPr>
          <a:xfrm>
            <a:off x="2844800" y="3227710"/>
            <a:ext cx="442137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pour les extensions de l'API</a:t>
            </a:r>
            <a:endParaRPr lang="en-US" sz="1300" dirty="0"/>
          </a:p>
        </p:txBody>
      </p:sp>
      <p:sp>
        <p:nvSpPr>
          <p:cNvPr id="14" name="Text 12"/>
          <p:cNvSpPr/>
          <p:nvPr/>
        </p:nvSpPr>
        <p:spPr>
          <a:xfrm>
            <a:off x="812800" y="3649663"/>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sa.key / sa.pub</a:t>
            </a:r>
            <a:endParaRPr lang="en-US" sz="1200" dirty="0"/>
          </a:p>
        </p:txBody>
      </p:sp>
      <p:sp>
        <p:nvSpPr>
          <p:cNvPr id="15" name="Text 13"/>
          <p:cNvSpPr/>
          <p:nvPr/>
        </p:nvSpPr>
        <p:spPr>
          <a:xfrm>
            <a:off x="2844800" y="3637806"/>
            <a:ext cx="442137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signent les jetons des ServiceAccounts</a:t>
            </a:r>
            <a:endParaRPr lang="en-US" sz="1300" dirty="0"/>
          </a:p>
        </p:txBody>
      </p:sp>
      <p:sp>
        <p:nvSpPr>
          <p:cNvPr id="16" name="Text 14"/>
          <p:cNvSpPr/>
          <p:nvPr/>
        </p:nvSpPr>
        <p:spPr>
          <a:xfrm>
            <a:off x="812800" y="5415285"/>
            <a:ext cx="651433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Le trafic de vos applications n'est pas chiffré automatiquement : entre podinfo et Redis, il circule en clair.</a:t>
            </a:r>
            <a:endParaRPr lang="en-US" sz="1200" dirty="0"/>
          </a:p>
        </p:txBody>
      </p:sp>
      <p:sp>
        <p:nvSpPr>
          <p:cNvPr id="17" name="Shape 15"/>
          <p:cNvSpPr/>
          <p:nvPr/>
        </p:nvSpPr>
        <p:spPr>
          <a:xfrm>
            <a:off x="7442200" y="1569715"/>
            <a:ext cx="3937000" cy="1254760"/>
          </a:xfrm>
          <a:prstGeom prst="roundRect">
            <a:avLst>
              <a:gd name="adj" fmla="val 10121"/>
            </a:avLst>
          </a:prstGeom>
          <a:solidFill>
            <a:srgbClr val="0B0748"/>
          </a:solidFill>
          <a:ln/>
        </p:spPr>
      </p:sp>
      <p:sp>
        <p:nvSpPr>
          <p:cNvPr id="18" name="Text 16"/>
          <p:cNvSpPr/>
          <p:nvPr/>
        </p:nvSpPr>
        <p:spPr>
          <a:xfrm>
            <a:off x="7670800" y="1772915"/>
            <a:ext cx="189042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8F66"/>
                </a:solidFill>
                <a:latin typeface="Sora" pitchFamily="34" charset="0"/>
                <a:ea typeface="Sora" pitchFamily="34" charset="-122"/>
                <a:cs typeface="Sora" pitchFamily="34" charset="-120"/>
              </a:rPr>
              <a:t>1 an</a:t>
            </a:r>
            <a:endParaRPr lang="en-US" sz="4800" dirty="0"/>
          </a:p>
        </p:txBody>
      </p:sp>
      <p:sp>
        <p:nvSpPr>
          <p:cNvPr id="19" name="Text 17"/>
          <p:cNvSpPr/>
          <p:nvPr/>
        </p:nvSpPr>
        <p:spPr>
          <a:xfrm>
            <a:off x="7670800" y="2407915"/>
            <a:ext cx="20385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6E8"/>
                </a:solidFill>
                <a:latin typeface="IBM Plex Sans" pitchFamily="34" charset="0"/>
                <a:ea typeface="IBM Plex Sans" pitchFamily="34" charset="-122"/>
                <a:cs typeface="IBM Plex Sans" pitchFamily="34" charset="-120"/>
              </a:rPr>
              <a:t>certificats des composants</a:t>
            </a:r>
            <a:endParaRPr lang="en-US" sz="1200" dirty="0"/>
          </a:p>
        </p:txBody>
      </p:sp>
      <p:sp>
        <p:nvSpPr>
          <p:cNvPr id="20" name="Text 18"/>
          <p:cNvSpPr/>
          <p:nvPr/>
        </p:nvSpPr>
        <p:spPr>
          <a:xfrm>
            <a:off x="9709362" y="1899915"/>
            <a:ext cx="136690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9B6E8"/>
                </a:solidFill>
                <a:latin typeface="Sora" pitchFamily="34" charset="0"/>
                <a:ea typeface="Sora" pitchFamily="34" charset="-122"/>
                <a:cs typeface="Sora" pitchFamily="34" charset="-120"/>
              </a:rPr>
              <a:t>10 ans</a:t>
            </a:r>
            <a:endParaRPr lang="en-US" sz="2800" dirty="0"/>
          </a:p>
        </p:txBody>
      </p:sp>
      <p:sp>
        <p:nvSpPr>
          <p:cNvPr id="21" name="Text 19"/>
          <p:cNvSpPr/>
          <p:nvPr/>
        </p:nvSpPr>
        <p:spPr>
          <a:xfrm>
            <a:off x="9709362" y="2280915"/>
            <a:ext cx="11898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6E8"/>
                </a:solidFill>
                <a:latin typeface="IBM Plex Sans" pitchFamily="34" charset="0"/>
                <a:ea typeface="IBM Plex Sans" pitchFamily="34" charset="-122"/>
                <a:cs typeface="IBM Plex Sans" pitchFamily="34" charset="-120"/>
              </a:rPr>
              <a:t>autorités</a:t>
            </a:r>
            <a:endParaRPr lang="en-US" sz="1200" dirty="0"/>
          </a:p>
        </p:txBody>
      </p:sp>
      <p:sp>
        <p:nvSpPr>
          <p:cNvPr id="22" name="Text 20"/>
          <p:cNvSpPr/>
          <p:nvPr/>
        </p:nvSpPr>
        <p:spPr>
          <a:xfrm>
            <a:off x="7442200" y="2951485"/>
            <a:ext cx="4055110" cy="79883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0B0748"/>
                </a:solidFill>
                <a:latin typeface="IBM Plex Sans" pitchFamily="34" charset="0"/>
                <a:ea typeface="IBM Plex Sans" pitchFamily="34" charset="-122"/>
                <a:cs typeface="IBM Plex Sans" pitchFamily="34" charset="-120"/>
              </a:rPr>
              <a:t>Un cluster jamais mis à jour cesse de fonctionner au bout d'un an.</a:t>
            </a:r>
            <a:r>
              <a:rPr lang="en-US" sz="1400" dirty="0">
                <a:solidFill>
                  <a:srgbClr val="0B0748"/>
                </a:solidFill>
                <a:latin typeface="IBM Plex Sans" pitchFamily="34" charset="0"/>
                <a:ea typeface="IBM Plex Sans" pitchFamily="34" charset="-122"/>
                <a:cs typeface="IBM Plex Sans" pitchFamily="34" charset="-120"/>
              </a:rPr>
              <a:t> kubeadm upgrade renouvelle les certificats ; sinon :</a:t>
            </a:r>
            <a:endParaRPr lang="en-US" sz="1400" dirty="0"/>
          </a:p>
        </p:txBody>
      </p:sp>
      <p:sp>
        <p:nvSpPr>
          <p:cNvPr id="23" name="Text 21"/>
          <p:cNvSpPr/>
          <p:nvPr/>
        </p:nvSpPr>
        <p:spPr>
          <a:xfrm>
            <a:off x="7442200" y="3851920"/>
            <a:ext cx="3937000" cy="960120"/>
          </a:xfrm>
          <a:prstGeom prst="roundRect">
            <a:avLst>
              <a:gd name="adj" fmla="val 9259"/>
            </a:avLst>
          </a:prstGeom>
          <a:solidFill>
            <a:srgbClr val="ECEAF6"/>
          </a:solidFill>
          <a:ln/>
        </p:spPr>
        <p:txBody>
          <a:bodyPr wrap="none" lIns="126362" tIns="88262" rIns="17396" bIns="62862" rtlCol="0" anchor="t">
            <a:normAutofit/>
          </a:bodyPr>
          <a:lstStyle/>
          <a:p>
            <a:pPr algn="l" indent="0" marL="0">
              <a:lnSpc>
                <a:spcPts val="1920"/>
              </a:lnSpc>
              <a:buNone/>
            </a:pPr>
            <a:r>
              <a:rPr lang="en-US" sz="1200" dirty="0">
                <a:solidFill>
                  <a:srgbClr val="0B0748"/>
                </a:solidFill>
                <a:latin typeface="JetBrains Mono" pitchFamily="49" charset="0"/>
                <a:ea typeface="JetBrains Mono" pitchFamily="49" charset="-122"/>
                <a:cs typeface="JetBrains Mono" pitchFamily="49" charset="-120"/>
              </a:rPr>
              <a:t>sudo kubeadm certs check-expiration</a:t>
            </a:r>
            <a:endParaRPr lang="en-US" sz="1200" dirty="0"/>
          </a:p>
          <a:p>
            <a:pPr algn="l" indent="0" marL="0">
              <a:lnSpc>
                <a:spcPts val="1920"/>
              </a:lnSpc>
              <a:buNone/>
            </a:pPr>
            <a:r>
              <a:rPr lang="en-US" sz="1200" dirty="0">
                <a:solidFill>
                  <a:srgbClr val="0B0748"/>
                </a:solidFill>
                <a:latin typeface="JetBrains Mono" pitchFamily="49" charset="0"/>
                <a:ea typeface="JetBrains Mono" pitchFamily="49" charset="-122"/>
                <a:cs typeface="JetBrains Mono" pitchFamily="49" charset="-120"/>
              </a:rPr>
              <a:t>sudo kubeadm certs renew all</a:t>
            </a:r>
            <a:endParaRPr lang="en-US" sz="1200" dirty="0"/>
          </a:p>
          <a:p>
            <a:pPr algn="l" indent="0" marL="0">
              <a:lnSpc>
                <a:spcPts val="1920"/>
              </a:lnSpc>
              <a:buNone/>
            </a:pPr>
            <a:r>
              <a:rPr lang="en-US" sz="1200" dirty="0">
                <a:solidFill>
                  <a:srgbClr val="6B6890"/>
                </a:solidFill>
                <a:latin typeface="JetBrains Mono" pitchFamily="49" charset="0"/>
                <a:ea typeface="JetBrains Mono" pitchFamily="49" charset="-122"/>
                <a:cs typeface="JetBrains Mono" pitchFamily="49" charset="-120"/>
              </a:rPr>
              <a:t># puis redémarrer les pods statiques</a:t>
            </a:r>
            <a:endParaRPr lang="en-US" sz="1200" dirty="0"/>
          </a:p>
        </p:txBody>
      </p:sp>
      <p:pic>
        <p:nvPicPr>
          <p:cNvPr id="24"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5" name="Text 22"/>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6" name="Image 1" descr="Parcours : module 4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04 · INSTALLER UN CLUSTER AVEC KUBEADM</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fichier kubeconfig</a:t>
            </a:r>
            <a:endParaRPr lang="en-US" sz="2800" dirty="0"/>
          </a:p>
        </p:txBody>
      </p:sp>
      <p:sp>
        <p:nvSpPr>
          <p:cNvPr id="4" name="Text 2"/>
          <p:cNvSpPr/>
          <p:nvPr/>
        </p:nvSpPr>
        <p:spPr>
          <a:xfrm>
            <a:off x="812800" y="1569715"/>
            <a:ext cx="5207000" cy="4272280"/>
          </a:xfrm>
          <a:prstGeom prst="roundRect">
            <a:avLst>
              <a:gd name="adj" fmla="val 2378"/>
            </a:avLst>
          </a:prstGeom>
          <a:solidFill>
            <a:srgbClr val="0B0748"/>
          </a:solidFill>
          <a:ln/>
        </p:spPr>
        <p:txBody>
          <a:bodyPr wrap="none" lIns="173442" tIns="122642" rIns="29424" bIns="122642" rtlCol="0" anchor="ctr">
            <a:normAutofit/>
          </a:bodyPr>
          <a:lstStyle/>
          <a:p>
            <a:pPr algn="l" indent="0" marL="0">
              <a:lnSpc>
                <a:spcPts val="1740"/>
              </a:lnSpc>
              <a:buNone/>
            </a:pPr>
            <a:r>
              <a:rPr lang="en-US" sz="1200" dirty="0">
                <a:solidFill>
                  <a:srgbClr val="FFB08F"/>
                </a:solidFill>
                <a:latin typeface="JetBrains Mono" pitchFamily="49" charset="0"/>
                <a:ea typeface="JetBrains Mono" pitchFamily="49" charset="-122"/>
                <a:cs typeface="JetBrains Mono" pitchFamily="49" charset="-120"/>
              </a:rPr>
              <a:t>clusters: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name: kubernetes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cluster:</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server: https://10.10.0.10:6443</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certificate-authority-data: LS0t…</a:t>
            </a:r>
            <a:endParaRPr lang="en-US" sz="1200" dirty="0"/>
          </a:p>
          <a:p>
            <a:pPr algn="l" indent="0" marL="0">
              <a:lnSpc>
                <a:spcPts val="1740"/>
              </a:lnSpc>
              <a:buNone/>
            </a:pPr>
            <a:r>
              <a:rPr lang="en-US" sz="1200" dirty="0">
                <a:solidFill>
                  <a:srgbClr val="FFB08F"/>
                </a:solidFill>
                <a:latin typeface="JetBrains Mono" pitchFamily="49" charset="0"/>
                <a:ea typeface="JetBrains Mono" pitchFamily="49" charset="-122"/>
                <a:cs typeface="JetBrains Mono" pitchFamily="49" charset="-120"/>
              </a:rPr>
              <a:t>users: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name: kubernetes-admin</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user:</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client-certificate-data: LS0t…</a:t>
            </a:r>
            <a:endParaRPr lang="en-US" sz="1200" dirty="0"/>
          </a:p>
          <a:p>
            <a:pPr algn="l" indent="0" marL="0">
              <a:lnSpc>
                <a:spcPts val="1740"/>
              </a:lnSpc>
              <a:buNone/>
            </a:pPr>
            <a:r>
              <a:rPr lang="en-US" sz="1200" dirty="0">
                <a:solidFill>
                  <a:srgbClr val="FFB08F"/>
                </a:solidFill>
                <a:latin typeface="JetBrains Mono" pitchFamily="49" charset="0"/>
                <a:ea typeface="JetBrains Mono" pitchFamily="49" charset="-122"/>
                <a:cs typeface="JetBrains Mono" pitchFamily="49" charset="-120"/>
              </a:rPr>
              <a:t>contexts: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name: kubernetes-admin@kubernetes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context:</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cluster: kubernetes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user: kubernetes-admin</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namespace: fil-rouge  </a:t>
            </a:r>
            <a:r>
              <a:rPr lang="en-US" sz="1200" dirty="0">
                <a:solidFill>
                  <a:srgbClr val="9A96D0"/>
                </a:solidFill>
                <a:latin typeface="JetBrains Mono" pitchFamily="49" charset="0"/>
                <a:ea typeface="JetBrains Mono" pitchFamily="49" charset="-122"/>
                <a:cs typeface="JetBrains Mono" pitchFamily="49" charset="-120"/>
              </a:rPr>
              <a:t># optionnel</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current-context: kubernetes-admin@kubernetes</a:t>
            </a:r>
            <a:endParaRPr lang="en-US" sz="1200" dirty="0"/>
          </a:p>
        </p:txBody>
      </p:sp>
      <p:sp>
        <p:nvSpPr>
          <p:cNvPr id="5" name="Text 3"/>
          <p:cNvSpPr/>
          <p:nvPr/>
        </p:nvSpPr>
        <p:spPr>
          <a:xfrm>
            <a:off x="6324600" y="1569715"/>
            <a:ext cx="5206238"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0B0748"/>
                </a:solidFill>
                <a:latin typeface="IBM Plex Sans" pitchFamily="34" charset="0"/>
                <a:ea typeface="IBM Plex Sans" pitchFamily="34" charset="-122"/>
                <a:cs typeface="IBM Plex Sans" pitchFamily="34" charset="-120"/>
              </a:rPr>
              <a:t>kubectl sait à quel cluster parler, et sous quelle identité : ~/.kube/config, ou la variable KUBECONFIG.</a:t>
            </a:r>
            <a:endParaRPr lang="en-US" sz="1400" dirty="0"/>
          </a:p>
        </p:txBody>
      </p:sp>
      <p:sp>
        <p:nvSpPr>
          <p:cNvPr id="6" name="Text 4"/>
          <p:cNvSpPr/>
          <p:nvPr/>
        </p:nvSpPr>
        <p:spPr>
          <a:xfrm>
            <a:off x="6324600" y="2225030"/>
            <a:ext cx="52062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IBM Plex Sans" pitchFamily="34" charset="0"/>
                <a:ea typeface="IBM Plex Sans" pitchFamily="34" charset="-122"/>
                <a:cs typeface="IBM Plex Sans" pitchFamily="34" charset="-120"/>
              </a:rPr>
              <a:t>clusters</a:t>
            </a:r>
            <a:r>
              <a:rPr lang="en-US" sz="1300" dirty="0">
                <a:solidFill>
                  <a:srgbClr val="3F3C6B"/>
                </a:solidFill>
                <a:latin typeface="IBM Plex Sans" pitchFamily="34" charset="0"/>
                <a:ea typeface="IBM Plex Sans" pitchFamily="34" charset="-122"/>
                <a:cs typeface="IBM Plex Sans" pitchFamily="34" charset="-120"/>
              </a:rPr>
              <a:t> : où, avec quelle CA</a:t>
            </a:r>
            <a:endParaRPr lang="en-US" sz="1300" dirty="0"/>
          </a:p>
        </p:txBody>
      </p:sp>
      <p:sp>
        <p:nvSpPr>
          <p:cNvPr id="7" name="Text 5"/>
          <p:cNvSpPr/>
          <p:nvPr/>
        </p:nvSpPr>
        <p:spPr>
          <a:xfrm>
            <a:off x="6324600" y="2506985"/>
            <a:ext cx="52062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IBM Plex Sans" pitchFamily="34" charset="0"/>
                <a:ea typeface="IBM Plex Sans" pitchFamily="34" charset="-122"/>
                <a:cs typeface="IBM Plex Sans" pitchFamily="34" charset="-120"/>
              </a:rPr>
              <a:t>users</a:t>
            </a:r>
            <a:r>
              <a:rPr lang="en-US" sz="1300" dirty="0">
                <a:solidFill>
                  <a:srgbClr val="3F3C6B"/>
                </a:solidFill>
                <a:latin typeface="IBM Plex Sans" pitchFamily="34" charset="0"/>
                <a:ea typeface="IBM Plex Sans" pitchFamily="34" charset="-122"/>
                <a:cs typeface="IBM Plex Sans" pitchFamily="34" charset="-120"/>
              </a:rPr>
              <a:t> : qui, avec quel certificat</a:t>
            </a:r>
            <a:endParaRPr lang="en-US" sz="1300" dirty="0"/>
          </a:p>
        </p:txBody>
      </p:sp>
      <p:sp>
        <p:nvSpPr>
          <p:cNvPr id="8" name="Text 6"/>
          <p:cNvSpPr/>
          <p:nvPr/>
        </p:nvSpPr>
        <p:spPr>
          <a:xfrm>
            <a:off x="6324600" y="2788915"/>
            <a:ext cx="52062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IBM Plex Sans" pitchFamily="34" charset="0"/>
                <a:ea typeface="IBM Plex Sans" pitchFamily="34" charset="-122"/>
                <a:cs typeface="IBM Plex Sans" pitchFamily="34" charset="-120"/>
              </a:rPr>
              <a:t>contexts</a:t>
            </a:r>
            <a:r>
              <a:rPr lang="en-US" sz="1300" dirty="0">
                <a:solidFill>
                  <a:srgbClr val="3F3C6B"/>
                </a:solidFill>
                <a:latin typeface="IBM Plex Sans" pitchFamily="34" charset="0"/>
                <a:ea typeface="IBM Plex Sans" pitchFamily="34" charset="-122"/>
                <a:cs typeface="IBM Plex Sans" pitchFamily="34" charset="-120"/>
              </a:rPr>
              <a:t> : un cluster + un user (+ un namespace)</a:t>
            </a:r>
            <a:endParaRPr lang="en-US" sz="1300" dirty="0"/>
          </a:p>
        </p:txBody>
      </p:sp>
      <p:sp>
        <p:nvSpPr>
          <p:cNvPr id="9" name="Text 7"/>
          <p:cNvSpPr/>
          <p:nvPr/>
        </p:nvSpPr>
        <p:spPr>
          <a:xfrm>
            <a:off x="6324600" y="3159770"/>
            <a:ext cx="5054600" cy="1178560"/>
          </a:xfrm>
          <a:prstGeom prst="roundRect">
            <a:avLst>
              <a:gd name="adj" fmla="val 7543"/>
            </a:avLst>
          </a:prstGeom>
          <a:solidFill>
            <a:srgbClr val="ECEAF6"/>
          </a:solidFill>
          <a:ln/>
        </p:spPr>
        <p:txBody>
          <a:bodyPr wrap="none" lIns="113662" tIns="75562" rIns="0" bIns="50162" rtlCol="0" anchor="t">
            <a:normAutofit/>
          </a:bodyPr>
          <a:lstStyle/>
          <a:p>
            <a:pPr algn="l" indent="0" marL="0">
              <a:lnSpc>
                <a:spcPts val="1920"/>
              </a:lnSpc>
              <a:buNone/>
            </a:pPr>
            <a:r>
              <a:rPr lang="en-US" sz="1200" dirty="0">
                <a:solidFill>
                  <a:srgbClr val="0B0748"/>
                </a:solidFill>
                <a:latin typeface="JetBrains Mono" pitchFamily="49" charset="0"/>
                <a:ea typeface="JetBrains Mono" pitchFamily="49" charset="-122"/>
                <a:cs typeface="JetBrains Mono" pitchFamily="49" charset="-120"/>
              </a:rPr>
              <a:t>kubectl config get-contexts</a:t>
            </a:r>
            <a:endParaRPr lang="en-US" sz="1200" dirty="0"/>
          </a:p>
          <a:p>
            <a:pPr algn="l" indent="0" marL="0">
              <a:lnSpc>
                <a:spcPts val="1920"/>
              </a:lnSpc>
              <a:buNone/>
            </a:pPr>
            <a:r>
              <a:rPr lang="en-US" sz="1200" dirty="0">
                <a:solidFill>
                  <a:srgbClr val="0B0748"/>
                </a:solidFill>
                <a:latin typeface="JetBrains Mono" pitchFamily="49" charset="0"/>
                <a:ea typeface="JetBrains Mono" pitchFamily="49" charset="-122"/>
                <a:cs typeface="JetBrains Mono" pitchFamily="49" charset="-120"/>
              </a:rPr>
              <a:t>kubectl config use-context &lt;contexte&gt;</a:t>
            </a:r>
            <a:endParaRPr lang="en-US" sz="1200" dirty="0"/>
          </a:p>
          <a:p>
            <a:pPr algn="l" indent="0" marL="0">
              <a:lnSpc>
                <a:spcPts val="1920"/>
              </a:lnSpc>
              <a:buNone/>
            </a:pPr>
            <a:r>
              <a:rPr lang="en-US" sz="1200" dirty="0">
                <a:solidFill>
                  <a:srgbClr val="0B0748"/>
                </a:solidFill>
                <a:latin typeface="JetBrains Mono" pitchFamily="49" charset="0"/>
                <a:ea typeface="JetBrains Mono" pitchFamily="49" charset="-122"/>
                <a:cs typeface="JetBrains Mono" pitchFamily="49" charset="-120"/>
              </a:rPr>
              <a:t>kubectl config set-context --current \</a:t>
            </a:r>
            <a:endParaRPr lang="en-US" sz="1200" dirty="0"/>
          </a:p>
          <a:p>
            <a:pPr algn="l" indent="0" marL="0">
              <a:lnSpc>
                <a:spcPts val="1920"/>
              </a:lnSpc>
              <a:buNone/>
            </a:pPr>
            <a:r>
              <a:rPr lang="en-US" sz="1200" dirty="0">
                <a:solidFill>
                  <a:srgbClr val="0B0748"/>
                </a:solidFill>
                <a:latin typeface="JetBrains Mono" pitchFamily="49" charset="0"/>
                <a:ea typeface="JetBrains Mono" pitchFamily="49" charset="-122"/>
                <a:cs typeface="JetBrains Mono" pitchFamily="49" charset="-120"/>
              </a:rPr>
              <a:t>  --namespace=fil-rouge</a:t>
            </a:r>
            <a:endParaRPr lang="en-US" sz="1200" dirty="0"/>
          </a:p>
        </p:txBody>
      </p:sp>
      <p:sp>
        <p:nvSpPr>
          <p:cNvPr id="10" name="Shape 8"/>
          <p:cNvSpPr/>
          <p:nvPr/>
        </p:nvSpPr>
        <p:spPr>
          <a:xfrm>
            <a:off x="6324600" y="4973315"/>
            <a:ext cx="5054600" cy="868680"/>
          </a:xfrm>
          <a:prstGeom prst="roundRect">
            <a:avLst>
              <a:gd name="adj" fmla="val 10234"/>
            </a:avLst>
          </a:prstGeom>
          <a:solidFill>
            <a:srgbClr val="FCE6DC"/>
          </a:solidFill>
          <a:ln/>
        </p:spPr>
      </p:sp>
      <p:pic>
        <p:nvPicPr>
          <p:cNvPr id="11" name="Image 0" descr="Warning">    </p:cNvPr>
          <p:cNvPicPr>
            <a:picLocks noChangeAspect="1"/>
          </p:cNvPicPr>
          <p:nvPr/>
        </p:nvPicPr>
        <p:blipFill>
          <a:blip r:embed="rId1"/>
          <a:srcRect l="0" r="0" t="0" b="0"/>
          <a:stretch/>
        </p:blipFill>
        <p:spPr>
          <a:xfrm>
            <a:off x="6464300" y="5087615"/>
            <a:ext cx="228600" cy="228600"/>
          </a:xfrm>
          <a:prstGeom prst="rect">
            <a:avLst/>
          </a:prstGeom>
        </p:spPr>
      </p:pic>
      <p:sp>
        <p:nvSpPr>
          <p:cNvPr id="12" name="Text 9"/>
          <p:cNvSpPr/>
          <p:nvPr/>
        </p:nvSpPr>
        <p:spPr>
          <a:xfrm>
            <a:off x="6794500" y="5087615"/>
            <a:ext cx="457835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admin.conf donne tous les droits ; super-admin.conf contourne RBAC. Ils ne se copient pas et ne se partagent pas : pour déléguer, des identités limitées par RBAC (module 15).</a:t>
            </a:r>
            <a:endParaRPr lang="en-US" sz="1200" dirty="0"/>
          </a:p>
        </p:txBody>
      </p:sp>
      <p:pic>
        <p:nvPicPr>
          <p:cNvPr id="13" name="Image 1" descr="preencoded.png">    </p:cNvPr>
          <p:cNvPicPr>
            <a:picLocks noChangeAspect="1"/>
          </p:cNvPicPr>
          <p:nvPr/>
        </p:nvPicPr>
        <p:blipFill>
          <a:blip r:embed="rId2"/>
          <a:srcRect l="0" r="0" t="0" b="0"/>
          <a:stretch/>
        </p:blipFill>
        <p:spPr>
          <a:xfrm>
            <a:off x="812800" y="6299200"/>
            <a:ext cx="152400" cy="152400"/>
          </a:xfrm>
          <a:prstGeom prst="rect">
            <a:avLst/>
          </a:prstGeom>
        </p:spPr>
      </p:pic>
      <p:sp>
        <p:nvSpPr>
          <p:cNvPr id="14" name="Text 1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5" name="Image 2" descr="Parcours : module 4 sur 16">    </p:cNvPr>
          <p:cNvPicPr>
            <a:picLocks noChangeAspect="1"/>
          </p:cNvPicPr>
          <p:nvPr/>
        </p:nvPicPr>
        <p:blipFill>
          <a:blip r:embed="rId3"/>
          <a:srcRect l="0" r="0" t="0" b="0"/>
          <a:stretch/>
        </p:blipFill>
        <p:spPr>
          <a:xfrm>
            <a:off x="9207500" y="6299200"/>
            <a:ext cx="2171700" cy="1524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04 · INSTALLER UN CLUSTER AVEC KUBEADM</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Pods statiques et ajout des workers</a:t>
            </a:r>
            <a:endParaRPr lang="en-US" sz="2800" dirty="0"/>
          </a:p>
        </p:txBody>
      </p:sp>
      <p:sp>
        <p:nvSpPr>
          <p:cNvPr id="4" name="Shape 2"/>
          <p:cNvSpPr/>
          <p:nvPr/>
        </p:nvSpPr>
        <p:spPr>
          <a:xfrm>
            <a:off x="815975" y="1598290"/>
            <a:ext cx="4856692" cy="4240530"/>
          </a:xfrm>
          <a:prstGeom prst="roundRect">
            <a:avLst>
              <a:gd name="adj" fmla="val 2920"/>
            </a:avLst>
          </a:prstGeom>
          <a:solidFill>
            <a:srgbClr val="FDFDFF"/>
          </a:solidFill>
          <a:ln w="6350">
            <a:solidFill>
              <a:srgbClr val="E1DFEE"/>
            </a:solidFill>
            <a:prstDash val="solid"/>
          </a:ln>
        </p:spPr>
      </p:sp>
      <p:sp>
        <p:nvSpPr>
          <p:cNvPr id="5" name="Text 3"/>
          <p:cNvSpPr/>
          <p:nvPr/>
        </p:nvSpPr>
        <p:spPr>
          <a:xfrm>
            <a:off x="1035791" y="1818109"/>
            <a:ext cx="454957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LES PODS STATIQUES</a:t>
            </a:r>
            <a:endParaRPr lang="en-US" sz="1200" dirty="0"/>
          </a:p>
        </p:txBody>
      </p:sp>
      <p:sp>
        <p:nvSpPr>
          <p:cNvPr id="6" name="Text 4"/>
          <p:cNvSpPr/>
          <p:nvPr/>
        </p:nvSpPr>
        <p:spPr>
          <a:xfrm>
            <a:off x="1035791" y="2133079"/>
            <a:ext cx="4549572"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0B0748"/>
                </a:solidFill>
                <a:latin typeface="IBM Plex Sans" pitchFamily="34" charset="0"/>
                <a:ea typeface="IBM Plex Sans" pitchFamily="34" charset="-122"/>
                <a:cs typeface="IBM Plex Sans" pitchFamily="34" charset="-120"/>
              </a:rPr>
              <a:t>Des YAML dans /etc/kubernetes/manifests/, que le kubelet exécute sans passer par l'API server. L'œuf et la poule résolus : l'API server ne peut pas se créer via l'API.</a:t>
            </a:r>
            <a:endParaRPr lang="en-US" sz="1400" dirty="0"/>
          </a:p>
        </p:txBody>
      </p:sp>
      <p:pic>
        <p:nvPicPr>
          <p:cNvPr id="7" name="Image 0" descr="Search">    </p:cNvPr>
          <p:cNvPicPr>
            <a:picLocks noChangeAspect="1"/>
          </p:cNvPicPr>
          <p:nvPr/>
        </p:nvPicPr>
        <p:blipFill>
          <a:blip r:embed="rId1"/>
          <a:srcRect l="0" r="0" t="0" b="0"/>
          <a:stretch/>
        </p:blipFill>
        <p:spPr>
          <a:xfrm>
            <a:off x="1035791" y="3265909"/>
            <a:ext cx="215900" cy="215900"/>
          </a:xfrm>
          <a:prstGeom prst="rect">
            <a:avLst/>
          </a:prstGeom>
        </p:spPr>
      </p:pic>
      <p:sp>
        <p:nvSpPr>
          <p:cNvPr id="8" name="Text 5"/>
          <p:cNvSpPr/>
          <p:nvPr/>
        </p:nvSpPr>
        <p:spPr>
          <a:xfrm>
            <a:off x="1340591" y="3265909"/>
            <a:ext cx="4235628"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kubectl n'en montre que des reflets (kube-apiserver-k8s-cp) : les modifier par kubectl est sans effet durable.</a:t>
            </a:r>
            <a:endParaRPr lang="en-US" sz="1250" dirty="0"/>
          </a:p>
        </p:txBody>
      </p:sp>
      <p:pic>
        <p:nvPicPr>
          <p:cNvPr id="9" name="Image 1" descr="Settings">    </p:cNvPr>
          <p:cNvPicPr>
            <a:picLocks noChangeAspect="1"/>
          </p:cNvPicPr>
          <p:nvPr/>
        </p:nvPicPr>
        <p:blipFill>
          <a:blip r:embed="rId2"/>
          <a:srcRect l="0" r="0" t="0" b="0"/>
          <a:stretch/>
        </p:blipFill>
        <p:spPr>
          <a:xfrm>
            <a:off x="1035791" y="3812009"/>
            <a:ext cx="215900" cy="215900"/>
          </a:xfrm>
          <a:prstGeom prst="rect">
            <a:avLst/>
          </a:prstGeom>
        </p:spPr>
      </p:pic>
      <p:sp>
        <p:nvSpPr>
          <p:cNvPr id="10" name="Text 6"/>
          <p:cNvSpPr/>
          <p:nvPr/>
        </p:nvSpPr>
        <p:spPr>
          <a:xfrm>
            <a:off x="1340591" y="3812009"/>
            <a:ext cx="4235628"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Changer une option : éditer kube-apiserver.yaml ; le kubelet redémarre le pod.</a:t>
            </a:r>
            <a:endParaRPr lang="en-US" sz="1250" dirty="0"/>
          </a:p>
        </p:txBody>
      </p:sp>
      <p:pic>
        <p:nvPicPr>
          <p:cNvPr id="11" name="Image 2" descr="Warning">    </p:cNvPr>
          <p:cNvPicPr>
            <a:picLocks noChangeAspect="1"/>
          </p:cNvPicPr>
          <p:nvPr/>
        </p:nvPicPr>
        <p:blipFill>
          <a:blip r:embed="rId3"/>
          <a:srcRect l="0" r="0" t="0" b="0"/>
          <a:stretch/>
        </p:blipFill>
        <p:spPr>
          <a:xfrm>
            <a:off x="1035791" y="4358109"/>
            <a:ext cx="215900" cy="215900"/>
          </a:xfrm>
          <a:prstGeom prst="rect">
            <a:avLst/>
          </a:prstGeom>
        </p:spPr>
      </p:pic>
      <p:sp>
        <p:nvSpPr>
          <p:cNvPr id="12" name="Text 7"/>
          <p:cNvSpPr/>
          <p:nvPr/>
        </p:nvSpPr>
        <p:spPr>
          <a:xfrm>
            <a:off x="1340591" y="4358109"/>
            <a:ext cx="4235628"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Retirer le fichier du répertoire arrête le composant.</a:t>
            </a:r>
            <a:endParaRPr lang="en-US" sz="1250" dirty="0"/>
          </a:p>
        </p:txBody>
      </p:sp>
      <p:sp>
        <p:nvSpPr>
          <p:cNvPr id="13" name="Shape 8"/>
          <p:cNvSpPr/>
          <p:nvPr/>
        </p:nvSpPr>
        <p:spPr>
          <a:xfrm>
            <a:off x="5856817" y="1598290"/>
            <a:ext cx="5519208" cy="4240530"/>
          </a:xfrm>
          <a:prstGeom prst="roundRect">
            <a:avLst>
              <a:gd name="adj" fmla="val 2920"/>
            </a:avLst>
          </a:prstGeom>
          <a:solidFill>
            <a:srgbClr val="FDFDFF"/>
          </a:solidFill>
          <a:ln w="6350">
            <a:solidFill>
              <a:srgbClr val="E1DFEE"/>
            </a:solidFill>
            <a:prstDash val="solid"/>
          </a:ln>
        </p:spPr>
      </p:sp>
      <p:sp>
        <p:nvSpPr>
          <p:cNvPr id="14" name="Text 9"/>
          <p:cNvSpPr/>
          <p:nvPr/>
        </p:nvSpPr>
        <p:spPr>
          <a:xfrm>
            <a:off x="6076633" y="1818109"/>
            <a:ext cx="523196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JOINDRE LES WORKERS</a:t>
            </a:r>
            <a:endParaRPr lang="en-US" sz="1200" dirty="0"/>
          </a:p>
        </p:txBody>
      </p:sp>
      <p:sp>
        <p:nvSpPr>
          <p:cNvPr id="15" name="Text 10"/>
          <p:cNvSpPr/>
          <p:nvPr/>
        </p:nvSpPr>
        <p:spPr>
          <a:xfrm>
            <a:off x="6076633" y="2133079"/>
            <a:ext cx="5079577" cy="960120"/>
          </a:xfrm>
          <a:prstGeom prst="roundRect">
            <a:avLst>
              <a:gd name="adj" fmla="val 9259"/>
            </a:avLst>
          </a:prstGeom>
          <a:solidFill>
            <a:srgbClr val="0B0748"/>
          </a:solidFill>
          <a:ln/>
        </p:spPr>
        <p:txBody>
          <a:bodyPr wrap="none" lIns="126362" tIns="88262" rIns="0" bIns="62862" rtlCol="0" anchor="t">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sudo kubeadm join 10.10.0.10:6443 \</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--token abcdef.0123456789abcdef \</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--discovery-token-ca-cert-hash sha256:&lt;empreinte&gt;</a:t>
            </a:r>
            <a:endParaRPr lang="en-US" sz="1200" dirty="0"/>
          </a:p>
        </p:txBody>
      </p:sp>
      <p:sp>
        <p:nvSpPr>
          <p:cNvPr id="16" name="Text 11"/>
          <p:cNvSpPr/>
          <p:nvPr/>
        </p:nvSpPr>
        <p:spPr>
          <a:xfrm>
            <a:off x="6076633" y="3194794"/>
            <a:ext cx="5231964"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F3C6B"/>
                </a:solidFill>
                <a:latin typeface="IBM Plex Sans" pitchFamily="34" charset="0"/>
                <a:ea typeface="IBM Plex Sans" pitchFamily="34" charset="-122"/>
                <a:cs typeface="IBM Plex Sans" pitchFamily="34" charset="-120"/>
              </a:rPr>
              <a:t>Le jeton</a:t>
            </a:r>
            <a:r>
              <a:rPr lang="en-US" sz="1250" dirty="0">
                <a:solidFill>
                  <a:srgbClr val="3F3C6B"/>
                </a:solidFill>
                <a:latin typeface="IBM Plex Sans" pitchFamily="34" charset="0"/>
                <a:ea typeface="IBM Plex Sans" pitchFamily="34" charset="-122"/>
                <a:cs typeface="IBM Plex Sans" pitchFamily="34" charset="-120"/>
              </a:rPr>
              <a:t> authentifie le nouveau nœud ; il expire après 24 heures.</a:t>
            </a:r>
            <a:endParaRPr lang="en-US" sz="1250" dirty="0"/>
          </a:p>
        </p:txBody>
      </p:sp>
      <p:sp>
        <p:nvSpPr>
          <p:cNvPr id="17" name="Text 12"/>
          <p:cNvSpPr/>
          <p:nvPr/>
        </p:nvSpPr>
        <p:spPr>
          <a:xfrm>
            <a:off x="6076633" y="3518644"/>
            <a:ext cx="5231964"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F3C6B"/>
                </a:solidFill>
                <a:latin typeface="IBM Plex Sans" pitchFamily="34" charset="0"/>
                <a:ea typeface="IBM Plex Sans" pitchFamily="34" charset="-122"/>
                <a:cs typeface="IBM Plex Sans" pitchFamily="34" charset="-120"/>
              </a:rPr>
              <a:t>L'empreinte de la CA</a:t>
            </a:r>
            <a:r>
              <a:rPr lang="en-US" sz="1250" dirty="0">
                <a:solidFill>
                  <a:srgbClr val="3F3C6B"/>
                </a:solidFill>
                <a:latin typeface="IBM Plex Sans" pitchFamily="34" charset="0"/>
                <a:ea typeface="IBM Plex Sans" pitchFamily="34" charset="-122"/>
                <a:cs typeface="IBM Plex Sans" pitchFamily="34" charset="-120"/>
              </a:rPr>
              <a:t> : le nœud vérifie qu'il parle au bon cluster, pas à un imposteur.</a:t>
            </a:r>
            <a:endParaRPr lang="en-US" sz="1250" dirty="0"/>
          </a:p>
        </p:txBody>
      </p:sp>
      <p:sp>
        <p:nvSpPr>
          <p:cNvPr id="18" name="Text 13"/>
          <p:cNvSpPr/>
          <p:nvPr/>
        </p:nvSpPr>
        <p:spPr>
          <a:xfrm>
            <a:off x="6076633" y="4064744"/>
            <a:ext cx="5231964"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F3C6B"/>
                </a:solidFill>
                <a:latin typeface="IBM Plex Sans" pitchFamily="34" charset="0"/>
                <a:ea typeface="IBM Plex Sans" pitchFamily="34" charset="-122"/>
                <a:cs typeface="IBM Plex Sans" pitchFamily="34" charset="-120"/>
              </a:rPr>
              <a:t>TLS bootstrapping</a:t>
            </a:r>
            <a:r>
              <a:rPr lang="en-US" sz="1250" dirty="0">
                <a:solidFill>
                  <a:srgbClr val="3F3C6B"/>
                </a:solidFill>
                <a:latin typeface="IBM Plex Sans" pitchFamily="34" charset="0"/>
                <a:ea typeface="IBM Plex Sans" pitchFamily="34" charset="-122"/>
                <a:cs typeface="IBM Plex Sans" pitchFamily="34" charset="-120"/>
              </a:rPr>
              <a:t> : le kubelet demande son certificat, approuvé automatiquement.</a:t>
            </a:r>
            <a:endParaRPr lang="en-US" sz="1250" dirty="0"/>
          </a:p>
        </p:txBody>
      </p:sp>
      <p:sp>
        <p:nvSpPr>
          <p:cNvPr id="19" name="Text 14"/>
          <p:cNvSpPr/>
          <p:nvPr/>
        </p:nvSpPr>
        <p:spPr>
          <a:xfrm>
            <a:off x="6076633" y="4610844"/>
            <a:ext cx="5079577" cy="340360"/>
          </a:xfrm>
          <a:prstGeom prst="roundRect">
            <a:avLst>
              <a:gd name="adj" fmla="val 18657"/>
            </a:avLst>
          </a:prstGeom>
          <a:solidFill>
            <a:srgbClr val="ECEAF6"/>
          </a:solidFill>
          <a:ln/>
        </p:spPr>
        <p:txBody>
          <a:bodyPr wrap="square" lIns="83001" tIns="44901" rIns="0" bIns="19501"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kubeadm token create --print-join-command</a:t>
            </a:r>
            <a:endParaRPr lang="en-US" sz="1200" dirty="0"/>
          </a:p>
        </p:txBody>
      </p:sp>
      <p:pic>
        <p:nvPicPr>
          <p:cNvPr id="20" name="Image 3" descr="preencoded.png">    </p:cNvPr>
          <p:cNvPicPr>
            <a:picLocks noChangeAspect="1"/>
          </p:cNvPicPr>
          <p:nvPr/>
        </p:nvPicPr>
        <p:blipFill>
          <a:blip r:embed="rId4"/>
          <a:srcRect l="0" r="0" t="0" b="0"/>
          <a:stretch/>
        </p:blipFill>
        <p:spPr>
          <a:xfrm>
            <a:off x="812800" y="6299200"/>
            <a:ext cx="152400" cy="152400"/>
          </a:xfrm>
          <a:prstGeom prst="rect">
            <a:avLst/>
          </a:prstGeom>
        </p:spPr>
      </p:pic>
      <p:sp>
        <p:nvSpPr>
          <p:cNvPr id="21" name="Text 15"/>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2" name="Image 4" descr="Parcours : module 4 sur 16">    </p:cNvPr>
          <p:cNvPicPr>
            <a:picLocks noChangeAspect="1"/>
          </p:cNvPicPr>
          <p:nvPr/>
        </p:nvPicPr>
        <p:blipFill>
          <a:blip r:embed="rId5"/>
          <a:srcRect l="0" r="0" t="0" b="0"/>
          <a:stretch/>
        </p:blipFill>
        <p:spPr>
          <a:xfrm>
            <a:off x="9207500" y="6299200"/>
            <a:ext cx="2171700" cy="1524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04 · INSTALLER UN CLUSTER AVEC KUBEADM</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réseau des pods avec Calico</a:t>
            </a:r>
            <a:endParaRPr lang="en-US" sz="2800" dirty="0"/>
          </a:p>
        </p:txBody>
      </p:sp>
      <p:sp>
        <p:nvSpPr>
          <p:cNvPr id="4" name="Text 2"/>
          <p:cNvSpPr/>
          <p:nvPr/>
        </p:nvSpPr>
        <p:spPr>
          <a:xfrm>
            <a:off x="812800" y="154431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Après kubeadm init, les nœuds restent NotReady : aucun plugin réseau n'est installé. Calico va :</a:t>
            </a:r>
            <a:endParaRPr lang="en-US" sz="1500" dirty="0"/>
          </a:p>
        </p:txBody>
      </p:sp>
      <p:sp>
        <p:nvSpPr>
          <p:cNvPr id="5" name="Shape 3"/>
          <p:cNvSpPr/>
          <p:nvPr/>
        </p:nvSpPr>
        <p:spPr>
          <a:xfrm>
            <a:off x="812800" y="2014215"/>
            <a:ext cx="3420533" cy="1056640"/>
          </a:xfrm>
          <a:prstGeom prst="roundRect">
            <a:avLst>
              <a:gd name="adj" fmla="val 10817"/>
            </a:avLst>
          </a:prstGeom>
          <a:solidFill>
            <a:srgbClr val="0B0748"/>
          </a:solidFill>
          <a:ln/>
        </p:spPr>
      </p:sp>
      <p:sp>
        <p:nvSpPr>
          <p:cNvPr id="6" name="Text 4"/>
          <p:cNvSpPr/>
          <p:nvPr/>
        </p:nvSpPr>
        <p:spPr>
          <a:xfrm>
            <a:off x="1003300" y="2179315"/>
            <a:ext cx="313071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8F66"/>
                </a:solidFill>
                <a:latin typeface="Sora" pitchFamily="34" charset="0"/>
                <a:ea typeface="Sora" pitchFamily="34" charset="-122"/>
                <a:cs typeface="Sora" pitchFamily="34" charset="-120"/>
              </a:rPr>
              <a:t>1 · Attribuer les adresses</a:t>
            </a:r>
            <a:endParaRPr lang="en-US" sz="1400" dirty="0"/>
          </a:p>
        </p:txBody>
      </p:sp>
      <p:sp>
        <p:nvSpPr>
          <p:cNvPr id="7" name="Text 5"/>
          <p:cNvSpPr/>
          <p:nvPr/>
        </p:nvSpPr>
        <p:spPr>
          <a:xfrm>
            <a:off x="1003300" y="2479030"/>
            <a:ext cx="31307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Il découpe 10.244.0.0/16 en blocs /26 de 64 adresses, distribués aux nœuds.</a:t>
            </a:r>
            <a:endParaRPr lang="en-US" sz="1200" dirty="0"/>
          </a:p>
        </p:txBody>
      </p:sp>
      <p:sp>
        <p:nvSpPr>
          <p:cNvPr id="8" name="Shape 6"/>
          <p:cNvSpPr/>
          <p:nvPr/>
        </p:nvSpPr>
        <p:spPr>
          <a:xfrm>
            <a:off x="4385733" y="2014215"/>
            <a:ext cx="3420533" cy="1056640"/>
          </a:xfrm>
          <a:prstGeom prst="roundRect">
            <a:avLst>
              <a:gd name="adj" fmla="val 10817"/>
            </a:avLst>
          </a:prstGeom>
          <a:solidFill>
            <a:srgbClr val="0B0748"/>
          </a:solidFill>
          <a:ln/>
        </p:spPr>
      </p:sp>
      <p:sp>
        <p:nvSpPr>
          <p:cNvPr id="9" name="Text 7"/>
          <p:cNvSpPr/>
          <p:nvPr/>
        </p:nvSpPr>
        <p:spPr>
          <a:xfrm>
            <a:off x="4576233" y="2179315"/>
            <a:ext cx="313071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8F66"/>
                </a:solidFill>
                <a:latin typeface="Sora" pitchFamily="34" charset="0"/>
                <a:ea typeface="Sora" pitchFamily="34" charset="-122"/>
                <a:cs typeface="Sora" pitchFamily="34" charset="-120"/>
              </a:rPr>
              <a:t>2 · Router entre nœuds</a:t>
            </a:r>
            <a:endParaRPr lang="en-US" sz="1400" dirty="0"/>
          </a:p>
        </p:txBody>
      </p:sp>
      <p:sp>
        <p:nvSpPr>
          <p:cNvPr id="10" name="Text 8"/>
          <p:cNvSpPr/>
          <p:nvPr/>
        </p:nvSpPr>
        <p:spPr>
          <a:xfrm>
            <a:off x="4576233" y="2479030"/>
            <a:ext cx="31307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Directement, ou en encapsulant les paquets des pods dans des paquets entre nœuds.</a:t>
            </a:r>
            <a:endParaRPr lang="en-US" sz="1200" dirty="0"/>
          </a:p>
        </p:txBody>
      </p:sp>
      <p:sp>
        <p:nvSpPr>
          <p:cNvPr id="11" name="Shape 9"/>
          <p:cNvSpPr/>
          <p:nvPr/>
        </p:nvSpPr>
        <p:spPr>
          <a:xfrm>
            <a:off x="7958667" y="2014215"/>
            <a:ext cx="3420533" cy="1056640"/>
          </a:xfrm>
          <a:prstGeom prst="roundRect">
            <a:avLst>
              <a:gd name="adj" fmla="val 10817"/>
            </a:avLst>
          </a:prstGeom>
          <a:solidFill>
            <a:srgbClr val="0B0748"/>
          </a:solidFill>
          <a:ln/>
        </p:spPr>
      </p:sp>
      <p:sp>
        <p:nvSpPr>
          <p:cNvPr id="12" name="Text 10"/>
          <p:cNvSpPr/>
          <p:nvPr/>
        </p:nvSpPr>
        <p:spPr>
          <a:xfrm>
            <a:off x="8149167" y="2179315"/>
            <a:ext cx="313071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8F66"/>
                </a:solidFill>
                <a:latin typeface="Sora" pitchFamily="34" charset="0"/>
                <a:ea typeface="Sora" pitchFamily="34" charset="-122"/>
                <a:cs typeface="Sora" pitchFamily="34" charset="-120"/>
              </a:rPr>
              <a:t>3 · Appliquer les politiques</a:t>
            </a:r>
            <a:endParaRPr lang="en-US" sz="1400" dirty="0"/>
          </a:p>
        </p:txBody>
      </p:sp>
      <p:sp>
        <p:nvSpPr>
          <p:cNvPr id="13" name="Text 11"/>
          <p:cNvSpPr/>
          <p:nvPr/>
        </p:nvSpPr>
        <p:spPr>
          <a:xfrm>
            <a:off x="8149167" y="2479030"/>
            <a:ext cx="31307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Les NetworkPolicies, vues au module 15.</a:t>
            </a:r>
            <a:endParaRPr lang="en-US" sz="1200" dirty="0"/>
          </a:p>
        </p:txBody>
      </p:sp>
      <p:sp>
        <p:nvSpPr>
          <p:cNvPr id="14" name="Shape 12"/>
          <p:cNvSpPr/>
          <p:nvPr/>
        </p:nvSpPr>
        <p:spPr>
          <a:xfrm>
            <a:off x="812800" y="3274070"/>
            <a:ext cx="10566400" cy="1856105"/>
          </a:xfrm>
          <a:prstGeom prst="rect">
            <a:avLst/>
          </a:prstGeom>
          <a:solidFill>
            <a:srgbClr val="FDFDFF"/>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19891" y="3281161"/>
          <a:ext cx="10559309" cy="1849014"/>
        </p:xfrm>
        <a:graphic>
          <a:graphicData uri="http://schemas.openxmlformats.org/drawingml/2006/table">
            <a:tbl>
              <a:tblPr/>
              <a:tblGrid>
                <a:gridCol w="2323048"/>
                <a:gridCol w="3590165"/>
                <a:gridCol w="4646096"/>
              </a:tblGrid>
              <a:tr h="327131">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Encapsulation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Principe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Quand l'utiliser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Aucune (BGP direct)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Les nœuds s'annoncent les routes des pods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Réseau maîtrisé, sans filtrage d'adresses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IP-in-IP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Un paquet IP dans un paquet IP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Réseaux qui laissent passer le protocole IP 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27131">
                <a:tc>
                  <a:txBody>
                    <a:bodyPr/>
                    <a:lstStyle/>
                    <a:p>
                      <a:pPr indent="0" marL="0">
                        <a:lnSpc>
                          <a:spcPts val="1680"/>
                        </a:lnSpc>
                        <a:buNone/>
                      </a:pPr>
                      <a:r>
                        <a:rPr lang="en-US" sz="1200" dirty="0">
                          <a:solidFill>
                            <a:srgbClr val="B8421A"/>
                          </a:solidFill>
                          <a:latin typeface="IBM Plex Sans" pitchFamily="34" charset="0"/>
                          <a:ea typeface="IBM Plex Sans" pitchFamily="34" charset="-122"/>
                          <a:cs typeface="IBM Plex Sans" pitchFamily="34" charset="-120"/>
                        </a:rPr>
                        <a:t>VXLAN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9B8B0"/>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9B8B0"/>
                      </a:solidFill>
                      <a:prstDash val="solid"/>
                      <a:round/>
                      <a:headEnd type="none" w="med" len="med"/>
                      <a:tailEnd type="none" w="med" len="med"/>
                    </a:lnB>
                    <a:solidFill>
                      <a:srgbClr val="FCE6DC"/>
                    </a:solidFill>
                  </a:tcPr>
                </a:tc>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Une trame dans un paquet UDP (port 4789)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B8B0"/>
                      </a:solidFill>
                      <a:prstDash val="solid"/>
                      <a:round/>
                      <a:headEnd type="none" w="med" len="med"/>
                      <a:tailEnd type="none" w="med" len="med"/>
                    </a:lnL>
                    <a:lnR w="12700" cap="flat" cmpd="sng" algn="ctr">
                      <a:solidFill>
                        <a:srgbClr val="C9B8B0"/>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9B8B0"/>
                      </a:solidFill>
                      <a:prstDash val="solid"/>
                      <a:round/>
                      <a:headEnd type="none" w="med" len="med"/>
                      <a:tailEnd type="none" w="med" len="med"/>
                    </a:lnB>
                    <a:solidFill>
                      <a:srgbClr val="FCE6DC"/>
                    </a:solidFill>
                  </a:tcPr>
                </a:tc>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Clouds publics et réseaux filtrés : le choix du TP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B8B0"/>
                      </a:solidFill>
                      <a:prstDash val="solid"/>
                      <a:round/>
                      <a:headEnd type="none" w="med" len="med"/>
                      <a:tailEnd type="none" w="med" len="med"/>
                    </a:lnL>
                    <a:lnR w="12700" cap="flat" cmpd="sng" algn="ctr">
                      <a:solidFill>
                        <a:srgbClr val="C9B8B0"/>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9B8B0"/>
                      </a:solidFill>
                      <a:prstDash val="solid"/>
                      <a:round/>
                      <a:headEnd type="none" w="med" len="med"/>
                      <a:tailEnd type="none" w="med" len="med"/>
                    </a:lnB>
                    <a:solidFill>
                      <a:srgbClr val="FCE6DC"/>
                    </a:solidFill>
                  </a:tcPr>
                </a:tc>
              </a:tr>
              <a:tr h="54049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VXLANCrossSubnet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9B8B0"/>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VXLAN seulement entre sous-réseaux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9B8B0"/>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Défaut de Calico ; peut être bloqué par l'anti-usurpation des Clouds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9B8B0"/>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bl>
          </a:graphicData>
        </a:graphic>
      </p:graphicFrame>
      <p:pic>
        <p:nvPicPr>
          <p:cNvPr id="16"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7" name="Text 13"/>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1" descr="Parcours : module 4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04 · INSTALLER UN CLUSTER AVEC KUBEADM</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L'opérateur Tigera et le choix du CNI</a:t>
            </a:r>
            <a:endParaRPr lang="en-US" sz="2800" dirty="0"/>
          </a:p>
        </p:txBody>
      </p:sp>
      <p:sp>
        <p:nvSpPr>
          <p:cNvPr id="4" name="Text 2"/>
          <p:cNvSpPr/>
          <p:nvPr/>
        </p:nvSpPr>
        <p:spPr>
          <a:xfrm>
            <a:off x="812800" y="1569715"/>
            <a:ext cx="4421378"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0B0748"/>
                </a:solidFill>
                <a:latin typeface="IBM Plex Sans" pitchFamily="34" charset="0"/>
                <a:ea typeface="IBM Plex Sans" pitchFamily="34" charset="-122"/>
                <a:cs typeface="IBM Plex Sans" pitchFamily="34" charset="-120"/>
              </a:rPr>
              <a:t>Dans le TP, Calico est installé par son </a:t>
            </a:r>
            <a:r>
              <a:rPr lang="en-US" sz="1400" b="1" dirty="0">
                <a:solidFill>
                  <a:srgbClr val="0B0748"/>
                </a:solidFill>
                <a:latin typeface="IBM Plex Sans" pitchFamily="34" charset="0"/>
                <a:ea typeface="IBM Plex Sans" pitchFamily="34" charset="-122"/>
                <a:cs typeface="IBM Plex Sans" pitchFamily="34" charset="-120"/>
              </a:rPr>
              <a:t>opérateur</a:t>
            </a:r>
            <a:r>
              <a:rPr lang="en-US" sz="1400" dirty="0">
                <a:solidFill>
                  <a:srgbClr val="0B0748"/>
                </a:solidFill>
                <a:latin typeface="IBM Plex Sans" pitchFamily="34" charset="0"/>
                <a:ea typeface="IBM Plex Sans" pitchFamily="34" charset="-122"/>
                <a:cs typeface="IBM Plex Sans" pitchFamily="34" charset="-120"/>
              </a:rPr>
              <a:t> : ses définitions de ressources, puis l'opérateur, puis un objet </a:t>
            </a:r>
            <a:r>
              <a:rPr lang="en-US" sz="1400" b="1" dirty="0">
                <a:solidFill>
                  <a:srgbClr val="0B0748"/>
                </a:solidFill>
                <a:latin typeface="IBM Plex Sans" pitchFamily="34" charset="0"/>
                <a:ea typeface="IBM Plex Sans" pitchFamily="34" charset="-122"/>
                <a:cs typeface="IBM Plex Sans" pitchFamily="34" charset="-120"/>
              </a:rPr>
              <a:t>Installation</a:t>
            </a:r>
            <a:r>
              <a:rPr lang="en-US" sz="1400" dirty="0">
                <a:solidFill>
                  <a:srgbClr val="0B0748"/>
                </a:solidFill>
                <a:latin typeface="IBM Plex Sans" pitchFamily="34" charset="0"/>
                <a:ea typeface="IBM Plex Sans" pitchFamily="34" charset="-122"/>
                <a:cs typeface="IBM Plex Sans" pitchFamily="34" charset="-120"/>
              </a:rPr>
              <a:t> qui décrit le réseau voulu.</a:t>
            </a:r>
            <a:endParaRPr lang="en-US" sz="1400" dirty="0"/>
          </a:p>
        </p:txBody>
      </p:sp>
      <p:sp>
        <p:nvSpPr>
          <p:cNvPr id="5" name="Text 3"/>
          <p:cNvSpPr/>
          <p:nvPr/>
        </p:nvSpPr>
        <p:spPr>
          <a:xfrm>
            <a:off x="812800" y="2432050"/>
            <a:ext cx="4421378"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6B6890"/>
                </a:solidFill>
                <a:latin typeface="IBM Plex Sans" pitchFamily="34" charset="0"/>
                <a:ea typeface="IBM Plex Sans" pitchFamily="34" charset="-122"/>
                <a:cs typeface="IBM Plex Sans" pitchFamily="34" charset="-120"/>
              </a:rPr>
              <a:t>L'opérateur déploie et maintient Calico à partir de cet objet : un premier exemple d'opérateur, détaillé au module 13.</a:t>
            </a:r>
            <a:endParaRPr lang="en-US" sz="1300" dirty="0"/>
          </a:p>
        </p:txBody>
      </p:sp>
      <p:sp>
        <p:nvSpPr>
          <p:cNvPr id="6" name="Text 4"/>
          <p:cNvSpPr/>
          <p:nvPr/>
        </p:nvSpPr>
        <p:spPr>
          <a:xfrm>
            <a:off x="5410200" y="1830388"/>
            <a:ext cx="5969000" cy="1059180"/>
          </a:xfrm>
          <a:prstGeom prst="roundRect">
            <a:avLst>
              <a:gd name="adj" fmla="val 9592"/>
            </a:avLst>
          </a:prstGeom>
          <a:solidFill>
            <a:srgbClr val="0B0748"/>
          </a:solidFill>
          <a:ln/>
        </p:spPr>
        <p:txBody>
          <a:bodyPr wrap="none" lIns="160742" tIns="122642" rIns="0" bIns="97242" rtlCol="0" anchor="t">
            <a:normAutofit/>
          </a:bodyPr>
          <a:lstStyle/>
          <a:p>
            <a:pPr algn="l" indent="0" marL="0">
              <a:lnSpc>
                <a:spcPts val="1980"/>
              </a:lnSpc>
              <a:buNone/>
            </a:pPr>
            <a:r>
              <a:rPr lang="en-US" sz="1200" dirty="0">
                <a:solidFill>
                  <a:srgbClr val="ECEAFF"/>
                </a:solidFill>
                <a:latin typeface="JetBrains Mono" pitchFamily="49" charset="0"/>
                <a:ea typeface="JetBrains Mono" pitchFamily="49" charset="-122"/>
                <a:cs typeface="JetBrains Mono" pitchFamily="49" charset="-120"/>
              </a:rPr>
              <a:t>kubectl get tigerastatus                  </a:t>
            </a:r>
            <a:r>
              <a:rPr lang="en-US" sz="1200" dirty="0">
                <a:solidFill>
                  <a:srgbClr val="9A96D0"/>
                </a:solidFill>
                <a:latin typeface="JetBrains Mono" pitchFamily="49" charset="0"/>
                <a:ea typeface="JetBrains Mono" pitchFamily="49" charset="-122"/>
                <a:cs typeface="JetBrains Mono" pitchFamily="49" charset="-120"/>
              </a:rPr>
              <a:t># état global</a:t>
            </a:r>
            <a:endParaRPr lang="en-US" sz="1200" dirty="0"/>
          </a:p>
          <a:p>
            <a:pPr algn="l" indent="0" marL="0">
              <a:lnSpc>
                <a:spcPts val="1980"/>
              </a:lnSpc>
              <a:buNone/>
            </a:pPr>
            <a:r>
              <a:rPr lang="en-US" sz="1200" dirty="0">
                <a:solidFill>
                  <a:srgbClr val="ECEAFF"/>
                </a:solidFill>
                <a:latin typeface="JetBrains Mono" pitchFamily="49" charset="0"/>
                <a:ea typeface="JetBrains Mono" pitchFamily="49" charset="-122"/>
                <a:cs typeface="JetBrains Mono" pitchFamily="49" charset="-120"/>
              </a:rPr>
              <a:t>kubectl get pods -n calico-system -o wide</a:t>
            </a:r>
            <a:endParaRPr lang="en-US" sz="1200" dirty="0"/>
          </a:p>
          <a:p>
            <a:pPr algn="l" indent="0" marL="0">
              <a:lnSpc>
                <a:spcPts val="1980"/>
              </a:lnSpc>
              <a:buNone/>
            </a:pPr>
            <a:r>
              <a:rPr lang="en-US" sz="1200" dirty="0">
                <a:solidFill>
                  <a:srgbClr val="ECEAFF"/>
                </a:solidFill>
                <a:latin typeface="JetBrains Mono" pitchFamily="49" charset="0"/>
                <a:ea typeface="JetBrains Mono" pitchFamily="49" charset="-122"/>
                <a:cs typeface="JetBrains Mono" pitchFamily="49" charset="-120"/>
              </a:rPr>
              <a:t>kubectl get installation default -o yaml  </a:t>
            </a:r>
            <a:r>
              <a:rPr lang="en-US" sz="1200" dirty="0">
                <a:solidFill>
                  <a:srgbClr val="9A96D0"/>
                </a:solidFill>
                <a:latin typeface="JetBrains Mono" pitchFamily="49" charset="0"/>
                <a:ea typeface="JetBrains Mono" pitchFamily="49" charset="-122"/>
                <a:cs typeface="JetBrains Mono" pitchFamily="49" charset="-120"/>
              </a:rPr>
              <a:t># réseau déclaré</a:t>
            </a:r>
            <a:endParaRPr lang="en-US" sz="1200" dirty="0"/>
          </a:p>
        </p:txBody>
      </p:sp>
      <p:sp>
        <p:nvSpPr>
          <p:cNvPr id="7" name="Shape 5"/>
          <p:cNvSpPr/>
          <p:nvPr/>
        </p:nvSpPr>
        <p:spPr>
          <a:xfrm>
            <a:off x="815975" y="3382020"/>
            <a:ext cx="3418840" cy="2456815"/>
          </a:xfrm>
          <a:prstGeom prst="roundRect">
            <a:avLst>
              <a:gd name="adj" fmla="val 5040"/>
            </a:avLst>
          </a:prstGeom>
          <a:solidFill>
            <a:srgbClr val="FDFDFF"/>
          </a:solidFill>
          <a:ln w="6350">
            <a:solidFill>
              <a:srgbClr val="E1DFEE"/>
            </a:solidFill>
            <a:prstDash val="solid"/>
          </a:ln>
        </p:spPr>
      </p:sp>
      <p:sp>
        <p:nvSpPr>
          <p:cNvPr id="8" name="Text 6"/>
          <p:cNvSpPr/>
          <p:nvPr/>
        </p:nvSpPr>
        <p:spPr>
          <a:xfrm>
            <a:off x="1035791" y="3576414"/>
            <a:ext cx="3068585"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B0748"/>
                </a:solidFill>
                <a:latin typeface="Sora" pitchFamily="34" charset="0"/>
                <a:ea typeface="Sora" pitchFamily="34" charset="-122"/>
                <a:cs typeface="Sora" pitchFamily="34" charset="-120"/>
              </a:rPr>
              <a:t>Flannel</a:t>
            </a:r>
            <a:endParaRPr lang="en-US" sz="1700" dirty="0"/>
          </a:p>
        </p:txBody>
      </p:sp>
      <p:sp>
        <p:nvSpPr>
          <p:cNvPr id="9" name="Text 7"/>
          <p:cNvSpPr/>
          <p:nvPr/>
        </p:nvSpPr>
        <p:spPr>
          <a:xfrm>
            <a:off x="1035791" y="3954884"/>
            <a:ext cx="306858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Très simple.</a:t>
            </a:r>
            <a:endParaRPr lang="en-US" sz="1300" dirty="0"/>
          </a:p>
        </p:txBody>
      </p:sp>
      <p:sp>
        <p:nvSpPr>
          <p:cNvPr id="10" name="Shape 8"/>
          <p:cNvSpPr/>
          <p:nvPr/>
        </p:nvSpPr>
        <p:spPr>
          <a:xfrm>
            <a:off x="1035791" y="5350942"/>
            <a:ext cx="2979208" cy="0"/>
          </a:xfrm>
          <a:prstGeom prst="line">
            <a:avLst/>
          </a:prstGeom>
          <a:noFill/>
          <a:ln w="6350">
            <a:solidFill>
              <a:srgbClr val="E1DFEE"/>
            </a:solidFill>
            <a:prstDash val="solid"/>
          </a:ln>
        </p:spPr>
      </p:sp>
      <p:sp>
        <p:nvSpPr>
          <p:cNvPr id="11" name="Text 9"/>
          <p:cNvSpPr/>
          <p:nvPr/>
        </p:nvSpPr>
        <p:spPr>
          <a:xfrm>
            <a:off x="1035791" y="5431057"/>
            <a:ext cx="30685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NetworkPolicy : non</a:t>
            </a:r>
            <a:endParaRPr lang="en-US" sz="1200" dirty="0"/>
          </a:p>
        </p:txBody>
      </p:sp>
      <p:sp>
        <p:nvSpPr>
          <p:cNvPr id="12" name="Shape 10"/>
          <p:cNvSpPr/>
          <p:nvPr/>
        </p:nvSpPr>
        <p:spPr>
          <a:xfrm>
            <a:off x="4390390" y="3378845"/>
            <a:ext cx="3411114" cy="2463165"/>
          </a:xfrm>
          <a:prstGeom prst="roundRect">
            <a:avLst>
              <a:gd name="adj" fmla="val 5156"/>
            </a:avLst>
          </a:prstGeom>
          <a:solidFill>
            <a:srgbClr val="0B0748"/>
          </a:solidFill>
          <a:ln/>
        </p:spPr>
      </p:sp>
      <p:sp>
        <p:nvSpPr>
          <p:cNvPr id="13" name="Text 11"/>
          <p:cNvSpPr/>
          <p:nvPr/>
        </p:nvSpPr>
        <p:spPr>
          <a:xfrm>
            <a:off x="4606290" y="3569345"/>
            <a:ext cx="3068694"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8F66"/>
                </a:solidFill>
                <a:latin typeface="Sora" pitchFamily="34" charset="0"/>
                <a:ea typeface="Sora" pitchFamily="34" charset="-122"/>
                <a:cs typeface="Sora" pitchFamily="34" charset="-120"/>
              </a:rPr>
              <a:t>Calico · le TP</a:t>
            </a:r>
            <a:endParaRPr lang="en-US" sz="1700" dirty="0"/>
          </a:p>
        </p:txBody>
      </p:sp>
      <p:sp>
        <p:nvSpPr>
          <p:cNvPr id="14" name="Text 12"/>
          <p:cNvSpPr/>
          <p:nvPr/>
        </p:nvSpPr>
        <p:spPr>
          <a:xfrm>
            <a:off x="4606290" y="3947790"/>
            <a:ext cx="306869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Mature : BGP, VXLAN, eBPF en option.</a:t>
            </a:r>
            <a:endParaRPr lang="en-US" sz="1300" dirty="0"/>
          </a:p>
        </p:txBody>
      </p:sp>
      <p:sp>
        <p:nvSpPr>
          <p:cNvPr id="15" name="Shape 13"/>
          <p:cNvSpPr/>
          <p:nvPr/>
        </p:nvSpPr>
        <p:spPr>
          <a:xfrm>
            <a:off x="4606290" y="5144666"/>
            <a:ext cx="2979314" cy="0"/>
          </a:xfrm>
          <a:prstGeom prst="line">
            <a:avLst/>
          </a:prstGeom>
          <a:noFill/>
          <a:ln w="6350">
            <a:solidFill>
              <a:srgbClr val="2E2A80"/>
            </a:solidFill>
            <a:prstDash val="solid"/>
          </a:ln>
        </p:spPr>
      </p:sp>
      <p:sp>
        <p:nvSpPr>
          <p:cNvPr id="16" name="Text 14"/>
          <p:cNvSpPr/>
          <p:nvPr/>
        </p:nvSpPr>
        <p:spPr>
          <a:xfrm>
            <a:off x="4606290" y="5224782"/>
            <a:ext cx="30686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6E8"/>
                </a:solidFill>
                <a:latin typeface="IBM Plex Sans" pitchFamily="34" charset="0"/>
                <a:ea typeface="IBM Plex Sans" pitchFamily="34" charset="-122"/>
                <a:cs typeface="IBM Plex Sans" pitchFamily="34" charset="-120"/>
              </a:rPr>
              <a:t>NetworkPolicy : oui, plus ses propres politiques étendues</a:t>
            </a:r>
            <a:endParaRPr lang="en-US" sz="1200" dirty="0"/>
          </a:p>
        </p:txBody>
      </p:sp>
      <p:sp>
        <p:nvSpPr>
          <p:cNvPr id="17" name="Shape 15"/>
          <p:cNvSpPr/>
          <p:nvPr/>
        </p:nvSpPr>
        <p:spPr>
          <a:xfrm>
            <a:off x="7957079" y="3382020"/>
            <a:ext cx="3418946" cy="2456815"/>
          </a:xfrm>
          <a:prstGeom prst="roundRect">
            <a:avLst>
              <a:gd name="adj" fmla="val 5040"/>
            </a:avLst>
          </a:prstGeom>
          <a:solidFill>
            <a:srgbClr val="FDFDFF"/>
          </a:solidFill>
          <a:ln w="6350">
            <a:solidFill>
              <a:srgbClr val="E1DFEE"/>
            </a:solidFill>
            <a:prstDash val="solid"/>
          </a:ln>
        </p:spPr>
      </p:sp>
      <p:sp>
        <p:nvSpPr>
          <p:cNvPr id="18" name="Text 16"/>
          <p:cNvSpPr/>
          <p:nvPr/>
        </p:nvSpPr>
        <p:spPr>
          <a:xfrm>
            <a:off x="8176895" y="3576414"/>
            <a:ext cx="3068694"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B0748"/>
                </a:solidFill>
                <a:latin typeface="Sora" pitchFamily="34" charset="0"/>
                <a:ea typeface="Sora" pitchFamily="34" charset="-122"/>
                <a:cs typeface="Sora" pitchFamily="34" charset="-120"/>
              </a:rPr>
              <a:t>Cilium</a:t>
            </a:r>
            <a:endParaRPr lang="en-US" sz="1700" dirty="0"/>
          </a:p>
        </p:txBody>
      </p:sp>
      <p:sp>
        <p:nvSpPr>
          <p:cNvPr id="19" name="Text 17"/>
          <p:cNvSpPr/>
          <p:nvPr/>
        </p:nvSpPr>
        <p:spPr>
          <a:xfrm>
            <a:off x="8176895" y="3954884"/>
            <a:ext cx="30686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eBPF, observabilité réseau ; peut remplacer kube-proxy.</a:t>
            </a:r>
            <a:endParaRPr lang="en-US" sz="1300" dirty="0"/>
          </a:p>
        </p:txBody>
      </p:sp>
      <p:sp>
        <p:nvSpPr>
          <p:cNvPr id="20" name="Shape 18"/>
          <p:cNvSpPr/>
          <p:nvPr/>
        </p:nvSpPr>
        <p:spPr>
          <a:xfrm>
            <a:off x="8176895" y="5350942"/>
            <a:ext cx="2979314" cy="0"/>
          </a:xfrm>
          <a:prstGeom prst="line">
            <a:avLst/>
          </a:prstGeom>
          <a:noFill/>
          <a:ln w="6350">
            <a:solidFill>
              <a:srgbClr val="E1DFEE"/>
            </a:solidFill>
            <a:prstDash val="solid"/>
          </a:ln>
        </p:spPr>
      </p:sp>
      <p:sp>
        <p:nvSpPr>
          <p:cNvPr id="21" name="Text 19"/>
          <p:cNvSpPr/>
          <p:nvPr/>
        </p:nvSpPr>
        <p:spPr>
          <a:xfrm>
            <a:off x="8176895" y="5431057"/>
            <a:ext cx="30686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NetworkPolicy : oui, jusqu'à la couche 7</a:t>
            </a:r>
            <a:endParaRPr lang="en-US" sz="1200" dirty="0"/>
          </a:p>
        </p:txBody>
      </p:sp>
      <p:pic>
        <p:nvPicPr>
          <p:cNvPr id="22"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3" name="Text 2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4" name="Image 1" descr="Parcours : module 4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BF0E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TRAVAUX PRATIQUES · À FAIRE MAINTENANT</a:t>
            </a:r>
            <a:endParaRPr lang="en-US" sz="1200" dirty="0"/>
          </a:p>
        </p:txBody>
      </p:sp>
      <p:sp>
        <p:nvSpPr>
          <p:cNvPr id="3" name="Text 1"/>
          <p:cNvSpPr/>
          <p:nvPr/>
        </p:nvSpPr>
        <p:spPr>
          <a:xfrm>
            <a:off x="812800" y="1127770"/>
            <a:ext cx="3008630" cy="1054100"/>
          </a:xfrm>
          <a:prstGeom prst="rect">
            <a:avLst/>
          </a:prstGeom>
          <a:noFill/>
          <a:ln/>
        </p:spPr>
        <p:txBody>
          <a:bodyPr wrap="square" lIns="0" tIns="0" rIns="0" bIns="0" rtlCol="0" anchor="t">
            <a:normAutofit/>
          </a:bodyPr>
          <a:lstStyle/>
          <a:p>
            <a:pPr algn="l" indent="0" marL="0">
              <a:lnSpc>
                <a:spcPts val="8100"/>
              </a:lnSpc>
              <a:buNone/>
            </a:pPr>
            <a:r>
              <a:rPr lang="en-US" sz="9000" b="1" spc="-300" kern="0" dirty="0">
                <a:solidFill>
                  <a:srgbClr val="E25A2C"/>
                </a:solidFill>
                <a:latin typeface="Sora" pitchFamily="34" charset="0"/>
                <a:ea typeface="Sora" pitchFamily="34" charset="-122"/>
                <a:cs typeface="Sora" pitchFamily="34" charset="-120"/>
              </a:rPr>
              <a:t>TP2</a:t>
            </a:r>
            <a:endParaRPr lang="en-US" sz="9000" dirty="0"/>
          </a:p>
        </p:txBody>
      </p:sp>
      <p:pic>
        <p:nvPicPr>
          <p:cNvPr id="4" name="Image 0" descr="Clock">    </p:cNvPr>
          <p:cNvPicPr>
            <a:picLocks noChangeAspect="1"/>
          </p:cNvPicPr>
          <p:nvPr/>
        </p:nvPicPr>
        <p:blipFill>
          <a:blip r:embed="rId1"/>
          <a:srcRect l="0" r="0" t="0" b="0"/>
          <a:stretch/>
        </p:blipFill>
        <p:spPr>
          <a:xfrm>
            <a:off x="812800" y="2467620"/>
            <a:ext cx="254000" cy="254000"/>
          </a:xfrm>
          <a:prstGeom prst="rect">
            <a:avLst/>
          </a:prstGeom>
        </p:spPr>
      </p:pic>
      <p:sp>
        <p:nvSpPr>
          <p:cNvPr id="5" name="Text 2"/>
          <p:cNvSpPr/>
          <p:nvPr/>
        </p:nvSpPr>
        <p:spPr>
          <a:xfrm>
            <a:off x="1181100" y="2461270"/>
            <a:ext cx="1477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Jour 1 · 13:15</a:t>
            </a:r>
            <a:endParaRPr lang="en-US" sz="1500" dirty="0"/>
          </a:p>
        </p:txBody>
      </p:sp>
      <p:pic>
        <p:nvPicPr>
          <p:cNvPr id="6" name="Image 1" descr="Activity">    </p:cNvPr>
          <p:cNvPicPr>
            <a:picLocks noChangeAspect="1"/>
          </p:cNvPicPr>
          <p:nvPr/>
        </p:nvPicPr>
        <p:blipFill>
          <a:blip r:embed="rId2"/>
          <a:srcRect l="0" r="0" t="0" b="0"/>
          <a:stretch/>
        </p:blipFill>
        <p:spPr>
          <a:xfrm>
            <a:off x="812800" y="2835920"/>
            <a:ext cx="254000" cy="254000"/>
          </a:xfrm>
          <a:prstGeom prst="rect">
            <a:avLst/>
          </a:prstGeom>
        </p:spPr>
      </p:pic>
      <p:sp>
        <p:nvSpPr>
          <p:cNvPr id="7" name="Text 3"/>
          <p:cNvSpPr/>
          <p:nvPr/>
        </p:nvSpPr>
        <p:spPr>
          <a:xfrm>
            <a:off x="1181100" y="2829570"/>
            <a:ext cx="11889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75 minutes</a:t>
            </a:r>
            <a:endParaRPr lang="en-US" sz="1500" dirty="0"/>
          </a:p>
        </p:txBody>
      </p:sp>
      <p:pic>
        <p:nvPicPr>
          <p:cNvPr id="8" name="Image 2" descr="Book">    </p:cNvPr>
          <p:cNvPicPr>
            <a:picLocks noChangeAspect="1"/>
          </p:cNvPicPr>
          <p:nvPr/>
        </p:nvPicPr>
        <p:blipFill>
          <a:blip r:embed="rId3"/>
          <a:srcRect l="0" r="0" t="0" b="0"/>
          <a:stretch/>
        </p:blipFill>
        <p:spPr>
          <a:xfrm>
            <a:off x="812800" y="3197870"/>
            <a:ext cx="254000" cy="254000"/>
          </a:xfrm>
          <a:prstGeom prst="rect">
            <a:avLst/>
          </a:prstGeom>
        </p:spPr>
      </p:pic>
      <p:sp>
        <p:nvSpPr>
          <p:cNvPr id="9" name="Text 4"/>
          <p:cNvSpPr/>
          <p:nvPr/>
        </p:nvSpPr>
        <p:spPr>
          <a:xfrm>
            <a:off x="1181100" y="3200400"/>
            <a:ext cx="184213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Sections 4.5 à 4.11</a:t>
            </a:r>
            <a:endParaRPr lang="en-US" sz="1400" dirty="0"/>
          </a:p>
        </p:txBody>
      </p:sp>
      <p:sp>
        <p:nvSpPr>
          <p:cNvPr id="10" name="Text 5"/>
          <p:cNvSpPr/>
          <p:nvPr>
            <p:ph type="title"/>
          </p:nvPr>
        </p:nvSpPr>
        <p:spPr>
          <a:xfrm>
            <a:off x="4191000" y="1127770"/>
            <a:ext cx="7403846"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Initialiser le cluster</a:t>
            </a:r>
            <a:endParaRPr lang="en-US" sz="2800" dirty="0"/>
          </a:p>
        </p:txBody>
      </p:sp>
      <p:sp>
        <p:nvSpPr>
          <p:cNvPr id="11" name="Text 6"/>
          <p:cNvSpPr/>
          <p:nvPr/>
        </p:nvSpPr>
        <p:spPr>
          <a:xfrm>
            <a:off x="4191000" y="1696715"/>
            <a:ext cx="7403846"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F3C6B"/>
                </a:solidFill>
                <a:latin typeface="IBM Plex Sans" pitchFamily="34" charset="0"/>
                <a:ea typeface="IBM Plex Sans" pitchFamily="34" charset="-122"/>
                <a:cs typeface="IBM Plex Sans" pitchFamily="34" charset="-120"/>
              </a:rPr>
              <a:t>Initialiser le cluster avec kubeadm init, configurer kubectl, installer Calico, puis joindre les deux workers.</a:t>
            </a:r>
            <a:endParaRPr lang="en-US" sz="1600" dirty="0"/>
          </a:p>
        </p:txBody>
      </p:sp>
      <p:sp>
        <p:nvSpPr>
          <p:cNvPr id="12" name="Text 7"/>
          <p:cNvSpPr/>
          <p:nvPr/>
        </p:nvSpPr>
        <p:spPr>
          <a:xfrm>
            <a:off x="4191000" y="2463800"/>
            <a:ext cx="7188200" cy="1498600"/>
          </a:xfrm>
          <a:prstGeom prst="roundRect">
            <a:avLst>
              <a:gd name="adj" fmla="val 6780"/>
            </a:avLst>
          </a:prstGeom>
          <a:solidFill>
            <a:srgbClr val="0B0748"/>
          </a:solidFill>
          <a:ln/>
        </p:spPr>
        <p:txBody>
          <a:bodyPr wrap="none" lIns="160742" tIns="109942" rIns="0" bIns="84542" rtlCol="0" anchor="t">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get nodes -o wide  </a:t>
            </a:r>
            <a:r>
              <a:rPr lang="en-US" sz="1200" dirty="0">
                <a:solidFill>
                  <a:srgbClr val="9A96D0"/>
                </a:solidFill>
                <a:latin typeface="JetBrains Mono" pitchFamily="49" charset="0"/>
                <a:ea typeface="JetBrains Mono" pitchFamily="49" charset="-122"/>
                <a:cs typeface="JetBrains Mono" pitchFamily="49" charset="-120"/>
              </a:rPr>
              <a:t># 3 nœuds Ready, v1.37.x, containerd://2.x</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get pods -A        </a:t>
            </a:r>
            <a:r>
              <a:rPr lang="en-US" sz="1200" dirty="0">
                <a:solidFill>
                  <a:srgbClr val="9A96D0"/>
                </a:solidFill>
                <a:latin typeface="JetBrains Mono" pitchFamily="49" charset="0"/>
                <a:ea typeface="JetBrains Mono" pitchFamily="49" charset="-122"/>
                <a:cs typeface="JetBrains Mono" pitchFamily="49" charset="-120"/>
              </a:rPr>
              <a:t># tout en Running</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run test-dns --rm -it --restart=Never \</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--image=mirror.gcr.io/library/busybox:1.36 \</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 nslookup kubernetes.default</a:t>
            </a:r>
            <a:endParaRPr lang="en-US" sz="1200" dirty="0"/>
          </a:p>
        </p:txBody>
      </p:sp>
      <p:sp>
        <p:nvSpPr>
          <p:cNvPr id="13" name="Shape 8"/>
          <p:cNvSpPr/>
          <p:nvPr/>
        </p:nvSpPr>
        <p:spPr>
          <a:xfrm>
            <a:off x="4194175" y="4677842"/>
            <a:ext cx="7181850" cy="1160992"/>
          </a:xfrm>
          <a:prstGeom prst="roundRect">
            <a:avLst>
              <a:gd name="adj" fmla="val 10665"/>
            </a:avLst>
          </a:prstGeom>
          <a:solidFill>
            <a:srgbClr val="FDFDFF"/>
          </a:solidFill>
          <a:ln w="6350">
            <a:solidFill>
              <a:srgbClr val="EBDDD2"/>
            </a:solidFill>
            <a:prstDash val="solid"/>
          </a:ln>
        </p:spPr>
      </p:sp>
      <p:pic>
        <p:nvPicPr>
          <p:cNvPr id="14" name="Image 3" descr="CheckCircle">    </p:cNvPr>
          <p:cNvPicPr>
            <a:picLocks noChangeAspect="1"/>
          </p:cNvPicPr>
          <p:nvPr/>
        </p:nvPicPr>
        <p:blipFill>
          <a:blip r:embed="rId4"/>
          <a:srcRect l="0" r="0" t="0" b="0"/>
          <a:stretch/>
        </p:blipFill>
        <p:spPr>
          <a:xfrm>
            <a:off x="4452091" y="4859561"/>
            <a:ext cx="355600" cy="355600"/>
          </a:xfrm>
          <a:prstGeom prst="rect">
            <a:avLst/>
          </a:prstGeom>
        </p:spPr>
      </p:pic>
      <p:sp>
        <p:nvSpPr>
          <p:cNvPr id="15" name="Text 9"/>
          <p:cNvSpPr/>
          <p:nvPr/>
        </p:nvSpPr>
        <p:spPr>
          <a:xfrm>
            <a:off x="4985491" y="4859561"/>
            <a:ext cx="63165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POINT DE CONTRÔLE</a:t>
            </a:r>
            <a:endParaRPr lang="en-US" sz="1200" dirty="0"/>
          </a:p>
        </p:txBody>
      </p:sp>
      <p:sp>
        <p:nvSpPr>
          <p:cNvPr id="16" name="Text 10"/>
          <p:cNvSpPr/>
          <p:nvPr/>
        </p:nvSpPr>
        <p:spPr>
          <a:xfrm>
            <a:off x="4985491" y="5123706"/>
            <a:ext cx="631659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3 nœuds Ready, pods de kube-system et calico-system en Running, le DNS interne répond.</a:t>
            </a:r>
            <a:endParaRPr lang="en-US" sz="1500" dirty="0"/>
          </a:p>
        </p:txBody>
      </p:sp>
      <p:pic>
        <p:nvPicPr>
          <p:cNvPr id="17"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18" name="Text 11"/>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9" name="Image 5" descr="Parcours : module 4 sur 16">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04 · INSTALLER UN CLUSTER AVEC KUBEADM</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Réinitialiser, sauvegarder, mettre à jour</a:t>
            </a:r>
            <a:endParaRPr lang="en-US" sz="2800" dirty="0"/>
          </a:p>
        </p:txBody>
      </p:sp>
      <p:sp>
        <p:nvSpPr>
          <p:cNvPr id="4" name="Shape 2"/>
          <p:cNvSpPr/>
          <p:nvPr/>
        </p:nvSpPr>
        <p:spPr>
          <a:xfrm>
            <a:off x="815975" y="1598290"/>
            <a:ext cx="5302250" cy="1582632"/>
          </a:xfrm>
          <a:prstGeom prst="roundRect">
            <a:avLst>
              <a:gd name="adj" fmla="val 7824"/>
            </a:avLst>
          </a:prstGeom>
          <a:solidFill>
            <a:srgbClr val="FDFDFF"/>
          </a:solidFill>
          <a:ln w="6350">
            <a:solidFill>
              <a:srgbClr val="E1DFEE"/>
            </a:solidFill>
            <a:prstDash val="solid"/>
          </a:ln>
        </p:spPr>
      </p:sp>
      <p:sp>
        <p:nvSpPr>
          <p:cNvPr id="5" name="Text 3"/>
          <p:cNvSpPr/>
          <p:nvPr/>
        </p:nvSpPr>
        <p:spPr>
          <a:xfrm>
            <a:off x="1023091" y="1780009"/>
            <a:ext cx="503465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RÉINITIALISER UN NŒUD</a:t>
            </a:r>
            <a:endParaRPr lang="en-US" sz="1200" dirty="0"/>
          </a:p>
        </p:txBody>
      </p:sp>
      <p:sp>
        <p:nvSpPr>
          <p:cNvPr id="6" name="Text 4"/>
          <p:cNvSpPr/>
          <p:nvPr/>
        </p:nvSpPr>
        <p:spPr>
          <a:xfrm>
            <a:off x="1023091" y="2069579"/>
            <a:ext cx="4888018" cy="640080"/>
          </a:xfrm>
          <a:prstGeom prst="roundRect">
            <a:avLst>
              <a:gd name="adj" fmla="val 9921"/>
            </a:avLst>
          </a:prstGeom>
          <a:solidFill>
            <a:srgbClr val="ECEAF6"/>
          </a:solidFill>
          <a:ln/>
        </p:spPr>
        <p:txBody>
          <a:bodyPr wrap="none" lIns="95701" tIns="57601" rIns="0" bIns="32201" rtlCol="0" anchor="t">
            <a:normAutofit/>
          </a:bodyPr>
          <a:lstStyle/>
          <a:p>
            <a:pPr algn="l" indent="0" marL="0">
              <a:lnSpc>
                <a:spcPts val="1920"/>
              </a:lnSpc>
              <a:buNone/>
            </a:pPr>
            <a:r>
              <a:rPr lang="en-US" sz="1200" dirty="0">
                <a:solidFill>
                  <a:srgbClr val="0B0748"/>
                </a:solidFill>
                <a:latin typeface="JetBrains Mono" pitchFamily="49" charset="0"/>
                <a:ea typeface="JetBrains Mono" pitchFamily="49" charset="-122"/>
                <a:cs typeface="JetBrains Mono" pitchFamily="49" charset="-120"/>
              </a:rPr>
              <a:t>sudo kubeadm reset -f</a:t>
            </a:r>
            <a:endParaRPr lang="en-US" sz="1200" dirty="0"/>
          </a:p>
          <a:p>
            <a:pPr algn="l" indent="0" marL="0">
              <a:lnSpc>
                <a:spcPts val="1920"/>
              </a:lnSpc>
              <a:buNone/>
            </a:pPr>
            <a:r>
              <a:rPr lang="en-US" sz="1200" dirty="0">
                <a:solidFill>
                  <a:srgbClr val="0B0748"/>
                </a:solidFill>
                <a:latin typeface="JetBrains Mono" pitchFamily="49" charset="0"/>
                <a:ea typeface="JetBrains Mono" pitchFamily="49" charset="-122"/>
                <a:cs typeface="JetBrains Mono" pitchFamily="49" charset="-120"/>
              </a:rPr>
              <a:t>sudo rm -rf /etc/cni/net.d $HOME/.kube/config</a:t>
            </a:r>
            <a:endParaRPr lang="en-US" sz="1200" dirty="0"/>
          </a:p>
        </p:txBody>
      </p:sp>
      <p:sp>
        <p:nvSpPr>
          <p:cNvPr id="7" name="Text 5"/>
          <p:cNvSpPr/>
          <p:nvPr/>
        </p:nvSpPr>
        <p:spPr>
          <a:xfrm>
            <a:off x="1023091" y="2785839"/>
            <a:ext cx="503465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Après une erreur d'initialisation, ou pour recommencer.</a:t>
            </a:r>
            <a:endParaRPr lang="en-US" sz="1200" dirty="0"/>
          </a:p>
        </p:txBody>
      </p:sp>
      <p:sp>
        <p:nvSpPr>
          <p:cNvPr id="8" name="Shape 6"/>
          <p:cNvSpPr/>
          <p:nvPr/>
        </p:nvSpPr>
        <p:spPr>
          <a:xfrm>
            <a:off x="815975" y="3365078"/>
            <a:ext cx="5302250" cy="2473748"/>
          </a:xfrm>
          <a:prstGeom prst="roundRect">
            <a:avLst>
              <a:gd name="adj" fmla="val 5006"/>
            </a:avLst>
          </a:prstGeom>
          <a:solidFill>
            <a:srgbClr val="FDFDFF"/>
          </a:solidFill>
          <a:ln w="6350">
            <a:solidFill>
              <a:srgbClr val="E1DFEE"/>
            </a:solidFill>
            <a:prstDash val="solid"/>
          </a:ln>
        </p:spPr>
      </p:sp>
      <p:sp>
        <p:nvSpPr>
          <p:cNvPr id="9" name="Text 7"/>
          <p:cNvSpPr/>
          <p:nvPr/>
        </p:nvSpPr>
        <p:spPr>
          <a:xfrm>
            <a:off x="1023091" y="3546797"/>
            <a:ext cx="503465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METTRE À JOUR : UNE MINEURE À LA FOIS</a:t>
            </a:r>
            <a:endParaRPr lang="en-US" sz="1200" dirty="0"/>
          </a:p>
        </p:txBody>
      </p:sp>
      <p:sp>
        <p:nvSpPr>
          <p:cNvPr id="10" name="Text 8"/>
          <p:cNvSpPr/>
          <p:nvPr/>
        </p:nvSpPr>
        <p:spPr>
          <a:xfrm>
            <a:off x="1023091" y="3836343"/>
            <a:ext cx="228600" cy="4521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1</a:t>
            </a:r>
            <a:endParaRPr lang="en-US" sz="1300" dirty="0"/>
          </a:p>
        </p:txBody>
      </p:sp>
      <p:sp>
        <p:nvSpPr>
          <p:cNvPr id="11" name="Text 9"/>
          <p:cNvSpPr/>
          <p:nvPr/>
        </p:nvSpPr>
        <p:spPr>
          <a:xfrm>
            <a:off x="1289791" y="3836343"/>
            <a:ext cx="475995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Control plane : pointer le dépôt vers la nouvelle version, mettre à jour kubeadm, kubeadm upgrade plan, puis upgrade apply v1.x.y.</a:t>
            </a:r>
            <a:endParaRPr lang="en-US" sz="1200" dirty="0"/>
          </a:p>
        </p:txBody>
      </p:sp>
      <p:sp>
        <p:nvSpPr>
          <p:cNvPr id="12" name="Text 10"/>
          <p:cNvSpPr/>
          <p:nvPr/>
        </p:nvSpPr>
        <p:spPr>
          <a:xfrm>
            <a:off x="1023091" y="4339282"/>
            <a:ext cx="228600" cy="4521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2</a:t>
            </a:r>
            <a:endParaRPr lang="en-US" sz="1300" dirty="0"/>
          </a:p>
        </p:txBody>
      </p:sp>
      <p:sp>
        <p:nvSpPr>
          <p:cNvPr id="13" name="Text 11"/>
          <p:cNvSpPr/>
          <p:nvPr/>
        </p:nvSpPr>
        <p:spPr>
          <a:xfrm>
            <a:off x="1289791" y="4339282"/>
            <a:ext cx="475995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drain, mise à jour de kubelet et kubectl, redémarrage du kubelet, uncordon.</a:t>
            </a:r>
            <a:endParaRPr lang="en-US" sz="1200" dirty="0"/>
          </a:p>
        </p:txBody>
      </p:sp>
      <p:sp>
        <p:nvSpPr>
          <p:cNvPr id="14" name="Text 12"/>
          <p:cNvSpPr/>
          <p:nvPr/>
        </p:nvSpPr>
        <p:spPr>
          <a:xfrm>
            <a:off x="1023091" y="4842197"/>
            <a:ext cx="228600" cy="4521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Sora" pitchFamily="34" charset="0"/>
                <a:ea typeface="Sora" pitchFamily="34" charset="-122"/>
                <a:cs typeface="Sora" pitchFamily="34" charset="-120"/>
              </a:rPr>
              <a:t>3</a:t>
            </a:r>
            <a:endParaRPr lang="en-US" sz="1300" dirty="0"/>
          </a:p>
        </p:txBody>
      </p:sp>
      <p:sp>
        <p:nvSpPr>
          <p:cNvPr id="15" name="Text 13"/>
          <p:cNvSpPr/>
          <p:nvPr/>
        </p:nvSpPr>
        <p:spPr>
          <a:xfrm>
            <a:off x="1289791" y="4842197"/>
            <a:ext cx="475995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Chaque worker : kubeadm upgrade node, puis drain, kubelet, uncordon.</a:t>
            </a:r>
            <a:endParaRPr lang="en-US" sz="1200" dirty="0"/>
          </a:p>
        </p:txBody>
      </p:sp>
      <p:sp>
        <p:nvSpPr>
          <p:cNvPr id="16" name="Shape 14"/>
          <p:cNvSpPr/>
          <p:nvPr/>
        </p:nvSpPr>
        <p:spPr>
          <a:xfrm>
            <a:off x="6299200" y="1595115"/>
            <a:ext cx="5080000" cy="4246880"/>
          </a:xfrm>
          <a:prstGeom prst="roundRect">
            <a:avLst>
              <a:gd name="adj" fmla="val 2990"/>
            </a:avLst>
          </a:prstGeom>
          <a:solidFill>
            <a:srgbClr val="0B0748"/>
          </a:solidFill>
          <a:ln/>
        </p:spPr>
      </p:sp>
      <p:sp>
        <p:nvSpPr>
          <p:cNvPr id="17" name="Text 15"/>
          <p:cNvSpPr/>
          <p:nvPr/>
        </p:nvSpPr>
        <p:spPr>
          <a:xfrm>
            <a:off x="6527800" y="1798315"/>
            <a:ext cx="47614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SAUVEGARDER ETCD</a:t>
            </a:r>
            <a:endParaRPr lang="en-US" sz="1200" dirty="0"/>
          </a:p>
        </p:txBody>
      </p:sp>
      <p:sp>
        <p:nvSpPr>
          <p:cNvPr id="18" name="Text 16"/>
          <p:cNvSpPr/>
          <p:nvPr/>
        </p:nvSpPr>
        <p:spPr>
          <a:xfrm>
            <a:off x="6527800" y="2113285"/>
            <a:ext cx="476148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Le binaire etcdctl est présent dans le pod etcd :</a:t>
            </a:r>
            <a:endParaRPr lang="en-US" sz="1300" dirty="0"/>
          </a:p>
        </p:txBody>
      </p:sp>
      <p:sp>
        <p:nvSpPr>
          <p:cNvPr id="19" name="Text 17"/>
          <p:cNvSpPr/>
          <p:nvPr/>
        </p:nvSpPr>
        <p:spPr>
          <a:xfrm>
            <a:off x="6527800" y="2446015"/>
            <a:ext cx="4761484" cy="1488440"/>
          </a:xfrm>
          <a:prstGeom prst="rect">
            <a:avLst/>
          </a:prstGeom>
          <a:noFill/>
          <a:ln/>
        </p:spPr>
        <p:txBody>
          <a:bodyPr wrap="none" lIns="0" tIns="0" rIns="0" bIns="0" rtlCol="0" anchor="t">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-n kube-system exec etcd-k8s-cp -- \</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etcdctl --endpoints=https://127.0.0.1:2379 \</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--cacert=/etc/kubernetes/pki/etcd/ca.crt \</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--cert=/etc/kubernetes/pki/etcd/server.crt \</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--key=/etc/kubernetes/pki/etcd/server.key \</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snapshot save /var/lib/etcd/sauvegarde.db</a:t>
            </a:r>
            <a:endParaRPr lang="en-US" sz="1200" dirty="0"/>
          </a:p>
        </p:txBody>
      </p:sp>
      <p:sp>
        <p:nvSpPr>
          <p:cNvPr id="20" name="Shape 18"/>
          <p:cNvSpPr/>
          <p:nvPr/>
        </p:nvSpPr>
        <p:spPr>
          <a:xfrm>
            <a:off x="6527800" y="5058296"/>
            <a:ext cx="4622800" cy="0"/>
          </a:xfrm>
          <a:prstGeom prst="line">
            <a:avLst/>
          </a:prstGeom>
          <a:noFill/>
          <a:ln w="6350">
            <a:solidFill>
              <a:srgbClr val="2E2A80"/>
            </a:solidFill>
            <a:prstDash val="solid"/>
          </a:ln>
        </p:spPr>
      </p:sp>
      <p:pic>
        <p:nvPicPr>
          <p:cNvPr id="21" name="Image 0" descr="Database">    </p:cNvPr>
          <p:cNvPicPr>
            <a:picLocks noChangeAspect="1"/>
          </p:cNvPicPr>
          <p:nvPr/>
        </p:nvPicPr>
        <p:blipFill>
          <a:blip r:embed="rId1"/>
          <a:srcRect l="0" r="0" t="0" b="0"/>
          <a:stretch/>
        </p:blipFill>
        <p:spPr>
          <a:xfrm>
            <a:off x="6527800" y="5176515"/>
            <a:ext cx="228600" cy="228600"/>
          </a:xfrm>
          <a:prstGeom prst="rect">
            <a:avLst/>
          </a:prstGeom>
        </p:spPr>
      </p:pic>
      <p:sp>
        <p:nvSpPr>
          <p:cNvPr id="22" name="Text 19"/>
          <p:cNvSpPr/>
          <p:nvPr/>
        </p:nvSpPr>
        <p:spPr>
          <a:xfrm>
            <a:off x="6858000" y="5176515"/>
            <a:ext cx="442137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6E8"/>
                </a:solidFill>
                <a:latin typeface="IBM Plex Sans" pitchFamily="34" charset="0"/>
                <a:ea typeface="IBM Plex Sans" pitchFamily="34" charset="-122"/>
                <a:cs typeface="IBM Plex Sans" pitchFamily="34" charset="-120"/>
              </a:rPr>
              <a:t>Le fichier est sur k8s-cp, dans /var/lib/etcd/ : copiez-le hors du nœud.</a:t>
            </a:r>
            <a:endParaRPr lang="en-US" sz="1300" dirty="0"/>
          </a:p>
        </p:txBody>
      </p:sp>
      <p:pic>
        <p:nvPicPr>
          <p:cNvPr id="23" name="Image 1" descr="preencoded.png">    </p:cNvPr>
          <p:cNvPicPr>
            <a:picLocks noChangeAspect="1"/>
          </p:cNvPicPr>
          <p:nvPr/>
        </p:nvPicPr>
        <p:blipFill>
          <a:blip r:embed="rId2"/>
          <a:srcRect l="0" r="0" t="0" b="0"/>
          <a:stretch/>
        </p:blipFill>
        <p:spPr>
          <a:xfrm>
            <a:off x="812800" y="6299200"/>
            <a:ext cx="152400" cy="152400"/>
          </a:xfrm>
          <a:prstGeom prst="rect">
            <a:avLst/>
          </a:prstGeom>
        </p:spPr>
      </p:pic>
      <p:sp>
        <p:nvSpPr>
          <p:cNvPr id="24" name="Text 2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2" descr="Parcours : module 4 sur 16">    </p:cNvPr>
          <p:cNvPicPr>
            <a:picLocks noChangeAspect="1"/>
          </p:cNvPicPr>
          <p:nvPr/>
        </p:nvPicPr>
        <p:blipFill>
          <a:blip r:embed="rId3"/>
          <a:srcRect l="0" r="0" t="0" b="0"/>
          <a:stretch/>
        </p:blipFill>
        <p:spPr>
          <a:xfrm>
            <a:off x="9207500" y="6299200"/>
            <a:ext cx="2171700" cy="1524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04 · BILAN</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15"/>
            <a:ext cx="5199909"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17600" y="1849115"/>
            <a:ext cx="228600" cy="228600"/>
          </a:xfrm>
          <a:prstGeom prst="rect">
            <a:avLst/>
          </a:prstGeom>
        </p:spPr>
      </p:pic>
      <p:sp>
        <p:nvSpPr>
          <p:cNvPr id="6" name="Text 3"/>
          <p:cNvSpPr/>
          <p:nvPr/>
        </p:nvSpPr>
        <p:spPr>
          <a:xfrm>
            <a:off x="1473200" y="1849115"/>
            <a:ext cx="436175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kubeadm vérifie les prérequis, crée la PKI, écrit les pods statiques du control plane, installe CoreDNS et kube-proxy ; le réseau des pods est à ajouter.</a:t>
            </a:r>
            <a:endParaRPr lang="en-US" sz="1300" dirty="0"/>
          </a:p>
        </p:txBody>
      </p:sp>
      <p:pic>
        <p:nvPicPr>
          <p:cNvPr id="7" name="Image 1" descr="Check">    </p:cNvPr>
          <p:cNvPicPr>
            <a:picLocks noChangeAspect="1"/>
          </p:cNvPicPr>
          <p:nvPr/>
        </p:nvPicPr>
        <p:blipFill>
          <a:blip r:embed="rId2"/>
          <a:srcRect l="0" r="0" t="0" b="0"/>
          <a:stretch/>
        </p:blipFill>
        <p:spPr>
          <a:xfrm>
            <a:off x="1117600" y="2682230"/>
            <a:ext cx="228600" cy="228600"/>
          </a:xfrm>
          <a:prstGeom prst="rect">
            <a:avLst/>
          </a:prstGeom>
        </p:spPr>
      </p:pic>
      <p:sp>
        <p:nvSpPr>
          <p:cNvPr id="8" name="Text 4"/>
          <p:cNvSpPr/>
          <p:nvPr/>
        </p:nvSpPr>
        <p:spPr>
          <a:xfrm>
            <a:off x="1473200" y="2682230"/>
            <a:ext cx="43617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Le kubelet et containerd doivent utiliser le même pilote de cgroups : systemd.</a:t>
            </a:r>
            <a:endParaRPr lang="en-US" sz="1300" dirty="0"/>
          </a:p>
        </p:txBody>
      </p:sp>
      <p:pic>
        <p:nvPicPr>
          <p:cNvPr id="9" name="Image 2" descr="Check">    </p:cNvPr>
          <p:cNvPicPr>
            <a:picLocks noChangeAspect="1"/>
          </p:cNvPicPr>
          <p:nvPr/>
        </p:nvPicPr>
        <p:blipFill>
          <a:blip r:embed="rId3"/>
          <a:srcRect l="0" r="0" t="0" b="0"/>
          <a:stretch/>
        </p:blipFill>
        <p:spPr>
          <a:xfrm>
            <a:off x="1117600" y="3284215"/>
            <a:ext cx="228600" cy="228600"/>
          </a:xfrm>
          <a:prstGeom prst="rect">
            <a:avLst/>
          </a:prstGeom>
        </p:spPr>
      </p:pic>
      <p:sp>
        <p:nvSpPr>
          <p:cNvPr id="10" name="Text 5"/>
          <p:cNvSpPr/>
          <p:nvPr/>
        </p:nvSpPr>
        <p:spPr>
          <a:xfrm>
            <a:off x="1473200" y="3284215"/>
            <a:ext cx="43617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Les certificats des composants expirent au bout d'un an : mettez à jour régulièrement, ou renouvelez-les.</a:t>
            </a:r>
            <a:endParaRPr lang="en-US" sz="1300" dirty="0"/>
          </a:p>
        </p:txBody>
      </p:sp>
      <p:pic>
        <p:nvPicPr>
          <p:cNvPr id="11" name="Image 3" descr="Check">    </p:cNvPr>
          <p:cNvPicPr>
            <a:picLocks noChangeAspect="1"/>
          </p:cNvPicPr>
          <p:nvPr/>
        </p:nvPicPr>
        <p:blipFill>
          <a:blip r:embed="rId4"/>
          <a:srcRect l="0" r="0" t="0" b="0"/>
          <a:stretch/>
        </p:blipFill>
        <p:spPr>
          <a:xfrm>
            <a:off x="1117600" y="3886200"/>
            <a:ext cx="228600" cy="228600"/>
          </a:xfrm>
          <a:prstGeom prst="rect">
            <a:avLst/>
          </a:prstGeom>
        </p:spPr>
      </p:pic>
      <p:sp>
        <p:nvSpPr>
          <p:cNvPr id="12" name="Text 6"/>
          <p:cNvSpPr/>
          <p:nvPr/>
        </p:nvSpPr>
        <p:spPr>
          <a:xfrm>
            <a:off x="1473200" y="3886200"/>
            <a:ext cx="453950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admin.conf donne tous les droits ; on ne le distribue pas.</a:t>
            </a:r>
            <a:endParaRPr lang="en-US" sz="1300" dirty="0"/>
          </a:p>
        </p:txBody>
      </p:sp>
      <p:pic>
        <p:nvPicPr>
          <p:cNvPr id="13" name="Image 4" descr="Check">    </p:cNvPr>
          <p:cNvPicPr>
            <a:picLocks noChangeAspect="1"/>
          </p:cNvPicPr>
          <p:nvPr/>
        </p:nvPicPr>
        <p:blipFill>
          <a:blip r:embed="rId5"/>
          <a:srcRect l="0" r="0" t="0" b="0"/>
          <a:stretch/>
        </p:blipFill>
        <p:spPr>
          <a:xfrm>
            <a:off x="1117600" y="4257030"/>
            <a:ext cx="228600" cy="228600"/>
          </a:xfrm>
          <a:prstGeom prst="rect">
            <a:avLst/>
          </a:prstGeom>
        </p:spPr>
      </p:pic>
      <p:sp>
        <p:nvSpPr>
          <p:cNvPr id="14" name="Text 7"/>
          <p:cNvSpPr/>
          <p:nvPr/>
        </p:nvSpPr>
        <p:spPr>
          <a:xfrm>
            <a:off x="1473200" y="4257030"/>
            <a:ext cx="43617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Sauvegardez etcd : c'est tout votre cluster.</a:t>
            </a:r>
            <a:endParaRPr lang="en-US" sz="1300" dirty="0"/>
          </a:p>
        </p:txBody>
      </p:sp>
      <p:sp>
        <p:nvSpPr>
          <p:cNvPr id="15" name="Shape 8"/>
          <p:cNvSpPr/>
          <p:nvPr/>
        </p:nvSpPr>
        <p:spPr>
          <a:xfrm>
            <a:off x="6219084" y="1598290"/>
            <a:ext cx="5156941" cy="4240530"/>
          </a:xfrm>
          <a:prstGeom prst="roundRect">
            <a:avLst>
              <a:gd name="adj" fmla="val 3519"/>
            </a:avLst>
          </a:prstGeom>
          <a:solidFill>
            <a:srgbClr val="FDFDFF"/>
          </a:solidFill>
          <a:ln w="6350">
            <a:solidFill>
              <a:srgbClr val="E1DFEE"/>
            </a:solidFill>
            <a:prstDash val="solid"/>
          </a:ln>
        </p:spPr>
      </p:sp>
      <p:sp>
        <p:nvSpPr>
          <p:cNvPr id="16" name="Text 9"/>
          <p:cNvSpPr/>
          <p:nvPr/>
        </p:nvSpPr>
        <p:spPr>
          <a:xfrm>
            <a:off x="6502400" y="1856209"/>
            <a:ext cx="472801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7" name="Text 10"/>
          <p:cNvSpPr/>
          <p:nvPr/>
        </p:nvSpPr>
        <p:spPr>
          <a:xfrm>
            <a:off x="6502400" y="2183879"/>
            <a:ext cx="2286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1</a:t>
            </a:r>
            <a:endParaRPr lang="en-US" sz="1200" dirty="0"/>
          </a:p>
        </p:txBody>
      </p:sp>
      <p:sp>
        <p:nvSpPr>
          <p:cNvPr id="18" name="Text 11"/>
          <p:cNvSpPr/>
          <p:nvPr/>
        </p:nvSpPr>
        <p:spPr>
          <a:xfrm>
            <a:off x="6781800" y="2183879"/>
            <a:ext cx="44402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Pourquoi les nœuds sont-ils NotReady juste après kubeadm init ?</a:t>
            </a:r>
            <a:endParaRPr lang="en-US" sz="1200" dirty="0"/>
          </a:p>
        </p:txBody>
      </p:sp>
      <p:sp>
        <p:nvSpPr>
          <p:cNvPr id="19" name="Text 12"/>
          <p:cNvSpPr/>
          <p:nvPr/>
        </p:nvSpPr>
        <p:spPr>
          <a:xfrm>
            <a:off x="6502400" y="2724894"/>
            <a:ext cx="2286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2</a:t>
            </a:r>
            <a:endParaRPr lang="en-US" sz="1200" dirty="0"/>
          </a:p>
        </p:txBody>
      </p:sp>
      <p:sp>
        <p:nvSpPr>
          <p:cNvPr id="20" name="Text 13"/>
          <p:cNvSpPr/>
          <p:nvPr/>
        </p:nvSpPr>
        <p:spPr>
          <a:xfrm>
            <a:off x="6781800" y="2724894"/>
            <a:ext cx="44402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Quel est le rôle de l'empreinte --discovery-token-ca-cert-hash dans la commande de join ?</a:t>
            </a:r>
            <a:endParaRPr lang="en-US" sz="1200" dirty="0"/>
          </a:p>
        </p:txBody>
      </p:sp>
      <p:sp>
        <p:nvSpPr>
          <p:cNvPr id="21" name="Text 14"/>
          <p:cNvSpPr/>
          <p:nvPr/>
        </p:nvSpPr>
        <p:spPr>
          <a:xfrm>
            <a:off x="6502400" y="3265909"/>
            <a:ext cx="2286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3</a:t>
            </a:r>
            <a:endParaRPr lang="en-US" sz="1200" dirty="0"/>
          </a:p>
        </p:txBody>
      </p:sp>
      <p:sp>
        <p:nvSpPr>
          <p:cNvPr id="22" name="Text 15"/>
          <p:cNvSpPr/>
          <p:nvPr/>
        </p:nvSpPr>
        <p:spPr>
          <a:xfrm>
            <a:off x="6781800" y="3265909"/>
            <a:ext cx="44402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Comment modifier une option de démarrage de l'API server sur un cluster kubeadm ?</a:t>
            </a:r>
            <a:endParaRPr lang="en-US" sz="1200" dirty="0"/>
          </a:p>
        </p:txBody>
      </p:sp>
      <p:sp>
        <p:nvSpPr>
          <p:cNvPr id="23" name="Text 16"/>
          <p:cNvSpPr/>
          <p:nvPr/>
        </p:nvSpPr>
        <p:spPr>
          <a:xfrm>
            <a:off x="6502400" y="3806924"/>
            <a:ext cx="2286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4</a:t>
            </a:r>
            <a:endParaRPr lang="en-US" sz="1200" dirty="0"/>
          </a:p>
        </p:txBody>
      </p:sp>
      <p:sp>
        <p:nvSpPr>
          <p:cNvPr id="24" name="Text 17"/>
          <p:cNvSpPr/>
          <p:nvPr/>
        </p:nvSpPr>
        <p:spPr>
          <a:xfrm>
            <a:off x="6781800" y="3806924"/>
            <a:ext cx="44402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Pourquoi bloque-t-on kubelet, kubeadm et kubectl avec apt-mark hold ?</a:t>
            </a:r>
            <a:endParaRPr lang="en-US" sz="1200" dirty="0"/>
          </a:p>
        </p:txBody>
      </p:sp>
      <p:sp>
        <p:nvSpPr>
          <p:cNvPr id="25" name="Text 18"/>
          <p:cNvSpPr/>
          <p:nvPr/>
        </p:nvSpPr>
        <p:spPr>
          <a:xfrm>
            <a:off x="6502400" y="4347939"/>
            <a:ext cx="2286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5</a:t>
            </a:r>
            <a:endParaRPr lang="en-US" sz="1200" dirty="0"/>
          </a:p>
        </p:txBody>
      </p:sp>
      <p:sp>
        <p:nvSpPr>
          <p:cNvPr id="26" name="Text 19"/>
          <p:cNvSpPr/>
          <p:nvPr/>
        </p:nvSpPr>
        <p:spPr>
          <a:xfrm>
            <a:off x="6781800" y="4347939"/>
            <a:ext cx="44402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Pourquoi l'encapsulation VXLAN plutôt que le routage direct dans les TP ?</a:t>
            </a:r>
            <a:endParaRPr lang="en-US" sz="1200" dirty="0"/>
          </a:p>
        </p:txBody>
      </p:sp>
      <p:pic>
        <p:nvPicPr>
          <p:cNvPr id="27" name="Image 5" descr="preencoded.png">    </p:cNvPr>
          <p:cNvPicPr>
            <a:picLocks noChangeAspect="1"/>
          </p:cNvPicPr>
          <p:nvPr/>
        </p:nvPicPr>
        <p:blipFill>
          <a:blip r:embed="rId6"/>
          <a:srcRect l="0" r="0" t="0" b="0"/>
          <a:stretch/>
        </p:blipFill>
        <p:spPr>
          <a:xfrm>
            <a:off x="812800" y="6299200"/>
            <a:ext cx="152400" cy="152400"/>
          </a:xfrm>
          <a:prstGeom prst="rect">
            <a:avLst/>
          </a:prstGeom>
        </p:spPr>
      </p:pic>
      <p:sp>
        <p:nvSpPr>
          <p:cNvPr id="28" name="Text 2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9" name="Image 6" descr="Parcours : module 4 sur 16">    </p:cNvPr>
          <p:cNvPicPr>
            <a:picLocks noChangeAspect="1"/>
          </p:cNvPicPr>
          <p:nvPr/>
        </p:nvPicPr>
        <p:blipFill>
          <a:blip r:embed="rId7"/>
          <a:srcRect l="0" r="0" t="0" b="0"/>
          <a:stretch/>
        </p:blipFill>
        <p:spPr>
          <a:xfrm>
            <a:off x="9207500" y="6299200"/>
            <a:ext cx="2171700" cy="1524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1 · COMPRENDRE ET INSTALLER</a:t>
            </a:r>
            <a:endParaRPr lang="en-US" sz="1200" dirty="0"/>
          </a:p>
        </p:txBody>
      </p:sp>
      <p:sp>
        <p:nvSpPr>
          <p:cNvPr id="3" name="Text 1"/>
          <p:cNvSpPr/>
          <p:nvPr/>
        </p:nvSpPr>
        <p:spPr>
          <a:xfrm>
            <a:off x="812800" y="1076970"/>
            <a:ext cx="2022348"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05</a:t>
            </a:r>
            <a:endParaRPr lang="en-US" sz="10000" dirty="0"/>
          </a:p>
        </p:txBody>
      </p:sp>
      <p:sp>
        <p:nvSpPr>
          <p:cNvPr id="4" name="Text 2"/>
          <p:cNvSpPr/>
          <p:nvPr>
            <p:ph type="title"/>
          </p:nvPr>
        </p:nvSpPr>
        <p:spPr>
          <a:xfrm>
            <a:off x="2853690" y="1127770"/>
            <a:ext cx="8781275" cy="5588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Gérer les nœuds</a:t>
            </a:r>
            <a:endParaRPr lang="en-US" sz="4000" dirty="0"/>
          </a:p>
        </p:txBody>
      </p:sp>
      <p:sp>
        <p:nvSpPr>
          <p:cNvPr id="5" name="Text 3"/>
          <p:cNvSpPr/>
          <p:nvPr/>
        </p:nvSpPr>
        <p:spPr>
          <a:xfrm>
            <a:off x="2853690" y="1813570"/>
            <a:ext cx="878127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Un nœud se décrit par ses labels, se protège par des taints, se vide avant maintenance avec drain et se remet en service avec uncordon. Et kubectl, l'outil des trois jours.</a:t>
            </a:r>
            <a:endParaRPr lang="en-US" sz="1500" dirty="0"/>
          </a:p>
        </p:txBody>
      </p:sp>
      <p:sp>
        <p:nvSpPr>
          <p:cNvPr id="6" name="Text 4"/>
          <p:cNvSpPr/>
          <p:nvPr/>
        </p:nvSpPr>
        <p:spPr>
          <a:xfrm>
            <a:off x="2853690" y="2499370"/>
            <a:ext cx="2593234"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TP3 · Gérer les nœuds · J1 14:35</a:t>
            </a:r>
            <a:endParaRPr lang="en-US" sz="1200" dirty="0"/>
          </a:p>
        </p:txBody>
      </p:sp>
      <p:pic>
        <p:nvPicPr>
          <p:cNvPr id="7" name="Image 0" descr="Parcours de la formation : module 5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05 · GÉRER LES NŒUDS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kubectl, la boîte à outils</a:t>
            </a:r>
            <a:endParaRPr lang="en-US" sz="2800" dirty="0"/>
          </a:p>
        </p:txBody>
      </p:sp>
      <p:sp>
        <p:nvSpPr>
          <p:cNvPr id="4" name="Text 2"/>
          <p:cNvSpPr/>
          <p:nvPr/>
        </p:nvSpPr>
        <p:spPr>
          <a:xfrm>
            <a:off x="815975" y="1560190"/>
            <a:ext cx="10560050" cy="652992"/>
          </a:xfrm>
          <a:prstGeom prst="roundRect">
            <a:avLst>
              <a:gd name="adj" fmla="val 15073"/>
            </a:avLst>
          </a:prstGeom>
          <a:solidFill>
            <a:srgbClr val="FDFDFF"/>
          </a:solidFill>
          <a:ln w="6350">
            <a:solidFill>
              <a:srgbClr val="E1DFEE"/>
            </a:solidFill>
            <a:prstDash val="solid"/>
          </a:ln>
        </p:spPr>
        <p:txBody>
          <a:bodyPr wrap="square" lIns="52263" tIns="102088" rIns="52263" bIns="76688" rtlCol="0" anchor="t">
            <a:normAutofit/>
          </a:bodyPr>
          <a:lstStyle/>
          <a:p>
            <a:pPr algn="ctr" indent="0" marL="0">
              <a:lnSpc>
                <a:spcPts val="3080"/>
              </a:lnSpc>
              <a:buNone/>
            </a:pPr>
            <a:r>
              <a:rPr lang="en-US" sz="2200" b="1" dirty="0">
                <a:solidFill>
                  <a:srgbClr val="0B0748"/>
                </a:solidFill>
                <a:latin typeface="JetBrains Mono" pitchFamily="49" charset="0"/>
                <a:ea typeface="JetBrains Mono" pitchFamily="49" charset="-122"/>
                <a:cs typeface="JetBrains Mono" pitchFamily="49" charset="-120"/>
              </a:rPr>
              <a:t>kubectl </a:t>
            </a:r>
            <a:r>
              <a:rPr lang="en-US" sz="2200" b="1" dirty="0">
                <a:solidFill>
                  <a:srgbClr val="E25A2C"/>
                </a:solidFill>
                <a:latin typeface="JetBrains Mono" pitchFamily="49" charset="0"/>
                <a:ea typeface="JetBrains Mono" pitchFamily="49" charset="-122"/>
                <a:cs typeface="JetBrains Mono" pitchFamily="49" charset="-120"/>
              </a:rPr>
              <a:t>&lt;verbe&gt;</a:t>
            </a:r>
            <a:r>
              <a:rPr lang="en-US" sz="2200" b="1" dirty="0">
                <a:solidFill>
                  <a:srgbClr val="0B0748"/>
                </a:solidFill>
                <a:latin typeface="JetBrains Mono" pitchFamily="49" charset="0"/>
                <a:ea typeface="JetBrains Mono" pitchFamily="49" charset="-122"/>
                <a:cs typeface="JetBrains Mono" pitchFamily="49" charset="-120"/>
              </a:rPr>
              <a:t> </a:t>
            </a:r>
            <a:r>
              <a:rPr lang="en-US" sz="2200" b="1" dirty="0">
                <a:solidFill>
                  <a:srgbClr val="6B6890"/>
                </a:solidFill>
                <a:latin typeface="JetBrains Mono" pitchFamily="49" charset="0"/>
                <a:ea typeface="JetBrains Mono" pitchFamily="49" charset="-122"/>
                <a:cs typeface="JetBrains Mono" pitchFamily="49" charset="-120"/>
              </a:rPr>
              <a:t>&lt;type&gt;</a:t>
            </a:r>
            <a:r>
              <a:rPr lang="en-US" sz="2200" b="1" dirty="0">
                <a:solidFill>
                  <a:srgbClr val="0B0748"/>
                </a:solidFill>
                <a:latin typeface="JetBrains Mono" pitchFamily="49" charset="0"/>
                <a:ea typeface="JetBrains Mono" pitchFamily="49" charset="-122"/>
                <a:cs typeface="JetBrains Mono" pitchFamily="49" charset="-120"/>
              </a:rPr>
              <a:t> [&lt;nom&gt;] [options]</a:t>
            </a:r>
            <a:endParaRPr lang="en-US" sz="2200" dirty="0"/>
          </a:p>
        </p:txBody>
      </p:sp>
      <p:sp>
        <p:nvSpPr>
          <p:cNvPr id="5" name="Shape 3"/>
          <p:cNvSpPr/>
          <p:nvPr/>
        </p:nvSpPr>
        <p:spPr>
          <a:xfrm>
            <a:off x="812800" y="2721727"/>
            <a:ext cx="5105400" cy="0"/>
          </a:xfrm>
          <a:prstGeom prst="line">
            <a:avLst/>
          </a:prstGeom>
          <a:noFill/>
          <a:ln w="6350">
            <a:solidFill>
              <a:srgbClr val="E1DFEE"/>
            </a:solidFill>
            <a:prstDash val="solid"/>
          </a:ln>
        </p:spPr>
      </p:sp>
      <p:sp>
        <p:nvSpPr>
          <p:cNvPr id="6" name="Text 4"/>
          <p:cNvSpPr/>
          <p:nvPr/>
        </p:nvSpPr>
        <p:spPr>
          <a:xfrm>
            <a:off x="812800" y="2435870"/>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get</a:t>
            </a:r>
            <a:endParaRPr lang="en-US" sz="1300" dirty="0"/>
          </a:p>
        </p:txBody>
      </p:sp>
      <p:sp>
        <p:nvSpPr>
          <p:cNvPr id="7" name="Text 5"/>
          <p:cNvSpPr/>
          <p:nvPr/>
        </p:nvSpPr>
        <p:spPr>
          <a:xfrm>
            <a:off x="2463800" y="2432273"/>
            <a:ext cx="35580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Lister des objets</a:t>
            </a:r>
            <a:endParaRPr lang="en-US" sz="1300" dirty="0"/>
          </a:p>
        </p:txBody>
      </p:sp>
      <p:sp>
        <p:nvSpPr>
          <p:cNvPr id="8" name="Shape 6"/>
          <p:cNvSpPr/>
          <p:nvPr/>
        </p:nvSpPr>
        <p:spPr>
          <a:xfrm>
            <a:off x="812800" y="3077848"/>
            <a:ext cx="5105400" cy="0"/>
          </a:xfrm>
          <a:prstGeom prst="line">
            <a:avLst/>
          </a:prstGeom>
          <a:noFill/>
          <a:ln w="6350">
            <a:solidFill>
              <a:srgbClr val="E1DFEE"/>
            </a:solidFill>
            <a:prstDash val="solid"/>
          </a:ln>
        </p:spPr>
      </p:sp>
      <p:sp>
        <p:nvSpPr>
          <p:cNvPr id="9" name="Text 7"/>
          <p:cNvSpPr/>
          <p:nvPr/>
        </p:nvSpPr>
        <p:spPr>
          <a:xfrm>
            <a:off x="812800" y="2791991"/>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describe</a:t>
            </a:r>
            <a:endParaRPr lang="en-US" sz="1300" dirty="0"/>
          </a:p>
        </p:txBody>
      </p:sp>
      <p:sp>
        <p:nvSpPr>
          <p:cNvPr id="10" name="Text 8"/>
          <p:cNvSpPr/>
          <p:nvPr/>
        </p:nvSpPr>
        <p:spPr>
          <a:xfrm>
            <a:off x="2463800" y="2788394"/>
            <a:ext cx="35580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Détail lisible, avec les événements</a:t>
            </a:r>
            <a:endParaRPr lang="en-US" sz="1300" dirty="0"/>
          </a:p>
        </p:txBody>
      </p:sp>
      <p:sp>
        <p:nvSpPr>
          <p:cNvPr id="11" name="Shape 9"/>
          <p:cNvSpPr/>
          <p:nvPr/>
        </p:nvSpPr>
        <p:spPr>
          <a:xfrm>
            <a:off x="812800" y="3433969"/>
            <a:ext cx="5105400" cy="0"/>
          </a:xfrm>
          <a:prstGeom prst="line">
            <a:avLst/>
          </a:prstGeom>
          <a:noFill/>
          <a:ln w="6350">
            <a:solidFill>
              <a:srgbClr val="E1DFEE"/>
            </a:solidFill>
            <a:prstDash val="solid"/>
          </a:ln>
        </p:spPr>
      </p:sp>
      <p:sp>
        <p:nvSpPr>
          <p:cNvPr id="12" name="Text 10"/>
          <p:cNvSpPr/>
          <p:nvPr/>
        </p:nvSpPr>
        <p:spPr>
          <a:xfrm>
            <a:off x="812800" y="3148112"/>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apply</a:t>
            </a:r>
            <a:endParaRPr lang="en-US" sz="1300" dirty="0"/>
          </a:p>
        </p:txBody>
      </p:sp>
      <p:sp>
        <p:nvSpPr>
          <p:cNvPr id="13" name="Text 11"/>
          <p:cNvSpPr/>
          <p:nvPr/>
        </p:nvSpPr>
        <p:spPr>
          <a:xfrm>
            <a:off x="2463800" y="3144515"/>
            <a:ext cx="35580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Créer ou mettre à jour depuis un fichier</a:t>
            </a:r>
            <a:endParaRPr lang="en-US" sz="1300" dirty="0"/>
          </a:p>
        </p:txBody>
      </p:sp>
      <p:sp>
        <p:nvSpPr>
          <p:cNvPr id="14" name="Shape 12"/>
          <p:cNvSpPr/>
          <p:nvPr/>
        </p:nvSpPr>
        <p:spPr>
          <a:xfrm>
            <a:off x="812800" y="3790115"/>
            <a:ext cx="5105400" cy="0"/>
          </a:xfrm>
          <a:prstGeom prst="line">
            <a:avLst/>
          </a:prstGeom>
          <a:noFill/>
          <a:ln w="6350">
            <a:solidFill>
              <a:srgbClr val="E1DFEE"/>
            </a:solidFill>
            <a:prstDash val="solid"/>
          </a:ln>
        </p:spPr>
      </p:sp>
      <p:sp>
        <p:nvSpPr>
          <p:cNvPr id="15" name="Text 13"/>
          <p:cNvSpPr/>
          <p:nvPr/>
        </p:nvSpPr>
        <p:spPr>
          <a:xfrm>
            <a:off x="812800" y="3504257"/>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create</a:t>
            </a:r>
            <a:endParaRPr lang="en-US" sz="1300" dirty="0"/>
          </a:p>
        </p:txBody>
      </p:sp>
      <p:sp>
        <p:nvSpPr>
          <p:cNvPr id="16" name="Text 14"/>
          <p:cNvSpPr/>
          <p:nvPr/>
        </p:nvSpPr>
        <p:spPr>
          <a:xfrm>
            <a:off x="2463800" y="3500661"/>
            <a:ext cx="35580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Créer (échoue si l'objet existe)</a:t>
            </a:r>
            <a:endParaRPr lang="en-US" sz="1300" dirty="0"/>
          </a:p>
        </p:txBody>
      </p:sp>
      <p:sp>
        <p:nvSpPr>
          <p:cNvPr id="17" name="Shape 15"/>
          <p:cNvSpPr/>
          <p:nvPr/>
        </p:nvSpPr>
        <p:spPr>
          <a:xfrm>
            <a:off x="812800" y="4146236"/>
            <a:ext cx="5105400" cy="0"/>
          </a:xfrm>
          <a:prstGeom prst="line">
            <a:avLst/>
          </a:prstGeom>
          <a:noFill/>
          <a:ln w="6350">
            <a:solidFill>
              <a:srgbClr val="E1DFEE"/>
            </a:solidFill>
            <a:prstDash val="solid"/>
          </a:ln>
        </p:spPr>
      </p:sp>
      <p:sp>
        <p:nvSpPr>
          <p:cNvPr id="18" name="Text 16"/>
          <p:cNvSpPr/>
          <p:nvPr/>
        </p:nvSpPr>
        <p:spPr>
          <a:xfrm>
            <a:off x="812800" y="3860378"/>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delete</a:t>
            </a:r>
            <a:endParaRPr lang="en-US" sz="1300" dirty="0"/>
          </a:p>
        </p:txBody>
      </p:sp>
      <p:sp>
        <p:nvSpPr>
          <p:cNvPr id="19" name="Text 17"/>
          <p:cNvSpPr/>
          <p:nvPr/>
        </p:nvSpPr>
        <p:spPr>
          <a:xfrm>
            <a:off x="2463800" y="3856782"/>
            <a:ext cx="35580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Supprimer</a:t>
            </a:r>
            <a:endParaRPr lang="en-US" sz="1300" dirty="0"/>
          </a:p>
        </p:txBody>
      </p:sp>
      <p:sp>
        <p:nvSpPr>
          <p:cNvPr id="20" name="Text 18"/>
          <p:cNvSpPr/>
          <p:nvPr/>
        </p:nvSpPr>
        <p:spPr>
          <a:xfrm>
            <a:off x="812800" y="4216499"/>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edit</a:t>
            </a:r>
            <a:endParaRPr lang="en-US" sz="1300" dirty="0"/>
          </a:p>
        </p:txBody>
      </p:sp>
      <p:sp>
        <p:nvSpPr>
          <p:cNvPr id="21" name="Text 19"/>
          <p:cNvSpPr/>
          <p:nvPr/>
        </p:nvSpPr>
        <p:spPr>
          <a:xfrm>
            <a:off x="2463800" y="4212903"/>
            <a:ext cx="35580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Modifier en direct dans un éditeur</a:t>
            </a:r>
            <a:endParaRPr lang="en-US" sz="1300" dirty="0"/>
          </a:p>
        </p:txBody>
      </p:sp>
      <p:sp>
        <p:nvSpPr>
          <p:cNvPr id="22" name="Shape 20"/>
          <p:cNvSpPr/>
          <p:nvPr/>
        </p:nvSpPr>
        <p:spPr>
          <a:xfrm>
            <a:off x="6273800" y="2721727"/>
            <a:ext cx="5105400" cy="0"/>
          </a:xfrm>
          <a:prstGeom prst="line">
            <a:avLst/>
          </a:prstGeom>
          <a:noFill/>
          <a:ln w="6350">
            <a:solidFill>
              <a:srgbClr val="E1DFEE"/>
            </a:solidFill>
            <a:prstDash val="solid"/>
          </a:ln>
        </p:spPr>
      </p:sp>
      <p:sp>
        <p:nvSpPr>
          <p:cNvPr id="23" name="Text 21"/>
          <p:cNvSpPr/>
          <p:nvPr/>
        </p:nvSpPr>
        <p:spPr>
          <a:xfrm>
            <a:off x="6273800" y="2435870"/>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logs</a:t>
            </a:r>
            <a:endParaRPr lang="en-US" sz="1300" dirty="0"/>
          </a:p>
        </p:txBody>
      </p:sp>
      <p:sp>
        <p:nvSpPr>
          <p:cNvPr id="24" name="Text 22"/>
          <p:cNvSpPr/>
          <p:nvPr/>
        </p:nvSpPr>
        <p:spPr>
          <a:xfrm>
            <a:off x="7924800" y="2432273"/>
            <a:ext cx="35580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Journaux d'un conteneur</a:t>
            </a:r>
            <a:endParaRPr lang="en-US" sz="1300" dirty="0"/>
          </a:p>
        </p:txBody>
      </p:sp>
      <p:sp>
        <p:nvSpPr>
          <p:cNvPr id="25" name="Shape 23"/>
          <p:cNvSpPr/>
          <p:nvPr/>
        </p:nvSpPr>
        <p:spPr>
          <a:xfrm>
            <a:off x="6273800" y="3077848"/>
            <a:ext cx="5105400" cy="0"/>
          </a:xfrm>
          <a:prstGeom prst="line">
            <a:avLst/>
          </a:prstGeom>
          <a:noFill/>
          <a:ln w="6350">
            <a:solidFill>
              <a:srgbClr val="E1DFEE"/>
            </a:solidFill>
            <a:prstDash val="solid"/>
          </a:ln>
        </p:spPr>
      </p:sp>
      <p:sp>
        <p:nvSpPr>
          <p:cNvPr id="26" name="Text 24"/>
          <p:cNvSpPr/>
          <p:nvPr/>
        </p:nvSpPr>
        <p:spPr>
          <a:xfrm>
            <a:off x="6273800" y="2791991"/>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exec</a:t>
            </a:r>
            <a:endParaRPr lang="en-US" sz="1300" dirty="0"/>
          </a:p>
        </p:txBody>
      </p:sp>
      <p:sp>
        <p:nvSpPr>
          <p:cNvPr id="27" name="Text 25"/>
          <p:cNvSpPr/>
          <p:nvPr/>
        </p:nvSpPr>
        <p:spPr>
          <a:xfrm>
            <a:off x="7924800" y="2788394"/>
            <a:ext cx="35580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Commande dans un conteneur</a:t>
            </a:r>
            <a:endParaRPr lang="en-US" sz="1300" dirty="0"/>
          </a:p>
        </p:txBody>
      </p:sp>
      <p:sp>
        <p:nvSpPr>
          <p:cNvPr id="28" name="Shape 26"/>
          <p:cNvSpPr/>
          <p:nvPr/>
        </p:nvSpPr>
        <p:spPr>
          <a:xfrm>
            <a:off x="6273800" y="3433969"/>
            <a:ext cx="5105400" cy="0"/>
          </a:xfrm>
          <a:prstGeom prst="line">
            <a:avLst/>
          </a:prstGeom>
          <a:noFill/>
          <a:ln w="6350">
            <a:solidFill>
              <a:srgbClr val="E1DFEE"/>
            </a:solidFill>
            <a:prstDash val="solid"/>
          </a:ln>
        </p:spPr>
      </p:sp>
      <p:sp>
        <p:nvSpPr>
          <p:cNvPr id="29" name="Text 27"/>
          <p:cNvSpPr/>
          <p:nvPr/>
        </p:nvSpPr>
        <p:spPr>
          <a:xfrm>
            <a:off x="6273800" y="3148112"/>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explain</a:t>
            </a:r>
            <a:endParaRPr lang="en-US" sz="1300" dirty="0"/>
          </a:p>
        </p:txBody>
      </p:sp>
      <p:sp>
        <p:nvSpPr>
          <p:cNvPr id="30" name="Text 28"/>
          <p:cNvSpPr/>
          <p:nvPr/>
        </p:nvSpPr>
        <p:spPr>
          <a:xfrm>
            <a:off x="7924800" y="3144515"/>
            <a:ext cx="35580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Documentation d'un champ</a:t>
            </a:r>
            <a:endParaRPr lang="en-US" sz="1300" dirty="0"/>
          </a:p>
        </p:txBody>
      </p:sp>
      <p:sp>
        <p:nvSpPr>
          <p:cNvPr id="31" name="Shape 29"/>
          <p:cNvSpPr/>
          <p:nvPr/>
        </p:nvSpPr>
        <p:spPr>
          <a:xfrm>
            <a:off x="6273800" y="3790115"/>
            <a:ext cx="5105400" cy="0"/>
          </a:xfrm>
          <a:prstGeom prst="line">
            <a:avLst/>
          </a:prstGeom>
          <a:noFill/>
          <a:ln w="6350">
            <a:solidFill>
              <a:srgbClr val="E1DFEE"/>
            </a:solidFill>
            <a:prstDash val="solid"/>
          </a:ln>
        </p:spPr>
      </p:sp>
      <p:sp>
        <p:nvSpPr>
          <p:cNvPr id="32" name="Text 30"/>
          <p:cNvSpPr/>
          <p:nvPr/>
        </p:nvSpPr>
        <p:spPr>
          <a:xfrm>
            <a:off x="6273800" y="3504257"/>
            <a:ext cx="165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label, annotate</a:t>
            </a:r>
            <a:endParaRPr lang="en-US" sz="1300" dirty="0"/>
          </a:p>
        </p:txBody>
      </p:sp>
      <p:sp>
        <p:nvSpPr>
          <p:cNvPr id="33" name="Text 31"/>
          <p:cNvSpPr/>
          <p:nvPr/>
        </p:nvSpPr>
        <p:spPr>
          <a:xfrm>
            <a:off x="7924800" y="3500661"/>
            <a:ext cx="35580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Ajouter ou retirer des métadonnées</a:t>
            </a:r>
            <a:endParaRPr lang="en-US" sz="1300" dirty="0"/>
          </a:p>
        </p:txBody>
      </p:sp>
      <p:sp>
        <p:nvSpPr>
          <p:cNvPr id="34" name="Text 32"/>
          <p:cNvSpPr/>
          <p:nvPr/>
        </p:nvSpPr>
        <p:spPr>
          <a:xfrm>
            <a:off x="6273800" y="3860378"/>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cordon, drain</a:t>
            </a:r>
            <a:endParaRPr lang="en-US" sz="1300" dirty="0"/>
          </a:p>
        </p:txBody>
      </p:sp>
      <p:sp>
        <p:nvSpPr>
          <p:cNvPr id="35" name="Text 33"/>
          <p:cNvSpPr/>
          <p:nvPr/>
        </p:nvSpPr>
        <p:spPr>
          <a:xfrm>
            <a:off x="7924800" y="3856782"/>
            <a:ext cx="35580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Maintenance des nœuds (et uncordon)</a:t>
            </a:r>
            <a:endParaRPr lang="en-US" sz="1300" dirty="0"/>
          </a:p>
        </p:txBody>
      </p:sp>
      <p:sp>
        <p:nvSpPr>
          <p:cNvPr id="36" name="Shape 34"/>
          <p:cNvSpPr/>
          <p:nvPr/>
        </p:nvSpPr>
        <p:spPr>
          <a:xfrm>
            <a:off x="812800" y="4663554"/>
            <a:ext cx="10566400" cy="1010920"/>
          </a:xfrm>
          <a:prstGeom prst="roundRect">
            <a:avLst>
              <a:gd name="adj" fmla="val 10050"/>
            </a:avLst>
          </a:prstGeom>
          <a:solidFill>
            <a:srgbClr val="0B0748"/>
          </a:solidFill>
          <a:ln/>
        </p:spPr>
      </p:sp>
      <p:sp>
        <p:nvSpPr>
          <p:cNvPr id="37" name="Text 35"/>
          <p:cNvSpPr/>
          <p:nvPr/>
        </p:nvSpPr>
        <p:spPr>
          <a:xfrm>
            <a:off x="1016000" y="4803254"/>
            <a:ext cx="2637130" cy="756920"/>
          </a:xfrm>
          <a:prstGeom prst="rect">
            <a:avLst/>
          </a:prstGeom>
          <a:noFill/>
          <a:ln/>
        </p:spPr>
        <p:txBody>
          <a:bodyPr wrap="none" lIns="0" tIns="0" rIns="0" bIns="0" rtlCol="0" anchor="t">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get pods -o wide</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describe node k8s-w1</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apply -f app.yaml</a:t>
            </a:r>
            <a:endParaRPr lang="en-US" sz="1200" dirty="0"/>
          </a:p>
        </p:txBody>
      </p:sp>
      <p:sp>
        <p:nvSpPr>
          <p:cNvPr id="38" name="Text 36"/>
          <p:cNvSpPr/>
          <p:nvPr/>
        </p:nvSpPr>
        <p:spPr>
          <a:xfrm>
            <a:off x="3881120" y="4803254"/>
            <a:ext cx="3767328" cy="756920"/>
          </a:xfrm>
          <a:prstGeom prst="rect">
            <a:avLst/>
          </a:prstGeom>
          <a:noFill/>
          <a:ln/>
        </p:spPr>
        <p:txBody>
          <a:bodyPr wrap="none" lIns="0" tIns="0" rIns="0" bIns="0" rtlCol="0" anchor="t">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logs web-1 -f</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exec -it web-1 -- sh</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drain k8s-w2 --ignore-daemonsets</a:t>
            </a:r>
            <a:endParaRPr lang="en-US" sz="1200" dirty="0"/>
          </a:p>
        </p:txBody>
      </p:sp>
      <p:pic>
        <p:nvPicPr>
          <p:cNvPr id="39"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40" name="Text 3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41" name="Image 1" descr="Parcours : module 5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05 · GÉRER LES NŒUDS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kubectl : options utiles et confort</a:t>
            </a:r>
            <a:endParaRPr lang="en-US" sz="2800" dirty="0"/>
          </a:p>
        </p:txBody>
      </p:sp>
      <p:sp>
        <p:nvSpPr>
          <p:cNvPr id="4" name="Shape 2"/>
          <p:cNvSpPr/>
          <p:nvPr/>
        </p:nvSpPr>
        <p:spPr>
          <a:xfrm>
            <a:off x="812800" y="1893671"/>
            <a:ext cx="5765800" cy="0"/>
          </a:xfrm>
          <a:prstGeom prst="line">
            <a:avLst/>
          </a:prstGeom>
          <a:noFill/>
          <a:ln w="6350">
            <a:solidFill>
              <a:srgbClr val="E1DFEE"/>
            </a:solidFill>
            <a:prstDash val="solid"/>
          </a:ln>
        </p:spPr>
      </p:sp>
      <p:sp>
        <p:nvSpPr>
          <p:cNvPr id="5" name="Text 3"/>
          <p:cNvSpPr/>
          <p:nvPr/>
        </p:nvSpPr>
        <p:spPr>
          <a:xfrm>
            <a:off x="812800" y="1611089"/>
            <a:ext cx="21583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-n &lt;ns&gt; · -A</a:t>
            </a:r>
            <a:endParaRPr lang="en-US" sz="1200" dirty="0"/>
          </a:p>
        </p:txBody>
      </p:sp>
      <p:sp>
        <p:nvSpPr>
          <p:cNvPr id="6" name="Text 4"/>
          <p:cNvSpPr/>
          <p:nvPr/>
        </p:nvSpPr>
        <p:spPr>
          <a:xfrm>
            <a:off x="3035300" y="1595115"/>
            <a:ext cx="364959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un namespace · tous les namespaces</a:t>
            </a:r>
            <a:endParaRPr lang="en-US" sz="1300" dirty="0"/>
          </a:p>
        </p:txBody>
      </p:sp>
      <p:sp>
        <p:nvSpPr>
          <p:cNvPr id="7" name="Shape 5"/>
          <p:cNvSpPr/>
          <p:nvPr/>
        </p:nvSpPr>
        <p:spPr>
          <a:xfrm>
            <a:off x="812800" y="2271595"/>
            <a:ext cx="5765800" cy="0"/>
          </a:xfrm>
          <a:prstGeom prst="line">
            <a:avLst/>
          </a:prstGeom>
          <a:noFill/>
          <a:ln w="6350">
            <a:solidFill>
              <a:srgbClr val="E1DFEE"/>
            </a:solidFill>
            <a:prstDash val="solid"/>
          </a:ln>
        </p:spPr>
      </p:sp>
      <p:sp>
        <p:nvSpPr>
          <p:cNvPr id="8" name="Text 6"/>
          <p:cNvSpPr/>
          <p:nvPr/>
        </p:nvSpPr>
        <p:spPr>
          <a:xfrm>
            <a:off x="812800" y="1989038"/>
            <a:ext cx="21583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-o wide</a:t>
            </a:r>
            <a:endParaRPr lang="en-US" sz="1200" dirty="0"/>
          </a:p>
        </p:txBody>
      </p:sp>
      <p:sp>
        <p:nvSpPr>
          <p:cNvPr id="9" name="Text 7"/>
          <p:cNvSpPr/>
          <p:nvPr/>
        </p:nvSpPr>
        <p:spPr>
          <a:xfrm>
            <a:off x="3035300" y="1973039"/>
            <a:ext cx="364959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ajoute des colonnes : IP, nœud</a:t>
            </a:r>
            <a:endParaRPr lang="en-US" sz="1300" dirty="0"/>
          </a:p>
        </p:txBody>
      </p:sp>
      <p:sp>
        <p:nvSpPr>
          <p:cNvPr id="10" name="Shape 8"/>
          <p:cNvSpPr/>
          <p:nvPr/>
        </p:nvSpPr>
        <p:spPr>
          <a:xfrm>
            <a:off x="812800" y="2649544"/>
            <a:ext cx="5765800" cy="0"/>
          </a:xfrm>
          <a:prstGeom prst="line">
            <a:avLst/>
          </a:prstGeom>
          <a:noFill/>
          <a:ln w="6350">
            <a:solidFill>
              <a:srgbClr val="E1DFEE"/>
            </a:solidFill>
            <a:prstDash val="solid"/>
          </a:ln>
        </p:spPr>
      </p:sp>
      <p:sp>
        <p:nvSpPr>
          <p:cNvPr id="11" name="Text 9"/>
          <p:cNvSpPr/>
          <p:nvPr/>
        </p:nvSpPr>
        <p:spPr>
          <a:xfrm>
            <a:off x="812800" y="2366963"/>
            <a:ext cx="21583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-o yaml · -o json</a:t>
            </a:r>
            <a:endParaRPr lang="en-US" sz="1200" dirty="0"/>
          </a:p>
        </p:txBody>
      </p:sp>
      <p:sp>
        <p:nvSpPr>
          <p:cNvPr id="12" name="Text 10"/>
          <p:cNvSpPr/>
          <p:nvPr/>
        </p:nvSpPr>
        <p:spPr>
          <a:xfrm>
            <a:off x="3035300" y="2350988"/>
            <a:ext cx="364959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l'objet complet</a:t>
            </a:r>
            <a:endParaRPr lang="en-US" sz="1300" dirty="0"/>
          </a:p>
        </p:txBody>
      </p:sp>
      <p:sp>
        <p:nvSpPr>
          <p:cNvPr id="13" name="Shape 11"/>
          <p:cNvSpPr/>
          <p:nvPr/>
        </p:nvSpPr>
        <p:spPr>
          <a:xfrm>
            <a:off x="812800" y="3027468"/>
            <a:ext cx="5765800" cy="0"/>
          </a:xfrm>
          <a:prstGeom prst="line">
            <a:avLst/>
          </a:prstGeom>
          <a:noFill/>
          <a:ln w="6350">
            <a:solidFill>
              <a:srgbClr val="E1DFEE"/>
            </a:solidFill>
            <a:prstDash val="solid"/>
          </a:ln>
        </p:spPr>
      </p:sp>
      <p:sp>
        <p:nvSpPr>
          <p:cNvPr id="14" name="Text 12"/>
          <p:cNvSpPr/>
          <p:nvPr/>
        </p:nvSpPr>
        <p:spPr>
          <a:xfrm>
            <a:off x="812800" y="2744887"/>
            <a:ext cx="21583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-o name</a:t>
            </a:r>
            <a:endParaRPr lang="en-US" sz="1200" dirty="0"/>
          </a:p>
        </p:txBody>
      </p:sp>
      <p:sp>
        <p:nvSpPr>
          <p:cNvPr id="15" name="Text 13"/>
          <p:cNvSpPr/>
          <p:nvPr/>
        </p:nvSpPr>
        <p:spPr>
          <a:xfrm>
            <a:off x="3035300" y="2728913"/>
            <a:ext cx="364959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les noms seulement</a:t>
            </a:r>
            <a:endParaRPr lang="en-US" sz="1300" dirty="0"/>
          </a:p>
        </p:txBody>
      </p:sp>
      <p:sp>
        <p:nvSpPr>
          <p:cNvPr id="16" name="Shape 14"/>
          <p:cNvSpPr/>
          <p:nvPr/>
        </p:nvSpPr>
        <p:spPr>
          <a:xfrm>
            <a:off x="812800" y="3636533"/>
            <a:ext cx="5765800" cy="0"/>
          </a:xfrm>
          <a:prstGeom prst="line">
            <a:avLst/>
          </a:prstGeom>
          <a:noFill/>
          <a:ln w="6350">
            <a:solidFill>
              <a:srgbClr val="E1DFEE"/>
            </a:solidFill>
            <a:prstDash val="solid"/>
          </a:ln>
        </p:spPr>
      </p:sp>
      <p:sp>
        <p:nvSpPr>
          <p:cNvPr id="17" name="Text 15"/>
          <p:cNvSpPr/>
          <p:nvPr/>
        </p:nvSpPr>
        <p:spPr>
          <a:xfrm>
            <a:off x="812800" y="3122836"/>
            <a:ext cx="21583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-o jsonpath=…</a:t>
            </a:r>
            <a:endParaRPr lang="en-US" sz="1200" dirty="0"/>
          </a:p>
        </p:txBody>
      </p:sp>
      <p:sp>
        <p:nvSpPr>
          <p:cNvPr id="18" name="Text 16"/>
          <p:cNvSpPr/>
          <p:nvPr/>
        </p:nvSpPr>
        <p:spPr>
          <a:xfrm>
            <a:off x="3035300" y="3106837"/>
            <a:ext cx="364959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extraire des champs précis (ou -o custom-columns=…)</a:t>
            </a:r>
            <a:endParaRPr lang="en-US" sz="1300" dirty="0"/>
          </a:p>
        </p:txBody>
      </p:sp>
      <p:sp>
        <p:nvSpPr>
          <p:cNvPr id="19" name="Shape 17"/>
          <p:cNvSpPr/>
          <p:nvPr/>
        </p:nvSpPr>
        <p:spPr>
          <a:xfrm>
            <a:off x="812800" y="4014472"/>
            <a:ext cx="5765800" cy="0"/>
          </a:xfrm>
          <a:prstGeom prst="line">
            <a:avLst/>
          </a:prstGeom>
          <a:noFill/>
          <a:ln w="6350">
            <a:solidFill>
              <a:srgbClr val="E1DFEE"/>
            </a:solidFill>
            <a:prstDash val="solid"/>
          </a:ln>
        </p:spPr>
      </p:sp>
      <p:sp>
        <p:nvSpPr>
          <p:cNvPr id="20" name="Text 18"/>
          <p:cNvSpPr/>
          <p:nvPr/>
        </p:nvSpPr>
        <p:spPr>
          <a:xfrm>
            <a:off x="812800" y="3731890"/>
            <a:ext cx="21583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-w</a:t>
            </a:r>
            <a:endParaRPr lang="en-US" sz="1200" dirty="0"/>
          </a:p>
        </p:txBody>
      </p:sp>
      <p:sp>
        <p:nvSpPr>
          <p:cNvPr id="21" name="Text 19"/>
          <p:cNvSpPr/>
          <p:nvPr/>
        </p:nvSpPr>
        <p:spPr>
          <a:xfrm>
            <a:off x="3035300" y="3715916"/>
            <a:ext cx="364959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suivre les changements en direct</a:t>
            </a:r>
            <a:endParaRPr lang="en-US" sz="1300" dirty="0"/>
          </a:p>
        </p:txBody>
      </p:sp>
      <p:sp>
        <p:nvSpPr>
          <p:cNvPr id="22" name="Shape 20"/>
          <p:cNvSpPr/>
          <p:nvPr/>
        </p:nvSpPr>
        <p:spPr>
          <a:xfrm>
            <a:off x="812800" y="4392396"/>
            <a:ext cx="5765800" cy="0"/>
          </a:xfrm>
          <a:prstGeom prst="line">
            <a:avLst/>
          </a:prstGeom>
          <a:noFill/>
          <a:ln w="6350">
            <a:solidFill>
              <a:srgbClr val="E1DFEE"/>
            </a:solidFill>
            <a:prstDash val="solid"/>
          </a:ln>
        </p:spPr>
      </p:sp>
      <p:sp>
        <p:nvSpPr>
          <p:cNvPr id="23" name="Text 21"/>
          <p:cNvSpPr/>
          <p:nvPr/>
        </p:nvSpPr>
        <p:spPr>
          <a:xfrm>
            <a:off x="812800" y="4109814"/>
            <a:ext cx="21583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-l app=web</a:t>
            </a:r>
            <a:endParaRPr lang="en-US" sz="1200" dirty="0"/>
          </a:p>
        </p:txBody>
      </p:sp>
      <p:sp>
        <p:nvSpPr>
          <p:cNvPr id="24" name="Text 22"/>
          <p:cNvSpPr/>
          <p:nvPr/>
        </p:nvSpPr>
        <p:spPr>
          <a:xfrm>
            <a:off x="3035300" y="4093840"/>
            <a:ext cx="364959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filtrer par label (--show-labels pour les voir)</a:t>
            </a:r>
            <a:endParaRPr lang="en-US" sz="1300" dirty="0"/>
          </a:p>
        </p:txBody>
      </p:sp>
      <p:sp>
        <p:nvSpPr>
          <p:cNvPr id="25" name="Text 23"/>
          <p:cNvSpPr/>
          <p:nvPr/>
        </p:nvSpPr>
        <p:spPr>
          <a:xfrm>
            <a:off x="812800" y="4487763"/>
            <a:ext cx="215836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po deploy svc ns no cm pvc</a:t>
            </a:r>
            <a:endParaRPr lang="en-US" sz="1200" dirty="0"/>
          </a:p>
        </p:txBody>
      </p:sp>
      <p:sp>
        <p:nvSpPr>
          <p:cNvPr id="26" name="Text 24"/>
          <p:cNvSpPr/>
          <p:nvPr/>
        </p:nvSpPr>
        <p:spPr>
          <a:xfrm>
            <a:off x="3035300" y="4471764"/>
            <a:ext cx="364959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noms courts (liste : kubectl api-resources)</a:t>
            </a:r>
            <a:endParaRPr lang="en-US" sz="1300" dirty="0"/>
          </a:p>
        </p:txBody>
      </p:sp>
      <p:sp>
        <p:nvSpPr>
          <p:cNvPr id="27" name="Text 25"/>
          <p:cNvSpPr/>
          <p:nvPr/>
        </p:nvSpPr>
        <p:spPr>
          <a:xfrm>
            <a:off x="6934200" y="2659385"/>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CONFORT INDISPENSABLE, DANS ~/.BASHRC</a:t>
            </a:r>
            <a:endParaRPr lang="en-US" sz="1200" dirty="0"/>
          </a:p>
        </p:txBody>
      </p:sp>
      <p:sp>
        <p:nvSpPr>
          <p:cNvPr id="28" name="Text 26"/>
          <p:cNvSpPr/>
          <p:nvPr/>
        </p:nvSpPr>
        <p:spPr>
          <a:xfrm>
            <a:off x="6934200" y="2987030"/>
            <a:ext cx="4445000" cy="1197610"/>
          </a:xfrm>
          <a:prstGeom prst="roundRect">
            <a:avLst>
              <a:gd name="adj" fmla="val 8484"/>
            </a:avLst>
          </a:prstGeom>
          <a:solidFill>
            <a:srgbClr val="0B0748"/>
          </a:solidFill>
          <a:ln/>
        </p:spPr>
        <p:txBody>
          <a:bodyPr wrap="none" lIns="173442" tIns="148042" rIns="52284" bIns="122642" rtlCol="0" anchor="t">
            <a:normAutofit/>
          </a:bodyPr>
          <a:lstStyle/>
          <a:p>
            <a:pPr algn="l" indent="0" marL="0">
              <a:lnSpc>
                <a:spcPts val="2210"/>
              </a:lnSpc>
              <a:buNone/>
            </a:pPr>
            <a:r>
              <a:rPr lang="en-US" sz="1300" dirty="0">
                <a:solidFill>
                  <a:srgbClr val="ECEAFF"/>
                </a:solidFill>
                <a:latin typeface="JetBrains Mono" pitchFamily="49" charset="0"/>
                <a:ea typeface="JetBrains Mono" pitchFamily="49" charset="-122"/>
                <a:cs typeface="JetBrains Mono" pitchFamily="49" charset="-120"/>
              </a:rPr>
              <a:t>source &lt;(kubectl completion bash)</a:t>
            </a:r>
            <a:endParaRPr lang="en-US" sz="1300" dirty="0"/>
          </a:p>
          <a:p>
            <a:pPr algn="l" indent="0" marL="0">
              <a:lnSpc>
                <a:spcPts val="2210"/>
              </a:lnSpc>
              <a:buNone/>
            </a:pPr>
            <a:r>
              <a:rPr lang="en-US" sz="1300" dirty="0">
                <a:solidFill>
                  <a:srgbClr val="ECEAFF"/>
                </a:solidFill>
                <a:latin typeface="JetBrains Mono" pitchFamily="49" charset="0"/>
                <a:ea typeface="JetBrains Mono" pitchFamily="49" charset="-122"/>
                <a:cs typeface="JetBrains Mono" pitchFamily="49" charset="-120"/>
              </a:rPr>
              <a:t>alias k=kubectl</a:t>
            </a:r>
            <a:endParaRPr lang="en-US" sz="1300" dirty="0"/>
          </a:p>
          <a:p>
            <a:pPr algn="l" indent="0" marL="0">
              <a:lnSpc>
                <a:spcPts val="2210"/>
              </a:lnSpc>
              <a:buNone/>
            </a:pPr>
            <a:r>
              <a:rPr lang="en-US" sz="1300" dirty="0">
                <a:solidFill>
                  <a:srgbClr val="ECEAFF"/>
                </a:solidFill>
                <a:latin typeface="JetBrains Mono" pitchFamily="49" charset="0"/>
                <a:ea typeface="JetBrains Mono" pitchFamily="49" charset="-122"/>
                <a:cs typeface="JetBrains Mono" pitchFamily="49" charset="-120"/>
              </a:rPr>
              <a:t>complete -o default -F __start_kubectl k</a:t>
            </a:r>
            <a:endParaRPr lang="en-US" sz="1300" dirty="0"/>
          </a:p>
        </p:txBody>
      </p:sp>
      <p:sp>
        <p:nvSpPr>
          <p:cNvPr id="29" name="Text 27"/>
          <p:cNvSpPr/>
          <p:nvPr/>
        </p:nvSpPr>
        <p:spPr>
          <a:xfrm>
            <a:off x="6934200" y="4298950"/>
            <a:ext cx="457835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6B6890"/>
                </a:solidFill>
                <a:latin typeface="IBM Plex Sans" pitchFamily="34" charset="0"/>
                <a:ea typeface="IBM Plex Sans" pitchFamily="34" charset="-122"/>
                <a:cs typeface="IBM Plex Sans" pitchFamily="34" charset="-120"/>
              </a:rPr>
              <a:t>La complétion par tabulation, et k à la place de kubectl, y compris pour la complétion.</a:t>
            </a:r>
            <a:endParaRPr lang="en-US" sz="1300" dirty="0"/>
          </a:p>
        </p:txBody>
      </p:sp>
      <p:pic>
        <p:nvPicPr>
          <p:cNvPr id="30"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31" name="Text 2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2" name="Image 1" descr="Parcours : module 5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05 · GÉRER LES NŒUDS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Lire l'état d'un nœud</a:t>
            </a:r>
            <a:endParaRPr lang="en-US" sz="2800" dirty="0"/>
          </a:p>
        </p:txBody>
      </p:sp>
      <p:sp>
        <p:nvSpPr>
          <p:cNvPr id="4" name="Text 2"/>
          <p:cNvSpPr/>
          <p:nvPr/>
        </p:nvSpPr>
        <p:spPr>
          <a:xfrm>
            <a:off x="812800" y="1569715"/>
            <a:ext cx="66451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kubectl describe node k8s-w1</a:t>
            </a:r>
            <a:endParaRPr lang="en-US" sz="1300" dirty="0"/>
          </a:p>
        </p:txBody>
      </p:sp>
      <p:sp>
        <p:nvSpPr>
          <p:cNvPr id="5" name="Shape 3"/>
          <p:cNvSpPr/>
          <p:nvPr/>
        </p:nvSpPr>
        <p:spPr>
          <a:xfrm>
            <a:off x="812800" y="2188326"/>
            <a:ext cx="6451600" cy="0"/>
          </a:xfrm>
          <a:prstGeom prst="line">
            <a:avLst/>
          </a:prstGeom>
          <a:noFill/>
          <a:ln w="6350">
            <a:solidFill>
              <a:srgbClr val="E1DFEE"/>
            </a:solidFill>
            <a:prstDash val="solid"/>
          </a:ln>
        </p:spPr>
      </p:sp>
      <p:sp>
        <p:nvSpPr>
          <p:cNvPr id="6" name="Text 4"/>
          <p:cNvSpPr/>
          <p:nvPr/>
        </p:nvSpPr>
        <p:spPr>
          <a:xfrm>
            <a:off x="812800" y="1902470"/>
            <a:ext cx="176593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IBM Plex Sans" pitchFamily="34" charset="0"/>
                <a:ea typeface="IBM Plex Sans" pitchFamily="34" charset="-122"/>
                <a:cs typeface="IBM Plex Sans" pitchFamily="34" charset="-120"/>
              </a:rPr>
              <a:t>Labels</a:t>
            </a:r>
            <a:endParaRPr lang="en-US" sz="1300" dirty="0"/>
          </a:p>
        </p:txBody>
      </p:sp>
      <p:sp>
        <p:nvSpPr>
          <p:cNvPr id="7" name="Text 5"/>
          <p:cNvSpPr/>
          <p:nvPr/>
        </p:nvSpPr>
        <p:spPr>
          <a:xfrm>
            <a:off x="2654300" y="1914426"/>
            <a:ext cx="4748403"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3F3C6B"/>
                </a:solidFill>
                <a:latin typeface="IBM Plex Sans" pitchFamily="34" charset="0"/>
                <a:ea typeface="IBM Plex Sans" pitchFamily="34" charset="-122"/>
                <a:cs typeface="IBM Plex Sans" pitchFamily="34" charset="-120"/>
              </a:rPr>
              <a:t>identité : nom, OS, architecture, rôle</a:t>
            </a:r>
            <a:endParaRPr lang="en-US" sz="1250" dirty="0"/>
          </a:p>
        </p:txBody>
      </p:sp>
      <p:sp>
        <p:nvSpPr>
          <p:cNvPr id="8" name="Shape 6"/>
          <p:cNvSpPr/>
          <p:nvPr/>
        </p:nvSpPr>
        <p:spPr>
          <a:xfrm>
            <a:off x="812800" y="2540850"/>
            <a:ext cx="6451600" cy="0"/>
          </a:xfrm>
          <a:prstGeom prst="line">
            <a:avLst/>
          </a:prstGeom>
          <a:noFill/>
          <a:ln w="6350">
            <a:solidFill>
              <a:srgbClr val="E1DFEE"/>
            </a:solidFill>
            <a:prstDash val="solid"/>
          </a:ln>
        </p:spPr>
      </p:sp>
      <p:sp>
        <p:nvSpPr>
          <p:cNvPr id="9" name="Text 7"/>
          <p:cNvSpPr/>
          <p:nvPr/>
        </p:nvSpPr>
        <p:spPr>
          <a:xfrm>
            <a:off x="812800" y="2254994"/>
            <a:ext cx="176593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IBM Plex Sans" pitchFamily="34" charset="0"/>
                <a:ea typeface="IBM Plex Sans" pitchFamily="34" charset="-122"/>
                <a:cs typeface="IBM Plex Sans" pitchFamily="34" charset="-120"/>
              </a:rPr>
              <a:t>Taints</a:t>
            </a:r>
            <a:endParaRPr lang="en-US" sz="1300" dirty="0"/>
          </a:p>
        </p:txBody>
      </p:sp>
      <p:sp>
        <p:nvSpPr>
          <p:cNvPr id="10" name="Text 8"/>
          <p:cNvSpPr/>
          <p:nvPr/>
        </p:nvSpPr>
        <p:spPr>
          <a:xfrm>
            <a:off x="2654300" y="2266950"/>
            <a:ext cx="4748403"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3F3C6B"/>
                </a:solidFill>
                <a:latin typeface="IBM Plex Sans" pitchFamily="34" charset="0"/>
                <a:ea typeface="IBM Plex Sans" pitchFamily="34" charset="-122"/>
                <a:cs typeface="IBM Plex Sans" pitchFamily="34" charset="-120"/>
              </a:rPr>
              <a:t>ce que le nœud repousse</a:t>
            </a:r>
            <a:endParaRPr lang="en-US" sz="1250" dirty="0"/>
          </a:p>
        </p:txBody>
      </p:sp>
      <p:sp>
        <p:nvSpPr>
          <p:cNvPr id="11" name="Shape 9"/>
          <p:cNvSpPr/>
          <p:nvPr/>
        </p:nvSpPr>
        <p:spPr>
          <a:xfrm>
            <a:off x="812800" y="3102818"/>
            <a:ext cx="6451600" cy="0"/>
          </a:xfrm>
          <a:prstGeom prst="line">
            <a:avLst/>
          </a:prstGeom>
          <a:noFill/>
          <a:ln w="6350">
            <a:solidFill>
              <a:srgbClr val="E1DFEE"/>
            </a:solidFill>
            <a:prstDash val="solid"/>
          </a:ln>
        </p:spPr>
      </p:sp>
      <p:sp>
        <p:nvSpPr>
          <p:cNvPr id="12" name="Text 10"/>
          <p:cNvSpPr/>
          <p:nvPr/>
        </p:nvSpPr>
        <p:spPr>
          <a:xfrm>
            <a:off x="812800" y="2607518"/>
            <a:ext cx="176593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IBM Plex Sans" pitchFamily="34" charset="0"/>
                <a:ea typeface="IBM Plex Sans" pitchFamily="34" charset="-122"/>
                <a:cs typeface="IBM Plex Sans" pitchFamily="34" charset="-120"/>
              </a:rPr>
              <a:t>Conditions</a:t>
            </a:r>
            <a:endParaRPr lang="en-US" sz="1300" dirty="0"/>
          </a:p>
        </p:txBody>
      </p:sp>
      <p:sp>
        <p:nvSpPr>
          <p:cNvPr id="13" name="Text 11"/>
          <p:cNvSpPr/>
          <p:nvPr/>
        </p:nvSpPr>
        <p:spPr>
          <a:xfrm>
            <a:off x="2654300" y="2619474"/>
            <a:ext cx="4748403"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3F3C6B"/>
                </a:solidFill>
                <a:latin typeface="IBM Plex Sans" pitchFamily="34" charset="0"/>
                <a:ea typeface="IBM Plex Sans" pitchFamily="34" charset="-122"/>
                <a:cs typeface="IBM Plex Sans" pitchFamily="34" charset="-120"/>
              </a:rPr>
              <a:t>Ready, MemoryPressure, DiskPressure, PIDPressure ; une pression à True déclenche des évictions</a:t>
            </a:r>
            <a:endParaRPr lang="en-US" sz="1250" dirty="0"/>
          </a:p>
        </p:txBody>
      </p:sp>
      <p:sp>
        <p:nvSpPr>
          <p:cNvPr id="14" name="Shape 12"/>
          <p:cNvSpPr/>
          <p:nvPr/>
        </p:nvSpPr>
        <p:spPr>
          <a:xfrm>
            <a:off x="812800" y="3664793"/>
            <a:ext cx="6451600" cy="0"/>
          </a:xfrm>
          <a:prstGeom prst="line">
            <a:avLst/>
          </a:prstGeom>
          <a:noFill/>
          <a:ln w="6350">
            <a:solidFill>
              <a:srgbClr val="E1DFEE"/>
            </a:solidFill>
            <a:prstDash val="solid"/>
          </a:ln>
        </p:spPr>
      </p:sp>
      <p:sp>
        <p:nvSpPr>
          <p:cNvPr id="15" name="Text 13"/>
          <p:cNvSpPr/>
          <p:nvPr/>
        </p:nvSpPr>
        <p:spPr>
          <a:xfrm>
            <a:off x="812800" y="3169493"/>
            <a:ext cx="176593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IBM Plex Sans" pitchFamily="34" charset="0"/>
                <a:ea typeface="IBM Plex Sans" pitchFamily="34" charset="-122"/>
                <a:cs typeface="IBM Plex Sans" pitchFamily="34" charset="-120"/>
              </a:rPr>
              <a:t>Capacity, Allocatable</a:t>
            </a:r>
            <a:endParaRPr lang="en-US" sz="1300" dirty="0"/>
          </a:p>
        </p:txBody>
      </p:sp>
      <p:sp>
        <p:nvSpPr>
          <p:cNvPr id="16" name="Text 14"/>
          <p:cNvSpPr/>
          <p:nvPr/>
        </p:nvSpPr>
        <p:spPr>
          <a:xfrm>
            <a:off x="2654300" y="3181449"/>
            <a:ext cx="4748403"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3F3C6B"/>
                </a:solidFill>
                <a:latin typeface="IBM Plex Sans" pitchFamily="34" charset="0"/>
                <a:ea typeface="IBM Plex Sans" pitchFamily="34" charset="-122"/>
                <a:cs typeface="IBM Plex Sans" pitchFamily="34" charset="-120"/>
              </a:rPr>
              <a:t>capacité brute, et ce qui reste pour les pods une fois les réserves retirées</a:t>
            </a:r>
            <a:endParaRPr lang="en-US" sz="1250" dirty="0"/>
          </a:p>
        </p:txBody>
      </p:sp>
      <p:sp>
        <p:nvSpPr>
          <p:cNvPr id="17" name="Shape 15"/>
          <p:cNvSpPr/>
          <p:nvPr/>
        </p:nvSpPr>
        <p:spPr>
          <a:xfrm>
            <a:off x="812800" y="4226768"/>
            <a:ext cx="6451600" cy="0"/>
          </a:xfrm>
          <a:prstGeom prst="line">
            <a:avLst/>
          </a:prstGeom>
          <a:noFill/>
          <a:ln w="6350">
            <a:solidFill>
              <a:srgbClr val="E1DFEE"/>
            </a:solidFill>
            <a:prstDash val="solid"/>
          </a:ln>
        </p:spPr>
      </p:sp>
      <p:sp>
        <p:nvSpPr>
          <p:cNvPr id="18" name="Text 16"/>
          <p:cNvSpPr/>
          <p:nvPr/>
        </p:nvSpPr>
        <p:spPr>
          <a:xfrm>
            <a:off x="812800" y="3731468"/>
            <a:ext cx="176593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IBM Plex Sans" pitchFamily="34" charset="0"/>
                <a:ea typeface="IBM Plex Sans" pitchFamily="34" charset="-122"/>
                <a:cs typeface="IBM Plex Sans" pitchFamily="34" charset="-120"/>
              </a:rPr>
              <a:t>Allocated resources</a:t>
            </a:r>
            <a:endParaRPr lang="en-US" sz="1300" dirty="0"/>
          </a:p>
        </p:txBody>
      </p:sp>
      <p:sp>
        <p:nvSpPr>
          <p:cNvPr id="19" name="Text 17"/>
          <p:cNvSpPr/>
          <p:nvPr/>
        </p:nvSpPr>
        <p:spPr>
          <a:xfrm>
            <a:off x="2654300" y="3743424"/>
            <a:ext cx="4748403"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3F3C6B"/>
                </a:solidFill>
                <a:latin typeface="IBM Plex Sans" pitchFamily="34" charset="0"/>
                <a:ea typeface="IBM Plex Sans" pitchFamily="34" charset="-122"/>
                <a:cs typeface="IBM Plex Sans" pitchFamily="34" charset="-120"/>
              </a:rPr>
              <a:t>somme des requests et limits : </a:t>
            </a:r>
            <a:r>
              <a:rPr lang="en-US" sz="1250" b="1" dirty="0">
                <a:solidFill>
                  <a:srgbClr val="3F3C6B"/>
                </a:solidFill>
                <a:latin typeface="IBM Plex Sans" pitchFamily="34" charset="0"/>
                <a:ea typeface="IBM Plex Sans" pitchFamily="34" charset="-122"/>
                <a:cs typeface="IBM Plex Sans" pitchFamily="34" charset="-120"/>
              </a:rPr>
              <a:t>c'est ce chiffre que regarde le scheduler</a:t>
            </a:r>
            <a:r>
              <a:rPr lang="en-US" sz="1250" dirty="0">
                <a:solidFill>
                  <a:srgbClr val="3F3C6B"/>
                </a:solidFill>
                <a:latin typeface="IBM Plex Sans" pitchFamily="34" charset="0"/>
                <a:ea typeface="IBM Plex Sans" pitchFamily="34" charset="-122"/>
                <a:cs typeface="IBM Plex Sans" pitchFamily="34" charset="-120"/>
              </a:rPr>
              <a:t>, pas la consommation</a:t>
            </a:r>
            <a:endParaRPr lang="en-US" sz="1250" dirty="0"/>
          </a:p>
        </p:txBody>
      </p:sp>
      <p:sp>
        <p:nvSpPr>
          <p:cNvPr id="20" name="Text 18"/>
          <p:cNvSpPr/>
          <p:nvPr/>
        </p:nvSpPr>
        <p:spPr>
          <a:xfrm>
            <a:off x="812800" y="4293443"/>
            <a:ext cx="176593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IBM Plex Sans" pitchFamily="34" charset="0"/>
                <a:ea typeface="IBM Plex Sans" pitchFamily="34" charset="-122"/>
                <a:cs typeface="IBM Plex Sans" pitchFamily="34" charset="-120"/>
              </a:rPr>
              <a:t>Events</a:t>
            </a:r>
            <a:endParaRPr lang="en-US" sz="1300" dirty="0"/>
          </a:p>
        </p:txBody>
      </p:sp>
      <p:sp>
        <p:nvSpPr>
          <p:cNvPr id="21" name="Text 19"/>
          <p:cNvSpPr/>
          <p:nvPr/>
        </p:nvSpPr>
        <p:spPr>
          <a:xfrm>
            <a:off x="2654300" y="4305399"/>
            <a:ext cx="4748403"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3F3C6B"/>
                </a:solidFill>
                <a:latin typeface="IBM Plex Sans" pitchFamily="34" charset="0"/>
                <a:ea typeface="IBM Plex Sans" pitchFamily="34" charset="-122"/>
                <a:cs typeface="IBM Plex Sans" pitchFamily="34" charset="-120"/>
              </a:rPr>
              <a:t>les derniers événements du nœud</a:t>
            </a:r>
            <a:endParaRPr lang="en-US" sz="1250" dirty="0"/>
          </a:p>
        </p:txBody>
      </p:sp>
      <p:sp>
        <p:nvSpPr>
          <p:cNvPr id="22" name="Shape 20"/>
          <p:cNvSpPr/>
          <p:nvPr/>
        </p:nvSpPr>
        <p:spPr>
          <a:xfrm>
            <a:off x="7569200" y="1569715"/>
            <a:ext cx="3810000" cy="4272280"/>
          </a:xfrm>
          <a:prstGeom prst="roundRect">
            <a:avLst>
              <a:gd name="adj" fmla="val 3333"/>
            </a:avLst>
          </a:prstGeom>
          <a:solidFill>
            <a:srgbClr val="0B0748"/>
          </a:solidFill>
          <a:ln/>
        </p:spPr>
      </p:sp>
      <p:sp>
        <p:nvSpPr>
          <p:cNvPr id="23" name="Text 21"/>
          <p:cNvSpPr/>
          <p:nvPr/>
        </p:nvSpPr>
        <p:spPr>
          <a:xfrm>
            <a:off x="7810500" y="1785615"/>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SI UN NŒUD NE RÉPOND PLUS</a:t>
            </a:r>
            <a:endParaRPr lang="en-US" sz="1200" dirty="0"/>
          </a:p>
        </p:txBody>
      </p:sp>
      <p:sp>
        <p:nvSpPr>
          <p:cNvPr id="24" name="Text 22"/>
          <p:cNvSpPr/>
          <p:nvPr/>
        </p:nvSpPr>
        <p:spPr>
          <a:xfrm>
            <a:off x="7810500" y="2100585"/>
            <a:ext cx="342722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Après quelques dizaines de secondes : NotReady et taint node.kubernetes.io/unreachable.</a:t>
            </a:r>
            <a:endParaRPr lang="en-US" sz="1300" dirty="0"/>
          </a:p>
        </p:txBody>
      </p:sp>
      <p:sp>
        <p:nvSpPr>
          <p:cNvPr id="25" name="Text 23"/>
          <p:cNvSpPr/>
          <p:nvPr/>
        </p:nvSpPr>
        <p:spPr>
          <a:xfrm>
            <a:off x="7810500" y="2895600"/>
            <a:ext cx="342722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Ses pods la tolèrent 300 s, puis sont évincés et recréés ailleurs.</a:t>
            </a:r>
            <a:endParaRPr lang="en-US" sz="1300" dirty="0"/>
          </a:p>
        </p:txBody>
      </p:sp>
      <p:sp>
        <p:nvSpPr>
          <p:cNvPr id="26" name="Text 24"/>
          <p:cNvSpPr/>
          <p:nvPr/>
        </p:nvSpPr>
        <p:spPr>
          <a:xfrm>
            <a:off x="7810500" y="4452615"/>
            <a:ext cx="342722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8F66"/>
                </a:solidFill>
                <a:latin typeface="Sora" pitchFamily="34" charset="0"/>
                <a:ea typeface="Sora" pitchFamily="34" charset="-122"/>
                <a:cs typeface="Sora" pitchFamily="34" charset="-120"/>
              </a:rPr>
              <a:t>≈ 5 min</a:t>
            </a:r>
            <a:endParaRPr lang="en-US" sz="4800" dirty="0"/>
          </a:p>
        </p:txBody>
      </p:sp>
      <p:sp>
        <p:nvSpPr>
          <p:cNvPr id="27" name="Text 25"/>
          <p:cNvSpPr/>
          <p:nvPr/>
        </p:nvSpPr>
        <p:spPr>
          <a:xfrm>
            <a:off x="7810500" y="5163815"/>
            <a:ext cx="342722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6E8"/>
                </a:solidFill>
                <a:latin typeface="IBM Plex Sans" pitchFamily="34" charset="0"/>
                <a:ea typeface="IBM Plex Sans" pitchFamily="34" charset="-122"/>
                <a:cs typeface="IBM Plex Sans" pitchFamily="34" charset="-120"/>
              </a:rPr>
              <a:t>d'indisponibilité pour un pod à un seul réplica.</a:t>
            </a:r>
            <a:endParaRPr lang="en-US" sz="1300" dirty="0"/>
          </a:p>
        </p:txBody>
      </p:sp>
      <p:pic>
        <p:nvPicPr>
          <p:cNvPr id="28"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9" name="Text 2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0" name="Image 1" descr="Parcours : module 5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05 · GÉRER LES NŒUDS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labels des nœuds</a:t>
            </a:r>
            <a:endParaRPr lang="en-US" sz="2800" dirty="0"/>
          </a:p>
        </p:txBody>
      </p:sp>
      <p:sp>
        <p:nvSpPr>
          <p:cNvPr id="4" name="Text 2"/>
          <p:cNvSpPr/>
          <p:nvPr/>
        </p:nvSpPr>
        <p:spPr>
          <a:xfrm>
            <a:off x="812800" y="156971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Chaque nœud porte des labels posés automatiquement ; vous ajoutez les vôtres pour décrire le matériel ou l'usage.</a:t>
            </a:r>
            <a:endParaRPr lang="en-US" sz="1500" dirty="0"/>
          </a:p>
        </p:txBody>
      </p:sp>
      <p:sp>
        <p:nvSpPr>
          <p:cNvPr id="5" name="Shape 3"/>
          <p:cNvSpPr/>
          <p:nvPr/>
        </p:nvSpPr>
        <p:spPr>
          <a:xfrm>
            <a:off x="812800" y="2065015"/>
            <a:ext cx="10566400" cy="1776095"/>
          </a:xfrm>
          <a:prstGeom prst="rect">
            <a:avLst/>
          </a:prstGeom>
          <a:solidFill>
            <a:srgbClr val="FDFD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9891" y="2072106"/>
          <a:ext cx="10559309" cy="1769004"/>
        </p:xfrm>
        <a:graphic>
          <a:graphicData uri="http://schemas.openxmlformats.org/drawingml/2006/table">
            <a:tbl>
              <a:tblPr/>
              <a:tblGrid>
                <a:gridCol w="5490841"/>
                <a:gridCol w="5068468"/>
              </a:tblGrid>
              <a:tr h="353801">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Label automatique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Exemple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kubernetes.io/hostname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k8s-w1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kubernetes.io/os · kubernetes.io/arch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linux · amd64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node-role.kubernetes.io/control-plane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présent sur k8s-cp, valeur vide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topology.kubernetes.io/zone, …/region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posés par les fournisseurs Cloud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sp>
        <p:nvSpPr>
          <p:cNvPr id="7" name="Text 4"/>
          <p:cNvSpPr/>
          <p:nvPr/>
        </p:nvSpPr>
        <p:spPr>
          <a:xfrm>
            <a:off x="812800" y="4422130"/>
            <a:ext cx="10566400" cy="1419860"/>
          </a:xfrm>
          <a:prstGeom prst="roundRect">
            <a:avLst>
              <a:gd name="adj" fmla="val 7156"/>
            </a:avLst>
          </a:prstGeom>
          <a:solidFill>
            <a:srgbClr val="0B0748"/>
          </a:solidFill>
          <a:ln/>
        </p:spPr>
        <p:txBody>
          <a:bodyPr wrap="none" lIns="173442" tIns="135342" rIns="0" bIns="109942" rtlCol="0" anchor="t">
            <a:normAutofit/>
          </a:bodyPr>
          <a:lstStyle/>
          <a:p>
            <a:pPr algn="l" indent="0" marL="0">
              <a:lnSpc>
                <a:spcPts val="2145"/>
              </a:lnSpc>
              <a:buNone/>
            </a:pPr>
            <a:r>
              <a:rPr lang="en-US" sz="1300" dirty="0">
                <a:solidFill>
                  <a:srgbClr val="ECEAFF"/>
                </a:solidFill>
                <a:latin typeface="JetBrains Mono" pitchFamily="49" charset="0"/>
                <a:ea typeface="JetBrains Mono" pitchFamily="49" charset="-122"/>
                <a:cs typeface="JetBrains Mono" pitchFamily="49" charset="-120"/>
              </a:rPr>
              <a:t>kubectl label node k8s-w2 disque=ssd</a:t>
            </a:r>
            <a:endParaRPr lang="en-US" sz="1300" dirty="0"/>
          </a:p>
          <a:p>
            <a:pPr algn="l" indent="0" marL="0">
              <a:lnSpc>
                <a:spcPts val="2145"/>
              </a:lnSpc>
              <a:buNone/>
            </a:pPr>
            <a:r>
              <a:rPr lang="en-US" sz="1300" dirty="0">
                <a:solidFill>
                  <a:srgbClr val="ECEAFF"/>
                </a:solidFill>
                <a:latin typeface="JetBrains Mono" pitchFamily="49" charset="0"/>
                <a:ea typeface="JetBrains Mono" pitchFamily="49" charset="-122"/>
                <a:cs typeface="JetBrains Mono" pitchFamily="49" charset="-120"/>
              </a:rPr>
              <a:t>kubectl label node k8s-w1 node-role.kubernetes.io/worker=  </a:t>
            </a:r>
            <a:r>
              <a:rPr lang="en-US" sz="1300" dirty="0">
                <a:solidFill>
                  <a:srgbClr val="9A96D0"/>
                </a:solidFill>
                <a:latin typeface="JetBrains Mono" pitchFamily="49" charset="0"/>
                <a:ea typeface="JetBrains Mono" pitchFamily="49" charset="-122"/>
                <a:cs typeface="JetBrains Mono" pitchFamily="49" charset="-120"/>
              </a:rPr>
              <a:t># colonne ROLES</a:t>
            </a:r>
            <a:endParaRPr lang="en-US" sz="1300" dirty="0"/>
          </a:p>
          <a:p>
            <a:pPr algn="l" indent="0" marL="0">
              <a:lnSpc>
                <a:spcPts val="2145"/>
              </a:lnSpc>
              <a:buNone/>
            </a:pPr>
            <a:r>
              <a:rPr lang="en-US" sz="1300" dirty="0">
                <a:solidFill>
                  <a:srgbClr val="ECEAFF"/>
                </a:solidFill>
                <a:latin typeface="JetBrains Mono" pitchFamily="49" charset="0"/>
                <a:ea typeface="JetBrains Mono" pitchFamily="49" charset="-122"/>
                <a:cs typeface="JetBrains Mono" pitchFamily="49" charset="-120"/>
              </a:rPr>
              <a:t>kubectl get nodes -L disque</a:t>
            </a:r>
            <a:endParaRPr lang="en-US" sz="1300" dirty="0"/>
          </a:p>
          <a:p>
            <a:pPr algn="l" indent="0" marL="0">
              <a:lnSpc>
                <a:spcPts val="2145"/>
              </a:lnSpc>
              <a:buNone/>
            </a:pPr>
            <a:r>
              <a:rPr lang="en-US" sz="1300" dirty="0">
                <a:solidFill>
                  <a:srgbClr val="ECEAFF"/>
                </a:solidFill>
                <a:latin typeface="JetBrains Mono" pitchFamily="49" charset="0"/>
                <a:ea typeface="JetBrains Mono" pitchFamily="49" charset="-122"/>
                <a:cs typeface="JetBrains Mono" pitchFamily="49" charset="-120"/>
              </a:rPr>
              <a:t>kubectl label node k8s-w2 disque-  </a:t>
            </a:r>
            <a:r>
              <a:rPr lang="en-US" sz="1300" dirty="0">
                <a:solidFill>
                  <a:srgbClr val="9A96D0"/>
                </a:solidFill>
                <a:latin typeface="JetBrains Mono" pitchFamily="49" charset="0"/>
                <a:ea typeface="JetBrains Mono" pitchFamily="49" charset="-122"/>
                <a:cs typeface="JetBrains Mono" pitchFamily="49" charset="-120"/>
              </a:rPr>
              <a:t># le tiret final retire le label</a:t>
            </a:r>
            <a:endParaRPr lang="en-US" sz="1300" dirty="0"/>
          </a:p>
        </p:txBody>
      </p:sp>
      <p:pic>
        <p:nvPicPr>
          <p:cNvPr id="8"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9" name="Text 5"/>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0" name="Image 1" descr="Parcours : module 5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05 · GÉRER LES NŒUDS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Choisir où tournent les pods</a:t>
            </a:r>
            <a:endParaRPr lang="en-US" sz="2800" dirty="0"/>
          </a:p>
        </p:txBody>
      </p:sp>
      <p:sp>
        <p:nvSpPr>
          <p:cNvPr id="4" name="Shape 2"/>
          <p:cNvSpPr/>
          <p:nvPr/>
        </p:nvSpPr>
        <p:spPr>
          <a:xfrm>
            <a:off x="815975" y="1572890"/>
            <a:ext cx="2387600" cy="2172970"/>
          </a:xfrm>
          <a:prstGeom prst="roundRect">
            <a:avLst>
              <a:gd name="adj" fmla="val 5114"/>
            </a:avLst>
          </a:prstGeom>
          <a:solidFill>
            <a:srgbClr val="FDFDFF"/>
          </a:solidFill>
          <a:ln w="6350">
            <a:solidFill>
              <a:srgbClr val="E1DFEE"/>
            </a:solidFill>
            <a:prstDash val="solid"/>
          </a:ln>
        </p:spPr>
      </p:sp>
      <p:sp>
        <p:nvSpPr>
          <p:cNvPr id="5" name="Text 3"/>
          <p:cNvSpPr/>
          <p:nvPr/>
        </p:nvSpPr>
        <p:spPr>
          <a:xfrm>
            <a:off x="997691" y="1741909"/>
            <a:ext cx="208489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25A2C"/>
                </a:solidFill>
                <a:latin typeface="Sora" pitchFamily="34" charset="0"/>
                <a:ea typeface="Sora" pitchFamily="34" charset="-122"/>
                <a:cs typeface="Sora" pitchFamily="34" charset="-120"/>
              </a:rPr>
              <a:t>1 · le plus simple</a:t>
            </a:r>
            <a:endParaRPr lang="en-US" sz="1200" dirty="0"/>
          </a:p>
        </p:txBody>
      </p:sp>
      <p:sp>
        <p:nvSpPr>
          <p:cNvPr id="6" name="Text 4"/>
          <p:cNvSpPr/>
          <p:nvPr/>
        </p:nvSpPr>
        <p:spPr>
          <a:xfrm>
            <a:off x="997691" y="2018779"/>
            <a:ext cx="208489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nodeSelector</a:t>
            </a:r>
            <a:endParaRPr lang="en-US" sz="1300" dirty="0"/>
          </a:p>
        </p:txBody>
      </p:sp>
      <p:sp>
        <p:nvSpPr>
          <p:cNvPr id="7" name="Text 5"/>
          <p:cNvSpPr/>
          <p:nvPr/>
        </p:nvSpPr>
        <p:spPr>
          <a:xfrm>
            <a:off x="997691" y="2313409"/>
            <a:ext cx="208489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Le pod ne va que sur les nœuds qui portent tous les labels indiqués.</a:t>
            </a:r>
            <a:endParaRPr lang="en-US" sz="1200" dirty="0"/>
          </a:p>
        </p:txBody>
      </p:sp>
      <p:sp>
        <p:nvSpPr>
          <p:cNvPr id="8" name="Shape 6"/>
          <p:cNvSpPr/>
          <p:nvPr/>
        </p:nvSpPr>
        <p:spPr>
          <a:xfrm>
            <a:off x="3336925" y="1572890"/>
            <a:ext cx="2387600" cy="2172970"/>
          </a:xfrm>
          <a:prstGeom prst="roundRect">
            <a:avLst>
              <a:gd name="adj" fmla="val 5114"/>
            </a:avLst>
          </a:prstGeom>
          <a:solidFill>
            <a:srgbClr val="FDFDFF"/>
          </a:solidFill>
          <a:ln w="6350">
            <a:solidFill>
              <a:srgbClr val="E1DFEE"/>
            </a:solidFill>
            <a:prstDash val="solid"/>
          </a:ln>
        </p:spPr>
      </p:sp>
      <p:sp>
        <p:nvSpPr>
          <p:cNvPr id="9" name="Text 7"/>
          <p:cNvSpPr/>
          <p:nvPr/>
        </p:nvSpPr>
        <p:spPr>
          <a:xfrm>
            <a:off x="3518641" y="1741909"/>
            <a:ext cx="208489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25A2C"/>
                </a:solidFill>
                <a:latin typeface="Sora" pitchFamily="34" charset="0"/>
                <a:ea typeface="Sora" pitchFamily="34" charset="-122"/>
                <a:cs typeface="Sora" pitchFamily="34" charset="-120"/>
              </a:rPr>
              <a:t>2</a:t>
            </a:r>
            <a:endParaRPr lang="en-US" sz="1200" dirty="0"/>
          </a:p>
        </p:txBody>
      </p:sp>
      <p:sp>
        <p:nvSpPr>
          <p:cNvPr id="10" name="Text 8"/>
          <p:cNvSpPr/>
          <p:nvPr/>
        </p:nvSpPr>
        <p:spPr>
          <a:xfrm>
            <a:off x="3518641" y="2018779"/>
            <a:ext cx="208489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nodeAffinity</a:t>
            </a:r>
            <a:endParaRPr lang="en-US" sz="1300" dirty="0"/>
          </a:p>
        </p:txBody>
      </p:sp>
      <p:sp>
        <p:nvSpPr>
          <p:cNvPr id="11" name="Text 9"/>
          <p:cNvSpPr/>
          <p:nvPr/>
        </p:nvSpPr>
        <p:spPr>
          <a:xfrm>
            <a:off x="3518641" y="2313409"/>
            <a:ext cx="2084893"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Avec des opérateurs (In, NotIn, Exists, Gt…) et deux niveaux : obligatoire ou souhaité.</a:t>
            </a:r>
            <a:endParaRPr lang="en-US" sz="1200" dirty="0"/>
          </a:p>
        </p:txBody>
      </p:sp>
      <p:sp>
        <p:nvSpPr>
          <p:cNvPr id="12" name="Shape 10"/>
          <p:cNvSpPr/>
          <p:nvPr/>
        </p:nvSpPr>
        <p:spPr>
          <a:xfrm>
            <a:off x="815975" y="3879205"/>
            <a:ext cx="2387600" cy="1959610"/>
          </a:xfrm>
          <a:prstGeom prst="roundRect">
            <a:avLst>
              <a:gd name="adj" fmla="val 5671"/>
            </a:avLst>
          </a:prstGeom>
          <a:solidFill>
            <a:srgbClr val="FDFDFF"/>
          </a:solidFill>
          <a:ln w="6350">
            <a:solidFill>
              <a:srgbClr val="E1DFEE"/>
            </a:solidFill>
            <a:prstDash val="solid"/>
          </a:ln>
        </p:spPr>
      </p:sp>
      <p:sp>
        <p:nvSpPr>
          <p:cNvPr id="13" name="Text 11"/>
          <p:cNvSpPr/>
          <p:nvPr/>
        </p:nvSpPr>
        <p:spPr>
          <a:xfrm>
            <a:off x="997691" y="4048224"/>
            <a:ext cx="208489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25A2C"/>
                </a:solidFill>
                <a:latin typeface="Sora" pitchFamily="34" charset="0"/>
                <a:ea typeface="Sora" pitchFamily="34" charset="-122"/>
                <a:cs typeface="Sora" pitchFamily="34" charset="-120"/>
              </a:rPr>
              <a:t>3</a:t>
            </a:r>
            <a:endParaRPr lang="en-US" sz="1200" dirty="0"/>
          </a:p>
        </p:txBody>
      </p:sp>
      <p:sp>
        <p:nvSpPr>
          <p:cNvPr id="14" name="Text 12"/>
          <p:cNvSpPr/>
          <p:nvPr/>
        </p:nvSpPr>
        <p:spPr>
          <a:xfrm>
            <a:off x="997691" y="4325094"/>
            <a:ext cx="208489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pod(Anti)Affinity</a:t>
            </a:r>
            <a:endParaRPr lang="en-US" sz="1300" dirty="0"/>
          </a:p>
        </p:txBody>
      </p:sp>
      <p:sp>
        <p:nvSpPr>
          <p:cNvPr id="15" name="Text 13"/>
          <p:cNvSpPr/>
          <p:nvPr/>
        </p:nvSpPr>
        <p:spPr>
          <a:xfrm>
            <a:off x="997691" y="4619724"/>
            <a:ext cx="208489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Placer un pod près d'autres pods, ou loin d'eux : répartir les réplicas.</a:t>
            </a:r>
            <a:endParaRPr lang="en-US" sz="1200" dirty="0"/>
          </a:p>
        </p:txBody>
      </p:sp>
      <p:sp>
        <p:nvSpPr>
          <p:cNvPr id="16" name="Shape 14"/>
          <p:cNvSpPr/>
          <p:nvPr/>
        </p:nvSpPr>
        <p:spPr>
          <a:xfrm>
            <a:off x="3336925" y="3879205"/>
            <a:ext cx="2387600" cy="1959610"/>
          </a:xfrm>
          <a:prstGeom prst="roundRect">
            <a:avLst>
              <a:gd name="adj" fmla="val 5671"/>
            </a:avLst>
          </a:prstGeom>
          <a:solidFill>
            <a:srgbClr val="FDFDFF"/>
          </a:solidFill>
          <a:ln w="6350">
            <a:solidFill>
              <a:srgbClr val="E1DFEE"/>
            </a:solidFill>
            <a:prstDash val="solid"/>
          </a:ln>
        </p:spPr>
      </p:sp>
      <p:sp>
        <p:nvSpPr>
          <p:cNvPr id="17" name="Text 15"/>
          <p:cNvSpPr/>
          <p:nvPr/>
        </p:nvSpPr>
        <p:spPr>
          <a:xfrm>
            <a:off x="3518641" y="4048224"/>
            <a:ext cx="208489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25A2C"/>
                </a:solidFill>
                <a:latin typeface="Sora" pitchFamily="34" charset="0"/>
                <a:ea typeface="Sora" pitchFamily="34" charset="-122"/>
                <a:cs typeface="Sora" pitchFamily="34" charset="-120"/>
              </a:rPr>
              <a:t>4 · le plus fin</a:t>
            </a:r>
            <a:endParaRPr lang="en-US" sz="1200" dirty="0"/>
          </a:p>
        </p:txBody>
      </p:sp>
      <p:sp>
        <p:nvSpPr>
          <p:cNvPr id="18" name="Text 16"/>
          <p:cNvSpPr/>
          <p:nvPr/>
        </p:nvSpPr>
        <p:spPr>
          <a:xfrm>
            <a:off x="3518641" y="4325094"/>
            <a:ext cx="208489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topologySpread…</a:t>
            </a:r>
            <a:endParaRPr lang="en-US" sz="1300" dirty="0"/>
          </a:p>
        </p:txBody>
      </p:sp>
      <p:sp>
        <p:nvSpPr>
          <p:cNvPr id="19" name="Text 17"/>
          <p:cNvSpPr/>
          <p:nvPr/>
        </p:nvSpPr>
        <p:spPr>
          <a:xfrm>
            <a:off x="3518641" y="4619724"/>
            <a:ext cx="208489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Un écart maximal de réplicas entre nœuds ou zones.</a:t>
            </a:r>
            <a:endParaRPr lang="en-US" sz="1200" dirty="0"/>
          </a:p>
        </p:txBody>
      </p:sp>
      <p:sp>
        <p:nvSpPr>
          <p:cNvPr id="20" name="Text 18"/>
          <p:cNvSpPr/>
          <p:nvPr/>
        </p:nvSpPr>
        <p:spPr>
          <a:xfrm>
            <a:off x="5981700" y="1569715"/>
            <a:ext cx="5397500" cy="2362200"/>
          </a:xfrm>
          <a:prstGeom prst="roundRect">
            <a:avLst>
              <a:gd name="adj" fmla="val 4301"/>
            </a:avLst>
          </a:prstGeom>
          <a:solidFill>
            <a:srgbClr val="0B0748"/>
          </a:solidFill>
          <a:ln/>
        </p:spPr>
        <p:txBody>
          <a:bodyPr wrap="none" lIns="160742" tIns="122642" rIns="10247" bIns="97242" rtlCol="0" anchor="t">
            <a:normAutofit/>
          </a:bodyPr>
          <a:lstStyle/>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spec:</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affinity:</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nodeAffinity:</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requiredDuringScheduling</a:t>
            </a:r>
            <a:r>
              <a:rPr lang="en-US" sz="1200" dirty="0">
                <a:solidFill>
                  <a:srgbClr val="ECEAFF"/>
                </a:solidFill>
                <a:latin typeface="JetBrains Mono" pitchFamily="49" charset="0"/>
                <a:ea typeface="JetBrains Mono" pitchFamily="49" charset="-122"/>
                <a:cs typeface="JetBrains Mono" pitchFamily="49" charset="-120"/>
              </a:rPr>
              <a:t>IgnoredDuringExecution:</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nodeSelectorTerms:</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 matchExpressions:</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 key: disque</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operator: In</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values: ["ssd", "nvme"]</a:t>
            </a:r>
            <a:endParaRPr lang="en-US" sz="1200" dirty="0"/>
          </a:p>
        </p:txBody>
      </p:sp>
      <p:sp>
        <p:nvSpPr>
          <p:cNvPr id="21" name="Text 19"/>
          <p:cNvSpPr/>
          <p:nvPr/>
        </p:nvSpPr>
        <p:spPr>
          <a:xfrm>
            <a:off x="5981700" y="4033515"/>
            <a:ext cx="555942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required : obligatoire ; preferred : souhaité, avec un poids. Le nom très long rappelle que la règle vaut pour le placement, pas pour les pods déjà lancés.</a:t>
            </a:r>
            <a:endParaRPr lang="en-US" sz="1200" dirty="0"/>
          </a:p>
        </p:txBody>
      </p:sp>
      <p:pic>
        <p:nvPicPr>
          <p:cNvPr id="22"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3" name="Text 2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4" name="Image 1" descr="Parcours : module 5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05 · GÉRER LES NŒUDS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Répartir les réplicas sur plusieurs nœuds</a:t>
            </a:r>
            <a:endParaRPr lang="en-US" sz="2800" dirty="0"/>
          </a:p>
        </p:txBody>
      </p:sp>
      <p:sp>
        <p:nvSpPr>
          <p:cNvPr id="4" name="Text 2"/>
          <p:cNvSpPr/>
          <p:nvPr/>
        </p:nvSpPr>
        <p:spPr>
          <a:xfrm>
            <a:off x="812800" y="156971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L'usage le plus courant : qu'une panne de nœud n'emporte pas tous les réplicas d'une application.</a:t>
            </a:r>
            <a:endParaRPr lang="en-US" sz="1500" dirty="0"/>
          </a:p>
        </p:txBody>
      </p:sp>
      <p:sp>
        <p:nvSpPr>
          <p:cNvPr id="5" name="Text 3"/>
          <p:cNvSpPr/>
          <p:nvPr/>
        </p:nvSpPr>
        <p:spPr>
          <a:xfrm>
            <a:off x="812800" y="2065015"/>
            <a:ext cx="53108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ANTI-AFFINITÉ DE PODS</a:t>
            </a:r>
            <a:endParaRPr lang="en-US" sz="1200" dirty="0"/>
          </a:p>
        </p:txBody>
      </p:sp>
      <p:sp>
        <p:nvSpPr>
          <p:cNvPr id="6" name="Text 4"/>
          <p:cNvSpPr/>
          <p:nvPr/>
        </p:nvSpPr>
        <p:spPr>
          <a:xfrm>
            <a:off x="812800" y="2379985"/>
            <a:ext cx="5156200" cy="3129280"/>
          </a:xfrm>
          <a:prstGeom prst="roundRect">
            <a:avLst>
              <a:gd name="adj" fmla="val 3247"/>
            </a:avLst>
          </a:prstGeom>
          <a:solidFill>
            <a:srgbClr val="0B0748"/>
          </a:solidFill>
          <a:ln/>
        </p:spPr>
        <p:txBody>
          <a:bodyPr wrap="none" lIns="148042" tIns="122642" rIns="4024" bIns="122642" rtlCol="0" anchor="t">
            <a:normAutofit/>
          </a:bodyPr>
          <a:lstStyle/>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affinity:</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podAntiAffinity:</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preferredDuringSchedulingIgnoredDuringExecution:</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 weight: 100</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podAffinityTerm:</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topologyKey: kubernetes.io/hostname</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labelSelector:</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matchLabels:</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app: podinfo</a:t>
            </a:r>
            <a:endParaRPr lang="en-US" sz="1200" dirty="0"/>
          </a:p>
        </p:txBody>
      </p:sp>
      <p:sp>
        <p:nvSpPr>
          <p:cNvPr id="7" name="Text 5"/>
          <p:cNvSpPr/>
          <p:nvPr/>
        </p:nvSpPr>
        <p:spPr>
          <a:xfrm>
            <a:off x="812800" y="5610870"/>
            <a:ext cx="531088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 Loin » = sur un autre nœud, selon la topologyKey.</a:t>
            </a:r>
            <a:endParaRPr lang="en-US" sz="1300" dirty="0"/>
          </a:p>
        </p:txBody>
      </p:sp>
      <p:sp>
        <p:nvSpPr>
          <p:cNvPr id="8" name="Text 6"/>
          <p:cNvSpPr/>
          <p:nvPr/>
        </p:nvSpPr>
        <p:spPr>
          <a:xfrm>
            <a:off x="6223000" y="2065015"/>
            <a:ext cx="53108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CONTRAINTES DE RÉPARTITION</a:t>
            </a:r>
            <a:endParaRPr lang="en-US" sz="1200" dirty="0"/>
          </a:p>
        </p:txBody>
      </p:sp>
      <p:sp>
        <p:nvSpPr>
          <p:cNvPr id="9" name="Text 7"/>
          <p:cNvSpPr/>
          <p:nvPr/>
        </p:nvSpPr>
        <p:spPr>
          <a:xfrm>
            <a:off x="6223000" y="2379985"/>
            <a:ext cx="5156200" cy="2898140"/>
          </a:xfrm>
          <a:prstGeom prst="roundRect">
            <a:avLst>
              <a:gd name="adj" fmla="val 3506"/>
            </a:avLst>
          </a:prstGeom>
          <a:solidFill>
            <a:srgbClr val="0B0748"/>
          </a:solidFill>
          <a:ln/>
        </p:spPr>
        <p:txBody>
          <a:bodyPr wrap="none" lIns="148042" tIns="122642" rIns="4024" bIns="122642" rtlCol="0" anchor="t">
            <a:normAutofit/>
          </a:bodyPr>
          <a:lstStyle/>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topologySpreadConstraints:</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maxSkew: 1</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topologyKey: kubernetes.io/hostname</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whenUnsatisfiable: ScheduleAnyway</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labelSelector:</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matchLabels:</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app: podinfo</a:t>
            </a:r>
            <a:endParaRPr lang="en-US" sz="1200" dirty="0"/>
          </a:p>
        </p:txBody>
      </p:sp>
      <p:sp>
        <p:nvSpPr>
          <p:cNvPr id="10" name="Text 8"/>
          <p:cNvSpPr/>
          <p:nvPr/>
        </p:nvSpPr>
        <p:spPr>
          <a:xfrm>
            <a:off x="6223000" y="5379740"/>
            <a:ext cx="531088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Au plus 1 réplica d'écart entre nœuds : plus précis quand il y a plus de réplicas que de nœuds.</a:t>
            </a:r>
            <a:endParaRPr lang="en-US" sz="1300" dirty="0"/>
          </a:p>
        </p:txBody>
      </p:sp>
      <p:pic>
        <p:nvPicPr>
          <p:cNvPr id="11"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2" name="Text 9"/>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3" name="Image 1" descr="Parcours : module 5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05 · GÉRER LES NŒUDS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Taints et tolérances</a:t>
            </a:r>
            <a:endParaRPr lang="en-US" sz="2800" dirty="0"/>
          </a:p>
        </p:txBody>
      </p:sp>
      <p:sp>
        <p:nvSpPr>
          <p:cNvPr id="4" name="Text 2"/>
          <p:cNvSpPr/>
          <p:nvPr/>
        </p:nvSpPr>
        <p:spPr>
          <a:xfrm>
            <a:off x="812800" y="154434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Une </a:t>
            </a:r>
            <a:r>
              <a:rPr lang="en-US" sz="1500" b="1" dirty="0">
                <a:solidFill>
                  <a:srgbClr val="3F3C6B"/>
                </a:solidFill>
                <a:latin typeface="IBM Plex Sans" pitchFamily="34" charset="0"/>
                <a:ea typeface="IBM Plex Sans" pitchFamily="34" charset="-122"/>
                <a:cs typeface="IBM Plex Sans" pitchFamily="34" charset="-120"/>
              </a:rPr>
              <a:t>taint</a:t>
            </a:r>
            <a:r>
              <a:rPr lang="en-US" sz="1500" dirty="0">
                <a:solidFill>
                  <a:srgbClr val="3F3C6B"/>
                </a:solidFill>
                <a:latin typeface="IBM Plex Sans" pitchFamily="34" charset="0"/>
                <a:ea typeface="IBM Plex Sans" pitchFamily="34" charset="-122"/>
                <a:cs typeface="IBM Plex Sans" pitchFamily="34" charset="-120"/>
              </a:rPr>
              <a:t> sur un nœud repousse les pods ; une </a:t>
            </a:r>
            <a:r>
              <a:rPr lang="en-US" sz="1500" b="1" dirty="0">
                <a:solidFill>
                  <a:srgbClr val="3F3C6B"/>
                </a:solidFill>
                <a:latin typeface="IBM Plex Sans" pitchFamily="34" charset="0"/>
                <a:ea typeface="IBM Plex Sans" pitchFamily="34" charset="-122"/>
                <a:cs typeface="IBM Plex Sans" pitchFamily="34" charset="-120"/>
              </a:rPr>
              <a:t>tolérance</a:t>
            </a:r>
            <a:r>
              <a:rPr lang="en-US" sz="1500" dirty="0">
                <a:solidFill>
                  <a:srgbClr val="3F3C6B"/>
                </a:solidFill>
                <a:latin typeface="IBM Plex Sans" pitchFamily="34" charset="0"/>
                <a:ea typeface="IBM Plex Sans" pitchFamily="34" charset="-122"/>
                <a:cs typeface="IBM Plex Sans" pitchFamily="34" charset="-120"/>
              </a:rPr>
              <a:t> sur un pod l'autorise à ignorer une taint précise. Elle n'attire pas : pour dédier un nœud, taint + affinité.</a:t>
            </a:r>
            <a:endParaRPr lang="en-US" sz="1500" dirty="0"/>
          </a:p>
        </p:txBody>
      </p:sp>
      <p:sp>
        <p:nvSpPr>
          <p:cNvPr id="5" name="Shape 3"/>
          <p:cNvSpPr/>
          <p:nvPr/>
        </p:nvSpPr>
        <p:spPr>
          <a:xfrm>
            <a:off x="815975" y="2284115"/>
            <a:ext cx="4210050" cy="973455"/>
          </a:xfrm>
          <a:prstGeom prst="roundRect">
            <a:avLst>
              <a:gd name="adj" fmla="val 10111"/>
            </a:avLst>
          </a:prstGeom>
          <a:solidFill>
            <a:srgbClr val="FDFDFF"/>
          </a:solidFill>
          <a:ln w="6350">
            <a:solidFill>
              <a:srgbClr val="E1DFEE"/>
            </a:solidFill>
            <a:prstDash val="solid"/>
          </a:ln>
        </p:spPr>
      </p:sp>
      <p:sp>
        <p:nvSpPr>
          <p:cNvPr id="6" name="Text 4"/>
          <p:cNvSpPr/>
          <p:nvPr/>
        </p:nvSpPr>
        <p:spPr>
          <a:xfrm>
            <a:off x="984991" y="2415034"/>
            <a:ext cx="3988179" cy="25579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NoSchedule</a:t>
            </a:r>
            <a:endParaRPr lang="en-US" sz="1300" dirty="0"/>
          </a:p>
        </p:txBody>
      </p:sp>
      <p:sp>
        <p:nvSpPr>
          <p:cNvPr id="7" name="Text 5"/>
          <p:cNvSpPr/>
          <p:nvPr/>
        </p:nvSpPr>
        <p:spPr>
          <a:xfrm>
            <a:off x="984991" y="2683520"/>
            <a:ext cx="3988179" cy="468524"/>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Aucun nouveau pod sans tolérance ; les pods présents restent.</a:t>
            </a:r>
            <a:endParaRPr lang="en-US" sz="1250" dirty="0"/>
          </a:p>
        </p:txBody>
      </p:sp>
      <p:sp>
        <p:nvSpPr>
          <p:cNvPr id="8" name="Shape 6"/>
          <p:cNvSpPr/>
          <p:nvPr/>
        </p:nvSpPr>
        <p:spPr>
          <a:xfrm>
            <a:off x="815975" y="3352800"/>
            <a:ext cx="4210050" cy="751840"/>
          </a:xfrm>
          <a:prstGeom prst="roundRect">
            <a:avLst>
              <a:gd name="adj" fmla="val 13091"/>
            </a:avLst>
          </a:prstGeom>
          <a:solidFill>
            <a:srgbClr val="FDFDFF"/>
          </a:solidFill>
          <a:ln w="6350">
            <a:solidFill>
              <a:srgbClr val="E1DFEE"/>
            </a:solidFill>
            <a:prstDash val="solid"/>
          </a:ln>
        </p:spPr>
      </p:sp>
      <p:sp>
        <p:nvSpPr>
          <p:cNvPr id="9" name="Text 7"/>
          <p:cNvSpPr/>
          <p:nvPr/>
        </p:nvSpPr>
        <p:spPr>
          <a:xfrm>
            <a:off x="984991" y="3483719"/>
            <a:ext cx="3988179" cy="25579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PreferNoSchedule</a:t>
            </a:r>
            <a:endParaRPr lang="en-US" sz="1300" dirty="0"/>
          </a:p>
        </p:txBody>
      </p:sp>
      <p:sp>
        <p:nvSpPr>
          <p:cNvPr id="10" name="Text 8"/>
          <p:cNvSpPr/>
          <p:nvPr/>
        </p:nvSpPr>
        <p:spPr>
          <a:xfrm>
            <a:off x="984991" y="3752205"/>
            <a:ext cx="3988179" cy="246909"/>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Le scheduler évite le nœud s'il a le choix.</a:t>
            </a:r>
            <a:endParaRPr lang="en-US" sz="1250" dirty="0"/>
          </a:p>
        </p:txBody>
      </p:sp>
      <p:sp>
        <p:nvSpPr>
          <p:cNvPr id="11" name="Shape 9"/>
          <p:cNvSpPr/>
          <p:nvPr/>
        </p:nvSpPr>
        <p:spPr>
          <a:xfrm>
            <a:off x="815975" y="4199880"/>
            <a:ext cx="4210050" cy="973455"/>
          </a:xfrm>
          <a:prstGeom prst="roundRect">
            <a:avLst>
              <a:gd name="adj" fmla="val 10111"/>
            </a:avLst>
          </a:prstGeom>
          <a:solidFill>
            <a:srgbClr val="FCE6DC"/>
          </a:solidFill>
          <a:ln w="6350">
            <a:solidFill>
              <a:srgbClr val="E25A2C"/>
            </a:solidFill>
            <a:prstDash val="solid"/>
          </a:ln>
        </p:spPr>
      </p:sp>
      <p:sp>
        <p:nvSpPr>
          <p:cNvPr id="12" name="Text 10"/>
          <p:cNvSpPr/>
          <p:nvPr/>
        </p:nvSpPr>
        <p:spPr>
          <a:xfrm>
            <a:off x="984991" y="4330799"/>
            <a:ext cx="3988179" cy="25579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NoExecute</a:t>
            </a:r>
            <a:endParaRPr lang="en-US" sz="1300" dirty="0"/>
          </a:p>
        </p:txBody>
      </p:sp>
      <p:sp>
        <p:nvSpPr>
          <p:cNvPr id="13" name="Text 11"/>
          <p:cNvSpPr/>
          <p:nvPr/>
        </p:nvSpPr>
        <p:spPr>
          <a:xfrm>
            <a:off x="984991" y="4599285"/>
            <a:ext cx="3988179" cy="468524"/>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0B0748"/>
                </a:solidFill>
                <a:latin typeface="IBM Plex Sans" pitchFamily="34" charset="0"/>
                <a:ea typeface="IBM Plex Sans" pitchFamily="34" charset="-122"/>
                <a:cs typeface="IBM Plex Sans" pitchFamily="34" charset="-120"/>
              </a:rPr>
              <a:t>Les pods sans tolérance sont aussi expulsés s'ils y tournent déjà.</a:t>
            </a:r>
            <a:endParaRPr lang="en-US" sz="1250" dirty="0"/>
          </a:p>
        </p:txBody>
      </p:sp>
      <p:sp>
        <p:nvSpPr>
          <p:cNvPr id="14" name="Text 12"/>
          <p:cNvSpPr/>
          <p:nvPr/>
        </p:nvSpPr>
        <p:spPr>
          <a:xfrm>
            <a:off x="5283200" y="2280940"/>
            <a:ext cx="6096000" cy="2895600"/>
          </a:xfrm>
          <a:prstGeom prst="roundRect">
            <a:avLst>
              <a:gd name="adj" fmla="val 3509"/>
            </a:avLst>
          </a:prstGeom>
          <a:solidFill>
            <a:srgbClr val="0B0748"/>
          </a:solidFill>
          <a:ln/>
        </p:spPr>
        <p:txBody>
          <a:bodyPr wrap="none" lIns="160742" tIns="122642" rIns="0" bIns="122642" rtlCol="0" anchor="t">
            <a:normAutofit/>
          </a:bodyPr>
          <a:lstStyle/>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kubectl taint nodes k8s-w2 dedie=calcul:NoSchedule  </a:t>
            </a:r>
            <a:r>
              <a:rPr lang="en-US" sz="1200" dirty="0">
                <a:solidFill>
                  <a:srgbClr val="9A96D0"/>
                </a:solidFill>
                <a:latin typeface="JetBrains Mono" pitchFamily="49" charset="0"/>
                <a:ea typeface="JetBrains Mono" pitchFamily="49" charset="-122"/>
                <a:cs typeface="JetBrains Mono" pitchFamily="49" charset="-120"/>
              </a:rPr>
              <a:t># poser</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kubectl describe node k8s-w2 | grep Taints</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kubectl taint nodes k8s-w2 dedie=calcul:NoSchedule- </a:t>
            </a:r>
            <a:r>
              <a:rPr lang="en-US" sz="1200" dirty="0">
                <a:solidFill>
                  <a:srgbClr val="9A96D0"/>
                </a:solidFill>
                <a:latin typeface="JetBrains Mono" pitchFamily="49" charset="0"/>
                <a:ea typeface="JetBrains Mono" pitchFamily="49" charset="-122"/>
                <a:cs typeface="JetBrains Mono" pitchFamily="49" charset="-120"/>
              </a:rPr>
              <a:t># retirer</a:t>
            </a:r>
            <a:endParaRPr lang="en-US" sz="1200" dirty="0"/>
          </a:p>
          <a:p>
            <a:pPr algn="l" indent="0" marL="0">
              <a:lnSpc>
                <a:spcPts val="1860"/>
              </a:lnSpc>
              <a:buNone/>
            </a:pPr>
            <a:endParaRPr lang="en-US" sz="1200" dirty="0"/>
          </a:p>
          <a:p>
            <a:pPr algn="l" indent="0" marL="0">
              <a:lnSpc>
                <a:spcPts val="1860"/>
              </a:lnSpc>
              <a:buNone/>
            </a:pPr>
            <a:r>
              <a:rPr lang="en-US" sz="1200" dirty="0">
                <a:solidFill>
                  <a:srgbClr val="9A96D0"/>
                </a:solidFill>
                <a:latin typeface="JetBrains Mono" pitchFamily="49" charset="0"/>
                <a:ea typeface="JetBrains Mono" pitchFamily="49" charset="-122"/>
                <a:cs typeface="JetBrains Mono" pitchFamily="49" charset="-120"/>
              </a:rPr>
              <a:t># dans le pod :</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tolerations:</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key: dedie</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operator: Equal</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value: calcul</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effect: NoSchedule</a:t>
            </a:r>
            <a:endParaRPr lang="en-US" sz="1200" dirty="0"/>
          </a:p>
        </p:txBody>
      </p:sp>
      <p:sp>
        <p:nvSpPr>
          <p:cNvPr id="15" name="Text 13"/>
          <p:cNvSpPr/>
          <p:nvPr/>
        </p:nvSpPr>
        <p:spPr>
          <a:xfrm>
            <a:off x="812800" y="5379740"/>
            <a:ext cx="108833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Déjà rencontrées : node-role.kubernetes.io/control-plane:NoSchedule et node.kubernetes.io/not-ready. Les DaemonSets système (Calico, kube-proxy) les tolèrent : ils tournent partout.</a:t>
            </a:r>
            <a:endParaRPr lang="en-US" sz="1300" dirty="0"/>
          </a:p>
        </p:txBody>
      </p:sp>
      <p:pic>
        <p:nvPicPr>
          <p:cNvPr id="16"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7" name="Text 14"/>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1" descr="Parcours : module 5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05 · GÉRER LES NŒUDS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Maintenance d'un nœud</a:t>
            </a:r>
            <a:endParaRPr lang="en-US" sz="2800" dirty="0"/>
          </a:p>
        </p:txBody>
      </p:sp>
      <p:sp>
        <p:nvSpPr>
          <p:cNvPr id="4" name="Shape 2"/>
          <p:cNvSpPr/>
          <p:nvPr/>
        </p:nvSpPr>
        <p:spPr>
          <a:xfrm>
            <a:off x="815975" y="1534815"/>
            <a:ext cx="2938674" cy="942552"/>
          </a:xfrm>
          <a:prstGeom prst="roundRect">
            <a:avLst>
              <a:gd name="adj" fmla="val 10442"/>
            </a:avLst>
          </a:prstGeom>
          <a:solidFill>
            <a:srgbClr val="FDFDFF"/>
          </a:solidFill>
          <a:ln w="6350">
            <a:solidFill>
              <a:srgbClr val="E1DFEE"/>
            </a:solidFill>
            <a:prstDash val="solid"/>
          </a:ln>
        </p:spPr>
      </p:sp>
      <p:sp>
        <p:nvSpPr>
          <p:cNvPr id="5" name="Text 3"/>
          <p:cNvSpPr/>
          <p:nvPr/>
        </p:nvSpPr>
        <p:spPr>
          <a:xfrm>
            <a:off x="984991" y="1665734"/>
            <a:ext cx="26786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cordon</a:t>
            </a:r>
            <a:endParaRPr lang="en-US" sz="1300" dirty="0"/>
          </a:p>
        </p:txBody>
      </p:sp>
      <p:sp>
        <p:nvSpPr>
          <p:cNvPr id="6" name="Text 4"/>
          <p:cNvSpPr/>
          <p:nvPr/>
        </p:nvSpPr>
        <p:spPr>
          <a:xfrm>
            <a:off x="984991" y="1934964"/>
            <a:ext cx="267866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non planifiable ; les pods présents restent</a:t>
            </a:r>
            <a:endParaRPr lang="en-US" sz="1200" dirty="0"/>
          </a:p>
        </p:txBody>
      </p:sp>
      <p:pic>
        <p:nvPicPr>
          <p:cNvPr id="7" name="Image 0" descr="arrow-right">    </p:cNvPr>
          <p:cNvPicPr>
            <a:picLocks noChangeAspect="1"/>
          </p:cNvPicPr>
          <p:nvPr/>
        </p:nvPicPr>
        <p:blipFill>
          <a:blip r:embed="rId1"/>
          <a:srcRect l="0" r="0" t="0" b="0"/>
          <a:stretch/>
        </p:blipFill>
        <p:spPr>
          <a:xfrm>
            <a:off x="3859424" y="1936204"/>
            <a:ext cx="279400" cy="139700"/>
          </a:xfrm>
          <a:prstGeom prst="rect">
            <a:avLst/>
          </a:prstGeom>
        </p:spPr>
      </p:pic>
      <p:sp>
        <p:nvSpPr>
          <p:cNvPr id="8" name="Shape 5"/>
          <p:cNvSpPr/>
          <p:nvPr/>
        </p:nvSpPr>
        <p:spPr>
          <a:xfrm>
            <a:off x="4240424" y="1538734"/>
            <a:ext cx="3711152" cy="934720"/>
          </a:xfrm>
          <a:prstGeom prst="roundRect">
            <a:avLst>
              <a:gd name="adj" fmla="val 10870"/>
            </a:avLst>
          </a:prstGeom>
          <a:solidFill>
            <a:srgbClr val="0B0748"/>
          </a:solidFill>
          <a:ln/>
        </p:spPr>
      </p:sp>
      <p:sp>
        <p:nvSpPr>
          <p:cNvPr id="9" name="Text 6"/>
          <p:cNvSpPr/>
          <p:nvPr/>
        </p:nvSpPr>
        <p:spPr>
          <a:xfrm>
            <a:off x="4405524" y="1665734"/>
            <a:ext cx="348238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8F66"/>
                </a:solidFill>
                <a:latin typeface="JetBrains Mono" pitchFamily="49" charset="0"/>
                <a:ea typeface="JetBrains Mono" pitchFamily="49" charset="-122"/>
                <a:cs typeface="JetBrains Mono" pitchFamily="49" charset="-120"/>
              </a:rPr>
              <a:t>drain</a:t>
            </a:r>
            <a:endParaRPr lang="en-US" sz="1300" dirty="0"/>
          </a:p>
        </p:txBody>
      </p:sp>
      <p:sp>
        <p:nvSpPr>
          <p:cNvPr id="10" name="Text 7"/>
          <p:cNvSpPr/>
          <p:nvPr/>
        </p:nvSpPr>
        <p:spPr>
          <a:xfrm>
            <a:off x="4405524" y="1934964"/>
            <a:ext cx="34823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CEAFF"/>
                </a:solidFill>
                <a:latin typeface="IBM Plex Sans" pitchFamily="34" charset="0"/>
                <a:ea typeface="IBM Plex Sans" pitchFamily="34" charset="-122"/>
                <a:cs typeface="IBM Plex Sans" pitchFamily="34" charset="-120"/>
              </a:rPr>
              <a:t>cordon, puis éviction des pods gérés par un contrôleur</a:t>
            </a:r>
            <a:endParaRPr lang="en-US" sz="1200" dirty="0"/>
          </a:p>
        </p:txBody>
      </p:sp>
      <p:pic>
        <p:nvPicPr>
          <p:cNvPr id="11" name="Image 1" descr="arrow-right">    </p:cNvPr>
          <p:cNvPicPr>
            <a:picLocks noChangeAspect="1"/>
          </p:cNvPicPr>
          <p:nvPr/>
        </p:nvPicPr>
        <p:blipFill>
          <a:blip r:embed="rId2"/>
          <a:srcRect l="0" r="0" t="0" b="0"/>
          <a:stretch/>
        </p:blipFill>
        <p:spPr>
          <a:xfrm>
            <a:off x="8053176" y="1936204"/>
            <a:ext cx="279400" cy="139700"/>
          </a:xfrm>
          <a:prstGeom prst="rect">
            <a:avLst/>
          </a:prstGeom>
        </p:spPr>
      </p:pic>
      <p:sp>
        <p:nvSpPr>
          <p:cNvPr id="12" name="Shape 8"/>
          <p:cNvSpPr/>
          <p:nvPr/>
        </p:nvSpPr>
        <p:spPr>
          <a:xfrm>
            <a:off x="8437351" y="1637655"/>
            <a:ext cx="2938674" cy="736812"/>
          </a:xfrm>
          <a:prstGeom prst="roundRect">
            <a:avLst>
              <a:gd name="adj" fmla="val 13358"/>
            </a:avLst>
          </a:prstGeom>
          <a:solidFill>
            <a:srgbClr val="FDFDFF"/>
          </a:solidFill>
          <a:ln w="6350">
            <a:solidFill>
              <a:srgbClr val="E1DFEE"/>
            </a:solidFill>
            <a:prstDash val="solid"/>
          </a:ln>
        </p:spPr>
      </p:sp>
      <p:sp>
        <p:nvSpPr>
          <p:cNvPr id="13" name="Text 9"/>
          <p:cNvSpPr/>
          <p:nvPr/>
        </p:nvSpPr>
        <p:spPr>
          <a:xfrm>
            <a:off x="8606367" y="1768574"/>
            <a:ext cx="26786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uncordon</a:t>
            </a:r>
            <a:endParaRPr lang="en-US" sz="1300" dirty="0"/>
          </a:p>
        </p:txBody>
      </p:sp>
      <p:sp>
        <p:nvSpPr>
          <p:cNvPr id="14" name="Text 10"/>
          <p:cNvSpPr/>
          <p:nvPr/>
        </p:nvSpPr>
        <p:spPr>
          <a:xfrm>
            <a:off x="8606367" y="2037804"/>
            <a:ext cx="2678662"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remet le nœud en service</a:t>
            </a:r>
            <a:endParaRPr lang="en-US" sz="1200" dirty="0"/>
          </a:p>
        </p:txBody>
      </p:sp>
      <p:sp>
        <p:nvSpPr>
          <p:cNvPr id="15" name="Text 11"/>
          <p:cNvSpPr/>
          <p:nvPr/>
        </p:nvSpPr>
        <p:spPr>
          <a:xfrm>
            <a:off x="812800" y="2671018"/>
            <a:ext cx="656666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OPTIONS DE DRAIN</a:t>
            </a:r>
            <a:endParaRPr lang="en-US" sz="1200" dirty="0"/>
          </a:p>
        </p:txBody>
      </p:sp>
      <p:sp>
        <p:nvSpPr>
          <p:cNvPr id="16" name="Shape 12"/>
          <p:cNvSpPr/>
          <p:nvPr/>
        </p:nvSpPr>
        <p:spPr>
          <a:xfrm>
            <a:off x="812800" y="3215964"/>
            <a:ext cx="6375400" cy="0"/>
          </a:xfrm>
          <a:prstGeom prst="line">
            <a:avLst/>
          </a:prstGeom>
          <a:noFill/>
          <a:ln w="6350">
            <a:solidFill>
              <a:srgbClr val="E1DFEE"/>
            </a:solidFill>
            <a:prstDash val="solid"/>
          </a:ln>
        </p:spPr>
      </p:sp>
      <p:sp>
        <p:nvSpPr>
          <p:cNvPr id="17" name="Text 13"/>
          <p:cNvSpPr/>
          <p:nvPr/>
        </p:nvSpPr>
        <p:spPr>
          <a:xfrm>
            <a:off x="812800" y="2947888"/>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--ignore-daemonsets</a:t>
            </a:r>
            <a:endParaRPr lang="en-US" sz="1200" dirty="0"/>
          </a:p>
        </p:txBody>
      </p:sp>
      <p:sp>
        <p:nvSpPr>
          <p:cNvPr id="18" name="Text 14"/>
          <p:cNvSpPr/>
          <p:nvPr/>
        </p:nvSpPr>
        <p:spPr>
          <a:xfrm>
            <a:off x="3086100" y="2951708"/>
            <a:ext cx="4225163"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ces pods reviendraient aussitôt</a:t>
            </a:r>
            <a:endParaRPr lang="en-US" sz="1200" dirty="0"/>
          </a:p>
        </p:txBody>
      </p:sp>
      <p:sp>
        <p:nvSpPr>
          <p:cNvPr id="19" name="Shape 15"/>
          <p:cNvSpPr/>
          <p:nvPr/>
        </p:nvSpPr>
        <p:spPr>
          <a:xfrm>
            <a:off x="812800" y="3550728"/>
            <a:ext cx="6375400" cy="0"/>
          </a:xfrm>
          <a:prstGeom prst="line">
            <a:avLst/>
          </a:prstGeom>
          <a:noFill/>
          <a:ln w="6350">
            <a:solidFill>
              <a:srgbClr val="E1DFEE"/>
            </a:solidFill>
            <a:prstDash val="solid"/>
          </a:ln>
        </p:spPr>
      </p:sp>
      <p:sp>
        <p:nvSpPr>
          <p:cNvPr id="20" name="Text 16"/>
          <p:cNvSpPr/>
          <p:nvPr/>
        </p:nvSpPr>
        <p:spPr>
          <a:xfrm>
            <a:off x="812800" y="3282652"/>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--delete-emptydir-data</a:t>
            </a:r>
            <a:endParaRPr lang="en-US" sz="1200" dirty="0"/>
          </a:p>
        </p:txBody>
      </p:sp>
      <p:sp>
        <p:nvSpPr>
          <p:cNvPr id="21" name="Text 17"/>
          <p:cNvSpPr/>
          <p:nvPr/>
        </p:nvSpPr>
        <p:spPr>
          <a:xfrm>
            <a:off x="3086100" y="3286423"/>
            <a:ext cx="4225163"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accepte de perdre les volumes emptyDir</a:t>
            </a:r>
            <a:endParaRPr lang="en-US" sz="1200" dirty="0"/>
          </a:p>
        </p:txBody>
      </p:sp>
      <p:sp>
        <p:nvSpPr>
          <p:cNvPr id="22" name="Shape 18"/>
          <p:cNvSpPr/>
          <p:nvPr/>
        </p:nvSpPr>
        <p:spPr>
          <a:xfrm>
            <a:off x="812800" y="3885443"/>
            <a:ext cx="6375400" cy="0"/>
          </a:xfrm>
          <a:prstGeom prst="line">
            <a:avLst/>
          </a:prstGeom>
          <a:noFill/>
          <a:ln w="6350">
            <a:solidFill>
              <a:srgbClr val="E1DFEE"/>
            </a:solidFill>
            <a:prstDash val="solid"/>
          </a:ln>
        </p:spPr>
      </p:sp>
      <p:sp>
        <p:nvSpPr>
          <p:cNvPr id="23" name="Text 19"/>
          <p:cNvSpPr/>
          <p:nvPr/>
        </p:nvSpPr>
        <p:spPr>
          <a:xfrm>
            <a:off x="812800" y="3617367"/>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--force</a:t>
            </a:r>
            <a:endParaRPr lang="en-US" sz="1200" dirty="0"/>
          </a:p>
        </p:txBody>
      </p:sp>
      <p:sp>
        <p:nvSpPr>
          <p:cNvPr id="24" name="Text 20"/>
          <p:cNvSpPr/>
          <p:nvPr/>
        </p:nvSpPr>
        <p:spPr>
          <a:xfrm>
            <a:off x="3086100" y="3621187"/>
            <a:ext cx="4225163"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évince aussi les pods sans contrôleur, recréés nulle part</a:t>
            </a:r>
            <a:endParaRPr lang="en-US" sz="1200" dirty="0"/>
          </a:p>
        </p:txBody>
      </p:sp>
      <p:sp>
        <p:nvSpPr>
          <p:cNvPr id="25" name="Text 21"/>
          <p:cNvSpPr/>
          <p:nvPr/>
        </p:nvSpPr>
        <p:spPr>
          <a:xfrm>
            <a:off x="812800" y="3952131"/>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--timeout=5m</a:t>
            </a:r>
            <a:endParaRPr lang="en-US" sz="1200" dirty="0"/>
          </a:p>
        </p:txBody>
      </p:sp>
      <p:sp>
        <p:nvSpPr>
          <p:cNvPr id="26" name="Text 22"/>
          <p:cNvSpPr/>
          <p:nvPr/>
        </p:nvSpPr>
        <p:spPr>
          <a:xfrm>
            <a:off x="3086100" y="3955951"/>
            <a:ext cx="4225163"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abandonne si l'éviction traîne</a:t>
            </a:r>
            <a:endParaRPr lang="en-US" sz="1200" dirty="0"/>
          </a:p>
        </p:txBody>
      </p:sp>
      <p:sp>
        <p:nvSpPr>
          <p:cNvPr id="27" name="Text 23"/>
          <p:cNvSpPr/>
          <p:nvPr/>
        </p:nvSpPr>
        <p:spPr>
          <a:xfrm>
            <a:off x="812800" y="5342880"/>
            <a:ext cx="6629400"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0748"/>
                </a:solidFill>
                <a:latin typeface="IBM Plex Sans" pitchFamily="34" charset="0"/>
                <a:ea typeface="IBM Plex Sans" pitchFamily="34" charset="-122"/>
                <a:cs typeface="IBM Plex Sans" pitchFamily="34" charset="-120"/>
              </a:rPr>
              <a:t>Procédure type :</a:t>
            </a:r>
            <a:r>
              <a:rPr lang="en-US" sz="1250" dirty="0">
                <a:solidFill>
                  <a:srgbClr val="0B0748"/>
                </a:solidFill>
                <a:latin typeface="IBM Plex Sans" pitchFamily="34" charset="0"/>
                <a:ea typeface="IBM Plex Sans" pitchFamily="34" charset="-122"/>
                <a:cs typeface="IBM Plex Sans" pitchFamily="34" charset="-120"/>
              </a:rPr>
              <a:t> drain → intervention → vérifier Ready → uncordon. Un nœud à la fois.</a:t>
            </a:r>
            <a:endParaRPr lang="en-US" sz="1250" dirty="0"/>
          </a:p>
        </p:txBody>
      </p:sp>
      <p:sp>
        <p:nvSpPr>
          <p:cNvPr id="28" name="Text 24"/>
          <p:cNvSpPr/>
          <p:nvPr/>
        </p:nvSpPr>
        <p:spPr>
          <a:xfrm>
            <a:off x="812800" y="5628630"/>
            <a:ext cx="65666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Retirer un worker : drain, kubectl delete node, puis kubeadm reset -f sur le nœud.</a:t>
            </a:r>
            <a:endParaRPr lang="en-US" sz="1200" dirty="0"/>
          </a:p>
        </p:txBody>
      </p:sp>
      <p:sp>
        <p:nvSpPr>
          <p:cNvPr id="29" name="Text 25"/>
          <p:cNvSpPr/>
          <p:nvPr/>
        </p:nvSpPr>
        <p:spPr>
          <a:xfrm>
            <a:off x="7442200" y="2671018"/>
            <a:ext cx="40551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PODDISRUPTIONBUDGET</a:t>
            </a:r>
            <a:endParaRPr lang="en-US" sz="1200" dirty="0"/>
          </a:p>
        </p:txBody>
      </p:sp>
      <p:sp>
        <p:nvSpPr>
          <p:cNvPr id="30" name="Text 26"/>
          <p:cNvSpPr/>
          <p:nvPr/>
        </p:nvSpPr>
        <p:spPr>
          <a:xfrm>
            <a:off x="7442200" y="2960588"/>
            <a:ext cx="3937000" cy="2268220"/>
          </a:xfrm>
          <a:prstGeom prst="roundRect">
            <a:avLst>
              <a:gd name="adj" fmla="val 4479"/>
            </a:avLst>
          </a:prstGeom>
          <a:solidFill>
            <a:srgbClr val="0B0748"/>
          </a:solidFill>
          <a:ln/>
        </p:spPr>
        <p:txBody>
          <a:bodyPr wrap="none" lIns="148042" tIns="109942" rIns="40600" bIns="84542" rtlCol="0" anchor="t">
            <a:normAutofit/>
          </a:bodyPr>
          <a:lstStyle/>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apiVersion: policy/v1</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kind: PodDisruptionBudget</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metadata:</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name: podinfo-pdb</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minAvailable: 2</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selector:</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matchLabels: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app: podinfo</a:t>
            </a:r>
            <a:endParaRPr lang="en-US" sz="1200" dirty="0"/>
          </a:p>
        </p:txBody>
      </p:sp>
      <p:sp>
        <p:nvSpPr>
          <p:cNvPr id="31" name="Text 27"/>
          <p:cNvSpPr/>
          <p:nvPr/>
        </p:nvSpPr>
        <p:spPr>
          <a:xfrm>
            <a:off x="7442200" y="5304979"/>
            <a:ext cx="4055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drain attend plutôt que de descendre sous le minimum.</a:t>
            </a:r>
            <a:endParaRPr lang="en-US" sz="1200" dirty="0"/>
          </a:p>
        </p:txBody>
      </p:sp>
      <p:pic>
        <p:nvPicPr>
          <p:cNvPr id="32" name="Image 2" descr="preencoded.png">    </p:cNvPr>
          <p:cNvPicPr>
            <a:picLocks noChangeAspect="1"/>
          </p:cNvPicPr>
          <p:nvPr/>
        </p:nvPicPr>
        <p:blipFill>
          <a:blip r:embed="rId3"/>
          <a:srcRect l="0" r="0" t="0" b="0"/>
          <a:stretch/>
        </p:blipFill>
        <p:spPr>
          <a:xfrm>
            <a:off x="812800" y="6299200"/>
            <a:ext cx="152400" cy="152400"/>
          </a:xfrm>
          <a:prstGeom prst="rect">
            <a:avLst/>
          </a:prstGeom>
        </p:spPr>
      </p:pic>
      <p:sp>
        <p:nvSpPr>
          <p:cNvPr id="33" name="Text 2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4" name="Image 3" descr="Parcours : module 5 sur 16">    </p:cNvPr>
          <p:cNvPicPr>
            <a:picLocks noChangeAspect="1"/>
          </p:cNvPicPr>
          <p:nvPr/>
        </p:nvPicPr>
        <p:blipFill>
          <a:blip r:embed="rId4"/>
          <a:srcRect l="0" r="0" t="0" b="0"/>
          <a:stretch/>
        </p:blipFill>
        <p:spPr>
          <a:xfrm>
            <a:off x="9207500" y="6299200"/>
            <a:ext cx="2171700" cy="1524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BF0E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TRAVAUX PRATIQUES · À FAIRE MAINTENANT</a:t>
            </a:r>
            <a:endParaRPr lang="en-US" sz="1200" dirty="0"/>
          </a:p>
        </p:txBody>
      </p:sp>
      <p:sp>
        <p:nvSpPr>
          <p:cNvPr id="3" name="Text 1"/>
          <p:cNvSpPr/>
          <p:nvPr/>
        </p:nvSpPr>
        <p:spPr>
          <a:xfrm>
            <a:off x="812800" y="1127770"/>
            <a:ext cx="3008630" cy="1054100"/>
          </a:xfrm>
          <a:prstGeom prst="rect">
            <a:avLst/>
          </a:prstGeom>
          <a:noFill/>
          <a:ln/>
        </p:spPr>
        <p:txBody>
          <a:bodyPr wrap="square" lIns="0" tIns="0" rIns="0" bIns="0" rtlCol="0" anchor="t">
            <a:normAutofit/>
          </a:bodyPr>
          <a:lstStyle/>
          <a:p>
            <a:pPr algn="l" indent="0" marL="0">
              <a:lnSpc>
                <a:spcPts val="8100"/>
              </a:lnSpc>
              <a:buNone/>
            </a:pPr>
            <a:r>
              <a:rPr lang="en-US" sz="9000" b="1" spc="-300" kern="0" dirty="0">
                <a:solidFill>
                  <a:srgbClr val="E25A2C"/>
                </a:solidFill>
                <a:latin typeface="Sora" pitchFamily="34" charset="0"/>
                <a:ea typeface="Sora" pitchFamily="34" charset="-122"/>
                <a:cs typeface="Sora" pitchFamily="34" charset="-120"/>
              </a:rPr>
              <a:t>TP3</a:t>
            </a:r>
            <a:endParaRPr lang="en-US" sz="9000" dirty="0"/>
          </a:p>
        </p:txBody>
      </p:sp>
      <p:pic>
        <p:nvPicPr>
          <p:cNvPr id="4" name="Image 0" descr="Clock">    </p:cNvPr>
          <p:cNvPicPr>
            <a:picLocks noChangeAspect="1"/>
          </p:cNvPicPr>
          <p:nvPr/>
        </p:nvPicPr>
        <p:blipFill>
          <a:blip r:embed="rId1"/>
          <a:srcRect l="0" r="0" t="0" b="0"/>
          <a:stretch/>
        </p:blipFill>
        <p:spPr>
          <a:xfrm>
            <a:off x="812800" y="2467620"/>
            <a:ext cx="254000" cy="254000"/>
          </a:xfrm>
          <a:prstGeom prst="rect">
            <a:avLst/>
          </a:prstGeom>
        </p:spPr>
      </p:pic>
      <p:sp>
        <p:nvSpPr>
          <p:cNvPr id="5" name="Text 2"/>
          <p:cNvSpPr/>
          <p:nvPr/>
        </p:nvSpPr>
        <p:spPr>
          <a:xfrm>
            <a:off x="1181100" y="2461270"/>
            <a:ext cx="1477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Jour 1 · 14:35</a:t>
            </a:r>
            <a:endParaRPr lang="en-US" sz="1500" dirty="0"/>
          </a:p>
        </p:txBody>
      </p:sp>
      <p:pic>
        <p:nvPicPr>
          <p:cNvPr id="6" name="Image 1" descr="Activity">    </p:cNvPr>
          <p:cNvPicPr>
            <a:picLocks noChangeAspect="1"/>
          </p:cNvPicPr>
          <p:nvPr/>
        </p:nvPicPr>
        <p:blipFill>
          <a:blip r:embed="rId2"/>
          <a:srcRect l="0" r="0" t="0" b="0"/>
          <a:stretch/>
        </p:blipFill>
        <p:spPr>
          <a:xfrm>
            <a:off x="812800" y="2835920"/>
            <a:ext cx="254000" cy="254000"/>
          </a:xfrm>
          <a:prstGeom prst="rect">
            <a:avLst/>
          </a:prstGeom>
        </p:spPr>
      </p:pic>
      <p:sp>
        <p:nvSpPr>
          <p:cNvPr id="7" name="Text 3"/>
          <p:cNvSpPr/>
          <p:nvPr/>
        </p:nvSpPr>
        <p:spPr>
          <a:xfrm>
            <a:off x="1181100" y="2829570"/>
            <a:ext cx="11889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60 minutes</a:t>
            </a:r>
            <a:endParaRPr lang="en-US" sz="1500" dirty="0"/>
          </a:p>
        </p:txBody>
      </p:sp>
      <p:pic>
        <p:nvPicPr>
          <p:cNvPr id="8" name="Image 2" descr="Book">    </p:cNvPr>
          <p:cNvPicPr>
            <a:picLocks noChangeAspect="1"/>
          </p:cNvPicPr>
          <p:nvPr/>
        </p:nvPicPr>
        <p:blipFill>
          <a:blip r:embed="rId3"/>
          <a:srcRect l="0" r="0" t="0" b="0"/>
          <a:stretch/>
        </p:blipFill>
        <p:spPr>
          <a:xfrm>
            <a:off x="812800" y="3197870"/>
            <a:ext cx="254000" cy="254000"/>
          </a:xfrm>
          <a:prstGeom prst="rect">
            <a:avLst/>
          </a:prstGeom>
        </p:spPr>
      </p:pic>
      <p:sp>
        <p:nvSpPr>
          <p:cNvPr id="9" name="Text 4"/>
          <p:cNvSpPr/>
          <p:nvPr/>
        </p:nvSpPr>
        <p:spPr>
          <a:xfrm>
            <a:off x="1181100" y="3200400"/>
            <a:ext cx="171411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Sections 5.1 à 5.6</a:t>
            </a:r>
            <a:endParaRPr lang="en-US" sz="1400" dirty="0"/>
          </a:p>
        </p:txBody>
      </p:sp>
      <p:sp>
        <p:nvSpPr>
          <p:cNvPr id="10" name="Text 5"/>
          <p:cNvSpPr/>
          <p:nvPr>
            <p:ph type="title"/>
          </p:nvPr>
        </p:nvSpPr>
        <p:spPr>
          <a:xfrm>
            <a:off x="4191000" y="1127770"/>
            <a:ext cx="7403846"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Gérer les nœuds</a:t>
            </a:r>
            <a:endParaRPr lang="en-US" sz="2800" dirty="0"/>
          </a:p>
        </p:txBody>
      </p:sp>
      <p:sp>
        <p:nvSpPr>
          <p:cNvPr id="11" name="Text 6"/>
          <p:cNvSpPr/>
          <p:nvPr/>
        </p:nvSpPr>
        <p:spPr>
          <a:xfrm>
            <a:off x="4191000" y="1722140"/>
            <a:ext cx="7403846"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F3C6B"/>
                </a:solidFill>
                <a:latin typeface="IBM Plex Sans" pitchFamily="34" charset="0"/>
                <a:ea typeface="IBM Plex Sans" pitchFamily="34" charset="-122"/>
                <a:cs typeface="IBM Plex Sans" pitchFamily="34" charset="-120"/>
              </a:rPr>
              <a:t>Étiqueter les nœuds, poser puis retirer une taint, vider et remettre en service un worker, puis déployer et exposer un premier nginx.</a:t>
            </a:r>
            <a:endParaRPr lang="en-US" sz="1600" dirty="0"/>
          </a:p>
        </p:txBody>
      </p:sp>
      <p:sp>
        <p:nvSpPr>
          <p:cNvPr id="12" name="Shape 7"/>
          <p:cNvSpPr/>
          <p:nvPr/>
        </p:nvSpPr>
        <p:spPr>
          <a:xfrm>
            <a:off x="4194175" y="3890417"/>
            <a:ext cx="7181850" cy="1211792"/>
          </a:xfrm>
          <a:prstGeom prst="roundRect">
            <a:avLst>
              <a:gd name="adj" fmla="val 10218"/>
            </a:avLst>
          </a:prstGeom>
          <a:solidFill>
            <a:srgbClr val="FDFDFF"/>
          </a:solidFill>
          <a:ln w="6350">
            <a:solidFill>
              <a:srgbClr val="EBDDD2"/>
            </a:solidFill>
            <a:prstDash val="solid"/>
          </a:ln>
        </p:spPr>
      </p:sp>
      <p:pic>
        <p:nvPicPr>
          <p:cNvPr id="13" name="Image 3" descr="CheckCircle">    </p:cNvPr>
          <p:cNvPicPr>
            <a:picLocks noChangeAspect="1"/>
          </p:cNvPicPr>
          <p:nvPr/>
        </p:nvPicPr>
        <p:blipFill>
          <a:blip r:embed="rId4"/>
          <a:srcRect l="0" r="0" t="0" b="0"/>
          <a:stretch/>
        </p:blipFill>
        <p:spPr>
          <a:xfrm>
            <a:off x="4452091" y="4097536"/>
            <a:ext cx="355600" cy="355600"/>
          </a:xfrm>
          <a:prstGeom prst="rect">
            <a:avLst/>
          </a:prstGeom>
        </p:spPr>
      </p:pic>
      <p:sp>
        <p:nvSpPr>
          <p:cNvPr id="14" name="Text 8"/>
          <p:cNvSpPr/>
          <p:nvPr/>
        </p:nvSpPr>
        <p:spPr>
          <a:xfrm>
            <a:off x="4985491" y="4097536"/>
            <a:ext cx="63165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POINT DE CONTRÔLE</a:t>
            </a:r>
            <a:endParaRPr lang="en-US" sz="1200" dirty="0"/>
          </a:p>
        </p:txBody>
      </p:sp>
      <p:sp>
        <p:nvSpPr>
          <p:cNvPr id="15" name="Text 9"/>
          <p:cNvSpPr/>
          <p:nvPr/>
        </p:nvSpPr>
        <p:spPr>
          <a:xfrm>
            <a:off x="4985491" y="4361706"/>
            <a:ext cx="631659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La page nginx s'affiche via le NodePort ; k8s-w2 est de nouveau planifiable.</a:t>
            </a:r>
            <a:endParaRPr lang="en-US" sz="1500" dirty="0"/>
          </a:p>
        </p:txBody>
      </p:sp>
      <p:sp>
        <p:nvSpPr>
          <p:cNvPr id="16" name="Shape 10"/>
          <p:cNvSpPr/>
          <p:nvPr/>
        </p:nvSpPr>
        <p:spPr>
          <a:xfrm>
            <a:off x="4191000" y="5308600"/>
            <a:ext cx="7188200" cy="533400"/>
          </a:xfrm>
          <a:prstGeom prst="roundRect">
            <a:avLst>
              <a:gd name="adj" fmla="val 23810"/>
            </a:avLst>
          </a:prstGeom>
          <a:solidFill>
            <a:srgbClr val="0B0748"/>
          </a:solidFill>
          <a:ln/>
        </p:spPr>
      </p:sp>
      <p:pic>
        <p:nvPicPr>
          <p:cNvPr id="17" name="Image 4" descr="Star">    </p:cNvPr>
          <p:cNvPicPr>
            <a:picLocks noChangeAspect="1"/>
          </p:cNvPicPr>
          <p:nvPr/>
        </p:nvPicPr>
        <p:blipFill>
          <a:blip r:embed="rId5"/>
          <a:srcRect l="0" r="0" t="0" b="0"/>
          <a:stretch/>
        </p:blipFill>
        <p:spPr>
          <a:xfrm>
            <a:off x="4394200" y="5448300"/>
            <a:ext cx="254000" cy="254000"/>
          </a:xfrm>
          <a:prstGeom prst="rect">
            <a:avLst/>
          </a:prstGeom>
        </p:spPr>
      </p:pic>
      <p:sp>
        <p:nvSpPr>
          <p:cNvPr id="18" name="Text 11"/>
          <p:cNvSpPr/>
          <p:nvPr/>
        </p:nvSpPr>
        <p:spPr>
          <a:xfrm>
            <a:off x="4775200" y="5459710"/>
            <a:ext cx="659282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Fin du jour 1 à 15:35 : quiz de 10 questions, débrief et snapshot des VM.</a:t>
            </a:r>
            <a:endParaRPr lang="en-US" sz="1300" dirty="0"/>
          </a:p>
        </p:txBody>
      </p:sp>
      <p:pic>
        <p:nvPicPr>
          <p:cNvPr id="19" name="Image 5" descr="preencoded.png">    </p:cNvPr>
          <p:cNvPicPr>
            <a:picLocks noChangeAspect="1"/>
          </p:cNvPicPr>
          <p:nvPr/>
        </p:nvPicPr>
        <p:blipFill>
          <a:blip r:embed="rId6"/>
          <a:srcRect l="0" r="0" t="0" b="0"/>
          <a:stretch/>
        </p:blipFill>
        <p:spPr>
          <a:xfrm>
            <a:off x="812800" y="6299200"/>
            <a:ext cx="152400" cy="152400"/>
          </a:xfrm>
          <a:prstGeom prst="rect">
            <a:avLst/>
          </a:prstGeom>
        </p:spPr>
      </p:pic>
      <p:sp>
        <p:nvSpPr>
          <p:cNvPr id="20" name="Text 12"/>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1" name="Image 6" descr="Parcours : module 5 sur 16">    </p:cNvPr>
          <p:cNvPicPr>
            <a:picLocks noChangeAspect="1"/>
          </p:cNvPicPr>
          <p:nvPr/>
        </p:nvPicPr>
        <p:blipFill>
          <a:blip r:embed="rId7"/>
          <a:srcRect l="0" r="0" t="0" b="0"/>
          <a:stretch/>
        </p:blipFill>
        <p:spPr>
          <a:xfrm>
            <a:off x="9207500" y="6299200"/>
            <a:ext cx="2171700" cy="1524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05 · BILAN</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40"/>
            <a:ext cx="6138333"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40"/>
            <a:ext cx="228600" cy="228600"/>
          </a:xfrm>
          <a:prstGeom prst="rect">
            <a:avLst/>
          </a:prstGeom>
        </p:spPr>
      </p:pic>
      <p:sp>
        <p:nvSpPr>
          <p:cNvPr id="6" name="Text 3"/>
          <p:cNvSpPr/>
          <p:nvPr/>
        </p:nvSpPr>
        <p:spPr>
          <a:xfrm>
            <a:off x="1511300" y="1874540"/>
            <a:ext cx="526292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kubectl describe node montre conditions, capacité, ressources réservées et événements : le premier réflexe face à un nœud suspect.</a:t>
            </a:r>
            <a:endParaRPr lang="en-US" sz="1400" dirty="0"/>
          </a:p>
        </p:txBody>
      </p:sp>
      <p:pic>
        <p:nvPicPr>
          <p:cNvPr id="7" name="Image 1" descr="Check">    </p:cNvPr>
          <p:cNvPicPr>
            <a:picLocks noChangeAspect="1"/>
          </p:cNvPicPr>
          <p:nvPr/>
        </p:nvPicPr>
        <p:blipFill>
          <a:blip r:embed="rId2"/>
          <a:srcRect l="0" r="0" t="0" b="0"/>
          <a:stretch/>
        </p:blipFill>
        <p:spPr>
          <a:xfrm>
            <a:off x="1143000" y="2786360"/>
            <a:ext cx="228600" cy="228600"/>
          </a:xfrm>
          <a:prstGeom prst="rect">
            <a:avLst/>
          </a:prstGeom>
        </p:spPr>
      </p:pic>
      <p:sp>
        <p:nvSpPr>
          <p:cNvPr id="8" name="Text 4"/>
          <p:cNvSpPr/>
          <p:nvPr/>
        </p:nvSpPr>
        <p:spPr>
          <a:xfrm>
            <a:off x="1511300" y="2786360"/>
            <a:ext cx="52629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nodeSelector et affinités attirent les pods ; les taints les repoussent ; les tolérances les autorisent.</a:t>
            </a:r>
            <a:endParaRPr lang="en-US" sz="1400" dirty="0"/>
          </a:p>
        </p:txBody>
      </p:sp>
      <p:pic>
        <p:nvPicPr>
          <p:cNvPr id="9" name="Image 2" descr="Check">    </p:cNvPr>
          <p:cNvPicPr>
            <a:picLocks noChangeAspect="1"/>
          </p:cNvPicPr>
          <p:nvPr/>
        </p:nvPicPr>
        <p:blipFill>
          <a:blip r:embed="rId3"/>
          <a:srcRect l="0" r="0" t="0" b="0"/>
          <a:stretch/>
        </p:blipFill>
        <p:spPr>
          <a:xfrm>
            <a:off x="1143000" y="3449340"/>
            <a:ext cx="228600" cy="228600"/>
          </a:xfrm>
          <a:prstGeom prst="rect">
            <a:avLst/>
          </a:prstGeom>
        </p:spPr>
      </p:pic>
      <p:sp>
        <p:nvSpPr>
          <p:cNvPr id="10" name="Text 5"/>
          <p:cNvSpPr/>
          <p:nvPr/>
        </p:nvSpPr>
        <p:spPr>
          <a:xfrm>
            <a:off x="1511300" y="3449340"/>
            <a:ext cx="52629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Avant toute maintenance : drain, puis uncordon. Un PodDisruptionBudget protège les applications critiques.</a:t>
            </a:r>
            <a:endParaRPr lang="en-US" sz="1400" dirty="0"/>
          </a:p>
        </p:txBody>
      </p:sp>
      <p:pic>
        <p:nvPicPr>
          <p:cNvPr id="11" name="Image 3" descr="Check">    </p:cNvPr>
          <p:cNvPicPr>
            <a:picLocks noChangeAspect="1"/>
          </p:cNvPicPr>
          <p:nvPr/>
        </p:nvPicPr>
        <p:blipFill>
          <a:blip r:embed="rId4"/>
          <a:srcRect l="0" r="0" t="0" b="0"/>
          <a:stretch/>
        </p:blipFill>
        <p:spPr>
          <a:xfrm>
            <a:off x="1143000" y="4112270"/>
            <a:ext cx="228600" cy="228600"/>
          </a:xfrm>
          <a:prstGeom prst="rect">
            <a:avLst/>
          </a:prstGeom>
        </p:spPr>
      </p:pic>
      <p:sp>
        <p:nvSpPr>
          <p:cNvPr id="12" name="Text 6"/>
          <p:cNvSpPr/>
          <p:nvPr/>
        </p:nvSpPr>
        <p:spPr>
          <a:xfrm>
            <a:off x="1511300" y="4112270"/>
            <a:ext cx="52629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Une panne de nœud fait évincer ses pods au bout d'environ 5 minutes : prévoyez au moins 2 réplicas répartis.</a:t>
            </a:r>
            <a:endParaRPr lang="en-US" sz="1400" dirty="0"/>
          </a:p>
        </p:txBody>
      </p:sp>
      <p:sp>
        <p:nvSpPr>
          <p:cNvPr id="13" name="Shape 7"/>
          <p:cNvSpPr/>
          <p:nvPr/>
        </p:nvSpPr>
        <p:spPr>
          <a:xfrm>
            <a:off x="7157508" y="1598315"/>
            <a:ext cx="4218517" cy="4240530"/>
          </a:xfrm>
          <a:prstGeom prst="roundRect">
            <a:avLst>
              <a:gd name="adj" fmla="val 3537"/>
            </a:avLst>
          </a:prstGeom>
          <a:solidFill>
            <a:srgbClr val="FDFDFF"/>
          </a:solidFill>
          <a:ln w="6350">
            <a:solidFill>
              <a:srgbClr val="E1DFEE"/>
            </a:solidFill>
            <a:prstDash val="solid"/>
          </a:ln>
        </p:spPr>
      </p:sp>
      <p:sp>
        <p:nvSpPr>
          <p:cNvPr id="14" name="Text 8"/>
          <p:cNvSpPr/>
          <p:nvPr/>
        </p:nvSpPr>
        <p:spPr>
          <a:xfrm>
            <a:off x="7440824" y="1856234"/>
            <a:ext cx="376144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5" name="Text 9"/>
          <p:cNvSpPr/>
          <p:nvPr/>
        </p:nvSpPr>
        <p:spPr>
          <a:xfrm>
            <a:off x="7440824" y="2196554"/>
            <a:ext cx="2286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1</a:t>
            </a:r>
            <a:endParaRPr lang="en-US" sz="1300" dirty="0"/>
          </a:p>
        </p:txBody>
      </p:sp>
      <p:sp>
        <p:nvSpPr>
          <p:cNvPr id="16" name="Text 10"/>
          <p:cNvSpPr/>
          <p:nvPr/>
        </p:nvSpPr>
        <p:spPr>
          <a:xfrm>
            <a:off x="7720224" y="2196554"/>
            <a:ext cx="347365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Quelle différence entre cordon et drain ?</a:t>
            </a:r>
            <a:endParaRPr lang="en-US" sz="1300" dirty="0"/>
          </a:p>
        </p:txBody>
      </p:sp>
      <p:sp>
        <p:nvSpPr>
          <p:cNvPr id="17" name="Text 11"/>
          <p:cNvSpPr/>
          <p:nvPr/>
        </p:nvSpPr>
        <p:spPr>
          <a:xfrm>
            <a:off x="7440824" y="2554734"/>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2</a:t>
            </a:r>
            <a:endParaRPr lang="en-US" sz="1300" dirty="0"/>
          </a:p>
        </p:txBody>
      </p:sp>
      <p:sp>
        <p:nvSpPr>
          <p:cNvPr id="18" name="Text 12"/>
          <p:cNvSpPr/>
          <p:nvPr/>
        </p:nvSpPr>
        <p:spPr>
          <a:xfrm>
            <a:off x="7720224" y="2554734"/>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Pourquoi une tolérance seule ne suffit-elle pas à dédier un nœud à une application ?</a:t>
            </a:r>
            <a:endParaRPr lang="en-US" sz="1300" dirty="0"/>
          </a:p>
        </p:txBody>
      </p:sp>
      <p:sp>
        <p:nvSpPr>
          <p:cNvPr id="19" name="Text 13"/>
          <p:cNvSpPr/>
          <p:nvPr/>
        </p:nvSpPr>
        <p:spPr>
          <a:xfrm>
            <a:off x="7440824" y="3143994"/>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3</a:t>
            </a:r>
            <a:endParaRPr lang="en-US" sz="1300" dirty="0"/>
          </a:p>
        </p:txBody>
      </p:sp>
      <p:sp>
        <p:nvSpPr>
          <p:cNvPr id="20" name="Text 14"/>
          <p:cNvSpPr/>
          <p:nvPr/>
        </p:nvSpPr>
        <p:spPr>
          <a:xfrm>
            <a:off x="7720224" y="3143994"/>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3 réplicas, 2 workers : quelle règle pour qu'ils ne finissent pas tous sur le même nœud ?</a:t>
            </a:r>
            <a:endParaRPr lang="en-US" sz="1300" dirty="0"/>
          </a:p>
        </p:txBody>
      </p:sp>
      <p:sp>
        <p:nvSpPr>
          <p:cNvPr id="21" name="Text 15"/>
          <p:cNvSpPr/>
          <p:nvPr/>
        </p:nvSpPr>
        <p:spPr>
          <a:xfrm>
            <a:off x="7440824" y="3733254"/>
            <a:ext cx="22860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4</a:t>
            </a:r>
            <a:endParaRPr lang="en-US" sz="1300" dirty="0"/>
          </a:p>
        </p:txBody>
      </p:sp>
      <p:sp>
        <p:nvSpPr>
          <p:cNvPr id="22" name="Text 16"/>
          <p:cNvSpPr/>
          <p:nvPr/>
        </p:nvSpPr>
        <p:spPr>
          <a:xfrm>
            <a:off x="7720224" y="3733254"/>
            <a:ext cx="347365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Pourquoi les pods Calico tournent-ils sur le control plane, alors que vos applications n'y vont pas ?</a:t>
            </a:r>
            <a:endParaRPr lang="en-US" sz="1300" dirty="0"/>
          </a:p>
        </p:txBody>
      </p:sp>
      <p:pic>
        <p:nvPicPr>
          <p:cNvPr id="23"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24" name="Text 1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5" descr="Parcours : module 5 sur 16">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39243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JEUDI 15 OCTOBRE</a:t>
            </a:r>
            <a:endParaRPr lang="en-US" sz="1200" dirty="0"/>
          </a:p>
        </p:txBody>
      </p:sp>
      <p:sp>
        <p:nvSpPr>
          <p:cNvPr id="3" name="Text 1"/>
          <p:cNvSpPr/>
          <p:nvPr/>
        </p:nvSpPr>
        <p:spPr>
          <a:xfrm>
            <a:off x="812800" y="1000770"/>
            <a:ext cx="3924300" cy="930275"/>
          </a:xfrm>
          <a:prstGeom prst="rect">
            <a:avLst/>
          </a:prstGeom>
          <a:noFill/>
          <a:ln/>
        </p:spPr>
        <p:txBody>
          <a:bodyPr wrap="square" lIns="0" tIns="0" rIns="0" bIns="0" rtlCol="0" anchor="t">
            <a:normAutofit/>
          </a:bodyPr>
          <a:lstStyle/>
          <a:p>
            <a:pPr algn="l" indent="0" marL="0">
              <a:lnSpc>
                <a:spcPts val="7125"/>
              </a:lnSpc>
              <a:buNone/>
            </a:pPr>
            <a:r>
              <a:rPr lang="en-US" sz="7500" b="1" spc="-300" kern="0" dirty="0">
                <a:solidFill>
                  <a:srgbClr val="0B0748"/>
                </a:solidFill>
                <a:latin typeface="Sora" pitchFamily="34" charset="0"/>
                <a:ea typeface="Sora" pitchFamily="34" charset="-122"/>
                <a:cs typeface="Sora" pitchFamily="34" charset="-120"/>
              </a:rPr>
              <a:t>Jour 2</a:t>
            </a:r>
            <a:endParaRPr lang="en-US" sz="7500" dirty="0"/>
          </a:p>
        </p:txBody>
      </p:sp>
      <p:sp>
        <p:nvSpPr>
          <p:cNvPr id="4" name="Text 2"/>
          <p:cNvSpPr/>
          <p:nvPr>
            <p:ph type="title"/>
          </p:nvPr>
        </p:nvSpPr>
        <p:spPr>
          <a:xfrm>
            <a:off x="812800" y="2032645"/>
            <a:ext cx="3924300"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E25A2C"/>
                </a:solidFill>
                <a:latin typeface="Sora" pitchFamily="34" charset="0"/>
                <a:ea typeface="Sora" pitchFamily="34" charset="-122"/>
                <a:cs typeface="Sora" pitchFamily="34" charset="-120"/>
              </a:rPr>
              <a:t>Décrire et exploiter</a:t>
            </a:r>
            <a:endParaRPr lang="en-US" sz="2800" dirty="0"/>
          </a:p>
        </p:txBody>
      </p:sp>
      <p:sp>
        <p:nvSpPr>
          <p:cNvPr id="5" name="Text 3"/>
          <p:cNvSpPr/>
          <p:nvPr/>
        </p:nvSpPr>
        <p:spPr>
          <a:xfrm>
            <a:off x="812800" y="2550815"/>
            <a:ext cx="392430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Du manifeste YAML à l'application fil rouge : la décrire, la configurer, la mettre à jour, la dépanner.</a:t>
            </a:r>
            <a:endParaRPr lang="en-US" sz="1500" dirty="0"/>
          </a:p>
        </p:txBody>
      </p:sp>
      <p:sp>
        <p:nvSpPr>
          <p:cNvPr id="6" name="Shape 4"/>
          <p:cNvSpPr/>
          <p:nvPr/>
        </p:nvSpPr>
        <p:spPr>
          <a:xfrm>
            <a:off x="812800" y="4986040"/>
            <a:ext cx="3810000" cy="855980"/>
          </a:xfrm>
          <a:prstGeom prst="roundRect">
            <a:avLst>
              <a:gd name="adj" fmla="val 14837"/>
            </a:avLst>
          </a:prstGeom>
          <a:solidFill>
            <a:srgbClr val="0B0748"/>
          </a:solidFill>
          <a:ln/>
        </p:spPr>
      </p:sp>
      <p:sp>
        <p:nvSpPr>
          <p:cNvPr id="7" name="Text 5"/>
          <p:cNvSpPr/>
          <p:nvPr/>
        </p:nvSpPr>
        <p:spPr>
          <a:xfrm>
            <a:off x="1016000" y="5163840"/>
            <a:ext cx="35057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FIN DE JOURNÉE</a:t>
            </a:r>
            <a:endParaRPr lang="en-US" sz="1200" dirty="0"/>
          </a:p>
        </p:txBody>
      </p:sp>
      <p:sp>
        <p:nvSpPr>
          <p:cNvPr id="8" name="Text 6"/>
          <p:cNvSpPr/>
          <p:nvPr/>
        </p:nvSpPr>
        <p:spPr>
          <a:xfrm>
            <a:off x="1016000" y="5415260"/>
            <a:ext cx="350570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15:30 rattrapage, puis quiz à 15:45</a:t>
            </a:r>
            <a:endParaRPr lang="en-US" sz="1400" dirty="0"/>
          </a:p>
        </p:txBody>
      </p:sp>
      <p:sp>
        <p:nvSpPr>
          <p:cNvPr id="9" name="Shape 7"/>
          <p:cNvSpPr/>
          <p:nvPr/>
        </p:nvSpPr>
        <p:spPr>
          <a:xfrm>
            <a:off x="5181600" y="1540596"/>
            <a:ext cx="6197600" cy="0"/>
          </a:xfrm>
          <a:prstGeom prst="line">
            <a:avLst/>
          </a:prstGeom>
          <a:noFill/>
          <a:ln w="6350">
            <a:solidFill>
              <a:srgbClr val="E1DFEE"/>
            </a:solidFill>
            <a:prstDash val="solid"/>
          </a:ln>
        </p:spPr>
      </p:sp>
      <p:sp>
        <p:nvSpPr>
          <p:cNvPr id="10" name="Text 8"/>
          <p:cNvSpPr/>
          <p:nvPr/>
        </p:nvSpPr>
        <p:spPr>
          <a:xfrm>
            <a:off x="5334000" y="1198860"/>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06</a:t>
            </a:r>
            <a:endParaRPr lang="en-US" sz="1400" dirty="0"/>
          </a:p>
        </p:txBody>
      </p:sp>
      <p:sp>
        <p:nvSpPr>
          <p:cNvPr id="11" name="Text 9"/>
          <p:cNvSpPr/>
          <p:nvPr/>
        </p:nvSpPr>
        <p:spPr>
          <a:xfrm>
            <a:off x="5969000" y="1207790"/>
            <a:ext cx="541553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YAML et manifestes</a:t>
            </a:r>
            <a:endParaRPr lang="en-US" sz="1400" dirty="0"/>
          </a:p>
        </p:txBody>
      </p:sp>
      <p:sp>
        <p:nvSpPr>
          <p:cNvPr id="12" name="Shape 10"/>
          <p:cNvSpPr/>
          <p:nvPr/>
        </p:nvSpPr>
        <p:spPr>
          <a:xfrm>
            <a:off x="5181600" y="1594594"/>
            <a:ext cx="6197600" cy="426720"/>
          </a:xfrm>
          <a:prstGeom prst="roundRect">
            <a:avLst>
              <a:gd name="adj" fmla="val 20833"/>
            </a:avLst>
          </a:prstGeom>
          <a:solidFill>
            <a:srgbClr val="FBF0E8"/>
          </a:solidFill>
          <a:ln/>
        </p:spPr>
      </p:sp>
      <p:sp>
        <p:nvSpPr>
          <p:cNvPr id="13" name="Text 11"/>
          <p:cNvSpPr/>
          <p:nvPr/>
        </p:nvSpPr>
        <p:spPr>
          <a:xfrm>
            <a:off x="5334000" y="1692374"/>
            <a:ext cx="685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09:30</a:t>
            </a:r>
            <a:endParaRPr lang="en-US" sz="1300" dirty="0"/>
          </a:p>
        </p:txBody>
      </p:sp>
      <p:sp>
        <p:nvSpPr>
          <p:cNvPr id="14" name="Text 12"/>
          <p:cNvSpPr/>
          <p:nvPr/>
        </p:nvSpPr>
        <p:spPr>
          <a:xfrm>
            <a:off x="6096000" y="1683494"/>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21A"/>
                </a:solidFill>
                <a:latin typeface="Sora" pitchFamily="34" charset="0"/>
                <a:ea typeface="Sora" pitchFamily="34" charset="-122"/>
                <a:cs typeface="Sora" pitchFamily="34" charset="-120"/>
              </a:rPr>
              <a:t>TP4</a:t>
            </a:r>
            <a:endParaRPr lang="en-US" sz="1400" dirty="0"/>
          </a:p>
        </p:txBody>
      </p:sp>
      <p:sp>
        <p:nvSpPr>
          <p:cNvPr id="15" name="Text 13"/>
          <p:cNvSpPr/>
          <p:nvPr/>
        </p:nvSpPr>
        <p:spPr>
          <a:xfrm>
            <a:off x="6731000" y="1692374"/>
            <a:ext cx="4009000"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Premiers manifestes</a:t>
            </a:r>
            <a:endParaRPr lang="en-US" sz="1400" dirty="0"/>
          </a:p>
        </p:txBody>
      </p:sp>
      <p:sp>
        <p:nvSpPr>
          <p:cNvPr id="16" name="Text 14"/>
          <p:cNvSpPr/>
          <p:nvPr/>
        </p:nvSpPr>
        <p:spPr>
          <a:xfrm>
            <a:off x="10750232" y="1701254"/>
            <a:ext cx="5718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35 min</a:t>
            </a:r>
            <a:endParaRPr lang="en-US" sz="1200" dirty="0"/>
          </a:p>
        </p:txBody>
      </p:sp>
      <p:sp>
        <p:nvSpPr>
          <p:cNvPr id="17" name="Shape 15"/>
          <p:cNvSpPr/>
          <p:nvPr/>
        </p:nvSpPr>
        <p:spPr>
          <a:xfrm>
            <a:off x="5181600" y="2502770"/>
            <a:ext cx="6197600" cy="0"/>
          </a:xfrm>
          <a:prstGeom prst="line">
            <a:avLst/>
          </a:prstGeom>
          <a:noFill/>
          <a:ln w="6350">
            <a:solidFill>
              <a:srgbClr val="E1DFEE"/>
            </a:solidFill>
            <a:prstDash val="solid"/>
          </a:ln>
        </p:spPr>
      </p:sp>
      <p:sp>
        <p:nvSpPr>
          <p:cNvPr id="18" name="Text 16"/>
          <p:cNvSpPr/>
          <p:nvPr/>
        </p:nvSpPr>
        <p:spPr>
          <a:xfrm>
            <a:off x="5334000" y="2161034"/>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07</a:t>
            </a:r>
            <a:endParaRPr lang="en-US" sz="1400" dirty="0"/>
          </a:p>
        </p:txBody>
      </p:sp>
      <p:sp>
        <p:nvSpPr>
          <p:cNvPr id="19" name="Text 17"/>
          <p:cNvSpPr/>
          <p:nvPr/>
        </p:nvSpPr>
        <p:spPr>
          <a:xfrm>
            <a:off x="5969000" y="2169914"/>
            <a:ext cx="541553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Pods, Deployments, Services</a:t>
            </a:r>
            <a:endParaRPr lang="en-US" sz="1400" dirty="0"/>
          </a:p>
        </p:txBody>
      </p:sp>
      <p:sp>
        <p:nvSpPr>
          <p:cNvPr id="20" name="Shape 18"/>
          <p:cNvSpPr/>
          <p:nvPr/>
        </p:nvSpPr>
        <p:spPr>
          <a:xfrm>
            <a:off x="5181600" y="2987354"/>
            <a:ext cx="6197600" cy="0"/>
          </a:xfrm>
          <a:prstGeom prst="line">
            <a:avLst/>
          </a:prstGeom>
          <a:noFill/>
          <a:ln w="6350">
            <a:solidFill>
              <a:srgbClr val="E1DFEE"/>
            </a:solidFill>
            <a:prstDash val="solid"/>
          </a:ln>
        </p:spPr>
      </p:sp>
      <p:sp>
        <p:nvSpPr>
          <p:cNvPr id="21" name="Text 19"/>
          <p:cNvSpPr/>
          <p:nvPr/>
        </p:nvSpPr>
        <p:spPr>
          <a:xfrm>
            <a:off x="5334000" y="2645618"/>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08</a:t>
            </a:r>
            <a:endParaRPr lang="en-US" sz="1400" dirty="0"/>
          </a:p>
        </p:txBody>
      </p:sp>
      <p:sp>
        <p:nvSpPr>
          <p:cNvPr id="22" name="Text 20"/>
          <p:cNvSpPr/>
          <p:nvPr/>
        </p:nvSpPr>
        <p:spPr>
          <a:xfrm>
            <a:off x="5969000" y="2654498"/>
            <a:ext cx="541553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ConfigMaps et Secrets</a:t>
            </a:r>
            <a:endParaRPr lang="en-US" sz="1400" dirty="0"/>
          </a:p>
        </p:txBody>
      </p:sp>
      <p:sp>
        <p:nvSpPr>
          <p:cNvPr id="23" name="Shape 21"/>
          <p:cNvSpPr/>
          <p:nvPr/>
        </p:nvSpPr>
        <p:spPr>
          <a:xfrm>
            <a:off x="5181600" y="3041352"/>
            <a:ext cx="6197600" cy="426720"/>
          </a:xfrm>
          <a:prstGeom prst="roundRect">
            <a:avLst>
              <a:gd name="adj" fmla="val 20833"/>
            </a:avLst>
          </a:prstGeom>
          <a:solidFill>
            <a:srgbClr val="FBF0E8"/>
          </a:solidFill>
          <a:ln/>
        </p:spPr>
      </p:sp>
      <p:sp>
        <p:nvSpPr>
          <p:cNvPr id="24" name="Text 22"/>
          <p:cNvSpPr/>
          <p:nvPr/>
        </p:nvSpPr>
        <p:spPr>
          <a:xfrm>
            <a:off x="5334000" y="3139132"/>
            <a:ext cx="685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10:30</a:t>
            </a:r>
            <a:endParaRPr lang="en-US" sz="1300" dirty="0"/>
          </a:p>
        </p:txBody>
      </p:sp>
      <p:sp>
        <p:nvSpPr>
          <p:cNvPr id="25" name="Text 23"/>
          <p:cNvSpPr/>
          <p:nvPr/>
        </p:nvSpPr>
        <p:spPr>
          <a:xfrm>
            <a:off x="6096000" y="3130252"/>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21A"/>
                </a:solidFill>
                <a:latin typeface="Sora" pitchFamily="34" charset="0"/>
                <a:ea typeface="Sora" pitchFamily="34" charset="-122"/>
                <a:cs typeface="Sora" pitchFamily="34" charset="-120"/>
              </a:rPr>
              <a:t>TP5</a:t>
            </a:r>
            <a:endParaRPr lang="en-US" sz="1400" dirty="0"/>
          </a:p>
        </p:txBody>
      </p:sp>
      <p:sp>
        <p:nvSpPr>
          <p:cNvPr id="26" name="Text 24"/>
          <p:cNvSpPr/>
          <p:nvPr/>
        </p:nvSpPr>
        <p:spPr>
          <a:xfrm>
            <a:off x="6731000" y="3139132"/>
            <a:ext cx="4009000"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Application fil rouge</a:t>
            </a:r>
            <a:endParaRPr lang="en-US" sz="1400" dirty="0"/>
          </a:p>
        </p:txBody>
      </p:sp>
      <p:sp>
        <p:nvSpPr>
          <p:cNvPr id="27" name="Text 25"/>
          <p:cNvSpPr/>
          <p:nvPr/>
        </p:nvSpPr>
        <p:spPr>
          <a:xfrm>
            <a:off x="10750232" y="3148013"/>
            <a:ext cx="5718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70 min</a:t>
            </a:r>
            <a:endParaRPr lang="en-US" sz="1200" dirty="0"/>
          </a:p>
        </p:txBody>
      </p:sp>
      <p:sp>
        <p:nvSpPr>
          <p:cNvPr id="28" name="Shape 26"/>
          <p:cNvSpPr/>
          <p:nvPr/>
        </p:nvSpPr>
        <p:spPr>
          <a:xfrm>
            <a:off x="5181600" y="3949478"/>
            <a:ext cx="6197600" cy="0"/>
          </a:xfrm>
          <a:prstGeom prst="line">
            <a:avLst/>
          </a:prstGeom>
          <a:noFill/>
          <a:ln w="6350">
            <a:solidFill>
              <a:srgbClr val="E1DFEE"/>
            </a:solidFill>
            <a:prstDash val="solid"/>
          </a:ln>
        </p:spPr>
      </p:sp>
      <p:sp>
        <p:nvSpPr>
          <p:cNvPr id="29" name="Text 27"/>
          <p:cNvSpPr/>
          <p:nvPr/>
        </p:nvSpPr>
        <p:spPr>
          <a:xfrm>
            <a:off x="5334000" y="3607743"/>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09</a:t>
            </a:r>
            <a:endParaRPr lang="en-US" sz="1400" dirty="0"/>
          </a:p>
        </p:txBody>
      </p:sp>
      <p:sp>
        <p:nvSpPr>
          <p:cNvPr id="30" name="Text 28"/>
          <p:cNvSpPr/>
          <p:nvPr/>
        </p:nvSpPr>
        <p:spPr>
          <a:xfrm>
            <a:off x="5969000" y="3616623"/>
            <a:ext cx="541553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Cycle de vie des applications</a:t>
            </a:r>
            <a:endParaRPr lang="en-US" sz="1400" dirty="0"/>
          </a:p>
        </p:txBody>
      </p:sp>
      <p:sp>
        <p:nvSpPr>
          <p:cNvPr id="31" name="Shape 29"/>
          <p:cNvSpPr/>
          <p:nvPr/>
        </p:nvSpPr>
        <p:spPr>
          <a:xfrm>
            <a:off x="5181600" y="4003477"/>
            <a:ext cx="6197600" cy="426720"/>
          </a:xfrm>
          <a:prstGeom prst="roundRect">
            <a:avLst>
              <a:gd name="adj" fmla="val 20833"/>
            </a:avLst>
          </a:prstGeom>
          <a:solidFill>
            <a:srgbClr val="FBF0E8"/>
          </a:solidFill>
          <a:ln/>
        </p:spPr>
      </p:sp>
      <p:sp>
        <p:nvSpPr>
          <p:cNvPr id="32" name="Text 30"/>
          <p:cNvSpPr/>
          <p:nvPr/>
        </p:nvSpPr>
        <p:spPr>
          <a:xfrm>
            <a:off x="5334000" y="4101257"/>
            <a:ext cx="685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13:00</a:t>
            </a:r>
            <a:endParaRPr lang="en-US" sz="1300" dirty="0"/>
          </a:p>
        </p:txBody>
      </p:sp>
      <p:sp>
        <p:nvSpPr>
          <p:cNvPr id="33" name="Text 31"/>
          <p:cNvSpPr/>
          <p:nvPr/>
        </p:nvSpPr>
        <p:spPr>
          <a:xfrm>
            <a:off x="6096000" y="4092377"/>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21A"/>
                </a:solidFill>
                <a:latin typeface="Sora" pitchFamily="34" charset="0"/>
                <a:ea typeface="Sora" pitchFamily="34" charset="-122"/>
                <a:cs typeface="Sora" pitchFamily="34" charset="-120"/>
              </a:rPr>
              <a:t>TP6</a:t>
            </a:r>
            <a:endParaRPr lang="en-US" sz="1400" dirty="0"/>
          </a:p>
        </p:txBody>
      </p:sp>
      <p:sp>
        <p:nvSpPr>
          <p:cNvPr id="34" name="Text 32"/>
          <p:cNvSpPr/>
          <p:nvPr/>
        </p:nvSpPr>
        <p:spPr>
          <a:xfrm>
            <a:off x="6731000" y="4101257"/>
            <a:ext cx="4009000"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Mises à jour et probes</a:t>
            </a:r>
            <a:endParaRPr lang="en-US" sz="1400" dirty="0"/>
          </a:p>
        </p:txBody>
      </p:sp>
      <p:sp>
        <p:nvSpPr>
          <p:cNvPr id="35" name="Text 33"/>
          <p:cNvSpPr/>
          <p:nvPr/>
        </p:nvSpPr>
        <p:spPr>
          <a:xfrm>
            <a:off x="10750232" y="4110137"/>
            <a:ext cx="5718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70 min</a:t>
            </a:r>
            <a:endParaRPr lang="en-US" sz="1200" dirty="0"/>
          </a:p>
        </p:txBody>
      </p:sp>
      <p:sp>
        <p:nvSpPr>
          <p:cNvPr id="36" name="Shape 34"/>
          <p:cNvSpPr/>
          <p:nvPr/>
        </p:nvSpPr>
        <p:spPr>
          <a:xfrm>
            <a:off x="5181600" y="4911603"/>
            <a:ext cx="6197600" cy="0"/>
          </a:xfrm>
          <a:prstGeom prst="line">
            <a:avLst/>
          </a:prstGeom>
          <a:noFill/>
          <a:ln w="6350">
            <a:solidFill>
              <a:srgbClr val="E1DFEE"/>
            </a:solidFill>
            <a:prstDash val="solid"/>
          </a:ln>
        </p:spPr>
      </p:sp>
      <p:sp>
        <p:nvSpPr>
          <p:cNvPr id="37" name="Text 35"/>
          <p:cNvSpPr/>
          <p:nvPr/>
        </p:nvSpPr>
        <p:spPr>
          <a:xfrm>
            <a:off x="5334000" y="4569867"/>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10</a:t>
            </a:r>
            <a:endParaRPr lang="en-US" sz="1400" dirty="0"/>
          </a:p>
        </p:txBody>
      </p:sp>
      <p:sp>
        <p:nvSpPr>
          <p:cNvPr id="38" name="Text 36"/>
          <p:cNvSpPr/>
          <p:nvPr/>
        </p:nvSpPr>
        <p:spPr>
          <a:xfrm>
            <a:off x="5969000" y="4578796"/>
            <a:ext cx="541553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Surveiller et diagnostiquer</a:t>
            </a:r>
            <a:endParaRPr lang="en-US" sz="1400" dirty="0"/>
          </a:p>
        </p:txBody>
      </p:sp>
      <p:sp>
        <p:nvSpPr>
          <p:cNvPr id="39" name="Shape 37"/>
          <p:cNvSpPr/>
          <p:nvPr/>
        </p:nvSpPr>
        <p:spPr>
          <a:xfrm>
            <a:off x="5181600" y="4965601"/>
            <a:ext cx="6197600" cy="426720"/>
          </a:xfrm>
          <a:prstGeom prst="roundRect">
            <a:avLst>
              <a:gd name="adj" fmla="val 20833"/>
            </a:avLst>
          </a:prstGeom>
          <a:solidFill>
            <a:srgbClr val="FBF0E8"/>
          </a:solidFill>
          <a:ln/>
        </p:spPr>
      </p:sp>
      <p:sp>
        <p:nvSpPr>
          <p:cNvPr id="40" name="Text 38"/>
          <p:cNvSpPr/>
          <p:nvPr/>
        </p:nvSpPr>
        <p:spPr>
          <a:xfrm>
            <a:off x="5334000" y="5063381"/>
            <a:ext cx="685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14:30</a:t>
            </a:r>
            <a:endParaRPr lang="en-US" sz="1300" dirty="0"/>
          </a:p>
        </p:txBody>
      </p:sp>
      <p:sp>
        <p:nvSpPr>
          <p:cNvPr id="41" name="Text 39"/>
          <p:cNvSpPr/>
          <p:nvPr/>
        </p:nvSpPr>
        <p:spPr>
          <a:xfrm>
            <a:off x="6096000" y="5054501"/>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21A"/>
                </a:solidFill>
                <a:latin typeface="Sora" pitchFamily="34" charset="0"/>
                <a:ea typeface="Sora" pitchFamily="34" charset="-122"/>
                <a:cs typeface="Sora" pitchFamily="34" charset="-120"/>
              </a:rPr>
              <a:t>TP7</a:t>
            </a:r>
            <a:endParaRPr lang="en-US" sz="1400" dirty="0"/>
          </a:p>
        </p:txBody>
      </p:sp>
      <p:sp>
        <p:nvSpPr>
          <p:cNvPr id="42" name="Text 40"/>
          <p:cNvSpPr/>
          <p:nvPr/>
        </p:nvSpPr>
        <p:spPr>
          <a:xfrm>
            <a:off x="6731000" y="5063381"/>
            <a:ext cx="4009000"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Chasse aux pannes</a:t>
            </a:r>
            <a:endParaRPr lang="en-US" sz="1400" dirty="0"/>
          </a:p>
        </p:txBody>
      </p:sp>
      <p:sp>
        <p:nvSpPr>
          <p:cNvPr id="43" name="Text 41"/>
          <p:cNvSpPr/>
          <p:nvPr/>
        </p:nvSpPr>
        <p:spPr>
          <a:xfrm>
            <a:off x="10750232" y="5072261"/>
            <a:ext cx="5718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60 min</a:t>
            </a:r>
            <a:endParaRPr lang="en-US" sz="1200" dirty="0"/>
          </a:p>
        </p:txBody>
      </p:sp>
      <p:pic>
        <p:nvPicPr>
          <p:cNvPr id="44"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45" name="Text 42"/>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46" name="Image 1" descr="Parcours : début du jour 2, cinq modules vus">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2 · DÉCRIRE ET EXPLOITER</a:t>
            </a:r>
            <a:endParaRPr lang="en-US" sz="1200" dirty="0"/>
          </a:p>
        </p:txBody>
      </p:sp>
      <p:sp>
        <p:nvSpPr>
          <p:cNvPr id="3" name="Text 1"/>
          <p:cNvSpPr/>
          <p:nvPr/>
        </p:nvSpPr>
        <p:spPr>
          <a:xfrm>
            <a:off x="812800" y="1076970"/>
            <a:ext cx="2087880"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06</a:t>
            </a:r>
            <a:endParaRPr lang="en-US" sz="10000" dirty="0"/>
          </a:p>
        </p:txBody>
      </p:sp>
      <p:sp>
        <p:nvSpPr>
          <p:cNvPr id="4" name="Text 2"/>
          <p:cNvSpPr/>
          <p:nvPr>
            <p:ph type="title"/>
          </p:nvPr>
        </p:nvSpPr>
        <p:spPr>
          <a:xfrm>
            <a:off x="2908300" y="1127770"/>
            <a:ext cx="8725027" cy="5588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YAML et manifestes</a:t>
            </a:r>
            <a:endParaRPr lang="en-US" sz="4000" dirty="0"/>
          </a:p>
        </p:txBody>
      </p:sp>
      <p:sp>
        <p:nvSpPr>
          <p:cNvPr id="5" name="Text 3"/>
          <p:cNvSpPr/>
          <p:nvPr/>
        </p:nvSpPr>
        <p:spPr>
          <a:xfrm>
            <a:off x="2908300" y="1813570"/>
            <a:ext cx="87250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Un manifeste est un fichier YAML qui décrit l'état désiré d'un ou plusieurs objets ; on l'applique avec kubectl apply -f et on le versionne dans Git.</a:t>
            </a:r>
            <a:endParaRPr lang="en-US" sz="1500" dirty="0"/>
          </a:p>
        </p:txBody>
      </p:sp>
      <p:sp>
        <p:nvSpPr>
          <p:cNvPr id="6" name="Text 4"/>
          <p:cNvSpPr/>
          <p:nvPr/>
        </p:nvSpPr>
        <p:spPr>
          <a:xfrm>
            <a:off x="2908300" y="2499370"/>
            <a:ext cx="2889250"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TP4 · Premiers manifestes · J2 09:30</a:t>
            </a:r>
            <a:endParaRPr lang="en-US" sz="1200" dirty="0"/>
          </a:p>
        </p:txBody>
      </p:sp>
      <p:pic>
        <p:nvPicPr>
          <p:cNvPr id="7" name="Image 0" descr="Parcours de la formation : module 6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06 · YAML ET MANIFESTES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La syntaxe YAML en six règles</a:t>
            </a:r>
            <a:endParaRPr lang="en-US" sz="2800" dirty="0"/>
          </a:p>
        </p:txBody>
      </p:sp>
      <p:sp>
        <p:nvSpPr>
          <p:cNvPr id="4" name="Text 2"/>
          <p:cNvSpPr/>
          <p:nvPr/>
        </p:nvSpPr>
        <p:spPr>
          <a:xfrm>
            <a:off x="812800" y="1569740"/>
            <a:ext cx="559866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L'API échange du JSON ; YAML en est un sur-ensemble plus lisible, que kubectl convertit avant l'envoi.</a:t>
            </a:r>
            <a:endParaRPr lang="en-US" sz="1300" dirty="0"/>
          </a:p>
        </p:txBody>
      </p:sp>
      <p:sp>
        <p:nvSpPr>
          <p:cNvPr id="5" name="Text 3"/>
          <p:cNvSpPr/>
          <p:nvPr/>
        </p:nvSpPr>
        <p:spPr>
          <a:xfrm>
            <a:off x="812800" y="2120900"/>
            <a:ext cx="279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25A2C"/>
                </a:solidFill>
                <a:latin typeface="Sora" pitchFamily="34" charset="0"/>
                <a:ea typeface="Sora" pitchFamily="34" charset="-122"/>
                <a:cs typeface="Sora" pitchFamily="34" charset="-120"/>
              </a:rPr>
              <a:t>1</a:t>
            </a:r>
            <a:endParaRPr lang="en-US" sz="1400" dirty="0"/>
          </a:p>
        </p:txBody>
      </p:sp>
      <p:sp>
        <p:nvSpPr>
          <p:cNvPr id="6" name="Text 4"/>
          <p:cNvSpPr/>
          <p:nvPr/>
        </p:nvSpPr>
        <p:spPr>
          <a:xfrm>
            <a:off x="1143000" y="2126208"/>
            <a:ext cx="54102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Une paire s'écrit </a:t>
            </a:r>
            <a:r>
              <a:rPr lang="en-US" sz="1300" b="1" dirty="0">
                <a:solidFill>
                  <a:srgbClr val="0B0748"/>
                </a:solidFill>
                <a:latin typeface="IBM Plex Sans" pitchFamily="34" charset="0"/>
                <a:ea typeface="IBM Plex Sans" pitchFamily="34" charset="-122"/>
                <a:cs typeface="IBM Plex Sans" pitchFamily="34" charset="-120"/>
              </a:rPr>
              <a:t>cle: valeur</a:t>
            </a:r>
            <a:r>
              <a:rPr lang="en-US" sz="1300" dirty="0">
                <a:solidFill>
                  <a:srgbClr val="0B0748"/>
                </a:solidFill>
                <a:latin typeface="IBM Plex Sans" pitchFamily="34" charset="0"/>
                <a:ea typeface="IBM Plex Sans" pitchFamily="34" charset="-122"/>
                <a:cs typeface="IBM Plex Sans" pitchFamily="34" charset="-120"/>
              </a:rPr>
              <a:t>, avec un espace après les deux-points.</a:t>
            </a:r>
            <a:endParaRPr lang="en-US" sz="1300" dirty="0"/>
          </a:p>
        </p:txBody>
      </p:sp>
      <p:sp>
        <p:nvSpPr>
          <p:cNvPr id="7" name="Text 5"/>
          <p:cNvSpPr/>
          <p:nvPr/>
        </p:nvSpPr>
        <p:spPr>
          <a:xfrm>
            <a:off x="812800" y="2458740"/>
            <a:ext cx="279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25A2C"/>
                </a:solidFill>
                <a:latin typeface="Sora" pitchFamily="34" charset="0"/>
                <a:ea typeface="Sora" pitchFamily="34" charset="-122"/>
                <a:cs typeface="Sora" pitchFamily="34" charset="-120"/>
              </a:rPr>
              <a:t>2</a:t>
            </a:r>
            <a:endParaRPr lang="en-US" sz="1400" dirty="0"/>
          </a:p>
        </p:txBody>
      </p:sp>
      <p:sp>
        <p:nvSpPr>
          <p:cNvPr id="8" name="Text 6"/>
          <p:cNvSpPr/>
          <p:nvPr/>
        </p:nvSpPr>
        <p:spPr>
          <a:xfrm>
            <a:off x="1143000" y="2463998"/>
            <a:ext cx="52585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L'imbrication se fait par l'indentation, </a:t>
            </a:r>
            <a:r>
              <a:rPr lang="en-US" sz="1300" b="1" dirty="0">
                <a:solidFill>
                  <a:srgbClr val="0B0748"/>
                </a:solidFill>
                <a:latin typeface="IBM Plex Sans" pitchFamily="34" charset="0"/>
                <a:ea typeface="IBM Plex Sans" pitchFamily="34" charset="-122"/>
                <a:cs typeface="IBM Plex Sans" pitchFamily="34" charset="-120"/>
              </a:rPr>
              <a:t>avec des espaces uniquement</a:t>
            </a:r>
            <a:r>
              <a:rPr lang="en-US" sz="1300" dirty="0">
                <a:solidFill>
                  <a:srgbClr val="0B0748"/>
                </a:solidFill>
                <a:latin typeface="IBM Plex Sans" pitchFamily="34" charset="0"/>
                <a:ea typeface="IBM Plex Sans" pitchFamily="34" charset="-122"/>
                <a:cs typeface="IBM Plex Sans" pitchFamily="34" charset="-120"/>
              </a:rPr>
              <a:t> : une tabulation provoque une erreur. Convention : 2 espaces.</a:t>
            </a:r>
            <a:endParaRPr lang="en-US" sz="1300" dirty="0"/>
          </a:p>
        </p:txBody>
      </p:sp>
      <p:sp>
        <p:nvSpPr>
          <p:cNvPr id="9" name="Text 7"/>
          <p:cNvSpPr/>
          <p:nvPr/>
        </p:nvSpPr>
        <p:spPr>
          <a:xfrm>
            <a:off x="812800" y="3015208"/>
            <a:ext cx="279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25A2C"/>
                </a:solidFill>
                <a:latin typeface="Sora" pitchFamily="34" charset="0"/>
                <a:ea typeface="Sora" pitchFamily="34" charset="-122"/>
                <a:cs typeface="Sora" pitchFamily="34" charset="-120"/>
              </a:rPr>
              <a:t>3</a:t>
            </a:r>
            <a:endParaRPr lang="en-US" sz="1400" dirty="0"/>
          </a:p>
        </p:txBody>
      </p:sp>
      <p:sp>
        <p:nvSpPr>
          <p:cNvPr id="10" name="Text 8"/>
          <p:cNvSpPr/>
          <p:nvPr/>
        </p:nvSpPr>
        <p:spPr>
          <a:xfrm>
            <a:off x="1143000" y="3020467"/>
            <a:ext cx="52585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Un élément de liste commence par « - » (tiret, espace).</a:t>
            </a:r>
            <a:endParaRPr lang="en-US" sz="1300" dirty="0"/>
          </a:p>
        </p:txBody>
      </p:sp>
      <p:sp>
        <p:nvSpPr>
          <p:cNvPr id="11" name="Text 9"/>
          <p:cNvSpPr/>
          <p:nvPr/>
        </p:nvSpPr>
        <p:spPr>
          <a:xfrm>
            <a:off x="812800" y="3352998"/>
            <a:ext cx="279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25A2C"/>
                </a:solidFill>
                <a:latin typeface="Sora" pitchFamily="34" charset="0"/>
                <a:ea typeface="Sora" pitchFamily="34" charset="-122"/>
                <a:cs typeface="Sora" pitchFamily="34" charset="-120"/>
              </a:rPr>
              <a:t>4</a:t>
            </a:r>
            <a:endParaRPr lang="en-US" sz="1400" dirty="0"/>
          </a:p>
        </p:txBody>
      </p:sp>
      <p:sp>
        <p:nvSpPr>
          <p:cNvPr id="12" name="Text 10"/>
          <p:cNvSpPr/>
          <p:nvPr/>
        </p:nvSpPr>
        <p:spPr>
          <a:xfrm>
            <a:off x="1143000" y="3358307"/>
            <a:ext cx="52585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Dictionnaires et listes s'imbriquent librement.</a:t>
            </a:r>
            <a:endParaRPr lang="en-US" sz="1300" dirty="0"/>
          </a:p>
        </p:txBody>
      </p:sp>
      <p:sp>
        <p:nvSpPr>
          <p:cNvPr id="13" name="Text 11"/>
          <p:cNvSpPr/>
          <p:nvPr/>
        </p:nvSpPr>
        <p:spPr>
          <a:xfrm>
            <a:off x="812800" y="3690838"/>
            <a:ext cx="279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25A2C"/>
                </a:solidFill>
                <a:latin typeface="Sora" pitchFamily="34" charset="0"/>
                <a:ea typeface="Sora" pitchFamily="34" charset="-122"/>
                <a:cs typeface="Sora" pitchFamily="34" charset="-120"/>
              </a:rPr>
              <a:t>5</a:t>
            </a:r>
            <a:endParaRPr lang="en-US" sz="1400" dirty="0"/>
          </a:p>
        </p:txBody>
      </p:sp>
      <p:sp>
        <p:nvSpPr>
          <p:cNvPr id="14" name="Text 12"/>
          <p:cNvSpPr/>
          <p:nvPr/>
        </p:nvSpPr>
        <p:spPr>
          <a:xfrm>
            <a:off x="1143000" y="3696146"/>
            <a:ext cx="52585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a:t>
            </a:r>
            <a:r>
              <a:rPr lang="en-US" sz="1300" dirty="0">
                <a:solidFill>
                  <a:srgbClr val="0B0748"/>
                </a:solidFill>
                <a:latin typeface="IBM Plex Sans" pitchFamily="34" charset="0"/>
                <a:ea typeface="IBM Plex Sans" pitchFamily="34" charset="-122"/>
                <a:cs typeface="IBM Plex Sans" pitchFamily="34" charset="-120"/>
              </a:rPr>
              <a:t> commence un commentaire.</a:t>
            </a:r>
            <a:endParaRPr lang="en-US" sz="1300" dirty="0"/>
          </a:p>
        </p:txBody>
      </p:sp>
      <p:sp>
        <p:nvSpPr>
          <p:cNvPr id="15" name="Text 13"/>
          <p:cNvSpPr/>
          <p:nvPr/>
        </p:nvSpPr>
        <p:spPr>
          <a:xfrm>
            <a:off x="812800" y="4028629"/>
            <a:ext cx="279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25A2C"/>
                </a:solidFill>
                <a:latin typeface="Sora" pitchFamily="34" charset="0"/>
                <a:ea typeface="Sora" pitchFamily="34" charset="-122"/>
                <a:cs typeface="Sora" pitchFamily="34" charset="-120"/>
              </a:rPr>
              <a:t>6</a:t>
            </a:r>
            <a:endParaRPr lang="en-US" sz="1400" dirty="0"/>
          </a:p>
        </p:txBody>
      </p:sp>
      <p:sp>
        <p:nvSpPr>
          <p:cNvPr id="16" name="Text 14"/>
          <p:cNvSpPr/>
          <p:nvPr/>
        </p:nvSpPr>
        <p:spPr>
          <a:xfrm>
            <a:off x="1143000" y="4033937"/>
            <a:ext cx="52585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a:t>
            </a:r>
            <a:r>
              <a:rPr lang="en-US" sz="1300" dirty="0">
                <a:solidFill>
                  <a:srgbClr val="0B0748"/>
                </a:solidFill>
                <a:latin typeface="IBM Plex Sans" pitchFamily="34" charset="0"/>
                <a:ea typeface="IBM Plex Sans" pitchFamily="34" charset="-122"/>
                <a:cs typeface="IBM Plex Sans" pitchFamily="34" charset="-120"/>
              </a:rPr>
              <a:t> sépare plusieurs objets dans un même fichier.</a:t>
            </a:r>
            <a:endParaRPr lang="en-US" sz="1300" dirty="0"/>
          </a:p>
        </p:txBody>
      </p:sp>
      <p:sp>
        <p:nvSpPr>
          <p:cNvPr id="17" name="Shape 15"/>
          <p:cNvSpPr/>
          <p:nvPr/>
        </p:nvSpPr>
        <p:spPr>
          <a:xfrm>
            <a:off x="812800" y="5322441"/>
            <a:ext cx="5435600" cy="0"/>
          </a:xfrm>
          <a:prstGeom prst="line">
            <a:avLst/>
          </a:prstGeom>
          <a:noFill/>
          <a:ln w="6350">
            <a:solidFill>
              <a:srgbClr val="E1DFEE"/>
            </a:solidFill>
            <a:prstDash val="solid"/>
          </a:ln>
        </p:spPr>
      </p:sp>
      <p:sp>
        <p:nvSpPr>
          <p:cNvPr id="18" name="Text 16"/>
          <p:cNvSpPr/>
          <p:nvPr/>
        </p:nvSpPr>
        <p:spPr>
          <a:xfrm>
            <a:off x="812800" y="5415257"/>
            <a:ext cx="559866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Texte multiligne : « | » garde les retours à la ligne, « &gt; » les replie, « |- » retire le dernier. Dans le doute, des guillemets doubles.</a:t>
            </a:r>
            <a:endParaRPr lang="en-US" sz="1200" dirty="0"/>
          </a:p>
        </p:txBody>
      </p:sp>
      <p:sp>
        <p:nvSpPr>
          <p:cNvPr id="19" name="Text 17"/>
          <p:cNvSpPr/>
          <p:nvPr/>
        </p:nvSpPr>
        <p:spPr>
          <a:xfrm>
            <a:off x="6553200" y="1569740"/>
            <a:ext cx="4826000" cy="4272280"/>
          </a:xfrm>
          <a:prstGeom prst="roundRect">
            <a:avLst>
              <a:gd name="adj" fmla="val 2378"/>
            </a:avLst>
          </a:prstGeom>
          <a:solidFill>
            <a:srgbClr val="0B0748"/>
          </a:solidFill>
          <a:ln/>
        </p:spPr>
        <p:txBody>
          <a:bodyPr wrap="none" lIns="160742" tIns="122642" rIns="27392" bIns="122642" rtlCol="0" anchor="t">
            <a:normAutofit/>
          </a:bodyPr>
          <a:lstStyle/>
          <a:p>
            <a:pPr algn="l" indent="0" marL="0">
              <a:lnSpc>
                <a:spcPts val="1776"/>
              </a:lnSpc>
              <a:buNone/>
            </a:pPr>
            <a:r>
              <a:rPr lang="en-US" sz="1200" dirty="0">
                <a:solidFill>
                  <a:srgbClr val="9A96D0"/>
                </a:solidFill>
                <a:latin typeface="JetBrains Mono" pitchFamily="49" charset="0"/>
                <a:ea typeface="JetBrains Mono" pitchFamily="49" charset="-122"/>
                <a:cs typeface="JetBrains Mono" pitchFamily="49" charset="-120"/>
              </a:rPr>
              <a:t># Un dictionnaire</a:t>
            </a:r>
            <a:endParaRPr lang="en-US" sz="1200" dirty="0"/>
          </a:p>
          <a:p>
            <a:pPr algn="l" indent="0" marL="0">
              <a:lnSpc>
                <a:spcPts val="1776"/>
              </a:lnSpc>
              <a:buNone/>
            </a:pPr>
            <a:r>
              <a:rPr lang="en-US" sz="1200" dirty="0">
                <a:solidFill>
                  <a:srgbClr val="ECEAFF"/>
                </a:solidFill>
                <a:latin typeface="JetBrains Mono" pitchFamily="49" charset="0"/>
                <a:ea typeface="JetBrains Mono" pitchFamily="49" charset="-122"/>
                <a:cs typeface="JetBrains Mono" pitchFamily="49" charset="-120"/>
              </a:rPr>
              <a:t>metadata:</a:t>
            </a:r>
            <a:endParaRPr lang="en-US" sz="1200" dirty="0"/>
          </a:p>
          <a:p>
            <a:pPr algn="l" indent="0" marL="0">
              <a:lnSpc>
                <a:spcPts val="1776"/>
              </a:lnSpc>
              <a:buNone/>
            </a:pPr>
            <a:r>
              <a:rPr lang="en-US" sz="1200" dirty="0">
                <a:solidFill>
                  <a:srgbClr val="ECEAFF"/>
                </a:solidFill>
                <a:latin typeface="JetBrains Mono" pitchFamily="49" charset="0"/>
                <a:ea typeface="JetBrains Mono" pitchFamily="49" charset="-122"/>
                <a:cs typeface="JetBrains Mono" pitchFamily="49" charset="-120"/>
              </a:rPr>
              <a:t>  name: podinfo         </a:t>
            </a:r>
            <a:r>
              <a:rPr lang="en-US" sz="1200" dirty="0">
                <a:solidFill>
                  <a:srgbClr val="9A96D0"/>
                </a:solidFill>
                <a:latin typeface="JetBrains Mono" pitchFamily="49" charset="0"/>
                <a:ea typeface="JetBrains Mono" pitchFamily="49" charset="-122"/>
                <a:cs typeface="JetBrains Mono" pitchFamily="49" charset="-120"/>
              </a:rPr>
              <a:t># chaîne</a:t>
            </a:r>
            <a:endParaRPr lang="en-US" sz="1200" dirty="0"/>
          </a:p>
          <a:p>
            <a:pPr algn="l" indent="0" marL="0">
              <a:lnSpc>
                <a:spcPts val="1776"/>
              </a:lnSpc>
              <a:buNone/>
            </a:pPr>
            <a:r>
              <a:rPr lang="en-US" sz="1200" dirty="0">
                <a:solidFill>
                  <a:srgbClr val="ECEAFF"/>
                </a:solidFill>
                <a:latin typeface="JetBrains Mono" pitchFamily="49" charset="0"/>
                <a:ea typeface="JetBrains Mono" pitchFamily="49" charset="-122"/>
                <a:cs typeface="JetBrains Mono" pitchFamily="49" charset="-120"/>
              </a:rPr>
              <a:t>  labels:               </a:t>
            </a:r>
            <a:r>
              <a:rPr lang="en-US" sz="1200" dirty="0">
                <a:solidFill>
                  <a:srgbClr val="9A96D0"/>
                </a:solidFill>
                <a:latin typeface="JetBrains Mono" pitchFamily="49" charset="0"/>
                <a:ea typeface="JetBrains Mono" pitchFamily="49" charset="-122"/>
                <a:cs typeface="JetBrains Mono" pitchFamily="49" charset="-120"/>
              </a:rPr>
              <a:t># dictionnaire imbriqué</a:t>
            </a:r>
            <a:endParaRPr lang="en-US" sz="1200" dirty="0"/>
          </a:p>
          <a:p>
            <a:pPr algn="l" indent="0" marL="0">
              <a:lnSpc>
                <a:spcPts val="1776"/>
              </a:lnSpc>
              <a:buNone/>
            </a:pPr>
            <a:r>
              <a:rPr lang="en-US" sz="1200" dirty="0">
                <a:solidFill>
                  <a:srgbClr val="ECEAFF"/>
                </a:solidFill>
                <a:latin typeface="JetBrains Mono" pitchFamily="49" charset="0"/>
                <a:ea typeface="JetBrains Mono" pitchFamily="49" charset="-122"/>
                <a:cs typeface="JetBrains Mono" pitchFamily="49" charset="-120"/>
              </a:rPr>
              <a:t>    app: podinfo</a:t>
            </a:r>
            <a:endParaRPr lang="en-US" sz="1200" dirty="0"/>
          </a:p>
          <a:p>
            <a:pPr algn="l" indent="0" marL="0">
              <a:lnSpc>
                <a:spcPts val="1776"/>
              </a:lnSpc>
              <a:buNone/>
            </a:pPr>
            <a:r>
              <a:rPr lang="en-US" sz="1200" dirty="0">
                <a:solidFill>
                  <a:srgbClr val="9A96D0"/>
                </a:solidFill>
                <a:latin typeface="JetBrains Mono" pitchFamily="49" charset="0"/>
                <a:ea typeface="JetBrains Mono" pitchFamily="49" charset="-122"/>
                <a:cs typeface="JetBrains Mono" pitchFamily="49" charset="-120"/>
              </a:rPr>
              <a:t># Une liste de dictionnaires</a:t>
            </a:r>
            <a:endParaRPr lang="en-US" sz="1200" dirty="0"/>
          </a:p>
          <a:p>
            <a:pPr algn="l" indent="0" marL="0">
              <a:lnSpc>
                <a:spcPts val="1776"/>
              </a:lnSpc>
              <a:buNone/>
            </a:pPr>
            <a:r>
              <a:rPr lang="en-US" sz="1200" dirty="0">
                <a:solidFill>
                  <a:srgbClr val="ECEAFF"/>
                </a:solidFill>
                <a:latin typeface="JetBrains Mono" pitchFamily="49" charset="0"/>
                <a:ea typeface="JetBrains Mono" pitchFamily="49" charset="-122"/>
                <a:cs typeface="JetBrains Mono" pitchFamily="49" charset="-120"/>
              </a:rPr>
              <a:t>containers:</a:t>
            </a:r>
            <a:endParaRPr lang="en-US" sz="1200" dirty="0"/>
          </a:p>
          <a:p>
            <a:pPr algn="l" indent="0" marL="0">
              <a:lnSpc>
                <a:spcPts val="1776"/>
              </a:lnSpc>
              <a:buNone/>
            </a:pPr>
            <a:r>
              <a:rPr lang="en-US" sz="1200" dirty="0">
                <a:solidFill>
                  <a:srgbClr val="FFB08F"/>
                </a:solidFill>
                <a:latin typeface="JetBrains Mono" pitchFamily="49" charset="0"/>
                <a:ea typeface="JetBrains Mono" pitchFamily="49" charset="-122"/>
                <a:cs typeface="JetBrains Mono" pitchFamily="49" charset="-120"/>
              </a:rPr>
              <a:t>-</a:t>
            </a:r>
            <a:r>
              <a:rPr lang="en-US" sz="1200" dirty="0">
                <a:solidFill>
                  <a:srgbClr val="ECEAFF"/>
                </a:solidFill>
                <a:latin typeface="JetBrains Mono" pitchFamily="49" charset="0"/>
                <a:ea typeface="JetBrains Mono" pitchFamily="49" charset="-122"/>
                <a:cs typeface="JetBrains Mono" pitchFamily="49" charset="-120"/>
              </a:rPr>
              <a:t> name: web</a:t>
            </a:r>
            <a:endParaRPr lang="en-US" sz="1200" dirty="0"/>
          </a:p>
          <a:p>
            <a:pPr algn="l" indent="0" marL="0">
              <a:lnSpc>
                <a:spcPts val="1776"/>
              </a:lnSpc>
              <a:buNone/>
            </a:pPr>
            <a:r>
              <a:rPr lang="en-US" sz="1200" dirty="0">
                <a:solidFill>
                  <a:srgbClr val="ECEAFF"/>
                </a:solidFill>
                <a:latin typeface="JetBrains Mono" pitchFamily="49" charset="0"/>
                <a:ea typeface="JetBrains Mono" pitchFamily="49" charset="-122"/>
                <a:cs typeface="JetBrains Mono" pitchFamily="49" charset="-120"/>
              </a:rPr>
              <a:t>  image: ghcr.io/stefanprodan/podinfo:6.7.0</a:t>
            </a:r>
            <a:endParaRPr lang="en-US" sz="1200" dirty="0"/>
          </a:p>
          <a:p>
            <a:pPr algn="l" indent="0" marL="0">
              <a:lnSpc>
                <a:spcPts val="1776"/>
              </a:lnSpc>
              <a:buNone/>
            </a:pPr>
            <a:r>
              <a:rPr lang="en-US" sz="1200" dirty="0">
                <a:solidFill>
                  <a:srgbClr val="ECEAFF"/>
                </a:solidFill>
                <a:latin typeface="JetBrains Mono" pitchFamily="49" charset="0"/>
                <a:ea typeface="JetBrains Mono" pitchFamily="49" charset="-122"/>
                <a:cs typeface="JetBrains Mono" pitchFamily="49" charset="-120"/>
              </a:rPr>
              <a:t>  ports:</a:t>
            </a:r>
            <a:endParaRPr lang="en-US" sz="1200" dirty="0"/>
          </a:p>
          <a:p>
            <a:pPr algn="l" indent="0" marL="0">
              <a:lnSpc>
                <a:spcPts val="1776"/>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a:t>
            </a:r>
            <a:r>
              <a:rPr lang="en-US" sz="1200" dirty="0">
                <a:solidFill>
                  <a:srgbClr val="ECEAFF"/>
                </a:solidFill>
                <a:latin typeface="JetBrains Mono" pitchFamily="49" charset="0"/>
                <a:ea typeface="JetBrains Mono" pitchFamily="49" charset="-122"/>
                <a:cs typeface="JetBrains Mono" pitchFamily="49" charset="-120"/>
              </a:rPr>
              <a:t> containerPort: 9898</a:t>
            </a:r>
            <a:endParaRPr lang="en-US" sz="1200" dirty="0"/>
          </a:p>
          <a:p>
            <a:pPr algn="l" indent="0" marL="0">
              <a:lnSpc>
                <a:spcPts val="1776"/>
              </a:lnSpc>
              <a:buNone/>
            </a:pPr>
            <a:r>
              <a:rPr lang="en-US" sz="1200" dirty="0">
                <a:solidFill>
                  <a:srgbClr val="FFB08F"/>
                </a:solidFill>
                <a:latin typeface="JetBrains Mono" pitchFamily="49" charset="0"/>
                <a:ea typeface="JetBrains Mono" pitchFamily="49" charset="-122"/>
                <a:cs typeface="JetBrains Mono" pitchFamily="49" charset="-120"/>
              </a:rPr>
              <a:t>-</a:t>
            </a:r>
            <a:r>
              <a:rPr lang="en-US" sz="1200" dirty="0">
                <a:solidFill>
                  <a:srgbClr val="ECEAFF"/>
                </a:solidFill>
                <a:latin typeface="JetBrains Mono" pitchFamily="49" charset="0"/>
                <a:ea typeface="JetBrains Mono" pitchFamily="49" charset="-122"/>
                <a:cs typeface="JetBrains Mono" pitchFamily="49" charset="-120"/>
              </a:rPr>
              <a:t> name: sidecar</a:t>
            </a:r>
            <a:endParaRPr lang="en-US" sz="1200" dirty="0"/>
          </a:p>
          <a:p>
            <a:pPr algn="l" indent="0" marL="0">
              <a:lnSpc>
                <a:spcPts val="1776"/>
              </a:lnSpc>
              <a:buNone/>
            </a:pPr>
            <a:r>
              <a:rPr lang="en-US" sz="1200" dirty="0">
                <a:solidFill>
                  <a:srgbClr val="ECEAFF"/>
                </a:solidFill>
                <a:latin typeface="JetBrains Mono" pitchFamily="49" charset="0"/>
                <a:ea typeface="JetBrains Mono" pitchFamily="49" charset="-122"/>
                <a:cs typeface="JetBrains Mono" pitchFamily="49" charset="-120"/>
              </a:rPr>
              <a:t>  image: mirror.gcr.io/library/busybox:1.36</a:t>
            </a:r>
            <a:endParaRPr lang="en-US" sz="1200" dirty="0"/>
          </a:p>
          <a:p>
            <a:pPr algn="l" indent="0" marL="0">
              <a:lnSpc>
                <a:spcPts val="1776"/>
              </a:lnSpc>
              <a:buNone/>
            </a:pPr>
            <a:r>
              <a:rPr lang="en-US" sz="1200" dirty="0">
                <a:solidFill>
                  <a:srgbClr val="9A96D0"/>
                </a:solidFill>
                <a:latin typeface="JetBrains Mono" pitchFamily="49" charset="0"/>
                <a:ea typeface="JetBrains Mono" pitchFamily="49" charset="-122"/>
                <a:cs typeface="JetBrains Mono" pitchFamily="49" charset="-120"/>
              </a:rPr>
              <a:t># Notation compacte, équivalente</a:t>
            </a:r>
            <a:endParaRPr lang="en-US" sz="1200" dirty="0"/>
          </a:p>
          <a:p>
            <a:pPr algn="l" indent="0" marL="0">
              <a:lnSpc>
                <a:spcPts val="1776"/>
              </a:lnSpc>
              <a:buNone/>
            </a:pPr>
            <a:r>
              <a:rPr lang="en-US" sz="1200" dirty="0">
                <a:solidFill>
                  <a:srgbClr val="ECEAFF"/>
                </a:solidFill>
                <a:latin typeface="JetBrains Mono" pitchFamily="49" charset="0"/>
                <a:ea typeface="JetBrains Mono" pitchFamily="49" charset="-122"/>
                <a:cs typeface="JetBrains Mono" pitchFamily="49" charset="-120"/>
              </a:rPr>
              <a:t>labels: {app: podinfo, tier: web}</a:t>
            </a:r>
            <a:endParaRPr lang="en-US" sz="1200" dirty="0"/>
          </a:p>
        </p:txBody>
      </p:sp>
      <p:pic>
        <p:nvPicPr>
          <p:cNvPr id="20"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1" name="Text 1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2" name="Image 1" descr="Parcours : module 6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16429"/>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B8421A"/>
                </a:solidFill>
                <a:latin typeface="IBM Plex Sans" pitchFamily="34" charset="0"/>
                <a:ea typeface="IBM Plex Sans" pitchFamily="34" charset="-122"/>
                <a:cs typeface="IBM Plex Sans" pitchFamily="34" charset="-120"/>
              </a:rPr>
              <a:t>MODULE 06 · YAML ET MANIFESTES</a:t>
            </a:r>
            <a:endParaRPr lang="en-US" sz="1088" dirty="0"/>
          </a:p>
        </p:txBody>
      </p:sp>
      <p:sp>
        <p:nvSpPr>
          <p:cNvPr id="3" name="Text 1"/>
          <p:cNvSpPr/>
          <p:nvPr>
            <p:ph type="title"/>
          </p:nvPr>
        </p:nvSpPr>
        <p:spPr>
          <a:xfrm>
            <a:off x="812800" y="927646"/>
            <a:ext cx="10883392" cy="375603"/>
          </a:xfrm>
          <a:prstGeom prst="rect">
            <a:avLst/>
          </a:prstGeom>
          <a:noFill/>
          <a:ln/>
        </p:spPr>
        <p:txBody>
          <a:bodyPr wrap="square" lIns="0" tIns="0" rIns="0" bIns="0" rtlCol="0" anchor="t">
            <a:normAutofit/>
          </a:bodyPr>
          <a:lstStyle/>
          <a:p>
            <a:pPr algn="l" indent="0" marL="0">
              <a:lnSpc>
                <a:spcPts val="2772"/>
              </a:lnSpc>
              <a:buNone/>
            </a:pPr>
            <a:r>
              <a:rPr lang="en-US" sz="2520" b="1" i="0" spc="-50" kern="0" dirty="0">
                <a:solidFill>
                  <a:srgbClr val="0B0748"/>
                </a:solidFill>
                <a:latin typeface="Sora" pitchFamily="34" charset="0"/>
                <a:ea typeface="Sora" pitchFamily="34" charset="-122"/>
                <a:cs typeface="Sora" pitchFamily="34" charset="-120"/>
              </a:rPr>
              <a:t>Les pièges de typage</a:t>
            </a:r>
            <a:endParaRPr lang="en-US" sz="2520" dirty="0"/>
          </a:p>
        </p:txBody>
      </p:sp>
      <p:sp>
        <p:nvSpPr>
          <p:cNvPr id="4" name="Shape 2"/>
          <p:cNvSpPr/>
          <p:nvPr/>
        </p:nvSpPr>
        <p:spPr>
          <a:xfrm>
            <a:off x="812800" y="1506438"/>
            <a:ext cx="10566400" cy="3112770"/>
          </a:xfrm>
          <a:prstGeom prst="rect">
            <a:avLst/>
          </a:prstGeom>
          <a:solidFill>
            <a:srgbClr val="FDFD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9891" y="1513529"/>
          <a:ext cx="10559309" cy="3105679"/>
        </p:xfrm>
        <a:graphic>
          <a:graphicData uri="http://schemas.openxmlformats.org/drawingml/2006/table">
            <a:tbl>
              <a:tblPr/>
              <a:tblGrid>
                <a:gridCol w="2745420"/>
                <a:gridCol w="4857282"/>
                <a:gridCol w="2956607"/>
              </a:tblGrid>
              <a:tr h="345122">
                <a:tc>
                  <a:txBody>
                    <a:bodyPr/>
                    <a:lstStyle/>
                    <a:p>
                      <a:pPr indent="0" marL="0">
                        <a:lnSpc>
                          <a:spcPts val="1770"/>
                        </a:lnSpc>
                        <a:buNone/>
                      </a:pPr>
                      <a:r>
                        <a:rPr lang="en-US" sz="1264" b="1" dirty="0">
                          <a:solidFill>
                            <a:srgbClr val="F5F4F9"/>
                          </a:solidFill>
                          <a:latin typeface="IBM Plex Sans" pitchFamily="34" charset="0"/>
                          <a:ea typeface="IBM Plex Sans" pitchFamily="34" charset="-122"/>
                          <a:cs typeface="IBM Plex Sans" pitchFamily="34" charset="-120"/>
                        </a:rPr>
                        <a:t>Écrit</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770"/>
                        </a:lnSpc>
                        <a:buNone/>
                      </a:pPr>
                      <a:r>
                        <a:rPr lang="en-US" sz="1264" b="1" dirty="0">
                          <a:solidFill>
                            <a:srgbClr val="F5F4F9"/>
                          </a:solidFill>
                          <a:latin typeface="IBM Plex Sans" pitchFamily="34" charset="0"/>
                          <a:ea typeface="IBM Plex Sans" pitchFamily="34" charset="-122"/>
                          <a:cs typeface="IBM Plex Sans" pitchFamily="34" charset="-120"/>
                        </a:rPr>
                        <a:t>Compris par YAML comme</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770"/>
                        </a:lnSpc>
                        <a:buNone/>
                      </a:pPr>
                      <a:r>
                        <a:rPr lang="en-US" sz="1264" b="1" dirty="0">
                          <a:solidFill>
                            <a:srgbClr val="FF8F66"/>
                          </a:solidFill>
                          <a:latin typeface="IBM Plex Sans" pitchFamily="34" charset="0"/>
                          <a:ea typeface="IBM Plex Sans" pitchFamily="34" charset="-122"/>
                          <a:cs typeface="IBM Plex Sans" pitchFamily="34" charset="-120"/>
                        </a:rPr>
                        <a:t>Pour du texte</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45123">
                <a:tc>
                  <a:txBody>
                    <a:bodyPr/>
                    <a:lstStyle/>
                    <a:p>
                      <a:pPr indent="0" marL="0">
                        <a:lnSpc>
                          <a:spcPts val="1770"/>
                        </a:lnSpc>
                        <a:buNone/>
                      </a:pPr>
                      <a:r>
                        <a:rPr lang="en-US" sz="1264" dirty="0">
                          <a:solidFill>
                            <a:srgbClr val="0B0748"/>
                          </a:solidFill>
                          <a:latin typeface="IBM Plex Sans" pitchFamily="34" charset="0"/>
                          <a:ea typeface="IBM Plex Sans" pitchFamily="34" charset="-122"/>
                          <a:cs typeface="IBM Plex Sans" pitchFamily="34" charset="-120"/>
                        </a:rPr>
                        <a:t>true, false</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770"/>
                        </a:lnSpc>
                        <a:buNone/>
                      </a:pPr>
                      <a:r>
                        <a:rPr lang="en-US" sz="1264" dirty="0">
                          <a:solidFill>
                            <a:srgbClr val="3F3C6B"/>
                          </a:solidFill>
                          <a:latin typeface="IBM Plex Sans" pitchFamily="34" charset="0"/>
                          <a:ea typeface="IBM Plex Sans" pitchFamily="34" charset="-122"/>
                          <a:cs typeface="IBM Plex Sans" pitchFamily="34" charset="-120"/>
                        </a:rPr>
                        <a:t>Booléen</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770"/>
                        </a:lnSpc>
                        <a:buNone/>
                      </a:pPr>
                      <a:r>
                        <a:rPr lang="en-US" sz="1264" dirty="0">
                          <a:solidFill>
                            <a:srgbClr val="B8421A"/>
                          </a:solidFill>
                          <a:latin typeface="IBM Plex Sans" pitchFamily="34" charset="0"/>
                          <a:ea typeface="IBM Plex Sans" pitchFamily="34" charset="-122"/>
                          <a:cs typeface="IBM Plex Sans" pitchFamily="34" charset="-120"/>
                        </a:rPr>
                        <a:t>"true"</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45122">
                <a:tc>
                  <a:txBody>
                    <a:bodyPr/>
                    <a:lstStyle/>
                    <a:p>
                      <a:pPr indent="0" marL="0">
                        <a:lnSpc>
                          <a:spcPts val="1770"/>
                        </a:lnSpc>
                        <a:buNone/>
                      </a:pPr>
                      <a:r>
                        <a:rPr lang="en-US" sz="1264" dirty="0">
                          <a:solidFill>
                            <a:srgbClr val="0B0748"/>
                          </a:solidFill>
                          <a:latin typeface="IBM Plex Sans" pitchFamily="34" charset="0"/>
                          <a:ea typeface="IBM Plex Sans" pitchFamily="34" charset="-122"/>
                          <a:cs typeface="IBM Plex Sans" pitchFamily="34" charset="-120"/>
                        </a:rPr>
                        <a:t>yes, no, on, off</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770"/>
                        </a:lnSpc>
                        <a:buNone/>
                      </a:pPr>
                      <a:r>
                        <a:rPr lang="en-US" sz="1264" dirty="0">
                          <a:solidFill>
                            <a:srgbClr val="3F3C6B"/>
                          </a:solidFill>
                          <a:latin typeface="IBM Plex Sans" pitchFamily="34" charset="0"/>
                          <a:ea typeface="IBM Plex Sans" pitchFamily="34" charset="-122"/>
                          <a:cs typeface="IBM Plex Sans" pitchFamily="34" charset="-120"/>
                        </a:rPr>
                        <a:t>Booléen (YAML 1.1, utilisé par Kubernetes)</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770"/>
                        </a:lnSpc>
                        <a:buNone/>
                      </a:pPr>
                      <a:r>
                        <a:rPr lang="en-US" sz="1264" dirty="0">
                          <a:solidFill>
                            <a:srgbClr val="B8421A"/>
                          </a:solidFill>
                          <a:latin typeface="IBM Plex Sans" pitchFamily="34" charset="0"/>
                          <a:ea typeface="IBM Plex Sans" pitchFamily="34" charset="-122"/>
                          <a:cs typeface="IBM Plex Sans" pitchFamily="34" charset="-120"/>
                        </a:rPr>
                        <a:t>"yes"</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45123">
                <a:tc>
                  <a:txBody>
                    <a:bodyPr/>
                    <a:lstStyle/>
                    <a:p>
                      <a:pPr indent="0" marL="0">
                        <a:lnSpc>
                          <a:spcPts val="1770"/>
                        </a:lnSpc>
                        <a:buNone/>
                      </a:pPr>
                      <a:r>
                        <a:rPr lang="en-US" sz="1264" dirty="0">
                          <a:solidFill>
                            <a:srgbClr val="0B0748"/>
                          </a:solidFill>
                          <a:latin typeface="IBM Plex Sans" pitchFamily="34" charset="0"/>
                          <a:ea typeface="IBM Plex Sans" pitchFamily="34" charset="-122"/>
                          <a:cs typeface="IBM Plex Sans" pitchFamily="34" charset="-120"/>
                        </a:rPr>
                        <a:t>1.10</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770"/>
                        </a:lnSpc>
                        <a:buNone/>
                      </a:pPr>
                      <a:r>
                        <a:rPr lang="en-US" sz="1264" dirty="0">
                          <a:solidFill>
                            <a:srgbClr val="3F3C6B"/>
                          </a:solidFill>
                          <a:latin typeface="IBM Plex Sans" pitchFamily="34" charset="0"/>
                          <a:ea typeface="IBM Plex Sans" pitchFamily="34" charset="-122"/>
                          <a:cs typeface="IBM Plex Sans" pitchFamily="34" charset="-120"/>
                        </a:rPr>
                        <a:t>Le nombre décimal 1,1</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770"/>
                        </a:lnSpc>
                        <a:buNone/>
                      </a:pPr>
                      <a:r>
                        <a:rPr lang="en-US" sz="1264" dirty="0">
                          <a:solidFill>
                            <a:srgbClr val="B8421A"/>
                          </a:solidFill>
                          <a:latin typeface="IBM Plex Sans" pitchFamily="34" charset="0"/>
                          <a:ea typeface="IBM Plex Sans" pitchFamily="34" charset="-122"/>
                          <a:cs typeface="IBM Plex Sans" pitchFamily="34" charset="-120"/>
                        </a:rPr>
                        <a:t>"1.10"</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45123">
                <a:tc>
                  <a:txBody>
                    <a:bodyPr/>
                    <a:lstStyle/>
                    <a:p>
                      <a:pPr indent="0" marL="0">
                        <a:lnSpc>
                          <a:spcPts val="1770"/>
                        </a:lnSpc>
                        <a:buNone/>
                      </a:pPr>
                      <a:r>
                        <a:rPr lang="en-US" sz="1264" dirty="0">
                          <a:solidFill>
                            <a:srgbClr val="0B0748"/>
                          </a:solidFill>
                          <a:latin typeface="IBM Plex Sans" pitchFamily="34" charset="0"/>
                          <a:ea typeface="IBM Plex Sans" pitchFamily="34" charset="-122"/>
                          <a:cs typeface="IBM Plex Sans" pitchFamily="34" charset="-120"/>
                        </a:rPr>
                        <a:t>6.7</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770"/>
                        </a:lnSpc>
                        <a:buNone/>
                      </a:pPr>
                      <a:r>
                        <a:rPr lang="en-US" sz="1264" dirty="0">
                          <a:solidFill>
                            <a:srgbClr val="3F3C6B"/>
                          </a:solidFill>
                          <a:latin typeface="IBM Plex Sans" pitchFamily="34" charset="0"/>
                          <a:ea typeface="IBM Plex Sans" pitchFamily="34" charset="-122"/>
                          <a:cs typeface="IBM Plex Sans" pitchFamily="34" charset="-120"/>
                        </a:rPr>
                        <a:t>Nombre décimal</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770"/>
                        </a:lnSpc>
                        <a:buNone/>
                      </a:pPr>
                      <a:r>
                        <a:rPr lang="en-US" sz="1264" dirty="0">
                          <a:solidFill>
                            <a:srgbClr val="B8421A"/>
                          </a:solidFill>
                          <a:latin typeface="IBM Plex Sans" pitchFamily="34" charset="0"/>
                          <a:ea typeface="IBM Plex Sans" pitchFamily="34" charset="-122"/>
                          <a:cs typeface="IBM Plex Sans" pitchFamily="34" charset="-120"/>
                        </a:rPr>
                        <a:t>"6.7"</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45017">
                <a:tc>
                  <a:txBody>
                    <a:bodyPr/>
                    <a:lstStyle/>
                    <a:p>
                      <a:pPr indent="0" marL="0">
                        <a:lnSpc>
                          <a:spcPts val="1770"/>
                        </a:lnSpc>
                        <a:buNone/>
                      </a:pPr>
                      <a:r>
                        <a:rPr lang="en-US" sz="1264" dirty="0">
                          <a:solidFill>
                            <a:srgbClr val="0B0748"/>
                          </a:solidFill>
                          <a:latin typeface="IBM Plex Sans" pitchFamily="34" charset="0"/>
                          <a:ea typeface="IBM Plex Sans" pitchFamily="34" charset="-122"/>
                          <a:cs typeface="IBM Plex Sans" pitchFamily="34" charset="-120"/>
                        </a:rPr>
                        <a:t>0644</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770"/>
                        </a:lnSpc>
                        <a:buNone/>
                      </a:pPr>
                      <a:r>
                        <a:rPr lang="en-US" sz="1264" dirty="0">
                          <a:solidFill>
                            <a:srgbClr val="3F3C6B"/>
                          </a:solidFill>
                          <a:latin typeface="IBM Plex Sans" pitchFamily="34" charset="0"/>
                          <a:ea typeface="IBM Plex Sans" pitchFamily="34" charset="-122"/>
                          <a:cs typeface="IBM Plex Sans" pitchFamily="34" charset="-120"/>
                        </a:rPr>
                        <a:t>Nombre en octal (420) : utile pour defaultMode</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770"/>
                        </a:lnSpc>
                        <a:buNone/>
                      </a:pPr>
                      <a:r>
                        <a:rPr lang="en-US" sz="1264" dirty="0">
                          <a:solidFill>
                            <a:srgbClr val="B8421A"/>
                          </a:solidFill>
                          <a:latin typeface="IBM Plex Sans" pitchFamily="34" charset="0"/>
                          <a:ea typeface="IBM Plex Sans" pitchFamily="34" charset="-122"/>
                          <a:cs typeface="IBM Plex Sans" pitchFamily="34" charset="-120"/>
                        </a:rPr>
                        <a:t>"0644"</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45017">
                <a:tc>
                  <a:txBody>
                    <a:bodyPr/>
                    <a:lstStyle/>
                    <a:p>
                      <a:pPr indent="0" marL="0">
                        <a:lnSpc>
                          <a:spcPts val="1770"/>
                        </a:lnSpc>
                        <a:buNone/>
                      </a:pPr>
                      <a:r>
                        <a:rPr lang="en-US" sz="1264" dirty="0">
                          <a:solidFill>
                            <a:srgbClr val="0B0748"/>
                          </a:solidFill>
                          <a:latin typeface="IBM Plex Sans" pitchFamily="34" charset="0"/>
                          <a:ea typeface="IBM Plex Sans" pitchFamily="34" charset="-122"/>
                          <a:cs typeface="IBM Plex Sans" pitchFamily="34" charset="-120"/>
                        </a:rPr>
                        <a:t>~, null, valeur vide</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770"/>
                        </a:lnSpc>
                        <a:buNone/>
                      </a:pPr>
                      <a:r>
                        <a:rPr lang="en-US" sz="1264" dirty="0">
                          <a:solidFill>
                            <a:srgbClr val="3F3C6B"/>
                          </a:solidFill>
                          <a:latin typeface="IBM Plex Sans" pitchFamily="34" charset="0"/>
                          <a:ea typeface="IBM Plex Sans" pitchFamily="34" charset="-122"/>
                          <a:cs typeface="IBM Plex Sans" pitchFamily="34" charset="-120"/>
                        </a:rPr>
                        <a:t>Absence de valeur</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770"/>
                        </a:lnSpc>
                        <a:buNone/>
                      </a:pPr>
                      <a:r>
                        <a:rPr lang="en-US" sz="1264" dirty="0">
                          <a:solidFill>
                            <a:srgbClr val="B8421A"/>
                          </a:solidFill>
                          <a:latin typeface="IBM Plex Sans" pitchFamily="34" charset="0"/>
                          <a:ea typeface="IBM Plex Sans" pitchFamily="34" charset="-122"/>
                          <a:cs typeface="IBM Plex Sans" pitchFamily="34" charset="-120"/>
                        </a:rPr>
                        <a:t>"" (chaîne vide)</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45017">
                <a:tc>
                  <a:txBody>
                    <a:bodyPr/>
                    <a:lstStyle/>
                    <a:p>
                      <a:pPr indent="0" marL="0">
                        <a:lnSpc>
                          <a:spcPts val="1770"/>
                        </a:lnSpc>
                        <a:buNone/>
                      </a:pPr>
                      <a:r>
                        <a:rPr lang="en-US" sz="1264" dirty="0">
                          <a:solidFill>
                            <a:srgbClr val="0B0748"/>
                          </a:solidFill>
                          <a:latin typeface="IBM Plex Sans" pitchFamily="34" charset="0"/>
                          <a:ea typeface="IBM Plex Sans" pitchFamily="34" charset="-122"/>
                          <a:cs typeface="IBM Plex Sans" pitchFamily="34" charset="-120"/>
                        </a:rPr>
                        <a:t>*/5 * * * *</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770"/>
                        </a:lnSpc>
                        <a:buNone/>
                      </a:pPr>
                      <a:r>
                        <a:rPr lang="en-US" sz="1264" dirty="0">
                          <a:solidFill>
                            <a:srgbClr val="3F3C6B"/>
                          </a:solidFill>
                          <a:latin typeface="IBM Plex Sans" pitchFamily="34" charset="0"/>
                          <a:ea typeface="IBM Plex Sans" pitchFamily="34" charset="-122"/>
                          <a:cs typeface="IBM Plex Sans" pitchFamily="34" charset="-120"/>
                        </a:rPr>
                        <a:t>Erreur : * débute un alias YAML</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770"/>
                        </a:lnSpc>
                        <a:buNone/>
                      </a:pPr>
                      <a:r>
                        <a:rPr lang="en-US" sz="1264" dirty="0">
                          <a:solidFill>
                            <a:srgbClr val="B8421A"/>
                          </a:solidFill>
                          <a:latin typeface="IBM Plex Sans" pitchFamily="34" charset="0"/>
                          <a:ea typeface="IBM Plex Sans" pitchFamily="34" charset="-122"/>
                          <a:cs typeface="IBM Plex Sans" pitchFamily="34" charset="-120"/>
                        </a:rPr>
                        <a:t>"*/5 * * * *"</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45017">
                <a:tc>
                  <a:txBody>
                    <a:bodyPr/>
                    <a:lstStyle/>
                    <a:p>
                      <a:pPr indent="0" marL="0">
                        <a:lnSpc>
                          <a:spcPts val="1770"/>
                        </a:lnSpc>
                        <a:buNone/>
                      </a:pPr>
                      <a:r>
                        <a:rPr lang="en-US" sz="1264" dirty="0">
                          <a:solidFill>
                            <a:srgbClr val="0B0748"/>
                          </a:solidFill>
                          <a:latin typeface="IBM Plex Sans" pitchFamily="34" charset="0"/>
                          <a:ea typeface="IBM Plex Sans" pitchFamily="34" charset="-122"/>
                          <a:cs typeface="IBM Plex Sans" pitchFamily="34" charset="-120"/>
                        </a:rPr>
                        <a:t>cle: a: b</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770"/>
                        </a:lnSpc>
                        <a:buNone/>
                      </a:pPr>
                      <a:r>
                        <a:rPr lang="en-US" sz="1264" dirty="0">
                          <a:solidFill>
                            <a:srgbClr val="3F3C6B"/>
                          </a:solidFill>
                          <a:latin typeface="IBM Plex Sans" pitchFamily="34" charset="0"/>
                          <a:ea typeface="IBM Plex Sans" pitchFamily="34" charset="-122"/>
                          <a:cs typeface="IBM Plex Sans" pitchFamily="34" charset="-120"/>
                        </a:rPr>
                        <a:t>Erreur : second deux-points ambigu</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770"/>
                        </a:lnSpc>
                        <a:buNone/>
                      </a:pPr>
                      <a:r>
                        <a:rPr lang="en-US" sz="1264" dirty="0">
                          <a:solidFill>
                            <a:srgbClr val="B8421A"/>
                          </a:solidFill>
                          <a:latin typeface="IBM Plex Sans" pitchFamily="34" charset="0"/>
                          <a:ea typeface="IBM Plex Sans" pitchFamily="34" charset="-122"/>
                          <a:cs typeface="IBM Plex Sans" pitchFamily="34" charset="-120"/>
                        </a:rPr>
                        <a:t>cle: "a: b"</a:t>
                      </a:r>
                      <a:endParaRPr lang="en-US" sz="1264" dirty="0">
                        <a:latin typeface="IBM Plex Sans" charset="0"/>
                        <a:ea typeface="IBM Plex Sans" charset="0"/>
                        <a:cs typeface="IBM Plex Sans" charset="0"/>
                      </a:endParaRPr>
                    </a:p>
                  </a:txBody>
                  <a:tcPr marL="56201" marR="56201" marT="56201" marB="56201"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sp>
        <p:nvSpPr>
          <p:cNvPr id="6" name="Shape 3"/>
          <p:cNvSpPr/>
          <p:nvPr/>
        </p:nvSpPr>
        <p:spPr>
          <a:xfrm>
            <a:off x="812800" y="5076379"/>
            <a:ext cx="10566400" cy="765598"/>
          </a:xfrm>
          <a:prstGeom prst="roundRect">
            <a:avLst>
              <a:gd name="adj" fmla="val 16588"/>
            </a:avLst>
          </a:prstGeom>
          <a:solidFill>
            <a:srgbClr val="0B0748"/>
          </a:solidFill>
          <a:ln/>
        </p:spPr>
      </p:sp>
      <p:pic>
        <p:nvPicPr>
          <p:cNvPr id="7" name="Image 0" descr="Lightbulb">    </p:cNvPr>
          <p:cNvPicPr>
            <a:picLocks noChangeAspect="1"/>
          </p:cNvPicPr>
          <p:nvPr/>
        </p:nvPicPr>
        <p:blipFill>
          <a:blip r:embed="rId1"/>
          <a:srcRect l="0" r="0" t="0" b="0"/>
          <a:stretch/>
        </p:blipFill>
        <p:spPr>
          <a:xfrm>
            <a:off x="1028700" y="5319514"/>
            <a:ext cx="279400" cy="279400"/>
          </a:xfrm>
          <a:prstGeom prst="rect">
            <a:avLst/>
          </a:prstGeom>
        </p:spPr>
      </p:pic>
      <p:sp>
        <p:nvSpPr>
          <p:cNvPr id="8" name="Text 4"/>
          <p:cNvSpPr/>
          <p:nvPr/>
        </p:nvSpPr>
        <p:spPr>
          <a:xfrm>
            <a:off x="1460500" y="5219154"/>
            <a:ext cx="9993884" cy="50546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F8F66"/>
                </a:solidFill>
                <a:latin typeface="IBM Plex Sans" pitchFamily="34" charset="0"/>
                <a:ea typeface="IBM Plex Sans" pitchFamily="34" charset="-122"/>
                <a:cs typeface="IBM Plex Sans" pitchFamily="34" charset="-120"/>
              </a:rPr>
              <a:t>Règle simple</a:t>
            </a:r>
            <a:r>
              <a:rPr lang="en-US" sz="1350" dirty="0">
                <a:solidFill>
                  <a:srgbClr val="ECEAFF"/>
                </a:solidFill>
                <a:latin typeface="IBM Plex Sans" pitchFamily="34" charset="0"/>
                <a:ea typeface="IBM Plex Sans" pitchFamily="34" charset="-122"/>
                <a:cs typeface="IBM Plex Sans" pitchFamily="34" charset="-120"/>
              </a:rPr>
              <a:t> : guillemets pour les labels, annotations et variables d'environnement ; pas de guillemets pour les ports, réplicas et tailles. "9898" entre guillemets serait refusé par containerPort.</a:t>
            </a:r>
            <a:endParaRPr lang="en-US" sz="1350" dirty="0"/>
          </a:p>
        </p:txBody>
      </p:sp>
      <p:pic>
        <p:nvPicPr>
          <p:cNvPr id="9" name="Image 1" descr="preencoded.png">    </p:cNvPr>
          <p:cNvPicPr>
            <a:picLocks noChangeAspect="1"/>
          </p:cNvPicPr>
          <p:nvPr/>
        </p:nvPicPr>
        <p:blipFill>
          <a:blip r:embed="rId2"/>
          <a:srcRect l="0" r="0" t="0" b="0"/>
          <a:stretch/>
        </p:blipFill>
        <p:spPr>
          <a:xfrm>
            <a:off x="812800" y="6299200"/>
            <a:ext cx="152400" cy="152400"/>
          </a:xfrm>
          <a:prstGeom prst="rect">
            <a:avLst/>
          </a:prstGeom>
        </p:spPr>
      </p:pic>
      <p:sp>
        <p:nvSpPr>
          <p:cNvPr id="10" name="Text 5"/>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1" name="Image 2" descr="Parcours : module 6 sur 16">    </p:cNvPr>
          <p:cNvPicPr>
            <a:picLocks noChangeAspect="1"/>
          </p:cNvPicPr>
          <p:nvPr/>
        </p:nvPicPr>
        <p:blipFill>
          <a:blip r:embed="rId3"/>
          <a:srcRect l="0" r="0" t="0" b="0"/>
          <a:stretch/>
        </p:blipFill>
        <p:spPr>
          <a:xfrm>
            <a:off x="9207500" y="6299200"/>
            <a:ext cx="2171700" cy="1524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06 · YAML ET MANIFESTES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Anatomie d'un objet</a:t>
            </a:r>
            <a:endParaRPr lang="en-US" sz="2800" dirty="0"/>
          </a:p>
        </p:txBody>
      </p:sp>
      <p:sp>
        <p:nvSpPr>
          <p:cNvPr id="4" name="Text 2"/>
          <p:cNvSpPr/>
          <p:nvPr/>
        </p:nvSpPr>
        <p:spPr>
          <a:xfrm>
            <a:off x="812800" y="1569740"/>
            <a:ext cx="6413500" cy="4272280"/>
          </a:xfrm>
          <a:prstGeom prst="roundRect">
            <a:avLst>
              <a:gd name="adj" fmla="val 2378"/>
            </a:avLst>
          </a:prstGeom>
          <a:solidFill>
            <a:srgbClr val="0B0748"/>
          </a:solidFill>
          <a:ln/>
        </p:spPr>
        <p:txBody>
          <a:bodyPr wrap="none" lIns="160742" tIns="135342" rIns="0" bIns="135342" rtlCol="0" anchor="ctr">
            <a:normAutofit/>
          </a:bodyPr>
          <a:lstStyle/>
          <a:p>
            <a:pPr algn="l" indent="0" marL="0">
              <a:lnSpc>
                <a:spcPts val="1800"/>
              </a:lnSpc>
              <a:buNone/>
            </a:pPr>
            <a:r>
              <a:rPr lang="en-US" sz="1200" dirty="0">
                <a:solidFill>
                  <a:srgbClr val="FFB08F"/>
                </a:solidFill>
                <a:latin typeface="JetBrains Mono" pitchFamily="49" charset="0"/>
                <a:ea typeface="JetBrains Mono" pitchFamily="49" charset="-122"/>
                <a:cs typeface="JetBrains Mono" pitchFamily="49" charset="-120"/>
              </a:rPr>
              <a:t>apiVersion:</a:t>
            </a:r>
            <a:r>
              <a:rPr lang="en-US" sz="1200" dirty="0">
                <a:solidFill>
                  <a:srgbClr val="ECEAFF"/>
                </a:solidFill>
                <a:latin typeface="JetBrains Mono" pitchFamily="49" charset="0"/>
                <a:ea typeface="JetBrains Mono" pitchFamily="49" charset="-122"/>
                <a:cs typeface="JetBrains Mono" pitchFamily="49" charset="-120"/>
              </a:rPr>
              <a:t> v1            </a:t>
            </a:r>
            <a:r>
              <a:rPr lang="en-US" sz="1200" dirty="0">
                <a:solidFill>
                  <a:srgbClr val="9A96D0"/>
                </a:solidFill>
                <a:latin typeface="JetBrains Mono" pitchFamily="49" charset="0"/>
                <a:ea typeface="JetBrains Mono" pitchFamily="49" charset="-122"/>
                <a:cs typeface="JetBrains Mono" pitchFamily="49" charset="-120"/>
              </a:rPr>
              <a:t># groupe/version de l'API</a:t>
            </a:r>
            <a:endParaRPr lang="en-US" sz="1200" dirty="0"/>
          </a:p>
          <a:p>
            <a:pPr algn="l" indent="0" marL="0">
              <a:lnSpc>
                <a:spcPts val="1800"/>
              </a:lnSpc>
              <a:buNone/>
            </a:pPr>
            <a:r>
              <a:rPr lang="en-US" sz="1200" dirty="0">
                <a:solidFill>
                  <a:srgbClr val="FFB08F"/>
                </a:solidFill>
                <a:latin typeface="JetBrains Mono" pitchFamily="49" charset="0"/>
                <a:ea typeface="JetBrains Mono" pitchFamily="49" charset="-122"/>
                <a:cs typeface="JetBrains Mono" pitchFamily="49" charset="-120"/>
              </a:rPr>
              <a:t>kind:</a:t>
            </a:r>
            <a:r>
              <a:rPr lang="en-US" sz="1200" dirty="0">
                <a:solidFill>
                  <a:srgbClr val="ECEAFF"/>
                </a:solidFill>
                <a:latin typeface="JetBrains Mono" pitchFamily="49" charset="0"/>
                <a:ea typeface="JetBrains Mono" pitchFamily="49" charset="-122"/>
                <a:cs typeface="JetBrains Mono" pitchFamily="49" charset="-120"/>
              </a:rPr>
              <a:t> Pod                 </a:t>
            </a:r>
            <a:r>
              <a:rPr lang="en-US" sz="1200" dirty="0">
                <a:solidFill>
                  <a:srgbClr val="9A96D0"/>
                </a:solidFill>
                <a:latin typeface="JetBrains Mono" pitchFamily="49" charset="0"/>
                <a:ea typeface="JetBrains Mono" pitchFamily="49" charset="-122"/>
                <a:cs typeface="JetBrains Mono" pitchFamily="49" charset="-120"/>
              </a:rPr>
              <a:t># type d'objet</a:t>
            </a:r>
            <a:endParaRPr lang="en-US" sz="1200" dirty="0"/>
          </a:p>
          <a:p>
            <a:pPr algn="l" indent="0" marL="0">
              <a:lnSpc>
                <a:spcPts val="1800"/>
              </a:lnSpc>
              <a:buNone/>
            </a:pPr>
            <a:r>
              <a:rPr lang="en-US" sz="1200" dirty="0">
                <a:solidFill>
                  <a:srgbClr val="FFB08F"/>
                </a:solidFill>
                <a:latin typeface="JetBrains Mono" pitchFamily="49" charset="0"/>
                <a:ea typeface="JetBrains Mono" pitchFamily="49" charset="-122"/>
                <a:cs typeface="JetBrains Mono" pitchFamily="49" charset="-120"/>
              </a:rPr>
              <a:t>metadata:</a:t>
            </a: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9A96D0"/>
                </a:solidFill>
                <a:latin typeface="JetBrains Mono" pitchFamily="49" charset="0"/>
                <a:ea typeface="JetBrains Mono" pitchFamily="49" charset="-122"/>
                <a:cs typeface="JetBrains Mono" pitchFamily="49" charset="-120"/>
              </a:rPr>
              <a:t># identité et métadonnées</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name: podinfo           </a:t>
            </a:r>
            <a:r>
              <a:rPr lang="en-US" sz="1200" dirty="0">
                <a:solidFill>
                  <a:srgbClr val="9A96D0"/>
                </a:solidFill>
                <a:latin typeface="JetBrains Mono" pitchFamily="49" charset="0"/>
                <a:ea typeface="JetBrains Mono" pitchFamily="49" charset="-122"/>
                <a:cs typeface="JetBrains Mono" pitchFamily="49" charset="-120"/>
              </a:rPr>
              <a:t># unique par type et par namespace</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namespace: fil-rouge    </a:t>
            </a:r>
            <a:r>
              <a:rPr lang="en-US" sz="1200" dirty="0">
                <a:solidFill>
                  <a:srgbClr val="9A96D0"/>
                </a:solidFill>
                <a:latin typeface="JetBrains Mono" pitchFamily="49" charset="0"/>
                <a:ea typeface="JetBrains Mono" pitchFamily="49" charset="-122"/>
                <a:cs typeface="JetBrains Mono" pitchFamily="49" charset="-120"/>
              </a:rPr>
              <a:t># sinon le namespace courant</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labels:                 </a:t>
            </a:r>
            <a:r>
              <a:rPr lang="en-US" sz="1200" dirty="0">
                <a:solidFill>
                  <a:srgbClr val="9A96D0"/>
                </a:solidFill>
                <a:latin typeface="JetBrains Mono" pitchFamily="49" charset="0"/>
                <a:ea typeface="JetBrains Mono" pitchFamily="49" charset="-122"/>
                <a:cs typeface="JetBrains Mono" pitchFamily="49" charset="-120"/>
              </a:rPr>
              <a:t># pour sélectionner (module 12)</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app: podinfo</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annotations:            </a:t>
            </a:r>
            <a:r>
              <a:rPr lang="en-US" sz="1200" dirty="0">
                <a:solidFill>
                  <a:srgbClr val="9A96D0"/>
                </a:solidFill>
                <a:latin typeface="JetBrains Mono" pitchFamily="49" charset="0"/>
                <a:ea typeface="JetBrains Mono" pitchFamily="49" charset="-122"/>
                <a:cs typeface="JetBrains Mono" pitchFamily="49" charset="-120"/>
              </a:rPr>
              <a:t># pour documenter, configurer un outil</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description: "Pod de démonstration"</a:t>
            </a:r>
            <a:endParaRPr lang="en-US" sz="1200" dirty="0"/>
          </a:p>
          <a:p>
            <a:pPr algn="l" indent="0" marL="0">
              <a:lnSpc>
                <a:spcPts val="1800"/>
              </a:lnSpc>
              <a:buNone/>
            </a:pPr>
            <a:r>
              <a:rPr lang="en-US" sz="1200" dirty="0">
                <a:solidFill>
                  <a:srgbClr val="FFB08F"/>
                </a:solidFill>
                <a:latin typeface="JetBrains Mono" pitchFamily="49" charset="0"/>
                <a:ea typeface="JetBrains Mono" pitchFamily="49" charset="-122"/>
                <a:cs typeface="JetBrains Mono" pitchFamily="49" charset="-120"/>
              </a:rPr>
              <a:t>spec:</a:t>
            </a: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9A96D0"/>
                </a:solidFill>
                <a:latin typeface="JetBrains Mono" pitchFamily="49" charset="0"/>
                <a:ea typeface="JetBrains Mono" pitchFamily="49" charset="-122"/>
                <a:cs typeface="JetBrains Mono" pitchFamily="49" charset="-120"/>
              </a:rPr>
              <a:t># état désiré, propre à chaque kind</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containers:</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 name: podinfo</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image: ghcr.io/stefanprodan/podinfo:6.7.0</a:t>
            </a:r>
            <a:endParaRPr lang="en-US" sz="1200" dirty="0"/>
          </a:p>
          <a:p>
            <a:pPr algn="l" indent="0" marL="0">
              <a:lnSpc>
                <a:spcPts val="1800"/>
              </a:lnSpc>
              <a:buNone/>
            </a:pPr>
            <a:r>
              <a:rPr lang="en-US" sz="1200" dirty="0">
                <a:solidFill>
                  <a:srgbClr val="6D69B0"/>
                </a:solidFill>
                <a:latin typeface="JetBrains Mono" pitchFamily="49" charset="0"/>
                <a:ea typeface="JetBrains Mono" pitchFamily="49" charset="-122"/>
                <a:cs typeface="JetBrains Mono" pitchFamily="49" charset="-120"/>
              </a:rPr>
              <a:t># status:                 état observé, rempli par Kubernetes</a:t>
            </a:r>
            <a:endParaRPr lang="en-US" sz="1200" dirty="0"/>
          </a:p>
        </p:txBody>
      </p:sp>
      <p:sp>
        <p:nvSpPr>
          <p:cNvPr id="5" name="Shape 3"/>
          <p:cNvSpPr/>
          <p:nvPr/>
        </p:nvSpPr>
        <p:spPr>
          <a:xfrm>
            <a:off x="7483475" y="1572915"/>
            <a:ext cx="3892550" cy="1624542"/>
          </a:xfrm>
          <a:prstGeom prst="roundRect">
            <a:avLst>
              <a:gd name="adj" fmla="val 7622"/>
            </a:avLst>
          </a:prstGeom>
          <a:solidFill>
            <a:srgbClr val="FDFDFF"/>
          </a:solidFill>
          <a:ln w="6350">
            <a:solidFill>
              <a:srgbClr val="E1DFEE"/>
            </a:solidFill>
            <a:prstDash val="solid"/>
          </a:ln>
        </p:spPr>
      </p:sp>
      <p:sp>
        <p:nvSpPr>
          <p:cNvPr id="6" name="Text 4"/>
          <p:cNvSpPr/>
          <p:nvPr/>
        </p:nvSpPr>
        <p:spPr>
          <a:xfrm>
            <a:off x="7677891" y="1754634"/>
            <a:ext cx="36088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RÈGLES DE NOMMAGE</a:t>
            </a:r>
            <a:endParaRPr lang="en-US" sz="1200" dirty="0"/>
          </a:p>
        </p:txBody>
      </p:sp>
      <p:sp>
        <p:nvSpPr>
          <p:cNvPr id="7" name="Text 5"/>
          <p:cNvSpPr/>
          <p:nvPr/>
        </p:nvSpPr>
        <p:spPr>
          <a:xfrm>
            <a:off x="7677891" y="2031454"/>
            <a:ext cx="3608830"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3F3C6B"/>
                </a:solidFill>
                <a:latin typeface="IBM Plex Sans" pitchFamily="34" charset="0"/>
                <a:ea typeface="IBM Plex Sans" pitchFamily="34" charset="-122"/>
                <a:cs typeface="IBM Plex Sans" pitchFamily="34" charset="-120"/>
              </a:rPr>
              <a:t>Norme DNS : minuscules, chiffres et tirets, commençant et finissant par un alphanumérique ; 253 caractères au plus, 63 pour un Service.</a:t>
            </a:r>
            <a:endParaRPr lang="en-US" sz="1250" dirty="0"/>
          </a:p>
        </p:txBody>
      </p:sp>
      <p:sp>
        <p:nvSpPr>
          <p:cNvPr id="8" name="Text 6"/>
          <p:cNvSpPr/>
          <p:nvPr/>
        </p:nvSpPr>
        <p:spPr>
          <a:xfrm>
            <a:off x="7677891" y="2785517"/>
            <a:ext cx="3608830" cy="255588"/>
          </a:xfrm>
          <a:prstGeom prst="rect">
            <a:avLst/>
          </a:prstGeom>
          <a:noFill/>
          <a:ln/>
        </p:spPr>
        <p:txBody>
          <a:bodyPr wrap="square" lIns="0" tIns="0" rIns="0" bIns="0" rtlCol="0" anchor="t">
            <a:normAutofit/>
          </a:bodyPr>
          <a:lstStyle/>
          <a:p>
            <a:pPr algn="l" indent="0" marL="0">
              <a:lnSpc>
                <a:spcPts val="1813"/>
              </a:lnSpc>
              <a:buNone/>
            </a:pPr>
            <a:r>
              <a:rPr lang="en-US" sz="1250" b="1" dirty="0">
                <a:solidFill>
                  <a:srgbClr val="0B0748"/>
                </a:solidFill>
                <a:latin typeface="IBM Plex Sans" pitchFamily="34" charset="0"/>
                <a:ea typeface="IBM Plex Sans" pitchFamily="34" charset="-122"/>
                <a:cs typeface="IBM Plex Sans" pitchFamily="34" charset="-120"/>
              </a:rPr>
              <a:t>Podinfo</a:t>
            </a:r>
            <a:r>
              <a:rPr lang="en-US" sz="1250" dirty="0">
                <a:solidFill>
                  <a:srgbClr val="0B0748"/>
                </a:solidFill>
                <a:latin typeface="IBM Plex Sans" pitchFamily="34" charset="0"/>
                <a:ea typeface="IBM Plex Sans" pitchFamily="34" charset="-122"/>
                <a:cs typeface="IBM Plex Sans" pitchFamily="34" charset="-120"/>
              </a:rPr>
              <a:t> ou </a:t>
            </a:r>
            <a:r>
              <a:rPr lang="en-US" sz="1250" b="1" dirty="0">
                <a:solidFill>
                  <a:srgbClr val="0B0748"/>
                </a:solidFill>
                <a:latin typeface="IBM Plex Sans" pitchFamily="34" charset="0"/>
                <a:ea typeface="IBM Plex Sans" pitchFamily="34" charset="-122"/>
                <a:cs typeface="IBM Plex Sans" pitchFamily="34" charset="-120"/>
              </a:rPr>
              <a:t>pod_info</a:t>
            </a:r>
            <a:r>
              <a:rPr lang="en-US" sz="1250" dirty="0">
                <a:solidFill>
                  <a:srgbClr val="0B0748"/>
                </a:solidFill>
                <a:latin typeface="IBM Plex Sans" pitchFamily="34" charset="0"/>
                <a:ea typeface="IBM Plex Sans" pitchFamily="34" charset="-122"/>
                <a:cs typeface="IBM Plex Sans" pitchFamily="34" charset="-120"/>
              </a:rPr>
              <a:t> sont refusés.</a:t>
            </a:r>
            <a:endParaRPr lang="en-US" sz="1250" dirty="0"/>
          </a:p>
        </p:txBody>
      </p:sp>
      <p:sp>
        <p:nvSpPr>
          <p:cNvPr id="9" name="Shape 7"/>
          <p:cNvSpPr/>
          <p:nvPr/>
        </p:nvSpPr>
        <p:spPr>
          <a:xfrm>
            <a:off x="7483475" y="3343473"/>
            <a:ext cx="3892550" cy="2495338"/>
          </a:xfrm>
          <a:prstGeom prst="roundRect">
            <a:avLst>
              <a:gd name="adj" fmla="val 4962"/>
            </a:avLst>
          </a:prstGeom>
          <a:solidFill>
            <a:srgbClr val="FDFDFF"/>
          </a:solidFill>
          <a:ln w="6350">
            <a:solidFill>
              <a:srgbClr val="E1DFEE"/>
            </a:solidFill>
            <a:prstDash val="solid"/>
          </a:ln>
        </p:spPr>
      </p:sp>
      <p:sp>
        <p:nvSpPr>
          <p:cNvPr id="10" name="Text 8"/>
          <p:cNvSpPr/>
          <p:nvPr/>
        </p:nvSpPr>
        <p:spPr>
          <a:xfrm>
            <a:off x="7677891" y="3525193"/>
            <a:ext cx="36088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AJOUTÉS PAR LE SERVEUR</a:t>
            </a:r>
            <a:endParaRPr lang="en-US" sz="1200" dirty="0"/>
          </a:p>
        </p:txBody>
      </p:sp>
      <p:sp>
        <p:nvSpPr>
          <p:cNvPr id="11" name="Text 9"/>
          <p:cNvSpPr/>
          <p:nvPr/>
        </p:nvSpPr>
        <p:spPr>
          <a:xfrm>
            <a:off x="7677891" y="3802062"/>
            <a:ext cx="3608830"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3F3C6B"/>
                </a:solidFill>
                <a:latin typeface="IBM Plex Sans" pitchFamily="34" charset="0"/>
                <a:ea typeface="IBM Plex Sans" pitchFamily="34" charset="-122"/>
                <a:cs typeface="IBM Plex Sans" pitchFamily="34" charset="-120"/>
              </a:rPr>
              <a:t>uid, resourceVersion, generation, creationTimestamp, parfois ownerReferences et finalizers.</a:t>
            </a:r>
            <a:endParaRPr lang="en-US" sz="1250" dirty="0"/>
          </a:p>
        </p:txBody>
      </p:sp>
      <p:sp>
        <p:nvSpPr>
          <p:cNvPr id="12" name="Text 10"/>
          <p:cNvSpPr/>
          <p:nvPr/>
        </p:nvSpPr>
        <p:spPr>
          <a:xfrm>
            <a:off x="7677891" y="4556125"/>
            <a:ext cx="3608830" cy="255588"/>
          </a:xfrm>
          <a:prstGeom prst="rect">
            <a:avLst/>
          </a:prstGeom>
          <a:noFill/>
          <a:ln/>
        </p:spPr>
        <p:txBody>
          <a:bodyPr wrap="square" lIns="0" tIns="0" rIns="0" bIns="0" rtlCol="0" anchor="t">
            <a:normAutofit/>
          </a:bodyPr>
          <a:lstStyle/>
          <a:p>
            <a:pPr algn="l" indent="0" marL="0">
              <a:lnSpc>
                <a:spcPts val="1813"/>
              </a:lnSpc>
              <a:buNone/>
            </a:pPr>
            <a:r>
              <a:rPr lang="en-US" sz="1250" b="1" dirty="0">
                <a:solidFill>
                  <a:srgbClr val="0B0748"/>
                </a:solidFill>
                <a:latin typeface="IBM Plex Sans" pitchFamily="34" charset="0"/>
                <a:ea typeface="IBM Plex Sans" pitchFamily="34" charset="-122"/>
                <a:cs typeface="IBM Plex Sans" pitchFamily="34" charset="-120"/>
              </a:rPr>
              <a:t>Ne les recopiez pas dans vos fichiers.</a:t>
            </a:r>
            <a:endParaRPr lang="en-US" sz="1250" dirty="0"/>
          </a:p>
        </p:txBody>
      </p:sp>
      <p:pic>
        <p:nvPicPr>
          <p:cNvPr id="13"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4" name="Text 11"/>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5" name="Image 1" descr="Parcours : module 6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06 · YAML ET MANIFESTES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Trouver les bons champs</a:t>
            </a:r>
            <a:endParaRPr lang="en-US" sz="2800" dirty="0"/>
          </a:p>
        </p:txBody>
      </p:sp>
      <p:sp>
        <p:nvSpPr>
          <p:cNvPr id="4" name="Text 2"/>
          <p:cNvSpPr/>
          <p:nvPr/>
        </p:nvSpPr>
        <p:spPr>
          <a:xfrm>
            <a:off x="812800" y="151894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Inutile d'apprendre les schémas par cœur : la documentation est dans le cluster.</a:t>
            </a:r>
            <a:endParaRPr lang="en-US" sz="1500" dirty="0"/>
          </a:p>
        </p:txBody>
      </p:sp>
      <p:sp>
        <p:nvSpPr>
          <p:cNvPr id="5" name="Text 3"/>
          <p:cNvSpPr/>
          <p:nvPr/>
        </p:nvSpPr>
        <p:spPr>
          <a:xfrm>
            <a:off x="812800" y="1963440"/>
            <a:ext cx="10566400" cy="1010920"/>
          </a:xfrm>
          <a:prstGeom prst="roundRect">
            <a:avLst>
              <a:gd name="adj" fmla="val 10050"/>
            </a:avLst>
          </a:prstGeom>
          <a:solidFill>
            <a:srgbClr val="0B0748"/>
          </a:solidFill>
          <a:ln/>
        </p:spPr>
        <p:txBody>
          <a:bodyPr wrap="none" lIns="173442" tIns="109942" rIns="0" bIns="84542" rtlCol="0" anchor="t">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explain pod.spec                      </a:t>
            </a:r>
            <a:r>
              <a:rPr lang="en-US" sz="1200" dirty="0">
                <a:solidFill>
                  <a:srgbClr val="9A96D0"/>
                </a:solidFill>
                <a:latin typeface="JetBrains Mono" pitchFamily="49" charset="0"/>
                <a:ea typeface="JetBrains Mono" pitchFamily="49" charset="-122"/>
                <a:cs typeface="JetBrains Mono" pitchFamily="49" charset="-120"/>
              </a:rPr>
              <a:t># les champs de ce niveau</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explain pod.spec.containers.resources </a:t>
            </a:r>
            <a:r>
              <a:rPr lang="en-US" sz="1200" dirty="0">
                <a:solidFill>
                  <a:srgbClr val="9A96D0"/>
                </a:solidFill>
                <a:latin typeface="JetBrains Mono" pitchFamily="49" charset="0"/>
                <a:ea typeface="JetBrains Mono" pitchFamily="49" charset="-122"/>
                <a:cs typeface="JetBrains Mono" pitchFamily="49" charset="-120"/>
              </a:rPr>
              <a:t># descendre champ par champ</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explain deployment.spec --recursive   </a:t>
            </a:r>
            <a:r>
              <a:rPr lang="en-US" sz="1200" dirty="0">
                <a:solidFill>
                  <a:srgbClr val="9A96D0"/>
                </a:solidFill>
                <a:latin typeface="JetBrains Mono" pitchFamily="49" charset="0"/>
                <a:ea typeface="JetBrains Mono" pitchFamily="49" charset="-122"/>
                <a:cs typeface="JetBrains Mono" pitchFamily="49" charset="-120"/>
              </a:rPr>
              <a:t># toute l'arborescence</a:t>
            </a:r>
            <a:endParaRPr lang="en-US" sz="1200" dirty="0"/>
          </a:p>
        </p:txBody>
      </p:sp>
      <p:sp>
        <p:nvSpPr>
          <p:cNvPr id="6" name="Text 4"/>
          <p:cNvSpPr/>
          <p:nvPr/>
        </p:nvSpPr>
        <p:spPr>
          <a:xfrm>
            <a:off x="812800" y="32029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PARTIR D'UN SQUELETTE CORRECT, GÉNÉRÉ SANS RIEN CRÉER</a:t>
            </a:r>
            <a:endParaRPr lang="en-US" sz="1200" dirty="0"/>
          </a:p>
        </p:txBody>
      </p:sp>
      <p:sp>
        <p:nvSpPr>
          <p:cNvPr id="7" name="Text 5"/>
          <p:cNvSpPr/>
          <p:nvPr/>
        </p:nvSpPr>
        <p:spPr>
          <a:xfrm>
            <a:off x="812800" y="3594100"/>
            <a:ext cx="10566400" cy="1742440"/>
          </a:xfrm>
          <a:prstGeom prst="roundRect">
            <a:avLst>
              <a:gd name="adj" fmla="val 5831"/>
            </a:avLst>
          </a:prstGeom>
          <a:solidFill>
            <a:srgbClr val="0B0748"/>
          </a:solidFill>
          <a:ln/>
        </p:spPr>
        <p:txBody>
          <a:bodyPr wrap="none" lIns="173442" tIns="109942" rIns="0" bIns="84542" rtlCol="0" anchor="t">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create deployment web --image=ghcr.io/stefanprodan/podinfo:6.7.0 \</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--replicas=3 </a:t>
            </a:r>
            <a:r>
              <a:rPr lang="en-US" sz="1200" dirty="0">
                <a:solidFill>
                  <a:srgbClr val="FFB08F"/>
                </a:solidFill>
                <a:latin typeface="JetBrains Mono" pitchFamily="49" charset="0"/>
                <a:ea typeface="JetBrains Mono" pitchFamily="49" charset="-122"/>
                <a:cs typeface="JetBrains Mono" pitchFamily="49" charset="-120"/>
              </a:rPr>
              <a:t>--dry-run=client -o yaml</a:t>
            </a:r>
            <a:r>
              <a:rPr lang="en-US" sz="1200" dirty="0">
                <a:solidFill>
                  <a:srgbClr val="ECEAFF"/>
                </a:solidFill>
                <a:latin typeface="JetBrains Mono" pitchFamily="49" charset="0"/>
                <a:ea typeface="JetBrains Mono" pitchFamily="49" charset="-122"/>
                <a:cs typeface="JetBrains Mono" pitchFamily="49" charset="-120"/>
              </a:rPr>
              <a:t> &gt; web.yaml</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run test --image=mirror.gcr.io/library/busybox:1.36 </a:t>
            </a:r>
            <a:r>
              <a:rPr lang="en-US" sz="1200" dirty="0">
                <a:solidFill>
                  <a:srgbClr val="FFB08F"/>
                </a:solidFill>
                <a:latin typeface="JetBrains Mono" pitchFamily="49" charset="0"/>
                <a:ea typeface="JetBrains Mono" pitchFamily="49" charset="-122"/>
                <a:cs typeface="JetBrains Mono" pitchFamily="49" charset="-120"/>
              </a:rPr>
              <a:t>--dry-run=client -o yaml</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create configmap conf --from-literal=MODE=prod </a:t>
            </a:r>
            <a:r>
              <a:rPr lang="en-US" sz="1200" dirty="0">
                <a:solidFill>
                  <a:srgbClr val="FFB08F"/>
                </a:solidFill>
                <a:latin typeface="JetBrains Mono" pitchFamily="49" charset="0"/>
                <a:ea typeface="JetBrains Mono" pitchFamily="49" charset="-122"/>
                <a:cs typeface="JetBrains Mono" pitchFamily="49" charset="-120"/>
              </a:rPr>
              <a:t>--dry-run=client -o yaml</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create job sauvegarde --image=mirror.gcr.io/library/busybox:1.36 </a:t>
            </a:r>
            <a:r>
              <a:rPr lang="en-US" sz="1200" dirty="0">
                <a:solidFill>
                  <a:srgbClr val="FFB08F"/>
                </a:solidFill>
                <a:latin typeface="JetBrains Mono" pitchFamily="49" charset="0"/>
                <a:ea typeface="JetBrains Mono" pitchFamily="49" charset="-122"/>
                <a:cs typeface="JetBrains Mono" pitchFamily="49" charset="-120"/>
              </a:rPr>
              <a:t>--dry-run=client -o yaml</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expose deployment web --port=9898 </a:t>
            </a:r>
            <a:r>
              <a:rPr lang="en-US" sz="1200" dirty="0">
                <a:solidFill>
                  <a:srgbClr val="FFB08F"/>
                </a:solidFill>
                <a:latin typeface="JetBrains Mono" pitchFamily="49" charset="0"/>
                <a:ea typeface="JetBrains Mono" pitchFamily="49" charset="-122"/>
                <a:cs typeface="JetBrains Mono" pitchFamily="49" charset="-120"/>
              </a:rPr>
              <a:t>--dry-run=client -o yaml</a:t>
            </a:r>
            <a:endParaRPr lang="en-US" sz="1200" dirty="0"/>
          </a:p>
        </p:txBody>
      </p:sp>
      <p:pic>
        <p:nvPicPr>
          <p:cNvPr id="8"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9" name="Text 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0" name="Image 1" descr="Parcours : module 6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06 · YAML ET MANIFESTES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Trois façons de créer des objets</a:t>
            </a:r>
            <a:endParaRPr lang="en-US" sz="2800" dirty="0"/>
          </a:p>
        </p:txBody>
      </p:sp>
      <p:sp>
        <p:nvSpPr>
          <p:cNvPr id="4" name="Shape 2"/>
          <p:cNvSpPr/>
          <p:nvPr/>
        </p:nvSpPr>
        <p:spPr>
          <a:xfrm>
            <a:off x="815975" y="1572915"/>
            <a:ext cx="3418840" cy="1893570"/>
          </a:xfrm>
          <a:prstGeom prst="roundRect">
            <a:avLst>
              <a:gd name="adj" fmla="val 6539"/>
            </a:avLst>
          </a:prstGeom>
          <a:solidFill>
            <a:srgbClr val="FDFDFF"/>
          </a:solidFill>
          <a:ln w="6350">
            <a:solidFill>
              <a:srgbClr val="E1DFEE"/>
            </a:solidFill>
            <a:prstDash val="solid"/>
          </a:ln>
        </p:spPr>
      </p:sp>
      <p:sp>
        <p:nvSpPr>
          <p:cNvPr id="5" name="Text 3"/>
          <p:cNvSpPr/>
          <p:nvPr/>
        </p:nvSpPr>
        <p:spPr>
          <a:xfrm>
            <a:off x="1023091" y="1754634"/>
            <a:ext cx="30947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COMMANDES IMPÉRATIVES</a:t>
            </a:r>
            <a:endParaRPr lang="en-US" sz="1200" dirty="0"/>
          </a:p>
        </p:txBody>
      </p:sp>
      <p:sp>
        <p:nvSpPr>
          <p:cNvPr id="6" name="Text 4"/>
          <p:cNvSpPr/>
          <p:nvPr/>
        </p:nvSpPr>
        <p:spPr>
          <a:xfrm>
            <a:off x="1023091" y="2044154"/>
            <a:ext cx="30947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run, create, scale, set image</a:t>
            </a:r>
            <a:endParaRPr lang="en-US" sz="1200" dirty="0"/>
          </a:p>
        </p:txBody>
      </p:sp>
      <p:sp>
        <p:nvSpPr>
          <p:cNvPr id="7" name="Text 5"/>
          <p:cNvSpPr/>
          <p:nvPr/>
        </p:nvSpPr>
        <p:spPr>
          <a:xfrm>
            <a:off x="1023091" y="2333724"/>
            <a:ext cx="3094747"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F3C6B"/>
                </a:solidFill>
                <a:latin typeface="IBM Plex Sans" pitchFamily="34" charset="0"/>
                <a:ea typeface="IBM Plex Sans" pitchFamily="34" charset="-122"/>
                <a:cs typeface="IBM Plex Sans" pitchFamily="34" charset="-120"/>
              </a:rPr>
              <a:t>+</a:t>
            </a:r>
            <a:r>
              <a:rPr lang="en-US" sz="1250" dirty="0">
                <a:solidFill>
                  <a:srgbClr val="3F3C6B"/>
                </a:solidFill>
                <a:latin typeface="IBM Plex Sans" pitchFamily="34" charset="0"/>
                <a:ea typeface="IBM Plex Sans" pitchFamily="34" charset="-122"/>
                <a:cs typeface="IBM Plex Sans" pitchFamily="34" charset="-120"/>
              </a:rPr>
              <a:t> rapide pour tester</a:t>
            </a:r>
            <a:endParaRPr lang="en-US" sz="1250" dirty="0"/>
          </a:p>
        </p:txBody>
      </p:sp>
      <p:sp>
        <p:nvSpPr>
          <p:cNvPr id="8" name="Text 6"/>
          <p:cNvSpPr/>
          <p:nvPr/>
        </p:nvSpPr>
        <p:spPr>
          <a:xfrm>
            <a:off x="1023091" y="2632174"/>
            <a:ext cx="3094747"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F3C6B"/>
                </a:solidFill>
                <a:latin typeface="IBM Plex Sans" pitchFamily="34" charset="0"/>
                <a:ea typeface="IBM Plex Sans" pitchFamily="34" charset="-122"/>
                <a:cs typeface="IBM Plex Sans" pitchFamily="34" charset="-120"/>
              </a:rPr>
              <a:t>−</a:t>
            </a:r>
            <a:r>
              <a:rPr lang="en-US" sz="1250" dirty="0">
                <a:solidFill>
                  <a:srgbClr val="3F3C6B"/>
                </a:solidFill>
                <a:latin typeface="IBM Plex Sans" pitchFamily="34" charset="0"/>
                <a:ea typeface="IBM Plex Sans" pitchFamily="34" charset="-122"/>
                <a:cs typeface="IBM Plex Sans" pitchFamily="34" charset="-120"/>
              </a:rPr>
              <a:t> aucune trace, non reproductible</a:t>
            </a:r>
            <a:endParaRPr lang="en-US" sz="1250" dirty="0"/>
          </a:p>
        </p:txBody>
      </p:sp>
      <p:sp>
        <p:nvSpPr>
          <p:cNvPr id="9" name="Shape 7"/>
          <p:cNvSpPr/>
          <p:nvPr/>
        </p:nvSpPr>
        <p:spPr>
          <a:xfrm>
            <a:off x="4393565" y="1572915"/>
            <a:ext cx="3418946" cy="1893570"/>
          </a:xfrm>
          <a:prstGeom prst="roundRect">
            <a:avLst>
              <a:gd name="adj" fmla="val 6539"/>
            </a:avLst>
          </a:prstGeom>
          <a:solidFill>
            <a:srgbClr val="FDFDFF"/>
          </a:solidFill>
          <a:ln w="6350">
            <a:solidFill>
              <a:srgbClr val="E1DFEE"/>
            </a:solidFill>
            <a:prstDash val="solid"/>
          </a:ln>
        </p:spPr>
      </p:sp>
      <p:sp>
        <p:nvSpPr>
          <p:cNvPr id="10" name="Text 8"/>
          <p:cNvSpPr/>
          <p:nvPr/>
        </p:nvSpPr>
        <p:spPr>
          <a:xfrm>
            <a:off x="4600681" y="1754634"/>
            <a:ext cx="30948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FICHIERS, MODE IMPÉRATIF</a:t>
            </a:r>
            <a:endParaRPr lang="en-US" sz="1200" dirty="0"/>
          </a:p>
        </p:txBody>
      </p:sp>
      <p:sp>
        <p:nvSpPr>
          <p:cNvPr id="11" name="Text 9"/>
          <p:cNvSpPr/>
          <p:nvPr/>
        </p:nvSpPr>
        <p:spPr>
          <a:xfrm>
            <a:off x="4600681" y="2044154"/>
            <a:ext cx="30948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create -f, replace -f</a:t>
            </a:r>
            <a:endParaRPr lang="en-US" sz="1200" dirty="0"/>
          </a:p>
        </p:txBody>
      </p:sp>
      <p:sp>
        <p:nvSpPr>
          <p:cNvPr id="12" name="Text 10"/>
          <p:cNvSpPr/>
          <p:nvPr/>
        </p:nvSpPr>
        <p:spPr>
          <a:xfrm>
            <a:off x="4600681" y="2333724"/>
            <a:ext cx="3094856"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F3C6B"/>
                </a:solidFill>
                <a:latin typeface="IBM Plex Sans" pitchFamily="34" charset="0"/>
                <a:ea typeface="IBM Plex Sans" pitchFamily="34" charset="-122"/>
                <a:cs typeface="IBM Plex Sans" pitchFamily="34" charset="-120"/>
              </a:rPr>
              <a:t>+</a:t>
            </a:r>
            <a:r>
              <a:rPr lang="en-US" sz="1250" dirty="0">
                <a:solidFill>
                  <a:srgbClr val="3F3C6B"/>
                </a:solidFill>
                <a:latin typeface="IBM Plex Sans" pitchFamily="34" charset="0"/>
                <a:ea typeface="IBM Plex Sans" pitchFamily="34" charset="-122"/>
                <a:cs typeface="IBM Plex Sans" pitchFamily="34" charset="-120"/>
              </a:rPr>
              <a:t> une trace écrite</a:t>
            </a:r>
            <a:endParaRPr lang="en-US" sz="1250" dirty="0"/>
          </a:p>
        </p:txBody>
      </p:sp>
      <p:sp>
        <p:nvSpPr>
          <p:cNvPr id="13" name="Text 11"/>
          <p:cNvSpPr/>
          <p:nvPr/>
        </p:nvSpPr>
        <p:spPr>
          <a:xfrm>
            <a:off x="4600681" y="2632174"/>
            <a:ext cx="3094856"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3F3C6B"/>
                </a:solidFill>
                <a:latin typeface="IBM Plex Sans" pitchFamily="34" charset="0"/>
                <a:ea typeface="IBM Plex Sans" pitchFamily="34" charset="-122"/>
                <a:cs typeface="IBM Plex Sans" pitchFamily="34" charset="-120"/>
              </a:rPr>
              <a:t>−</a:t>
            </a:r>
            <a:r>
              <a:rPr lang="en-US" sz="1250" dirty="0">
                <a:solidFill>
                  <a:srgbClr val="3F3C6B"/>
                </a:solidFill>
                <a:latin typeface="IBM Plex Sans" pitchFamily="34" charset="0"/>
                <a:ea typeface="IBM Plex Sans" pitchFamily="34" charset="-122"/>
                <a:cs typeface="IBM Plex Sans" pitchFamily="34" charset="-120"/>
              </a:rPr>
              <a:t> échoue si l'objet existe, ou écrase tout</a:t>
            </a:r>
            <a:endParaRPr lang="en-US" sz="1250" dirty="0"/>
          </a:p>
        </p:txBody>
      </p:sp>
      <p:sp>
        <p:nvSpPr>
          <p:cNvPr id="14" name="Shape 12"/>
          <p:cNvSpPr/>
          <p:nvPr/>
        </p:nvSpPr>
        <p:spPr>
          <a:xfrm>
            <a:off x="7968086" y="1569740"/>
            <a:ext cx="3411114" cy="1899920"/>
          </a:xfrm>
          <a:prstGeom prst="roundRect">
            <a:avLst>
              <a:gd name="adj" fmla="val 6684"/>
            </a:avLst>
          </a:prstGeom>
          <a:solidFill>
            <a:srgbClr val="0B0748"/>
          </a:solidFill>
          <a:ln/>
        </p:spPr>
      </p:sp>
      <p:sp>
        <p:nvSpPr>
          <p:cNvPr id="15" name="Text 13"/>
          <p:cNvSpPr/>
          <p:nvPr/>
        </p:nvSpPr>
        <p:spPr>
          <a:xfrm>
            <a:off x="8171286" y="1747540"/>
            <a:ext cx="30948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FICHIERS, MODE DÉCLARATIF</a:t>
            </a:r>
            <a:endParaRPr lang="en-US" sz="1200" dirty="0"/>
          </a:p>
        </p:txBody>
      </p:sp>
      <p:sp>
        <p:nvSpPr>
          <p:cNvPr id="16" name="Text 14"/>
          <p:cNvSpPr/>
          <p:nvPr/>
        </p:nvSpPr>
        <p:spPr>
          <a:xfrm>
            <a:off x="8171286" y="2037060"/>
            <a:ext cx="30948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B08F"/>
                </a:solidFill>
                <a:latin typeface="JetBrains Mono" pitchFamily="49" charset="0"/>
                <a:ea typeface="JetBrains Mono" pitchFamily="49" charset="-122"/>
                <a:cs typeface="JetBrains Mono" pitchFamily="49" charset="-120"/>
              </a:rPr>
              <a:t>apply -f</a:t>
            </a:r>
            <a:endParaRPr lang="en-US" sz="1200" dirty="0"/>
          </a:p>
        </p:txBody>
      </p:sp>
      <p:sp>
        <p:nvSpPr>
          <p:cNvPr id="17" name="Text 15"/>
          <p:cNvSpPr/>
          <p:nvPr/>
        </p:nvSpPr>
        <p:spPr>
          <a:xfrm>
            <a:off x="8171286" y="2326630"/>
            <a:ext cx="3094856"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ECEAFF"/>
                </a:solidFill>
                <a:latin typeface="IBM Plex Sans" pitchFamily="34" charset="0"/>
                <a:ea typeface="IBM Plex Sans" pitchFamily="34" charset="-122"/>
                <a:cs typeface="IBM Plex Sans" pitchFamily="34" charset="-120"/>
              </a:rPr>
              <a:t>+</a:t>
            </a:r>
            <a:r>
              <a:rPr lang="en-US" sz="1250" dirty="0">
                <a:solidFill>
                  <a:srgbClr val="ECEAFF"/>
                </a:solidFill>
                <a:latin typeface="IBM Plex Sans" pitchFamily="34" charset="0"/>
                <a:ea typeface="IBM Plex Sans" pitchFamily="34" charset="-122"/>
                <a:cs typeface="IBM Plex Sans" pitchFamily="34" charset="-120"/>
              </a:rPr>
              <a:t> crée ou met à jour, idempotent, versionnable</a:t>
            </a:r>
            <a:endParaRPr lang="en-US" sz="1250" dirty="0"/>
          </a:p>
        </p:txBody>
      </p:sp>
      <p:sp>
        <p:nvSpPr>
          <p:cNvPr id="18" name="Text 16"/>
          <p:cNvSpPr/>
          <p:nvPr/>
        </p:nvSpPr>
        <p:spPr>
          <a:xfrm>
            <a:off x="8171286" y="2847330"/>
            <a:ext cx="3094856"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ECEAFF"/>
                </a:solidFill>
                <a:latin typeface="IBM Plex Sans" pitchFamily="34" charset="0"/>
                <a:ea typeface="IBM Plex Sans" pitchFamily="34" charset="-122"/>
                <a:cs typeface="IBM Plex Sans" pitchFamily="34" charset="-120"/>
              </a:rPr>
              <a:t>−</a:t>
            </a:r>
            <a:r>
              <a:rPr lang="en-US" sz="1250" dirty="0">
                <a:solidFill>
                  <a:srgbClr val="ECEAFF"/>
                </a:solidFill>
                <a:latin typeface="IBM Plex Sans" pitchFamily="34" charset="0"/>
                <a:ea typeface="IBM Plex Sans" pitchFamily="34" charset="-122"/>
                <a:cs typeface="IBM Plex Sans" pitchFamily="34" charset="-120"/>
              </a:rPr>
              <a:t> demande de la discipline : le fichier fait foi</a:t>
            </a:r>
            <a:endParaRPr lang="en-US" sz="1250" dirty="0"/>
          </a:p>
        </p:txBody>
      </p:sp>
      <p:sp>
        <p:nvSpPr>
          <p:cNvPr id="19" name="Text 17"/>
          <p:cNvSpPr/>
          <p:nvPr/>
        </p:nvSpPr>
        <p:spPr>
          <a:xfrm>
            <a:off x="812800" y="3698230"/>
            <a:ext cx="10883392"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F3C6B"/>
                </a:solidFill>
                <a:latin typeface="IBM Plex Sans" pitchFamily="34" charset="0"/>
                <a:ea typeface="IBM Plex Sans" pitchFamily="34" charset="-122"/>
                <a:cs typeface="IBM Plex Sans" pitchFamily="34" charset="-120"/>
              </a:rPr>
              <a:t>apply compare votre fichier, la dernière version appliquée (gardée dans une annotation) et l'objet réel, puis n'envoie que les changements. Avec --server-side, le serveur fait ce calcul et détecte les conflits entre outils.</a:t>
            </a:r>
            <a:endParaRPr lang="en-US" sz="1300" dirty="0"/>
          </a:p>
        </p:txBody>
      </p:sp>
      <p:sp>
        <p:nvSpPr>
          <p:cNvPr id="20" name="Shape 18"/>
          <p:cNvSpPr/>
          <p:nvPr/>
        </p:nvSpPr>
        <p:spPr>
          <a:xfrm>
            <a:off x="812800" y="4765973"/>
            <a:ext cx="10566400" cy="1076007"/>
          </a:xfrm>
          <a:prstGeom prst="roundRect">
            <a:avLst>
              <a:gd name="adj" fmla="val 11803"/>
            </a:avLst>
          </a:prstGeom>
          <a:solidFill>
            <a:srgbClr val="FCE6DC"/>
          </a:solidFill>
          <a:ln/>
        </p:spPr>
      </p:sp>
      <p:pic>
        <p:nvPicPr>
          <p:cNvPr id="21" name="Image 0" descr="Lightbulb">    </p:cNvPr>
          <p:cNvPicPr>
            <a:picLocks noChangeAspect="1"/>
          </p:cNvPicPr>
          <p:nvPr/>
        </p:nvPicPr>
        <p:blipFill>
          <a:blip r:embed="rId1"/>
          <a:srcRect l="0" r="0" t="0" b="0"/>
          <a:stretch/>
        </p:blipFill>
        <p:spPr>
          <a:xfrm>
            <a:off x="1028700" y="4931073"/>
            <a:ext cx="279400" cy="279400"/>
          </a:xfrm>
          <a:prstGeom prst="rect">
            <a:avLst/>
          </a:prstGeom>
        </p:spPr>
      </p:pic>
      <p:sp>
        <p:nvSpPr>
          <p:cNvPr id="22" name="Text 19"/>
          <p:cNvSpPr/>
          <p:nvPr/>
        </p:nvSpPr>
        <p:spPr>
          <a:xfrm>
            <a:off x="1460500" y="4931073"/>
            <a:ext cx="9993884" cy="771207"/>
          </a:xfrm>
          <a:prstGeom prst="rect">
            <a:avLst/>
          </a:prstGeom>
          <a:noFill/>
          <a:ln/>
        </p:spPr>
        <p:txBody>
          <a:bodyPr wrap="square" lIns="0" tIns="0" rIns="0" bIns="0" rtlCol="0" anchor="t">
            <a:normAutofit/>
          </a:bodyPr>
          <a:lstStyle/>
          <a:p>
            <a:pPr algn="l" indent="0" marL="0">
              <a:lnSpc>
                <a:spcPts val="1958"/>
              </a:lnSpc>
              <a:buNone/>
            </a:pPr>
            <a:r>
              <a:rPr lang="en-US" sz="1350" b="1" dirty="0">
                <a:solidFill>
                  <a:srgbClr val="0B0748"/>
                </a:solidFill>
                <a:latin typeface="IBM Plex Sans" pitchFamily="34" charset="0"/>
                <a:ea typeface="IBM Plex Sans" pitchFamily="34" charset="-122"/>
                <a:cs typeface="IBM Plex Sans" pitchFamily="34" charset="-120"/>
              </a:rPr>
              <a:t>Bonne pratique.</a:t>
            </a:r>
            <a:r>
              <a:rPr lang="en-US" sz="1350" dirty="0">
                <a:solidFill>
                  <a:srgbClr val="0B0748"/>
                </a:solidFill>
                <a:latin typeface="IBM Plex Sans" pitchFamily="34" charset="0"/>
                <a:ea typeface="IBM Plex Sans" pitchFamily="34" charset="-122"/>
                <a:cs typeface="IBM Plex Sans" pitchFamily="34" charset="-120"/>
              </a:rPr>
              <a:t> L'impératif sert à explorer et dépanner ; toute modification durable passe par le fichier, puis apply. Une correction d'urgence (set image, edit) se reporte dans le fichier, sinon le prochain apply l'annule. Poussé au bout : </a:t>
            </a:r>
            <a:r>
              <a:rPr lang="en-US" sz="1350" b="1" dirty="0">
                <a:solidFill>
                  <a:srgbClr val="0B0748"/>
                </a:solidFill>
                <a:latin typeface="IBM Plex Sans" pitchFamily="34" charset="0"/>
                <a:ea typeface="IBM Plex Sans" pitchFamily="34" charset="-122"/>
                <a:cs typeface="IBM Plex Sans" pitchFamily="34" charset="-120"/>
              </a:rPr>
              <a:t>GitOps</a:t>
            </a:r>
            <a:r>
              <a:rPr lang="en-US" sz="1350" dirty="0">
                <a:solidFill>
                  <a:srgbClr val="0B0748"/>
                </a:solidFill>
                <a:latin typeface="IBM Plex Sans" pitchFamily="34" charset="0"/>
                <a:ea typeface="IBM Plex Sans" pitchFamily="34" charset="-122"/>
                <a:cs typeface="IBM Plex Sans" pitchFamily="34" charset="-120"/>
              </a:rPr>
              <a:t> (Argo CD, Flux).</a:t>
            </a:r>
            <a:endParaRPr lang="en-US" sz="1350" dirty="0"/>
          </a:p>
        </p:txBody>
      </p:sp>
      <p:pic>
        <p:nvPicPr>
          <p:cNvPr id="23" name="Image 1" descr="preencoded.png">    </p:cNvPr>
          <p:cNvPicPr>
            <a:picLocks noChangeAspect="1"/>
          </p:cNvPicPr>
          <p:nvPr/>
        </p:nvPicPr>
        <p:blipFill>
          <a:blip r:embed="rId2"/>
          <a:srcRect l="0" r="0" t="0" b="0"/>
          <a:stretch/>
        </p:blipFill>
        <p:spPr>
          <a:xfrm>
            <a:off x="812800" y="6299200"/>
            <a:ext cx="152400" cy="152400"/>
          </a:xfrm>
          <a:prstGeom prst="rect">
            <a:avLst/>
          </a:prstGeom>
        </p:spPr>
      </p:pic>
      <p:sp>
        <p:nvSpPr>
          <p:cNvPr id="24" name="Text 2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2" descr="Parcours : module 6 sur 16">    </p:cNvPr>
          <p:cNvPicPr>
            <a:picLocks noChangeAspect="1"/>
          </p:cNvPicPr>
          <p:nvPr/>
        </p:nvPicPr>
        <p:blipFill>
          <a:blip r:embed="rId3"/>
          <a:srcRect l="0" r="0" t="0" b="0"/>
          <a:stretch/>
        </p:blipFill>
        <p:spPr>
          <a:xfrm>
            <a:off x="9207500" y="6299200"/>
            <a:ext cx="2171700" cy="1524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06 · YAML ET MANIFESTES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Travailler avec des fichiers</a:t>
            </a:r>
            <a:endParaRPr lang="en-US" sz="2800" dirty="0"/>
          </a:p>
        </p:txBody>
      </p:sp>
      <p:sp>
        <p:nvSpPr>
          <p:cNvPr id="4" name="Text 2"/>
          <p:cNvSpPr/>
          <p:nvPr/>
        </p:nvSpPr>
        <p:spPr>
          <a:xfrm>
            <a:off x="812800" y="1531640"/>
            <a:ext cx="10566400" cy="1651000"/>
          </a:xfrm>
          <a:prstGeom prst="roundRect">
            <a:avLst>
              <a:gd name="adj" fmla="val 6154"/>
            </a:avLst>
          </a:prstGeom>
          <a:solidFill>
            <a:srgbClr val="0B0748"/>
          </a:solidFill>
          <a:ln/>
        </p:spPr>
        <p:txBody>
          <a:bodyPr wrap="none" lIns="173442" tIns="109942" rIns="0" bIns="84542" rtlCol="0" anchor="t">
            <a:normAutofit/>
          </a:bodyPr>
          <a:lstStyle/>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kubectl apply -f 30-podinfo.yaml                   </a:t>
            </a:r>
            <a:r>
              <a:rPr lang="en-US" sz="1200" dirty="0">
                <a:solidFill>
                  <a:srgbClr val="9A96D0"/>
                </a:solidFill>
                <a:latin typeface="JetBrains Mono" pitchFamily="49" charset="0"/>
                <a:ea typeface="JetBrains Mono" pitchFamily="49" charset="-122"/>
                <a:cs typeface="JetBrains Mono" pitchFamily="49" charset="-120"/>
              </a:rPr>
              <a:t># un fichier</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kubectl apply -f .                                 </a:t>
            </a:r>
            <a:r>
              <a:rPr lang="en-US" sz="1200" dirty="0">
                <a:solidFill>
                  <a:srgbClr val="9A96D0"/>
                </a:solidFill>
                <a:latin typeface="JetBrains Mono" pitchFamily="49" charset="0"/>
                <a:ea typeface="JetBrains Mono" pitchFamily="49" charset="-122"/>
                <a:cs typeface="JetBrains Mono" pitchFamily="49" charset="-120"/>
              </a:rPr>
              <a:t># tout le dossier, par ordre alphabétique</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kubectl apply -f manifests/ -R                     </a:t>
            </a:r>
            <a:r>
              <a:rPr lang="en-US" sz="1200" dirty="0">
                <a:solidFill>
                  <a:srgbClr val="9A96D0"/>
                </a:solidFill>
                <a:latin typeface="JetBrains Mono" pitchFamily="49" charset="0"/>
                <a:ea typeface="JetBrains Mono" pitchFamily="49" charset="-122"/>
                <a:cs typeface="JetBrains Mono" pitchFamily="49" charset="-120"/>
              </a:rPr>
              <a:t># dossier et sous-dossiers</a:t>
            </a:r>
            <a:endParaRPr lang="en-US" sz="1200" dirty="0"/>
          </a:p>
          <a:p>
            <a:pPr algn="l" indent="0" marL="0">
              <a:lnSpc>
                <a:spcPts val="1800"/>
              </a:lnSpc>
              <a:buNone/>
            </a:pPr>
            <a:r>
              <a:rPr lang="en-US" sz="1200" dirty="0">
                <a:solidFill>
                  <a:srgbClr val="FFB08F"/>
                </a:solidFill>
                <a:latin typeface="JetBrains Mono" pitchFamily="49" charset="0"/>
                <a:ea typeface="JetBrains Mono" pitchFamily="49" charset="-122"/>
                <a:cs typeface="JetBrains Mono" pitchFamily="49" charset="-120"/>
              </a:rPr>
              <a:t>kubectl diff -f 30-podinfo.yaml</a:t>
            </a: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9A96D0"/>
                </a:solidFill>
                <a:latin typeface="JetBrains Mono" pitchFamily="49" charset="0"/>
                <a:ea typeface="JetBrains Mono" pitchFamily="49" charset="-122"/>
                <a:cs typeface="JetBrains Mono" pitchFamily="49" charset="-120"/>
              </a:rPr>
              <a:t># ce qu'apply changerait</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kubectl apply -f 30-podinfo.yaml --dry-run=server  </a:t>
            </a:r>
            <a:r>
              <a:rPr lang="en-US" sz="1200" dirty="0">
                <a:solidFill>
                  <a:srgbClr val="9A96D0"/>
                </a:solidFill>
                <a:latin typeface="JetBrains Mono" pitchFamily="49" charset="0"/>
                <a:ea typeface="JetBrains Mono" pitchFamily="49" charset="-122"/>
                <a:cs typeface="JetBrains Mono" pitchFamily="49" charset="-120"/>
              </a:rPr>
              <a:t># validation complète, sans écriture</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kubectl delete -f 30-podinfo.yaml                  </a:t>
            </a:r>
            <a:r>
              <a:rPr lang="en-US" sz="1200" dirty="0">
                <a:solidFill>
                  <a:srgbClr val="9A96D0"/>
                </a:solidFill>
                <a:latin typeface="JetBrains Mono" pitchFamily="49" charset="0"/>
                <a:ea typeface="JetBrains Mono" pitchFamily="49" charset="-122"/>
                <a:cs typeface="JetBrains Mono" pitchFamily="49" charset="-120"/>
              </a:rPr>
              <a:t># supprimer les objets décrits</a:t>
            </a:r>
            <a:endParaRPr lang="en-US" sz="1200" dirty="0"/>
          </a:p>
        </p:txBody>
      </p:sp>
      <p:sp>
        <p:nvSpPr>
          <p:cNvPr id="5" name="Text 3"/>
          <p:cNvSpPr/>
          <p:nvPr/>
        </p:nvSpPr>
        <p:spPr>
          <a:xfrm>
            <a:off x="812800" y="337314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Préfixez les fichiers par un numéro (00-namespace.yaml, 10-redis.yaml) : apply -f . crée le namespace avant ce qui en dépend.</a:t>
            </a:r>
            <a:endParaRPr lang="en-US" sz="1300" dirty="0"/>
          </a:p>
        </p:txBody>
      </p:sp>
      <p:sp>
        <p:nvSpPr>
          <p:cNvPr id="6" name="Text 4"/>
          <p:cNvSpPr/>
          <p:nvPr/>
        </p:nvSpPr>
        <p:spPr>
          <a:xfrm>
            <a:off x="812800" y="3794770"/>
            <a:ext cx="4826000" cy="2047240"/>
          </a:xfrm>
          <a:prstGeom prst="roundRect">
            <a:avLst>
              <a:gd name="adj" fmla="val 4963"/>
            </a:avLst>
          </a:prstGeom>
          <a:solidFill>
            <a:srgbClr val="0B0748"/>
          </a:solidFill>
          <a:ln/>
        </p:spPr>
        <p:txBody>
          <a:bodyPr wrap="none" lIns="160742" tIns="109942" rIns="27392" bIns="109942" rtlCol="0" anchor="t">
            <a:normAutofit/>
          </a:bodyPr>
          <a:lstStyle/>
          <a:p>
            <a:pPr algn="l" indent="0" marL="0">
              <a:lnSpc>
                <a:spcPts val="1800"/>
              </a:lnSpc>
              <a:buNone/>
            </a:pPr>
            <a:r>
              <a:rPr lang="en-US" sz="1200" dirty="0">
                <a:solidFill>
                  <a:srgbClr val="9A96D0"/>
                </a:solidFill>
                <a:latin typeface="JetBrains Mono" pitchFamily="49" charset="0"/>
                <a:ea typeface="JetBrains Mono" pitchFamily="49" charset="-122"/>
                <a:cs typeface="JetBrains Mono" pitchFamily="49" charset="-120"/>
              </a:rPr>
              <a:t># overlays/prod/kustomization.yaml</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resources:</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../../base</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namespace: prod</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images:</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name: ghcr.io/stefanprodan/podinfo</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newTag: "6.7.1"</a:t>
            </a:r>
            <a:endParaRPr lang="en-US" sz="1200" dirty="0"/>
          </a:p>
        </p:txBody>
      </p:sp>
      <p:sp>
        <p:nvSpPr>
          <p:cNvPr id="7" name="Text 5"/>
          <p:cNvSpPr/>
          <p:nvPr/>
        </p:nvSpPr>
        <p:spPr>
          <a:xfrm>
            <a:off x="5892800" y="3920827"/>
            <a:ext cx="56509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Kustomize</a:t>
            </a:r>
            <a:endParaRPr lang="en-US" sz="1600" dirty="0"/>
          </a:p>
        </p:txBody>
      </p:sp>
      <p:sp>
        <p:nvSpPr>
          <p:cNvPr id="8" name="Text 6"/>
          <p:cNvSpPr/>
          <p:nvPr/>
        </p:nvSpPr>
        <p:spPr>
          <a:xfrm>
            <a:off x="5892800" y="4294188"/>
            <a:ext cx="5650992"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F3C6B"/>
                </a:solidFill>
                <a:latin typeface="IBM Plex Sans" pitchFamily="34" charset="0"/>
                <a:ea typeface="IBM Plex Sans" pitchFamily="34" charset="-122"/>
                <a:cs typeface="IBM Plex Sans" pitchFamily="34" charset="-120"/>
              </a:rPr>
              <a:t>Intégré à kubectl, il décline une même base par environnement sans copier les fichiers : autre namespace, autre tag, un patch pour passer à 5 réplicas.</a:t>
            </a:r>
            <a:endParaRPr lang="en-US" sz="1300" dirty="0"/>
          </a:p>
        </p:txBody>
      </p:sp>
      <p:sp>
        <p:nvSpPr>
          <p:cNvPr id="9" name="Text 7"/>
          <p:cNvSpPr/>
          <p:nvPr/>
        </p:nvSpPr>
        <p:spPr>
          <a:xfrm>
            <a:off x="5892800" y="5101282"/>
            <a:ext cx="5486400" cy="614680"/>
          </a:xfrm>
          <a:prstGeom prst="roundRect">
            <a:avLst>
              <a:gd name="adj" fmla="val 10331"/>
            </a:avLst>
          </a:prstGeom>
          <a:solidFill>
            <a:srgbClr val="ECEAF6"/>
          </a:solidFill>
          <a:ln/>
        </p:spPr>
        <p:txBody>
          <a:bodyPr wrap="none" lIns="83001" tIns="44901" rIns="0" bIns="19501" rtlCol="0" anchor="t">
            <a:normAutofit/>
          </a:bodyPr>
          <a:lstStyle/>
          <a:p>
            <a:pPr algn="l" indent="0" marL="0">
              <a:lnSpc>
                <a:spcPts val="1920"/>
              </a:lnSpc>
              <a:buNone/>
            </a:pPr>
            <a:r>
              <a:rPr lang="en-US" sz="1200" dirty="0">
                <a:solidFill>
                  <a:srgbClr val="0B0748"/>
                </a:solidFill>
                <a:latin typeface="JetBrains Mono" pitchFamily="49" charset="0"/>
                <a:ea typeface="JetBrains Mono" pitchFamily="49" charset="-122"/>
                <a:cs typeface="JetBrains Mono" pitchFamily="49" charset="-120"/>
              </a:rPr>
              <a:t>kubectl kustomize overlays/prod</a:t>
            </a:r>
            <a:endParaRPr lang="en-US" sz="1200" dirty="0"/>
          </a:p>
          <a:p>
            <a:pPr algn="l" indent="0" marL="0">
              <a:lnSpc>
                <a:spcPts val="1920"/>
              </a:lnSpc>
              <a:buNone/>
            </a:pPr>
            <a:r>
              <a:rPr lang="en-US" sz="1200" dirty="0">
                <a:solidFill>
                  <a:srgbClr val="0B0748"/>
                </a:solidFill>
                <a:latin typeface="JetBrains Mono" pitchFamily="49" charset="0"/>
                <a:ea typeface="JetBrains Mono" pitchFamily="49" charset="-122"/>
                <a:cs typeface="JetBrains Mono" pitchFamily="49" charset="-120"/>
              </a:rPr>
              <a:t>kubectl apply -k overlays/prod</a:t>
            </a:r>
            <a:endParaRPr lang="en-US" sz="1200" dirty="0"/>
          </a:p>
        </p:txBody>
      </p:sp>
      <p:pic>
        <p:nvPicPr>
          <p:cNvPr id="10"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1" name="Text 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2" name="Image 1" descr="Parcours : module 6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25425"/>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B8421A"/>
                </a:solidFill>
                <a:latin typeface="IBM Plex Sans" pitchFamily="34" charset="0"/>
                <a:ea typeface="IBM Plex Sans" pitchFamily="34" charset="-122"/>
                <a:cs typeface="IBM Plex Sans" pitchFamily="34" charset="-120"/>
              </a:rPr>
              <a:t>MODULE 06 · YAML ET MANIFESTES</a:t>
            </a:r>
            <a:endParaRPr lang="en-US" sz="1159" dirty="0"/>
          </a:p>
        </p:txBody>
      </p:sp>
      <p:sp>
        <p:nvSpPr>
          <p:cNvPr id="3" name="Text 1"/>
          <p:cNvSpPr/>
          <p:nvPr>
            <p:ph type="title"/>
          </p:nvPr>
        </p:nvSpPr>
        <p:spPr>
          <a:xfrm>
            <a:off x="812800" y="936625"/>
            <a:ext cx="10883392" cy="392007"/>
          </a:xfrm>
          <a:prstGeom prst="rect">
            <a:avLst/>
          </a:prstGeom>
          <a:noFill/>
          <a:ln/>
        </p:spPr>
        <p:txBody>
          <a:bodyPr wrap="square" lIns="0" tIns="0" rIns="0" bIns="0" rtlCol="0" anchor="t">
            <a:normAutofit/>
          </a:bodyPr>
          <a:lstStyle/>
          <a:p>
            <a:pPr algn="l" indent="0" marL="0">
              <a:lnSpc>
                <a:spcPts val="2916"/>
              </a:lnSpc>
              <a:buNone/>
            </a:pPr>
            <a:r>
              <a:rPr lang="en-US" sz="2651" b="1" i="0" spc="-50" kern="0" dirty="0">
                <a:solidFill>
                  <a:srgbClr val="0B0748"/>
                </a:solidFill>
                <a:latin typeface="Sora" pitchFamily="34" charset="0"/>
                <a:ea typeface="Sora" pitchFamily="34" charset="-122"/>
                <a:cs typeface="Sora" pitchFamily="34" charset="-120"/>
              </a:rPr>
              <a:t>Messages d'erreur fréquents</a:t>
            </a:r>
            <a:endParaRPr lang="en-US" sz="2651" dirty="0"/>
          </a:p>
        </p:txBody>
      </p:sp>
      <p:sp>
        <p:nvSpPr>
          <p:cNvPr id="4" name="Shape 2"/>
          <p:cNvSpPr/>
          <p:nvPr/>
        </p:nvSpPr>
        <p:spPr>
          <a:xfrm>
            <a:off x="812800" y="1506438"/>
            <a:ext cx="10566400" cy="3232150"/>
          </a:xfrm>
          <a:prstGeom prst="rect">
            <a:avLst/>
          </a:prstGeom>
          <a:solidFill>
            <a:srgbClr val="FDFD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9891" y="1513529"/>
          <a:ext cx="10559309" cy="3225059"/>
        </p:xfrm>
        <a:graphic>
          <a:graphicData uri="http://schemas.openxmlformats.org/drawingml/2006/table">
            <a:tbl>
              <a:tblPr/>
              <a:tblGrid>
                <a:gridCol w="5490841"/>
                <a:gridCol w="5068468"/>
              </a:tblGrid>
              <a:tr h="334222">
                <a:tc>
                  <a:txBody>
                    <a:bodyPr/>
                    <a:lstStyle/>
                    <a:p>
                      <a:pPr indent="0" marL="0">
                        <a:lnSpc>
                          <a:spcPts val="1718"/>
                        </a:lnSpc>
                        <a:buNone/>
                      </a:pPr>
                      <a:r>
                        <a:rPr lang="en-US" sz="1227" b="1" dirty="0">
                          <a:solidFill>
                            <a:srgbClr val="F5F4F9"/>
                          </a:solidFill>
                          <a:latin typeface="IBM Plex Sans" pitchFamily="34" charset="0"/>
                          <a:ea typeface="IBM Plex Sans" pitchFamily="34" charset="-122"/>
                          <a:cs typeface="IBM Plex Sans" pitchFamily="34" charset="-120"/>
                        </a:rPr>
                        <a:t>Message (extrait)</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718"/>
                        </a:lnSpc>
                        <a:buNone/>
                      </a:pPr>
                      <a:r>
                        <a:rPr lang="en-US" sz="1227" b="1" dirty="0">
                          <a:solidFill>
                            <a:srgbClr val="F5F4F9"/>
                          </a:solidFill>
                          <a:latin typeface="IBM Plex Sans" pitchFamily="34" charset="0"/>
                          <a:ea typeface="IBM Plex Sans" pitchFamily="34" charset="-122"/>
                          <a:cs typeface="IBM Plex Sans" pitchFamily="34" charset="-120"/>
                        </a:rPr>
                        <a:t>Cause</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34222">
                <a:tc>
                  <a:txBody>
                    <a:bodyPr/>
                    <a:lstStyle/>
                    <a:p>
                      <a:pPr indent="0" marL="0">
                        <a:lnSpc>
                          <a:spcPts val="1718"/>
                        </a:lnSpc>
                        <a:buNone/>
                      </a:pPr>
                      <a:r>
                        <a:rPr lang="en-US" sz="1227" dirty="0">
                          <a:solidFill>
                            <a:srgbClr val="0B0748"/>
                          </a:solidFill>
                          <a:latin typeface="IBM Plex Sans" pitchFamily="34" charset="0"/>
                          <a:ea typeface="IBM Plex Sans" pitchFamily="34" charset="-122"/>
                          <a:cs typeface="IBM Plex Sans" pitchFamily="34" charset="-120"/>
                        </a:rPr>
                        <a:t>found character that cannot start any token</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718"/>
                        </a:lnSpc>
                        <a:buNone/>
                      </a:pPr>
                      <a:r>
                        <a:rPr lang="en-US" sz="1227" dirty="0">
                          <a:solidFill>
                            <a:srgbClr val="3F3C6B"/>
                          </a:solidFill>
                          <a:latin typeface="IBM Plex Sans" pitchFamily="34" charset="0"/>
                          <a:ea typeface="IBM Plex Sans" pitchFamily="34" charset="-122"/>
                          <a:cs typeface="IBM Plex Sans" pitchFamily="34" charset="-120"/>
                        </a:rPr>
                        <a:t>Une tabulation dans l'indentation</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34222">
                <a:tc>
                  <a:txBody>
                    <a:bodyPr/>
                    <a:lstStyle/>
                    <a:p>
                      <a:pPr indent="0" marL="0">
                        <a:lnSpc>
                          <a:spcPts val="1718"/>
                        </a:lnSpc>
                        <a:buNone/>
                      </a:pPr>
                      <a:r>
                        <a:rPr lang="en-US" sz="1227" dirty="0">
                          <a:solidFill>
                            <a:srgbClr val="0B0748"/>
                          </a:solidFill>
                          <a:latin typeface="IBM Plex Sans" pitchFamily="34" charset="0"/>
                          <a:ea typeface="IBM Plex Sans" pitchFamily="34" charset="-122"/>
                          <a:cs typeface="IBM Plex Sans" pitchFamily="34" charset="-120"/>
                        </a:rPr>
                        <a:t>mapping values are not allowed in this context</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718"/>
                        </a:lnSpc>
                        <a:buNone/>
                      </a:pPr>
                      <a:r>
                        <a:rPr lang="en-US" sz="1227" dirty="0">
                          <a:solidFill>
                            <a:srgbClr val="3F3C6B"/>
                          </a:solidFill>
                          <a:latin typeface="IBM Plex Sans" pitchFamily="34" charset="0"/>
                          <a:ea typeface="IBM Plex Sans" pitchFamily="34" charset="-122"/>
                          <a:cs typeface="IBM Plex Sans" pitchFamily="34" charset="-120"/>
                        </a:rPr>
                        <a:t>Indentation incohérente, ou « : » en trop dans une valeur</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34222">
                <a:tc>
                  <a:txBody>
                    <a:bodyPr/>
                    <a:lstStyle/>
                    <a:p>
                      <a:pPr indent="0" marL="0">
                        <a:lnSpc>
                          <a:spcPts val="1718"/>
                        </a:lnSpc>
                        <a:buNone/>
                      </a:pPr>
                      <a:r>
                        <a:rPr lang="en-US" sz="1227" dirty="0">
                          <a:solidFill>
                            <a:srgbClr val="0B0748"/>
                          </a:solidFill>
                          <a:latin typeface="IBM Plex Sans" pitchFamily="34" charset="0"/>
                          <a:ea typeface="IBM Plex Sans" pitchFamily="34" charset="-122"/>
                          <a:cs typeface="IBM Plex Sans" pitchFamily="34" charset="-120"/>
                        </a:rPr>
                        <a:t>did not find expected '-' indicator</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718"/>
                        </a:lnSpc>
                        <a:buNone/>
                      </a:pPr>
                      <a:r>
                        <a:rPr lang="en-US" sz="1227" dirty="0">
                          <a:solidFill>
                            <a:srgbClr val="3F3C6B"/>
                          </a:solidFill>
                          <a:latin typeface="IBM Plex Sans" pitchFamily="34" charset="0"/>
                          <a:ea typeface="IBM Plex Sans" pitchFamily="34" charset="-122"/>
                          <a:cs typeface="IBM Plex Sans" pitchFamily="34" charset="-120"/>
                        </a:rPr>
                        <a:t>Élément de liste mal aligné</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34222">
                <a:tc>
                  <a:txBody>
                    <a:bodyPr/>
                    <a:lstStyle/>
                    <a:p>
                      <a:pPr indent="0" marL="0">
                        <a:lnSpc>
                          <a:spcPts val="1718"/>
                        </a:lnSpc>
                        <a:buNone/>
                      </a:pPr>
                      <a:r>
                        <a:rPr lang="en-US" sz="1227" dirty="0">
                          <a:solidFill>
                            <a:srgbClr val="0B0748"/>
                          </a:solidFill>
                          <a:latin typeface="IBM Plex Sans" pitchFamily="34" charset="0"/>
                          <a:ea typeface="IBM Plex Sans" pitchFamily="34" charset="-122"/>
                          <a:cs typeface="IBM Plex Sans" pitchFamily="34" charset="-120"/>
                        </a:rPr>
                        <a:t>unknown field "spec.contianers"</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718"/>
                        </a:lnSpc>
                        <a:buNone/>
                      </a:pPr>
                      <a:r>
                        <a:rPr lang="en-US" sz="1227" dirty="0">
                          <a:solidFill>
                            <a:srgbClr val="3F3C6B"/>
                          </a:solidFill>
                          <a:latin typeface="IBM Plex Sans" pitchFamily="34" charset="0"/>
                          <a:ea typeface="IBM Plex Sans" pitchFamily="34" charset="-122"/>
                          <a:cs typeface="IBM Plex Sans" pitchFamily="34" charset="-120"/>
                        </a:rPr>
                        <a:t>Faute de frappe dans un nom de champ</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34222">
                <a:tc>
                  <a:txBody>
                    <a:bodyPr/>
                    <a:lstStyle/>
                    <a:p>
                      <a:pPr indent="0" marL="0">
                        <a:lnSpc>
                          <a:spcPts val="1718"/>
                        </a:lnSpc>
                        <a:buNone/>
                      </a:pPr>
                      <a:r>
                        <a:rPr lang="en-US" sz="1227" dirty="0">
                          <a:solidFill>
                            <a:srgbClr val="0B0748"/>
                          </a:solidFill>
                          <a:latin typeface="IBM Plex Sans" pitchFamily="34" charset="0"/>
                          <a:ea typeface="IBM Plex Sans" pitchFamily="34" charset="-122"/>
                          <a:cs typeface="IBM Plex Sans" pitchFamily="34" charset="-120"/>
                        </a:rPr>
                        <a:t>cannot unmarshal number into … of type string</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718"/>
                        </a:lnSpc>
                        <a:buNone/>
                      </a:pPr>
                      <a:r>
                        <a:rPr lang="en-US" sz="1227" dirty="0">
                          <a:solidFill>
                            <a:srgbClr val="3F3C6B"/>
                          </a:solidFill>
                          <a:latin typeface="IBM Plex Sans" pitchFamily="34" charset="0"/>
                          <a:ea typeface="IBM Plex Sans" pitchFamily="34" charset="-122"/>
                          <a:cs typeface="IBM Plex Sans" pitchFamily="34" charset="-120"/>
                        </a:rPr>
                        <a:t>Valeur de label ou d'env sans guillemets</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34222">
                <a:tc>
                  <a:txBody>
                    <a:bodyPr/>
                    <a:lstStyle/>
                    <a:p>
                      <a:pPr indent="0" marL="0">
                        <a:lnSpc>
                          <a:spcPts val="1718"/>
                        </a:lnSpc>
                        <a:buNone/>
                      </a:pPr>
                      <a:r>
                        <a:rPr lang="en-US" sz="1227" dirty="0">
                          <a:solidFill>
                            <a:srgbClr val="0B0748"/>
                          </a:solidFill>
                          <a:latin typeface="IBM Plex Sans" pitchFamily="34" charset="0"/>
                          <a:ea typeface="IBM Plex Sans" pitchFamily="34" charset="-122"/>
                          <a:cs typeface="IBM Plex Sans" pitchFamily="34" charset="-120"/>
                        </a:rPr>
                        <a:t>cannot unmarshal string into … of type int32</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718"/>
                        </a:lnSpc>
                        <a:buNone/>
                      </a:pPr>
                      <a:r>
                        <a:rPr lang="en-US" sz="1227" dirty="0">
                          <a:solidFill>
                            <a:srgbClr val="3F3C6B"/>
                          </a:solidFill>
                          <a:latin typeface="IBM Plex Sans" pitchFamily="34" charset="0"/>
                          <a:ea typeface="IBM Plex Sans" pitchFamily="34" charset="-122"/>
                          <a:cs typeface="IBM Plex Sans" pitchFamily="34" charset="-120"/>
                        </a:rPr>
                        <a:t>Port ou nombre entre guillemets</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34222">
                <a:tc>
                  <a:txBody>
                    <a:bodyPr/>
                    <a:lstStyle/>
                    <a:p>
                      <a:pPr indent="0" marL="0">
                        <a:lnSpc>
                          <a:spcPts val="1718"/>
                        </a:lnSpc>
                        <a:buNone/>
                      </a:pPr>
                      <a:r>
                        <a:rPr lang="en-US" sz="1227" dirty="0">
                          <a:solidFill>
                            <a:srgbClr val="0B0748"/>
                          </a:solidFill>
                          <a:latin typeface="IBM Plex Sans" pitchFamily="34" charset="0"/>
                          <a:ea typeface="IBM Plex Sans" pitchFamily="34" charset="-122"/>
                          <a:cs typeface="IBM Plex Sans" pitchFamily="34" charset="-120"/>
                        </a:rPr>
                        <a:t>the namespace from the provided object does not match</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718"/>
                        </a:lnSpc>
                        <a:buNone/>
                      </a:pPr>
                      <a:r>
                        <a:rPr lang="en-US" sz="1227" dirty="0">
                          <a:solidFill>
                            <a:srgbClr val="3F3C6B"/>
                          </a:solidFill>
                          <a:latin typeface="IBM Plex Sans" pitchFamily="34" charset="0"/>
                          <a:ea typeface="IBM Plex Sans" pitchFamily="34" charset="-122"/>
                          <a:cs typeface="IBM Plex Sans" pitchFamily="34" charset="-120"/>
                        </a:rPr>
                        <a:t>metadata.namespace diffère de -n</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51286">
                <a:tc>
                  <a:txBody>
                    <a:bodyPr/>
                    <a:lstStyle/>
                    <a:p>
                      <a:pPr indent="0" marL="0">
                        <a:lnSpc>
                          <a:spcPts val="1718"/>
                        </a:lnSpc>
                        <a:buNone/>
                      </a:pPr>
                      <a:r>
                        <a:rPr lang="en-US" sz="1227" dirty="0">
                          <a:solidFill>
                            <a:srgbClr val="0B0748"/>
                          </a:solidFill>
                          <a:latin typeface="IBM Plex Sans" pitchFamily="34" charset="0"/>
                          <a:ea typeface="IBM Plex Sans" pitchFamily="34" charset="-122"/>
                          <a:cs typeface="IBM Plex Sans" pitchFamily="34" charset="-120"/>
                        </a:rPr>
                        <a:t>field is immutable</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718"/>
                        </a:lnSpc>
                        <a:buNone/>
                      </a:pPr>
                      <a:r>
                        <a:rPr lang="en-US" sz="1227" dirty="0">
                          <a:solidFill>
                            <a:srgbClr val="3F3C6B"/>
                          </a:solidFill>
                          <a:latin typeface="IBM Plex Sans" pitchFamily="34" charset="0"/>
                          <a:ea typeface="IBM Plex Sans" pitchFamily="34" charset="-122"/>
                          <a:cs typeface="IBM Plex Sans" pitchFamily="34" charset="-120"/>
                        </a:rPr>
                        <a:t>Champ non modifiable (selector d'un Deployment) : supprimer et recréer</a:t>
                      </a:r>
                      <a:endParaRPr lang="en-US" sz="1227" dirty="0">
                        <a:latin typeface="IBM Plex Sans" charset="0"/>
                        <a:ea typeface="IBM Plex Sans" charset="0"/>
                        <a:cs typeface="IBM Plex Sans" charset="0"/>
                      </a:endParaRPr>
                    </a:p>
                  </a:txBody>
                  <a:tcPr marL="54535" marR="54535" marT="54535" marB="5453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sp>
        <p:nvSpPr>
          <p:cNvPr id="6" name="Shape 3"/>
          <p:cNvSpPr/>
          <p:nvPr/>
        </p:nvSpPr>
        <p:spPr>
          <a:xfrm>
            <a:off x="815975" y="5148163"/>
            <a:ext cx="5200650" cy="690668"/>
          </a:xfrm>
          <a:prstGeom prst="roundRect">
            <a:avLst>
              <a:gd name="adj" fmla="val 16089"/>
            </a:avLst>
          </a:prstGeom>
          <a:solidFill>
            <a:srgbClr val="FDFDFF"/>
          </a:solidFill>
          <a:ln w="6350">
            <a:solidFill>
              <a:srgbClr val="E1DFEE"/>
            </a:solidFill>
            <a:prstDash val="solid"/>
          </a:ln>
        </p:spPr>
      </p:sp>
      <p:pic>
        <p:nvPicPr>
          <p:cNvPr id="7" name="Image 0" descr="Search">    </p:cNvPr>
          <p:cNvPicPr>
            <a:picLocks noChangeAspect="1"/>
          </p:cNvPicPr>
          <p:nvPr/>
        </p:nvPicPr>
        <p:blipFill>
          <a:blip r:embed="rId1"/>
          <a:srcRect l="0" r="0" t="0" b="0"/>
          <a:stretch/>
        </p:blipFill>
        <p:spPr>
          <a:xfrm>
            <a:off x="997691" y="5291782"/>
            <a:ext cx="228600" cy="228600"/>
          </a:xfrm>
          <a:prstGeom prst="rect">
            <a:avLst/>
          </a:prstGeom>
        </p:spPr>
      </p:pic>
      <p:sp>
        <p:nvSpPr>
          <p:cNvPr id="8" name="Text 4"/>
          <p:cNvSpPr/>
          <p:nvPr/>
        </p:nvSpPr>
        <p:spPr>
          <a:xfrm>
            <a:off x="1340591" y="5291782"/>
            <a:ext cx="4629148"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Contrôlez avant d'appliquer : </a:t>
            </a:r>
            <a:r>
              <a:rPr lang="en-US" sz="1250" b="1" dirty="0">
                <a:solidFill>
                  <a:srgbClr val="3F3C6B"/>
                </a:solidFill>
                <a:latin typeface="IBM Plex Sans" pitchFamily="34" charset="0"/>
                <a:ea typeface="IBM Plex Sans" pitchFamily="34" charset="-122"/>
                <a:cs typeface="IBM Plex Sans" pitchFamily="34" charset="-120"/>
              </a:rPr>
              <a:t>yamllint</a:t>
            </a:r>
            <a:r>
              <a:rPr lang="en-US" sz="1250" dirty="0">
                <a:solidFill>
                  <a:srgbClr val="3F3C6B"/>
                </a:solidFill>
                <a:latin typeface="IBM Plex Sans" pitchFamily="34" charset="0"/>
                <a:ea typeface="IBM Plex Sans" pitchFamily="34" charset="-122"/>
                <a:cs typeface="IBM Plex Sans" pitchFamily="34" charset="-120"/>
              </a:rPr>
              <a:t> (syntaxe), </a:t>
            </a:r>
            <a:r>
              <a:rPr lang="en-US" sz="1250" b="1" dirty="0">
                <a:solidFill>
                  <a:srgbClr val="3F3C6B"/>
                </a:solidFill>
                <a:latin typeface="IBM Plex Sans" pitchFamily="34" charset="0"/>
                <a:ea typeface="IBM Plex Sans" pitchFamily="34" charset="-122"/>
                <a:cs typeface="IBM Plex Sans" pitchFamily="34" charset="-120"/>
              </a:rPr>
              <a:t>kubeconform</a:t>
            </a:r>
            <a:r>
              <a:rPr lang="en-US" sz="1250" dirty="0">
                <a:solidFill>
                  <a:srgbClr val="3F3C6B"/>
                </a:solidFill>
                <a:latin typeface="IBM Plex Sans" pitchFamily="34" charset="0"/>
                <a:ea typeface="IBM Plex Sans" pitchFamily="34" charset="-122"/>
                <a:cs typeface="IBM Plex Sans" pitchFamily="34" charset="-120"/>
              </a:rPr>
              <a:t> (schéma), </a:t>
            </a:r>
            <a:r>
              <a:rPr lang="en-US" sz="1250" b="1" dirty="0">
                <a:solidFill>
                  <a:srgbClr val="3F3C6B"/>
                </a:solidFill>
                <a:latin typeface="IBM Plex Sans" pitchFamily="34" charset="0"/>
                <a:ea typeface="IBM Plex Sans" pitchFamily="34" charset="-122"/>
                <a:cs typeface="IBM Plex Sans" pitchFamily="34" charset="-120"/>
              </a:rPr>
              <a:t>kubectl diff</a:t>
            </a:r>
            <a:r>
              <a:rPr lang="en-US" sz="1250" dirty="0">
                <a:solidFill>
                  <a:srgbClr val="3F3C6B"/>
                </a:solidFill>
                <a:latin typeface="IBM Plex Sans" pitchFamily="34" charset="0"/>
                <a:ea typeface="IBM Plex Sans" pitchFamily="34" charset="-122"/>
                <a:cs typeface="IBM Plex Sans" pitchFamily="34" charset="-120"/>
              </a:rPr>
              <a:t> (impact).</a:t>
            </a:r>
            <a:endParaRPr lang="en-US" sz="1250" dirty="0"/>
          </a:p>
        </p:txBody>
      </p:sp>
      <p:sp>
        <p:nvSpPr>
          <p:cNvPr id="9" name="Shape 5"/>
          <p:cNvSpPr/>
          <p:nvPr/>
        </p:nvSpPr>
        <p:spPr>
          <a:xfrm>
            <a:off x="6175375" y="5148163"/>
            <a:ext cx="5200650" cy="690668"/>
          </a:xfrm>
          <a:prstGeom prst="roundRect">
            <a:avLst>
              <a:gd name="adj" fmla="val 16089"/>
            </a:avLst>
          </a:prstGeom>
          <a:solidFill>
            <a:srgbClr val="FDFDFF"/>
          </a:solidFill>
          <a:ln w="6350">
            <a:solidFill>
              <a:srgbClr val="E1DFEE"/>
            </a:solidFill>
            <a:prstDash val="solid"/>
          </a:ln>
        </p:spPr>
      </p:sp>
      <p:pic>
        <p:nvPicPr>
          <p:cNvPr id="10" name="Image 1" descr="Lock">    </p:cNvPr>
          <p:cNvPicPr>
            <a:picLocks noChangeAspect="1"/>
          </p:cNvPicPr>
          <p:nvPr/>
        </p:nvPicPr>
        <p:blipFill>
          <a:blip r:embed="rId2"/>
          <a:srcRect l="0" r="0" t="0" b="0"/>
          <a:stretch/>
        </p:blipFill>
        <p:spPr>
          <a:xfrm>
            <a:off x="6357091" y="5291782"/>
            <a:ext cx="228600" cy="228600"/>
          </a:xfrm>
          <a:prstGeom prst="rect">
            <a:avLst/>
          </a:prstGeom>
        </p:spPr>
      </p:pic>
      <p:sp>
        <p:nvSpPr>
          <p:cNvPr id="11" name="Text 6"/>
          <p:cNvSpPr/>
          <p:nvPr/>
        </p:nvSpPr>
        <p:spPr>
          <a:xfrm>
            <a:off x="6699991" y="5291782"/>
            <a:ext cx="4629148"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Un dossier par application, les manifestes dans Git ; </a:t>
            </a:r>
            <a:r>
              <a:rPr lang="en-US" sz="1250" b="1" dirty="0">
                <a:solidFill>
                  <a:srgbClr val="3F3C6B"/>
                </a:solidFill>
                <a:latin typeface="IBM Plex Sans" pitchFamily="34" charset="0"/>
                <a:ea typeface="IBM Plex Sans" pitchFamily="34" charset="-122"/>
                <a:cs typeface="IBM Plex Sans" pitchFamily="34" charset="-120"/>
              </a:rPr>
              <a:t>jamais de Secret en clair</a:t>
            </a:r>
            <a:r>
              <a:rPr lang="en-US" sz="1250" dirty="0">
                <a:solidFill>
                  <a:srgbClr val="3F3C6B"/>
                </a:solidFill>
                <a:latin typeface="IBM Plex Sans" pitchFamily="34" charset="0"/>
                <a:ea typeface="IBM Plex Sans" pitchFamily="34" charset="-122"/>
                <a:cs typeface="IBM Plex Sans" pitchFamily="34" charset="-120"/>
              </a:rPr>
              <a:t> dans le dépôt.</a:t>
            </a:r>
            <a:endParaRPr lang="en-US" sz="1250" dirty="0"/>
          </a:p>
        </p:txBody>
      </p:sp>
      <p:pic>
        <p:nvPicPr>
          <p:cNvPr id="12" name="Image 2" descr="preencoded.png">    </p:cNvPr>
          <p:cNvPicPr>
            <a:picLocks noChangeAspect="1"/>
          </p:cNvPicPr>
          <p:nvPr/>
        </p:nvPicPr>
        <p:blipFill>
          <a:blip r:embed="rId3"/>
          <a:srcRect l="0" r="0" t="0" b="0"/>
          <a:stretch/>
        </p:blipFill>
        <p:spPr>
          <a:xfrm>
            <a:off x="812800" y="6299200"/>
            <a:ext cx="152400" cy="152400"/>
          </a:xfrm>
          <a:prstGeom prst="rect">
            <a:avLst/>
          </a:prstGeom>
        </p:spPr>
      </p:pic>
      <p:sp>
        <p:nvSpPr>
          <p:cNvPr id="13" name="Text 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4" name="Image 3" descr="Parcours : module 6 sur 16">    </p:cNvPr>
          <p:cNvPicPr>
            <a:picLocks noChangeAspect="1"/>
          </p:cNvPicPr>
          <p:nvPr/>
        </p:nvPicPr>
        <p:blipFill>
          <a:blip r:embed="rId4"/>
          <a:srcRect l="0" r="0" t="0" b="0"/>
          <a:stretch/>
        </p:blipFill>
        <p:spPr>
          <a:xfrm>
            <a:off x="9207500" y="6299200"/>
            <a:ext cx="2171700" cy="1524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BF0E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TRAVAUX PRATIQUES · À FAIRE MAINTENANT</a:t>
            </a:r>
            <a:endParaRPr lang="en-US" sz="1200" dirty="0"/>
          </a:p>
        </p:txBody>
      </p:sp>
      <p:sp>
        <p:nvSpPr>
          <p:cNvPr id="3" name="Text 1"/>
          <p:cNvSpPr/>
          <p:nvPr/>
        </p:nvSpPr>
        <p:spPr>
          <a:xfrm>
            <a:off x="812800" y="1127770"/>
            <a:ext cx="3008630" cy="1054100"/>
          </a:xfrm>
          <a:prstGeom prst="rect">
            <a:avLst/>
          </a:prstGeom>
          <a:noFill/>
          <a:ln/>
        </p:spPr>
        <p:txBody>
          <a:bodyPr wrap="square" lIns="0" tIns="0" rIns="0" bIns="0" rtlCol="0" anchor="t">
            <a:normAutofit/>
          </a:bodyPr>
          <a:lstStyle/>
          <a:p>
            <a:pPr algn="l" indent="0" marL="0">
              <a:lnSpc>
                <a:spcPts val="8100"/>
              </a:lnSpc>
              <a:buNone/>
            </a:pPr>
            <a:r>
              <a:rPr lang="en-US" sz="9000" b="1" spc="-300" kern="0" dirty="0">
                <a:solidFill>
                  <a:srgbClr val="E25A2C"/>
                </a:solidFill>
                <a:latin typeface="Sora" pitchFamily="34" charset="0"/>
                <a:ea typeface="Sora" pitchFamily="34" charset="-122"/>
                <a:cs typeface="Sora" pitchFamily="34" charset="-120"/>
              </a:rPr>
              <a:t>TP4</a:t>
            </a:r>
            <a:endParaRPr lang="en-US" sz="9000" dirty="0"/>
          </a:p>
        </p:txBody>
      </p:sp>
      <p:pic>
        <p:nvPicPr>
          <p:cNvPr id="4" name="Image 0" descr="Clock">    </p:cNvPr>
          <p:cNvPicPr>
            <a:picLocks noChangeAspect="1"/>
          </p:cNvPicPr>
          <p:nvPr/>
        </p:nvPicPr>
        <p:blipFill>
          <a:blip r:embed="rId1"/>
          <a:srcRect l="0" r="0" t="0" b="0"/>
          <a:stretch/>
        </p:blipFill>
        <p:spPr>
          <a:xfrm>
            <a:off x="812800" y="2467620"/>
            <a:ext cx="254000" cy="254000"/>
          </a:xfrm>
          <a:prstGeom prst="rect">
            <a:avLst/>
          </a:prstGeom>
        </p:spPr>
      </p:pic>
      <p:sp>
        <p:nvSpPr>
          <p:cNvPr id="5" name="Text 2"/>
          <p:cNvSpPr/>
          <p:nvPr/>
        </p:nvSpPr>
        <p:spPr>
          <a:xfrm>
            <a:off x="1181100" y="2461270"/>
            <a:ext cx="1477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Jour 2 · 09:30</a:t>
            </a:r>
            <a:endParaRPr lang="en-US" sz="1500" dirty="0"/>
          </a:p>
        </p:txBody>
      </p:sp>
      <p:pic>
        <p:nvPicPr>
          <p:cNvPr id="6" name="Image 1" descr="Activity">    </p:cNvPr>
          <p:cNvPicPr>
            <a:picLocks noChangeAspect="1"/>
          </p:cNvPicPr>
          <p:nvPr/>
        </p:nvPicPr>
        <p:blipFill>
          <a:blip r:embed="rId2"/>
          <a:srcRect l="0" r="0" t="0" b="0"/>
          <a:stretch/>
        </p:blipFill>
        <p:spPr>
          <a:xfrm>
            <a:off x="812800" y="2835920"/>
            <a:ext cx="254000" cy="254000"/>
          </a:xfrm>
          <a:prstGeom prst="rect">
            <a:avLst/>
          </a:prstGeom>
        </p:spPr>
      </p:pic>
      <p:sp>
        <p:nvSpPr>
          <p:cNvPr id="7" name="Text 3"/>
          <p:cNvSpPr/>
          <p:nvPr/>
        </p:nvSpPr>
        <p:spPr>
          <a:xfrm>
            <a:off x="1181100" y="2829570"/>
            <a:ext cx="11889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35 minutes</a:t>
            </a:r>
            <a:endParaRPr lang="en-US" sz="1500" dirty="0"/>
          </a:p>
        </p:txBody>
      </p:sp>
      <p:pic>
        <p:nvPicPr>
          <p:cNvPr id="8" name="Image 2" descr="Book">    </p:cNvPr>
          <p:cNvPicPr>
            <a:picLocks noChangeAspect="1"/>
          </p:cNvPicPr>
          <p:nvPr/>
        </p:nvPicPr>
        <p:blipFill>
          <a:blip r:embed="rId3"/>
          <a:srcRect l="0" r="0" t="0" b="0"/>
          <a:stretch/>
        </p:blipFill>
        <p:spPr>
          <a:xfrm>
            <a:off x="812800" y="3197870"/>
            <a:ext cx="254000" cy="254000"/>
          </a:xfrm>
          <a:prstGeom prst="rect">
            <a:avLst/>
          </a:prstGeom>
        </p:spPr>
      </p:pic>
      <p:sp>
        <p:nvSpPr>
          <p:cNvPr id="9" name="Text 4"/>
          <p:cNvSpPr/>
          <p:nvPr/>
        </p:nvSpPr>
        <p:spPr>
          <a:xfrm>
            <a:off x="1181100" y="3200400"/>
            <a:ext cx="89103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Module 6</a:t>
            </a:r>
            <a:endParaRPr lang="en-US" sz="1400" dirty="0"/>
          </a:p>
        </p:txBody>
      </p:sp>
      <p:sp>
        <p:nvSpPr>
          <p:cNvPr id="10" name="Text 5"/>
          <p:cNvSpPr/>
          <p:nvPr>
            <p:ph type="title"/>
          </p:nvPr>
        </p:nvSpPr>
        <p:spPr>
          <a:xfrm>
            <a:off x="4191000" y="1127770"/>
            <a:ext cx="7403846"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Premiers manifestes</a:t>
            </a:r>
            <a:endParaRPr lang="en-US" sz="2800" dirty="0"/>
          </a:p>
        </p:txBody>
      </p:sp>
      <p:sp>
        <p:nvSpPr>
          <p:cNvPr id="11" name="Text 6"/>
          <p:cNvSpPr/>
          <p:nvPr/>
        </p:nvSpPr>
        <p:spPr>
          <a:xfrm>
            <a:off x="4191000" y="1722140"/>
            <a:ext cx="7403846"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F3C6B"/>
                </a:solidFill>
                <a:latin typeface="IBM Plex Sans" pitchFamily="34" charset="0"/>
                <a:ea typeface="IBM Plex Sans" pitchFamily="34" charset="-122"/>
                <a:cs typeface="IBM Plex Sans" pitchFamily="34" charset="-120"/>
              </a:rPr>
              <a:t>Créer le namespace fil-rouge, écrire un premier Pod à la main, puis corriger deux fichiers YAML cassés à l'aide du tableau des erreurs fréquentes.</a:t>
            </a:r>
            <a:endParaRPr lang="en-US" sz="1600" dirty="0"/>
          </a:p>
        </p:txBody>
      </p:sp>
      <p:sp>
        <p:nvSpPr>
          <p:cNvPr id="12" name="Shape 7"/>
          <p:cNvSpPr/>
          <p:nvPr/>
        </p:nvSpPr>
        <p:spPr>
          <a:xfrm>
            <a:off x="4194175" y="4627017"/>
            <a:ext cx="7181850" cy="1211792"/>
          </a:xfrm>
          <a:prstGeom prst="roundRect">
            <a:avLst>
              <a:gd name="adj" fmla="val 10218"/>
            </a:avLst>
          </a:prstGeom>
          <a:solidFill>
            <a:srgbClr val="FDFDFF"/>
          </a:solidFill>
          <a:ln w="6350">
            <a:solidFill>
              <a:srgbClr val="EBDDD2"/>
            </a:solidFill>
            <a:prstDash val="solid"/>
          </a:ln>
        </p:spPr>
      </p:sp>
      <p:pic>
        <p:nvPicPr>
          <p:cNvPr id="13" name="Image 3" descr="CheckCircle">    </p:cNvPr>
          <p:cNvPicPr>
            <a:picLocks noChangeAspect="1"/>
          </p:cNvPicPr>
          <p:nvPr/>
        </p:nvPicPr>
        <p:blipFill>
          <a:blip r:embed="rId4"/>
          <a:srcRect l="0" r="0" t="0" b="0"/>
          <a:stretch/>
        </p:blipFill>
        <p:spPr>
          <a:xfrm>
            <a:off x="4452091" y="4834136"/>
            <a:ext cx="355600" cy="355600"/>
          </a:xfrm>
          <a:prstGeom prst="rect">
            <a:avLst/>
          </a:prstGeom>
        </p:spPr>
      </p:pic>
      <p:sp>
        <p:nvSpPr>
          <p:cNvPr id="14" name="Text 8"/>
          <p:cNvSpPr/>
          <p:nvPr/>
        </p:nvSpPr>
        <p:spPr>
          <a:xfrm>
            <a:off x="4985491" y="4834136"/>
            <a:ext cx="63165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POINT DE CONTRÔLE</a:t>
            </a:r>
            <a:endParaRPr lang="en-US" sz="1200" dirty="0"/>
          </a:p>
        </p:txBody>
      </p:sp>
      <p:sp>
        <p:nvSpPr>
          <p:cNvPr id="15" name="Text 9"/>
          <p:cNvSpPr/>
          <p:nvPr/>
        </p:nvSpPr>
        <p:spPr>
          <a:xfrm>
            <a:off x="4985491" y="5098306"/>
            <a:ext cx="631659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Le contexte courant pointe sur fil-rouge ; les fichiers corrigés passent kubectl apply --dry-run=server.</a:t>
            </a:r>
            <a:endParaRPr lang="en-US" sz="1500" dirty="0"/>
          </a:p>
        </p:txBody>
      </p:sp>
      <p:pic>
        <p:nvPicPr>
          <p:cNvPr id="16"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17" name="Text 1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5" descr="Parcours : module 6 sur 16">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06 · BILAN</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40"/>
            <a:ext cx="6138333"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40"/>
            <a:ext cx="228600" cy="228600"/>
          </a:xfrm>
          <a:prstGeom prst="rect">
            <a:avLst/>
          </a:prstGeom>
        </p:spPr>
      </p:pic>
      <p:sp>
        <p:nvSpPr>
          <p:cNvPr id="6" name="Text 3"/>
          <p:cNvSpPr/>
          <p:nvPr/>
        </p:nvSpPr>
        <p:spPr>
          <a:xfrm>
            <a:off x="1511300" y="1874540"/>
            <a:ext cx="52629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Indentation par espaces, jamais de tabulation ; « - » pour les listes ; « --- » entre les objets.</a:t>
            </a:r>
            <a:endParaRPr lang="en-US" sz="1400" dirty="0"/>
          </a:p>
        </p:txBody>
      </p:sp>
      <p:pic>
        <p:nvPicPr>
          <p:cNvPr id="7" name="Image 1" descr="Check">    </p:cNvPr>
          <p:cNvPicPr>
            <a:picLocks noChangeAspect="1"/>
          </p:cNvPicPr>
          <p:nvPr/>
        </p:nvPicPr>
        <p:blipFill>
          <a:blip r:embed="rId2"/>
          <a:srcRect l="0" r="0" t="0" b="0"/>
          <a:stretch/>
        </p:blipFill>
        <p:spPr>
          <a:xfrm>
            <a:off x="1143000" y="2524770"/>
            <a:ext cx="228600" cy="228600"/>
          </a:xfrm>
          <a:prstGeom prst="rect">
            <a:avLst/>
          </a:prstGeom>
        </p:spPr>
      </p:pic>
      <p:sp>
        <p:nvSpPr>
          <p:cNvPr id="8" name="Text 4"/>
          <p:cNvSpPr/>
          <p:nvPr/>
        </p:nvSpPr>
        <p:spPr>
          <a:xfrm>
            <a:off x="1511300" y="2524770"/>
            <a:ext cx="52629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Mettez entre guillemets les valeurs de labels, d'annotations et de variables d'environnement.</a:t>
            </a:r>
            <a:endParaRPr lang="en-US" sz="1400" dirty="0"/>
          </a:p>
        </p:txBody>
      </p:sp>
      <p:pic>
        <p:nvPicPr>
          <p:cNvPr id="9" name="Image 2" descr="Check">    </p:cNvPr>
          <p:cNvPicPr>
            <a:picLocks noChangeAspect="1"/>
          </p:cNvPicPr>
          <p:nvPr/>
        </p:nvPicPr>
        <p:blipFill>
          <a:blip r:embed="rId3"/>
          <a:srcRect l="0" r="0" t="0" b="0"/>
          <a:stretch/>
        </p:blipFill>
        <p:spPr>
          <a:xfrm>
            <a:off x="1143000" y="3175000"/>
            <a:ext cx="228600" cy="228600"/>
          </a:xfrm>
          <a:prstGeom prst="rect">
            <a:avLst/>
          </a:prstGeom>
        </p:spPr>
      </p:pic>
      <p:sp>
        <p:nvSpPr>
          <p:cNvPr id="10" name="Text 5"/>
          <p:cNvSpPr/>
          <p:nvPr/>
        </p:nvSpPr>
        <p:spPr>
          <a:xfrm>
            <a:off x="1511300" y="3175000"/>
            <a:ext cx="52629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Tout objet = apiVersion, kind, metadata, spec ; status est écrit par Kubernetes.</a:t>
            </a:r>
            <a:endParaRPr lang="en-US" sz="1400" dirty="0"/>
          </a:p>
        </p:txBody>
      </p:sp>
      <p:pic>
        <p:nvPicPr>
          <p:cNvPr id="11" name="Image 3" descr="Check">    </p:cNvPr>
          <p:cNvPicPr>
            <a:picLocks noChangeAspect="1"/>
          </p:cNvPicPr>
          <p:nvPr/>
        </p:nvPicPr>
        <p:blipFill>
          <a:blip r:embed="rId4"/>
          <a:srcRect l="0" r="0" t="0" b="0"/>
          <a:stretch/>
        </p:blipFill>
        <p:spPr>
          <a:xfrm>
            <a:off x="1143000" y="3825230"/>
            <a:ext cx="228600" cy="228600"/>
          </a:xfrm>
          <a:prstGeom prst="rect">
            <a:avLst/>
          </a:prstGeom>
        </p:spPr>
      </p:pic>
      <p:sp>
        <p:nvSpPr>
          <p:cNvPr id="12" name="Text 6"/>
          <p:cNvSpPr/>
          <p:nvPr/>
        </p:nvSpPr>
        <p:spPr>
          <a:xfrm>
            <a:off x="1511300" y="3825230"/>
            <a:ext cx="52629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kubectl explain et --dry-run=client -o yaml évitent d'apprendre les schémas par cœur.</a:t>
            </a:r>
            <a:endParaRPr lang="en-US" sz="1400" dirty="0"/>
          </a:p>
        </p:txBody>
      </p:sp>
      <p:pic>
        <p:nvPicPr>
          <p:cNvPr id="13" name="Image 4" descr="Check">    </p:cNvPr>
          <p:cNvPicPr>
            <a:picLocks noChangeAspect="1"/>
          </p:cNvPicPr>
          <p:nvPr/>
        </p:nvPicPr>
        <p:blipFill>
          <a:blip r:embed="rId5"/>
          <a:srcRect l="0" r="0" t="0" b="0"/>
          <a:stretch/>
        </p:blipFill>
        <p:spPr>
          <a:xfrm>
            <a:off x="1143000" y="4475460"/>
            <a:ext cx="228600" cy="228600"/>
          </a:xfrm>
          <a:prstGeom prst="rect">
            <a:avLst/>
          </a:prstGeom>
        </p:spPr>
      </p:pic>
      <p:sp>
        <p:nvSpPr>
          <p:cNvPr id="14" name="Text 7"/>
          <p:cNvSpPr/>
          <p:nvPr/>
        </p:nvSpPr>
        <p:spPr>
          <a:xfrm>
            <a:off x="1511300" y="4475460"/>
            <a:ext cx="543983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Le fichier fait foi : modifiez-le, puis kubectl diff et kubectl apply.</a:t>
            </a:r>
            <a:endParaRPr lang="en-US" sz="1400" dirty="0"/>
          </a:p>
        </p:txBody>
      </p:sp>
      <p:sp>
        <p:nvSpPr>
          <p:cNvPr id="15" name="Shape 8"/>
          <p:cNvSpPr/>
          <p:nvPr/>
        </p:nvSpPr>
        <p:spPr>
          <a:xfrm>
            <a:off x="7157508" y="1598315"/>
            <a:ext cx="4218517" cy="4240530"/>
          </a:xfrm>
          <a:prstGeom prst="roundRect">
            <a:avLst>
              <a:gd name="adj" fmla="val 3537"/>
            </a:avLst>
          </a:prstGeom>
          <a:solidFill>
            <a:srgbClr val="FDFDFF"/>
          </a:solidFill>
          <a:ln w="6350">
            <a:solidFill>
              <a:srgbClr val="E1DFEE"/>
            </a:solidFill>
            <a:prstDash val="solid"/>
          </a:ln>
        </p:spPr>
      </p:sp>
      <p:sp>
        <p:nvSpPr>
          <p:cNvPr id="16" name="Text 9"/>
          <p:cNvSpPr/>
          <p:nvPr/>
        </p:nvSpPr>
        <p:spPr>
          <a:xfrm>
            <a:off x="7440824" y="1856234"/>
            <a:ext cx="376144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7" name="Text 10"/>
          <p:cNvSpPr/>
          <p:nvPr/>
        </p:nvSpPr>
        <p:spPr>
          <a:xfrm>
            <a:off x="7440824" y="2196554"/>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1</a:t>
            </a:r>
            <a:endParaRPr lang="en-US" sz="1300" dirty="0"/>
          </a:p>
        </p:txBody>
      </p:sp>
      <p:sp>
        <p:nvSpPr>
          <p:cNvPr id="18" name="Text 11"/>
          <p:cNvSpPr/>
          <p:nvPr/>
        </p:nvSpPr>
        <p:spPr>
          <a:xfrm>
            <a:off x="7720224" y="2196554"/>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Pourquoi version: 1.10 pose-t-il problème dans les labels d'un pod ?</a:t>
            </a:r>
            <a:endParaRPr lang="en-US" sz="1300" dirty="0"/>
          </a:p>
        </p:txBody>
      </p:sp>
      <p:sp>
        <p:nvSpPr>
          <p:cNvPr id="19" name="Text 12"/>
          <p:cNvSpPr/>
          <p:nvPr/>
        </p:nvSpPr>
        <p:spPr>
          <a:xfrm>
            <a:off x="7440824" y="2785864"/>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2</a:t>
            </a:r>
            <a:endParaRPr lang="en-US" sz="1300" dirty="0"/>
          </a:p>
        </p:txBody>
      </p:sp>
      <p:sp>
        <p:nvSpPr>
          <p:cNvPr id="20" name="Text 13"/>
          <p:cNvSpPr/>
          <p:nvPr/>
        </p:nvSpPr>
        <p:spPr>
          <a:xfrm>
            <a:off x="7720224" y="2785864"/>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kubectl create -f ou apply -f, quand l'objet existe déjà : quelle différence ?</a:t>
            </a:r>
            <a:endParaRPr lang="en-US" sz="1300" dirty="0"/>
          </a:p>
        </p:txBody>
      </p:sp>
      <p:sp>
        <p:nvSpPr>
          <p:cNvPr id="21" name="Text 14"/>
          <p:cNvSpPr/>
          <p:nvPr/>
        </p:nvSpPr>
        <p:spPr>
          <a:xfrm>
            <a:off x="7440824" y="3375124"/>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3</a:t>
            </a:r>
            <a:endParaRPr lang="en-US" sz="1300" dirty="0"/>
          </a:p>
        </p:txBody>
      </p:sp>
      <p:sp>
        <p:nvSpPr>
          <p:cNvPr id="22" name="Text 15"/>
          <p:cNvSpPr/>
          <p:nvPr/>
        </p:nvSpPr>
        <p:spPr>
          <a:xfrm>
            <a:off x="7720224" y="3375124"/>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Comment obtenir un squelette de CronJob correct sans le rédiger ?</a:t>
            </a:r>
            <a:endParaRPr lang="en-US" sz="1300" dirty="0"/>
          </a:p>
        </p:txBody>
      </p:sp>
      <p:sp>
        <p:nvSpPr>
          <p:cNvPr id="23" name="Text 16"/>
          <p:cNvSpPr/>
          <p:nvPr/>
        </p:nvSpPr>
        <p:spPr>
          <a:xfrm>
            <a:off x="7440824" y="3964434"/>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4</a:t>
            </a:r>
            <a:endParaRPr lang="en-US" sz="1300" dirty="0"/>
          </a:p>
        </p:txBody>
      </p:sp>
      <p:sp>
        <p:nvSpPr>
          <p:cNvPr id="24" name="Text 17"/>
          <p:cNvSpPr/>
          <p:nvPr/>
        </p:nvSpPr>
        <p:spPr>
          <a:xfrm>
            <a:off x="7720224" y="3964434"/>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Image corrigée avec kubectl set image : que risquez-vous au prochain apply ?</a:t>
            </a:r>
            <a:endParaRPr lang="en-US" sz="1300" dirty="0"/>
          </a:p>
        </p:txBody>
      </p:sp>
      <p:pic>
        <p:nvPicPr>
          <p:cNvPr id="25" name="Image 5" descr="preencoded.png">    </p:cNvPr>
          <p:cNvPicPr>
            <a:picLocks noChangeAspect="1"/>
          </p:cNvPicPr>
          <p:nvPr/>
        </p:nvPicPr>
        <p:blipFill>
          <a:blip r:embed="rId6"/>
          <a:srcRect l="0" r="0" t="0" b="0"/>
          <a:stretch/>
        </p:blipFill>
        <p:spPr>
          <a:xfrm>
            <a:off x="812800" y="6299200"/>
            <a:ext cx="152400" cy="152400"/>
          </a:xfrm>
          <a:prstGeom prst="rect">
            <a:avLst/>
          </a:prstGeom>
        </p:spPr>
      </p:pic>
      <p:sp>
        <p:nvSpPr>
          <p:cNvPr id="26" name="Text 1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7" name="Image 6" descr="Parcours : module 6 sur 16">    </p:cNvPr>
          <p:cNvPicPr>
            <a:picLocks noChangeAspect="1"/>
          </p:cNvPicPr>
          <p:nvPr/>
        </p:nvPicPr>
        <p:blipFill>
          <a:blip r:embed="rId7"/>
          <a:srcRect l="0" r="0" t="0" b="0"/>
          <a:stretch/>
        </p:blipFill>
        <p:spPr>
          <a:xfrm>
            <a:off x="9207500" y="6299200"/>
            <a:ext cx="2171700" cy="15240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2 · DÉCRIRE ET EXPLOITER</a:t>
            </a:r>
            <a:endParaRPr lang="en-US" sz="1200" dirty="0"/>
          </a:p>
        </p:txBody>
      </p:sp>
      <p:sp>
        <p:nvSpPr>
          <p:cNvPr id="3" name="Text 1"/>
          <p:cNvSpPr/>
          <p:nvPr/>
        </p:nvSpPr>
        <p:spPr>
          <a:xfrm>
            <a:off x="812800" y="1076970"/>
            <a:ext cx="1965960"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07</a:t>
            </a:r>
            <a:endParaRPr lang="en-US" sz="10000" dirty="0"/>
          </a:p>
        </p:txBody>
      </p:sp>
      <p:sp>
        <p:nvSpPr>
          <p:cNvPr id="4" name="Text 2"/>
          <p:cNvSpPr/>
          <p:nvPr>
            <p:ph type="title"/>
          </p:nvPr>
        </p:nvSpPr>
        <p:spPr>
          <a:xfrm>
            <a:off x="2806700" y="1127770"/>
            <a:ext cx="8829675" cy="5588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Pods, Deployments, Services</a:t>
            </a:r>
            <a:endParaRPr lang="en-US" sz="4000" dirty="0"/>
          </a:p>
        </p:txBody>
      </p:sp>
      <p:sp>
        <p:nvSpPr>
          <p:cNvPr id="5" name="Text 3"/>
          <p:cNvSpPr/>
          <p:nvPr/>
        </p:nvSpPr>
        <p:spPr>
          <a:xfrm>
            <a:off x="2806700" y="1813570"/>
            <a:ext cx="882967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On ne déploie presque jamais un pod seul : un Deployment maintient le bon nombre de pods identiques, un Service leur donne une adresse et un nom stables.</a:t>
            </a:r>
            <a:endParaRPr lang="en-US" sz="1500" dirty="0"/>
          </a:p>
        </p:txBody>
      </p:sp>
      <p:sp>
        <p:nvSpPr>
          <p:cNvPr id="6" name="Text 4"/>
          <p:cNvSpPr/>
          <p:nvPr/>
        </p:nvSpPr>
        <p:spPr>
          <a:xfrm>
            <a:off x="2806700" y="2499370"/>
            <a:ext cx="2854854"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TP5 · Application fil rouge · J2 10:30</a:t>
            </a:r>
            <a:endParaRPr lang="en-US" sz="1200" dirty="0"/>
          </a:p>
        </p:txBody>
      </p:sp>
      <p:pic>
        <p:nvPicPr>
          <p:cNvPr id="7" name="Image 0" descr="Parcours de la formation : module 7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249"/>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07 · PODS, DEPLOYMENTS, SERVICES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Pod, la plus petite unité déployée</a:t>
            </a:r>
            <a:endParaRPr lang="en-US" sz="2800" dirty="0"/>
          </a:p>
        </p:txBody>
      </p:sp>
      <p:sp>
        <p:nvSpPr>
          <p:cNvPr id="4" name="Shape 2"/>
          <p:cNvSpPr/>
          <p:nvPr/>
        </p:nvSpPr>
        <p:spPr>
          <a:xfrm>
            <a:off x="822325" y="1604665"/>
            <a:ext cx="4933950" cy="4227830"/>
          </a:xfrm>
          <a:prstGeom prst="roundRect">
            <a:avLst>
              <a:gd name="adj" fmla="val 3980"/>
            </a:avLst>
          </a:prstGeom>
          <a:solidFill>
            <a:srgbClr val="FDFDFF"/>
          </a:solidFill>
          <a:ln w="19050">
            <a:solidFill>
              <a:srgbClr val="E25A2C"/>
            </a:solidFill>
            <a:prstDash val="dash"/>
          </a:ln>
        </p:spPr>
      </p:sp>
      <p:sp>
        <p:nvSpPr>
          <p:cNvPr id="5" name="Text 3"/>
          <p:cNvSpPr/>
          <p:nvPr/>
        </p:nvSpPr>
        <p:spPr>
          <a:xfrm>
            <a:off x="1030182" y="1789658"/>
            <a:ext cx="49453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Pod</a:t>
            </a:r>
            <a:endParaRPr lang="en-US" sz="1600" dirty="0"/>
          </a:p>
        </p:txBody>
      </p:sp>
      <p:sp>
        <p:nvSpPr>
          <p:cNvPr id="6" name="Text 4"/>
          <p:cNvSpPr/>
          <p:nvPr/>
        </p:nvSpPr>
        <p:spPr>
          <a:xfrm>
            <a:off x="4466061" y="1787079"/>
            <a:ext cx="1082357" cy="289560"/>
          </a:xfrm>
          <a:custGeom>
            <a:avLst/>
            <a:gdLst/>
            <a:ahLst/>
            <a:cxnLst/>
            <a:rect l="l" t="t" r="r" b="b"/>
            <a:pathLst>
              <a:path w="1082357" h="289560">
                <a:moveTo>
                  <a:pt x="144780" y="0"/>
                </a:moveTo>
                <a:lnTo>
                  <a:pt x="937577" y="0"/>
                </a:lnTo>
                <a:arcTo hR="144780" wR="144780" stAng="16200000" swAng="5400000"/>
                <a:lnTo>
                  <a:pt x="1082357" y="144780"/>
                </a:lnTo>
                <a:arcTo hR="144780" wR="144780" stAng="0" swAng="5400000"/>
                <a:lnTo>
                  <a:pt x="144780" y="289560"/>
                </a:lnTo>
                <a:arcTo hR="144780" wR="144780" stAng="5400000" swAng="5400000"/>
                <a:lnTo>
                  <a:pt x="0" y="144780"/>
                </a:lnTo>
                <a:arcTo hR="144780" wR="144780" stAng="10800000" swAng="5400000"/>
                <a:close/>
              </a:path>
            </a:pathLst>
          </a:custGeom>
          <a:solidFill>
            <a:srgbClr val="FCE6DC"/>
          </a:solidFill>
          <a:ln/>
        </p:spPr>
        <p:txBody>
          <a:bodyPr wrap="none" lIns="0" tIns="0" rIns="0" bIns="0" rtlCol="0" anchor="ctr">
            <a:normAutofit/>
          </a:bodyPr>
          <a:lstStyle/>
          <a:p>
            <a:pPr algn="ctr" indent="0" marL="0">
              <a:lnSpc>
                <a:spcPts val="1680"/>
              </a:lnSpc>
              <a:buNone/>
            </a:pPr>
            <a:r>
              <a:rPr lang="en-US" sz="1200" b="1" dirty="0">
                <a:solidFill>
                  <a:srgbClr val="B8421A"/>
                </a:solidFill>
                <a:latin typeface="IBM Plex Sans" pitchFamily="34" charset="0"/>
                <a:ea typeface="IBM Plex Sans" pitchFamily="34" charset="-122"/>
                <a:cs typeface="IBM Plex Sans" pitchFamily="34" charset="-120"/>
              </a:rPr>
              <a:t>une seule IP</a:t>
            </a:r>
            <a:endParaRPr lang="en-US" sz="1200" dirty="0"/>
          </a:p>
        </p:txBody>
      </p:sp>
      <p:sp>
        <p:nvSpPr>
          <p:cNvPr id="7" name="Shape 5"/>
          <p:cNvSpPr/>
          <p:nvPr/>
        </p:nvSpPr>
        <p:spPr>
          <a:xfrm>
            <a:off x="1030182" y="2203648"/>
            <a:ext cx="2195618" cy="2570057"/>
          </a:xfrm>
          <a:prstGeom prst="roundRect">
            <a:avLst>
              <a:gd name="adj" fmla="val 5206"/>
            </a:avLst>
          </a:prstGeom>
          <a:solidFill>
            <a:srgbClr val="0B0748"/>
          </a:solidFill>
          <a:ln/>
        </p:spPr>
      </p:sp>
      <p:sp>
        <p:nvSpPr>
          <p:cNvPr id="8" name="Text 6"/>
          <p:cNvSpPr/>
          <p:nvPr/>
        </p:nvSpPr>
        <p:spPr>
          <a:xfrm>
            <a:off x="1182582" y="3125490"/>
            <a:ext cx="19475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PRINCIPAL</a:t>
            </a:r>
            <a:endParaRPr lang="en-US" sz="1200" dirty="0"/>
          </a:p>
        </p:txBody>
      </p:sp>
      <p:sp>
        <p:nvSpPr>
          <p:cNvPr id="9" name="Text 7"/>
          <p:cNvSpPr/>
          <p:nvPr/>
        </p:nvSpPr>
        <p:spPr>
          <a:xfrm>
            <a:off x="1182582" y="3389610"/>
            <a:ext cx="1947543"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5F4F9"/>
                </a:solidFill>
                <a:latin typeface="IBM Plex Sans" pitchFamily="34" charset="0"/>
                <a:ea typeface="IBM Plex Sans" pitchFamily="34" charset="-122"/>
                <a:cs typeface="IBM Plex Sans" pitchFamily="34" charset="-120"/>
              </a:rPr>
              <a:t>conteneur de l'application</a:t>
            </a:r>
            <a:endParaRPr lang="en-US" sz="1400" dirty="0"/>
          </a:p>
        </p:txBody>
      </p:sp>
      <p:sp>
        <p:nvSpPr>
          <p:cNvPr id="10" name="Shape 8"/>
          <p:cNvSpPr/>
          <p:nvPr/>
        </p:nvSpPr>
        <p:spPr>
          <a:xfrm>
            <a:off x="3352800" y="2203648"/>
            <a:ext cx="2195618" cy="2570057"/>
          </a:xfrm>
          <a:prstGeom prst="roundRect">
            <a:avLst>
              <a:gd name="adj" fmla="val 5206"/>
            </a:avLst>
          </a:prstGeom>
          <a:solidFill>
            <a:srgbClr val="ECEAF6"/>
          </a:solidFill>
          <a:ln/>
        </p:spPr>
      </p:sp>
      <p:sp>
        <p:nvSpPr>
          <p:cNvPr id="11" name="Text 9"/>
          <p:cNvSpPr/>
          <p:nvPr/>
        </p:nvSpPr>
        <p:spPr>
          <a:xfrm>
            <a:off x="3505200" y="3125490"/>
            <a:ext cx="19475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FACULTATIF</a:t>
            </a:r>
            <a:endParaRPr lang="en-US" sz="1200" dirty="0"/>
          </a:p>
        </p:txBody>
      </p:sp>
      <p:sp>
        <p:nvSpPr>
          <p:cNvPr id="12" name="Text 10"/>
          <p:cNvSpPr/>
          <p:nvPr/>
        </p:nvSpPr>
        <p:spPr>
          <a:xfrm>
            <a:off x="3505200" y="3389610"/>
            <a:ext cx="1947543"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B0748"/>
                </a:solidFill>
                <a:latin typeface="IBM Plex Sans" pitchFamily="34" charset="0"/>
                <a:ea typeface="IBM Plex Sans" pitchFamily="34" charset="-122"/>
                <a:cs typeface="IBM Plex Sans" pitchFamily="34" charset="-120"/>
              </a:rPr>
              <a:t>sidecar : agent de logs, proxy</a:t>
            </a:r>
            <a:endParaRPr lang="en-US" sz="1400" dirty="0"/>
          </a:p>
        </p:txBody>
      </p:sp>
      <p:sp>
        <p:nvSpPr>
          <p:cNvPr id="13" name="Text 11"/>
          <p:cNvSpPr/>
          <p:nvPr/>
        </p:nvSpPr>
        <p:spPr>
          <a:xfrm>
            <a:off x="962408" y="4900712"/>
            <a:ext cx="465378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 localhost →</a:t>
            </a:r>
            <a:endParaRPr lang="en-US" sz="1200" dirty="0"/>
          </a:p>
        </p:txBody>
      </p:sp>
      <p:sp>
        <p:nvSpPr>
          <p:cNvPr id="14" name="Text 12"/>
          <p:cNvSpPr/>
          <p:nvPr/>
        </p:nvSpPr>
        <p:spPr>
          <a:xfrm>
            <a:off x="1030182" y="5241082"/>
            <a:ext cx="4518237" cy="408940"/>
          </a:xfrm>
          <a:prstGeom prst="roundRect">
            <a:avLst>
              <a:gd name="adj" fmla="val 21739"/>
            </a:avLst>
          </a:prstGeom>
          <a:solidFill>
            <a:srgbClr val="E4E2EE"/>
          </a:solidFill>
          <a:ln/>
        </p:spPr>
        <p:txBody>
          <a:bodyPr wrap="square" lIns="0" tIns="62862" rIns="0" bIns="37462" rtlCol="0" anchor="t">
            <a:normAutofit/>
          </a:bodyPr>
          <a:lstStyle/>
          <a:p>
            <a:pPr algn="ct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Volumes déclarés dans le pod</a:t>
            </a:r>
            <a:endParaRPr lang="en-US" sz="1300" dirty="0"/>
          </a:p>
        </p:txBody>
      </p:sp>
      <p:sp>
        <p:nvSpPr>
          <p:cNvPr id="15" name="Text 13"/>
          <p:cNvSpPr/>
          <p:nvPr/>
        </p:nvSpPr>
        <p:spPr>
          <a:xfrm>
            <a:off x="6121400" y="2187277"/>
            <a:ext cx="541553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Un ou plusieurs conteneurs qui partagent :</a:t>
            </a:r>
            <a:endParaRPr lang="en-US" sz="1300" dirty="0"/>
          </a:p>
        </p:txBody>
      </p:sp>
      <p:pic>
        <p:nvPicPr>
          <p:cNvPr id="16" name="Image 0" descr="Globe">    </p:cNvPr>
          <p:cNvPicPr>
            <a:picLocks noChangeAspect="1"/>
          </p:cNvPicPr>
          <p:nvPr/>
        </p:nvPicPr>
        <p:blipFill>
          <a:blip r:embed="rId1"/>
          <a:srcRect l="0" r="0" t="0" b="0"/>
          <a:stretch/>
        </p:blipFill>
        <p:spPr>
          <a:xfrm>
            <a:off x="6121400" y="2558107"/>
            <a:ext cx="254000" cy="254000"/>
          </a:xfrm>
          <a:prstGeom prst="rect">
            <a:avLst/>
          </a:prstGeom>
        </p:spPr>
      </p:pic>
      <p:sp>
        <p:nvSpPr>
          <p:cNvPr id="17" name="Text 14"/>
          <p:cNvSpPr/>
          <p:nvPr/>
        </p:nvSpPr>
        <p:spPr>
          <a:xfrm>
            <a:off x="6489700" y="2558107"/>
            <a:ext cx="5036185"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IBM Plex Sans" pitchFamily="34" charset="0"/>
                <a:ea typeface="IBM Plex Sans" pitchFamily="34" charset="-122"/>
                <a:cs typeface="IBM Plex Sans" pitchFamily="34" charset="-120"/>
              </a:rPr>
              <a:t>le réseau</a:t>
            </a:r>
            <a:r>
              <a:rPr lang="en-US" sz="1400" dirty="0">
                <a:solidFill>
                  <a:srgbClr val="0B0748"/>
                </a:solidFill>
                <a:latin typeface="IBM Plex Sans" pitchFamily="34" charset="0"/>
                <a:ea typeface="IBM Plex Sans" pitchFamily="34" charset="-122"/>
                <a:cs typeface="IBM Plex Sans" pitchFamily="34" charset="-120"/>
              </a:rPr>
              <a:t> : une IP ; ils se joignent par localhost et ne peuvent pas écouter sur le même port ;</a:t>
            </a:r>
            <a:endParaRPr lang="en-US" sz="1400" dirty="0"/>
          </a:p>
        </p:txBody>
      </p:sp>
      <p:pic>
        <p:nvPicPr>
          <p:cNvPr id="18" name="Image 1" descr="Database">    </p:cNvPr>
          <p:cNvPicPr>
            <a:picLocks noChangeAspect="1"/>
          </p:cNvPicPr>
          <p:nvPr/>
        </p:nvPicPr>
        <p:blipFill>
          <a:blip r:embed="rId2"/>
          <a:srcRect l="0" r="0" t="0" b="0"/>
          <a:stretch/>
        </p:blipFill>
        <p:spPr>
          <a:xfrm>
            <a:off x="6121400" y="3195638"/>
            <a:ext cx="254000" cy="254000"/>
          </a:xfrm>
          <a:prstGeom prst="rect">
            <a:avLst/>
          </a:prstGeom>
        </p:spPr>
      </p:pic>
      <p:sp>
        <p:nvSpPr>
          <p:cNvPr id="19" name="Text 15"/>
          <p:cNvSpPr/>
          <p:nvPr/>
        </p:nvSpPr>
        <p:spPr>
          <a:xfrm>
            <a:off x="6489700" y="3195638"/>
            <a:ext cx="503618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IBM Plex Sans" pitchFamily="34" charset="0"/>
                <a:ea typeface="IBM Plex Sans" pitchFamily="34" charset="-122"/>
                <a:cs typeface="IBM Plex Sans" pitchFamily="34" charset="-120"/>
              </a:rPr>
              <a:t>les volumes</a:t>
            </a:r>
            <a:r>
              <a:rPr lang="en-US" sz="1400" dirty="0">
                <a:solidFill>
                  <a:srgbClr val="0B0748"/>
                </a:solidFill>
                <a:latin typeface="IBM Plex Sans" pitchFamily="34" charset="0"/>
                <a:ea typeface="IBM Plex Sans" pitchFamily="34" charset="-122"/>
                <a:cs typeface="IBM Plex Sans" pitchFamily="34" charset="-120"/>
              </a:rPr>
              <a:t> déclarés dans le pod ;</a:t>
            </a:r>
            <a:endParaRPr lang="en-US" sz="1400" dirty="0"/>
          </a:p>
        </p:txBody>
      </p:sp>
      <p:pic>
        <p:nvPicPr>
          <p:cNvPr id="20" name="Image 2" descr="Clock">    </p:cNvPr>
          <p:cNvPicPr>
            <a:picLocks noChangeAspect="1"/>
          </p:cNvPicPr>
          <p:nvPr/>
        </p:nvPicPr>
        <p:blipFill>
          <a:blip r:embed="rId3"/>
          <a:srcRect l="0" r="0" t="0" b="0"/>
          <a:stretch/>
        </p:blipFill>
        <p:spPr>
          <a:xfrm>
            <a:off x="6121400" y="3589338"/>
            <a:ext cx="254000" cy="254000"/>
          </a:xfrm>
          <a:prstGeom prst="rect">
            <a:avLst/>
          </a:prstGeom>
        </p:spPr>
      </p:pic>
      <p:sp>
        <p:nvSpPr>
          <p:cNvPr id="21" name="Text 16"/>
          <p:cNvSpPr/>
          <p:nvPr/>
        </p:nvSpPr>
        <p:spPr>
          <a:xfrm>
            <a:off x="6489700" y="3589338"/>
            <a:ext cx="5036185"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IBM Plex Sans" pitchFamily="34" charset="0"/>
                <a:ea typeface="IBM Plex Sans" pitchFamily="34" charset="-122"/>
                <a:cs typeface="IBM Plex Sans" pitchFamily="34" charset="-120"/>
              </a:rPr>
              <a:t>un cycle de vie</a:t>
            </a:r>
            <a:r>
              <a:rPr lang="en-US" sz="1400" dirty="0">
                <a:solidFill>
                  <a:srgbClr val="0B0748"/>
                </a:solidFill>
                <a:latin typeface="IBM Plex Sans" pitchFamily="34" charset="0"/>
                <a:ea typeface="IBM Plex Sans" pitchFamily="34" charset="-122"/>
                <a:cs typeface="IBM Plex Sans" pitchFamily="34" charset="-120"/>
              </a:rPr>
              <a:t> : placés sur le même nœud, supprimés ensemble.</a:t>
            </a:r>
            <a:endParaRPr lang="en-US" sz="1400" dirty="0"/>
          </a:p>
        </p:txBody>
      </p:sp>
      <p:sp>
        <p:nvSpPr>
          <p:cNvPr id="22" name="Text 17"/>
          <p:cNvSpPr/>
          <p:nvPr/>
        </p:nvSpPr>
        <p:spPr>
          <a:xfrm>
            <a:off x="6121400" y="4226868"/>
            <a:ext cx="5257800" cy="1022985"/>
          </a:xfrm>
          <a:prstGeom prst="roundRect">
            <a:avLst>
              <a:gd name="adj" fmla="val 11173"/>
            </a:avLst>
          </a:prstGeom>
          <a:solidFill>
            <a:srgbClr val="0B0748"/>
          </a:solidFill>
          <a:ln/>
        </p:spPr>
        <p:txBody>
          <a:bodyPr wrap="square" lIns="144323" tIns="118923" rIns="0" bIns="93523" rtlCol="0" anchor="t">
            <a:normAutofit/>
          </a:bodyPr>
          <a:lstStyle/>
          <a:p>
            <a:pPr algn="l" indent="0" marL="0">
              <a:lnSpc>
                <a:spcPts val="1885"/>
              </a:lnSpc>
              <a:buNone/>
            </a:pPr>
            <a:r>
              <a:rPr lang="en-US" sz="1300" b="1" dirty="0">
                <a:solidFill>
                  <a:srgbClr val="FF8F66"/>
                </a:solidFill>
                <a:latin typeface="IBM Plex Sans" pitchFamily="34" charset="0"/>
                <a:ea typeface="IBM Plex Sans" pitchFamily="34" charset="-122"/>
                <a:cs typeface="IBM Plex Sans" pitchFamily="34" charset="-120"/>
              </a:rPr>
              <a:t>Éphémère</a:t>
            </a:r>
            <a:r>
              <a:rPr lang="en-US" sz="1300" dirty="0">
                <a:solidFill>
                  <a:srgbClr val="ECEAFF"/>
                </a:solidFill>
                <a:latin typeface="IBM Plex Sans" pitchFamily="34" charset="0"/>
                <a:ea typeface="IBM Plex Sans" pitchFamily="34" charset="-122"/>
                <a:cs typeface="IBM Plex Sans" pitchFamily="34" charset="-120"/>
              </a:rPr>
              <a:t> : s'il meurt ou si son nœud tombe, il est remplacé (autre nom, autre IP), pas réparé. On le confie toujours à un contrôleur.</a:t>
            </a:r>
            <a:endParaRPr lang="en-US" sz="1300" dirty="0"/>
          </a:p>
        </p:txBody>
      </p:sp>
      <p:pic>
        <p:nvPicPr>
          <p:cNvPr id="23" name="Image 3" descr="preencoded.png">    </p:cNvPr>
          <p:cNvPicPr>
            <a:picLocks noChangeAspect="1"/>
          </p:cNvPicPr>
          <p:nvPr/>
        </p:nvPicPr>
        <p:blipFill>
          <a:blip r:embed="rId4"/>
          <a:srcRect l="0" r="0" t="0" b="0"/>
          <a:stretch/>
        </p:blipFill>
        <p:spPr>
          <a:xfrm>
            <a:off x="812800" y="6299200"/>
            <a:ext cx="152400" cy="152400"/>
          </a:xfrm>
          <a:prstGeom prst="rect">
            <a:avLst/>
          </a:prstGeom>
        </p:spPr>
      </p:pic>
      <p:sp>
        <p:nvSpPr>
          <p:cNvPr id="24" name="Text 1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4" descr="Parcours : module 7 sur 16">    </p:cNvPr>
          <p:cNvPicPr>
            <a:picLocks noChangeAspect="1"/>
          </p:cNvPicPr>
          <p:nvPr/>
        </p:nvPicPr>
        <p:blipFill>
          <a:blip r:embed="rId5"/>
          <a:srcRect l="0" r="0" t="0" b="0"/>
          <a:stretch/>
        </p:blipFill>
        <p:spPr>
          <a:xfrm>
            <a:off x="9207500" y="6299200"/>
            <a:ext cx="2171700" cy="1524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07 · PODS, DEPLOYMENTS, SERVICES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Plusieurs conteneurs et cycle de vie</a:t>
            </a:r>
            <a:endParaRPr lang="en-US" sz="2800" dirty="0"/>
          </a:p>
        </p:txBody>
      </p:sp>
      <p:sp>
        <p:nvSpPr>
          <p:cNvPr id="4" name="Text 2"/>
          <p:cNvSpPr/>
          <p:nvPr/>
        </p:nvSpPr>
        <p:spPr>
          <a:xfrm>
            <a:off x="812800" y="1595140"/>
            <a:ext cx="6794500" cy="4246880"/>
          </a:xfrm>
          <a:prstGeom prst="roundRect">
            <a:avLst>
              <a:gd name="adj" fmla="val 2392"/>
            </a:avLst>
          </a:prstGeom>
          <a:solidFill>
            <a:srgbClr val="0B0748"/>
          </a:solidFill>
          <a:ln/>
        </p:spPr>
        <p:txBody>
          <a:bodyPr wrap="none" lIns="160742" tIns="122642" rIns="0" bIns="122642" rtlCol="0" anchor="ctr">
            <a:normAutofit/>
          </a:bodyPr>
          <a:lstStyle/>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apiVersion: v1</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kind: Pod</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metadata:</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name: exemple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initContainers: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 name: attendre-redis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image: mirror.gcr.io/library/busybox:1.36</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command: ["sh", "-c", "until nc -z redis 6379; do sleep 2; done"]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containers: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 name: app</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image: ghcr.io/stefanprodan/podinfo:6.7.0</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ports: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 containerPort: 9898</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restartPolicy: Always  </a:t>
            </a:r>
            <a:r>
              <a:rPr lang="en-US" sz="1200" dirty="0">
                <a:solidFill>
                  <a:srgbClr val="9A96D0"/>
                </a:solidFill>
                <a:latin typeface="JetBrains Mono" pitchFamily="49" charset="0"/>
                <a:ea typeface="JetBrains Mono" pitchFamily="49" charset="-122"/>
                <a:cs typeface="JetBrains Mono" pitchFamily="49" charset="-120"/>
              </a:rPr>
              <a:t># défaut ; ou OnFailure, Never</a:t>
            </a:r>
            <a:endParaRPr lang="en-US" sz="1200" dirty="0"/>
          </a:p>
        </p:txBody>
      </p:sp>
      <p:sp>
        <p:nvSpPr>
          <p:cNvPr id="5" name="Text 3"/>
          <p:cNvSpPr/>
          <p:nvPr/>
        </p:nvSpPr>
        <p:spPr>
          <a:xfrm>
            <a:off x="7861300" y="1595140"/>
            <a:ext cx="362343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IBM Plex Sans" pitchFamily="34" charset="0"/>
                <a:ea typeface="IBM Plex Sans" pitchFamily="34" charset="-122"/>
                <a:cs typeface="IBM Plex Sans" pitchFamily="34" charset="-120"/>
              </a:rPr>
              <a:t>Conteneur d'initialisation</a:t>
            </a:r>
            <a:endParaRPr lang="en-US" sz="1300" dirty="0"/>
          </a:p>
        </p:txBody>
      </p:sp>
      <p:sp>
        <p:nvSpPr>
          <p:cNvPr id="6" name="Text 4"/>
          <p:cNvSpPr/>
          <p:nvPr/>
        </p:nvSpPr>
        <p:spPr>
          <a:xfrm>
            <a:off x="7861300" y="1851670"/>
            <a:ext cx="36234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S'exécute jusqu'au bout avant les autres : attendre une base, préparer un fichier.</a:t>
            </a:r>
            <a:endParaRPr lang="en-US" sz="1200" dirty="0"/>
          </a:p>
        </p:txBody>
      </p:sp>
      <p:sp>
        <p:nvSpPr>
          <p:cNvPr id="7" name="Text 5"/>
          <p:cNvSpPr/>
          <p:nvPr/>
        </p:nvSpPr>
        <p:spPr>
          <a:xfrm>
            <a:off x="7861300" y="2392660"/>
            <a:ext cx="362343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IBM Plex Sans" pitchFamily="34" charset="0"/>
                <a:ea typeface="IBM Plex Sans" pitchFamily="34" charset="-122"/>
                <a:cs typeface="IBM Plex Sans" pitchFamily="34" charset="-120"/>
              </a:rPr>
              <a:t>Sidecar</a:t>
            </a:r>
            <a:endParaRPr lang="en-US" sz="1300" dirty="0"/>
          </a:p>
        </p:txBody>
      </p:sp>
      <p:sp>
        <p:nvSpPr>
          <p:cNvPr id="8" name="Text 6"/>
          <p:cNvSpPr/>
          <p:nvPr/>
        </p:nvSpPr>
        <p:spPr>
          <a:xfrm>
            <a:off x="7861300" y="2649240"/>
            <a:ext cx="36234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Init container avec restartPolicy: Always : il démarre avant l'application et s'arrête après.</a:t>
            </a:r>
            <a:endParaRPr lang="en-US" sz="1200" dirty="0"/>
          </a:p>
        </p:txBody>
      </p:sp>
      <p:sp>
        <p:nvSpPr>
          <p:cNvPr id="9" name="Text 7"/>
          <p:cNvSpPr/>
          <p:nvPr/>
        </p:nvSpPr>
        <p:spPr>
          <a:xfrm>
            <a:off x="7861300" y="3190230"/>
            <a:ext cx="362343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IBM Plex Sans" pitchFamily="34" charset="0"/>
                <a:ea typeface="IBM Plex Sans" pitchFamily="34" charset="-122"/>
                <a:cs typeface="IBM Plex Sans" pitchFamily="34" charset="-120"/>
              </a:rPr>
              <a:t>Phases du pod</a:t>
            </a:r>
            <a:endParaRPr lang="en-US" sz="1300" dirty="0"/>
          </a:p>
        </p:txBody>
      </p:sp>
      <p:sp>
        <p:nvSpPr>
          <p:cNvPr id="10" name="Text 8"/>
          <p:cNvSpPr/>
          <p:nvPr/>
        </p:nvSpPr>
        <p:spPr>
          <a:xfrm>
            <a:off x="7861300" y="3446760"/>
            <a:ext cx="362343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Pending → Running → Succeeded ou Failed. Conteneurs : Waiting (ContainerCreating, ImagePullBackOff, CrashLoopBackOff…), Running, Terminated.</a:t>
            </a:r>
            <a:endParaRPr lang="en-US" sz="1200" dirty="0"/>
          </a:p>
        </p:txBody>
      </p:sp>
      <p:sp>
        <p:nvSpPr>
          <p:cNvPr id="11" name="Text 9"/>
          <p:cNvSpPr/>
          <p:nvPr/>
        </p:nvSpPr>
        <p:spPr>
          <a:xfrm>
            <a:off x="7861300" y="4414540"/>
            <a:ext cx="362343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IBM Plex Sans" pitchFamily="34" charset="0"/>
                <a:ea typeface="IBM Plex Sans" pitchFamily="34" charset="-122"/>
                <a:cs typeface="IBM Plex Sans" pitchFamily="34" charset="-120"/>
              </a:rPr>
              <a:t>Arrêt propre</a:t>
            </a:r>
            <a:endParaRPr lang="en-US" sz="1300" dirty="0"/>
          </a:p>
        </p:txBody>
      </p:sp>
      <p:sp>
        <p:nvSpPr>
          <p:cNvPr id="12" name="Text 10"/>
          <p:cNvSpPr/>
          <p:nvPr/>
        </p:nvSpPr>
        <p:spPr>
          <a:xfrm>
            <a:off x="7861300" y="4671070"/>
            <a:ext cx="362343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SIGTERM, délai de grâce de 30 s, puis SIGKILL. L'application intercepte SIGTERM ; un crochet preStop s'exécute avant le signal.</a:t>
            </a:r>
            <a:endParaRPr lang="en-US" sz="1200" dirty="0"/>
          </a:p>
        </p:txBody>
      </p:sp>
      <p:pic>
        <p:nvPicPr>
          <p:cNvPr id="13"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4" name="Text 11"/>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5" name="Image 1" descr="Parcours : module 7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07 · PODS, DEPLOYMENTS, SERVICES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Deployment et son ReplicaSet</a:t>
            </a:r>
            <a:endParaRPr lang="en-US" sz="2800" dirty="0"/>
          </a:p>
        </p:txBody>
      </p:sp>
      <p:sp>
        <p:nvSpPr>
          <p:cNvPr id="4" name="Text 2"/>
          <p:cNvSpPr/>
          <p:nvPr/>
        </p:nvSpPr>
        <p:spPr>
          <a:xfrm>
            <a:off x="812800" y="1595140"/>
            <a:ext cx="5905500" cy="4246880"/>
          </a:xfrm>
          <a:prstGeom prst="roundRect">
            <a:avLst>
              <a:gd name="adj" fmla="val 2392"/>
            </a:avLst>
          </a:prstGeom>
          <a:solidFill>
            <a:srgbClr val="0B0748"/>
          </a:solidFill>
          <a:ln/>
        </p:spPr>
        <p:txBody>
          <a:bodyPr wrap="none" lIns="160742" tIns="109942" rIns="0" bIns="109942" rtlCol="0" anchor="ctr">
            <a:normAutofit/>
          </a:bodyPr>
          <a:lstStyle/>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apiVersion: apps/v1</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kind: Deployment</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metadata:</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  name: podinfo</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spec:</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  replicas: 3                </a:t>
            </a:r>
            <a:r>
              <a:rPr lang="en-US" sz="1200" dirty="0">
                <a:solidFill>
                  <a:srgbClr val="9A96D0"/>
                </a:solidFill>
                <a:latin typeface="JetBrains Mono" pitchFamily="49" charset="0"/>
                <a:ea typeface="JetBrains Mono" pitchFamily="49" charset="-122"/>
                <a:cs typeface="JetBrains Mono" pitchFamily="49" charset="-120"/>
              </a:rPr>
              <a:t># nombre de pods voulus</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selector:</a:t>
            </a: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9A96D0"/>
                </a:solidFill>
                <a:latin typeface="JetBrains Mono" pitchFamily="49" charset="0"/>
                <a:ea typeface="JetBrains Mono" pitchFamily="49" charset="-122"/>
                <a:cs typeface="JetBrains Mono" pitchFamily="49" charset="-120"/>
              </a:rPr>
              <a:t># pods gérés (non modifiable)</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    matchLabels:</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app: podinfo</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  template:                  </a:t>
            </a:r>
            <a:r>
              <a:rPr lang="en-US" sz="1200" dirty="0">
                <a:solidFill>
                  <a:srgbClr val="9A96D0"/>
                </a:solidFill>
                <a:latin typeface="JetBrains Mono" pitchFamily="49" charset="0"/>
                <a:ea typeface="JetBrains Mono" pitchFamily="49" charset="-122"/>
                <a:cs typeface="JetBrains Mono" pitchFamily="49" charset="-120"/>
              </a:rPr>
              <a:t># modèle des pods à créer</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    metadata:</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      labels:</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app: podinfo</a:t>
            </a: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9A96D0"/>
                </a:solidFill>
                <a:latin typeface="JetBrains Mono" pitchFamily="49" charset="0"/>
                <a:ea typeface="JetBrains Mono" pitchFamily="49" charset="-122"/>
                <a:cs typeface="JetBrains Mono" pitchFamily="49" charset="-120"/>
              </a:rPr>
              <a:t># = le selector</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    spec:</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      containers:</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      - name: podinfo</a:t>
            </a:r>
            <a:endParaRPr lang="en-US" sz="1200" dirty="0"/>
          </a:p>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        image: ghcr.io/stefanprodan/podinfo:6.7.0</a:t>
            </a:r>
            <a:endParaRPr lang="en-US" sz="1200" dirty="0"/>
          </a:p>
        </p:txBody>
      </p:sp>
      <p:sp>
        <p:nvSpPr>
          <p:cNvPr id="5" name="Shape 3"/>
          <p:cNvSpPr/>
          <p:nvPr/>
        </p:nvSpPr>
        <p:spPr>
          <a:xfrm>
            <a:off x="6997700" y="1595140"/>
            <a:ext cx="4381500" cy="629920"/>
          </a:xfrm>
          <a:prstGeom prst="roundRect">
            <a:avLst>
              <a:gd name="adj" fmla="val 14113"/>
            </a:avLst>
          </a:prstGeom>
          <a:solidFill>
            <a:srgbClr val="0B0748"/>
          </a:solidFill>
          <a:ln/>
        </p:spPr>
      </p:sp>
      <p:sp>
        <p:nvSpPr>
          <p:cNvPr id="6" name="Text 4"/>
          <p:cNvSpPr/>
          <p:nvPr/>
        </p:nvSpPr>
        <p:spPr>
          <a:xfrm>
            <a:off x="7137400" y="1696740"/>
            <a:ext cx="42251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6E8"/>
                </a:solidFill>
                <a:latin typeface="IBM Plex Sans" pitchFamily="34" charset="0"/>
                <a:ea typeface="IBM Plex Sans" pitchFamily="34" charset="-122"/>
                <a:cs typeface="IBM Plex Sans" pitchFamily="34" charset="-120"/>
              </a:rPr>
              <a:t>Deployment</a:t>
            </a:r>
            <a:endParaRPr lang="en-US" sz="1200" dirty="0"/>
          </a:p>
        </p:txBody>
      </p:sp>
      <p:sp>
        <p:nvSpPr>
          <p:cNvPr id="7" name="Text 5"/>
          <p:cNvSpPr/>
          <p:nvPr/>
        </p:nvSpPr>
        <p:spPr>
          <a:xfrm>
            <a:off x="7137400" y="1910060"/>
            <a:ext cx="422516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F66"/>
                </a:solidFill>
                <a:latin typeface="JetBrains Mono" pitchFamily="49" charset="0"/>
                <a:ea typeface="JetBrains Mono" pitchFamily="49" charset="-122"/>
                <a:cs typeface="JetBrains Mono" pitchFamily="49" charset="-120"/>
              </a:rPr>
              <a:t>podinfo</a:t>
            </a:r>
            <a:endParaRPr lang="en-US" sz="1200" dirty="0"/>
          </a:p>
        </p:txBody>
      </p:sp>
      <p:pic>
        <p:nvPicPr>
          <p:cNvPr id="8" name="Image 0" descr="arrow-down">    </p:cNvPr>
          <p:cNvPicPr>
            <a:picLocks noChangeAspect="1"/>
          </p:cNvPicPr>
          <p:nvPr/>
        </p:nvPicPr>
        <p:blipFill>
          <a:blip r:embed="rId1"/>
          <a:srcRect l="0" r="0" t="0" b="0"/>
          <a:stretch/>
        </p:blipFill>
        <p:spPr>
          <a:xfrm>
            <a:off x="9112250" y="2288530"/>
            <a:ext cx="152400" cy="228600"/>
          </a:xfrm>
          <a:prstGeom prst="rect">
            <a:avLst/>
          </a:prstGeom>
        </p:spPr>
      </p:pic>
      <p:sp>
        <p:nvSpPr>
          <p:cNvPr id="9" name="Shape 6"/>
          <p:cNvSpPr/>
          <p:nvPr/>
        </p:nvSpPr>
        <p:spPr>
          <a:xfrm>
            <a:off x="7000875" y="2583805"/>
            <a:ext cx="4375150" cy="637752"/>
          </a:xfrm>
          <a:prstGeom prst="roundRect">
            <a:avLst>
              <a:gd name="adj" fmla="val 13442"/>
            </a:avLst>
          </a:prstGeom>
          <a:solidFill>
            <a:srgbClr val="FDFDFF"/>
          </a:solidFill>
          <a:ln w="6350">
            <a:solidFill>
              <a:srgbClr val="CFCCE3"/>
            </a:solidFill>
            <a:prstDash val="solid"/>
          </a:ln>
        </p:spPr>
      </p:sp>
      <p:sp>
        <p:nvSpPr>
          <p:cNvPr id="10" name="Text 7"/>
          <p:cNvSpPr/>
          <p:nvPr/>
        </p:nvSpPr>
        <p:spPr>
          <a:xfrm>
            <a:off x="7144491" y="2689324"/>
            <a:ext cx="42105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ReplicaSet (un par version du modèle)</a:t>
            </a:r>
            <a:endParaRPr lang="en-US" sz="1200" dirty="0"/>
          </a:p>
        </p:txBody>
      </p:sp>
      <p:sp>
        <p:nvSpPr>
          <p:cNvPr id="11" name="Text 8"/>
          <p:cNvSpPr/>
          <p:nvPr/>
        </p:nvSpPr>
        <p:spPr>
          <a:xfrm>
            <a:off x="7144491" y="2902694"/>
            <a:ext cx="42105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podinfo-5d9c7b8f6</a:t>
            </a:r>
            <a:endParaRPr lang="en-US" sz="1200" dirty="0"/>
          </a:p>
        </p:txBody>
      </p:sp>
      <p:pic>
        <p:nvPicPr>
          <p:cNvPr id="12" name="Image 1" descr="arrow-down">    </p:cNvPr>
          <p:cNvPicPr>
            <a:picLocks noChangeAspect="1"/>
          </p:cNvPicPr>
          <p:nvPr/>
        </p:nvPicPr>
        <p:blipFill>
          <a:blip r:embed="rId2"/>
          <a:srcRect l="0" r="0" t="0" b="0"/>
          <a:stretch/>
        </p:blipFill>
        <p:spPr>
          <a:xfrm>
            <a:off x="9112250" y="3288258"/>
            <a:ext cx="152400" cy="228600"/>
          </a:xfrm>
          <a:prstGeom prst="rect">
            <a:avLst/>
          </a:prstGeom>
        </p:spPr>
      </p:pic>
      <p:sp>
        <p:nvSpPr>
          <p:cNvPr id="13" name="Shape 9"/>
          <p:cNvSpPr/>
          <p:nvPr/>
        </p:nvSpPr>
        <p:spPr>
          <a:xfrm>
            <a:off x="7000875" y="3583533"/>
            <a:ext cx="4375150" cy="637752"/>
          </a:xfrm>
          <a:prstGeom prst="roundRect">
            <a:avLst>
              <a:gd name="adj" fmla="val 13442"/>
            </a:avLst>
          </a:prstGeom>
          <a:solidFill>
            <a:srgbClr val="FDFDFF"/>
          </a:solidFill>
          <a:ln w="6350">
            <a:solidFill>
              <a:srgbClr val="CFCCE3"/>
            </a:solidFill>
            <a:prstDash val="solid"/>
          </a:ln>
        </p:spPr>
      </p:sp>
      <p:sp>
        <p:nvSpPr>
          <p:cNvPr id="14" name="Text 10"/>
          <p:cNvSpPr/>
          <p:nvPr/>
        </p:nvSpPr>
        <p:spPr>
          <a:xfrm>
            <a:off x="7144491" y="3689052"/>
            <a:ext cx="42105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Pods</a:t>
            </a:r>
            <a:endParaRPr lang="en-US" sz="1200" dirty="0"/>
          </a:p>
        </p:txBody>
      </p:sp>
      <p:sp>
        <p:nvSpPr>
          <p:cNvPr id="15" name="Text 11"/>
          <p:cNvSpPr/>
          <p:nvPr/>
        </p:nvSpPr>
        <p:spPr>
          <a:xfrm>
            <a:off x="7144491" y="3902373"/>
            <a:ext cx="42105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podinfo-5d9c7b8f6-x2x7k …</a:t>
            </a:r>
            <a:endParaRPr lang="en-US" sz="1200" dirty="0"/>
          </a:p>
        </p:txBody>
      </p:sp>
      <p:sp>
        <p:nvSpPr>
          <p:cNvPr id="16" name="Text 12"/>
          <p:cNvSpPr/>
          <p:nvPr/>
        </p:nvSpPr>
        <p:spPr>
          <a:xfrm>
            <a:off x="6997700" y="4726930"/>
            <a:ext cx="4381500" cy="624840"/>
          </a:xfrm>
          <a:prstGeom prst="roundRect">
            <a:avLst>
              <a:gd name="adj" fmla="val 12195"/>
            </a:avLst>
          </a:prstGeom>
          <a:solidFill>
            <a:srgbClr val="ECEAF6"/>
          </a:solidFill>
          <a:ln/>
        </p:spPr>
        <p:txBody>
          <a:bodyPr wrap="none" lIns="91982" tIns="53882" rIns="0" bIns="28482" rtlCol="0" anchor="t">
            <a:normAutofit/>
          </a:bodyPr>
          <a:lstStyle/>
          <a:p>
            <a:pPr algn="l" indent="0" marL="0">
              <a:lnSpc>
                <a:spcPts val="1860"/>
              </a:lnSpc>
              <a:buNone/>
            </a:pPr>
            <a:r>
              <a:rPr lang="en-US" sz="1200" dirty="0">
                <a:solidFill>
                  <a:srgbClr val="0B0748"/>
                </a:solidFill>
                <a:latin typeface="JetBrains Mono" pitchFamily="49" charset="0"/>
                <a:ea typeface="JetBrains Mono" pitchFamily="49" charset="-122"/>
                <a:cs typeface="JetBrains Mono" pitchFamily="49" charset="-120"/>
              </a:rPr>
              <a:t>kubectl get deploy,rs,pods -l app=podinfo</a:t>
            </a:r>
            <a:endParaRPr lang="en-US" sz="1200" dirty="0"/>
          </a:p>
          <a:p>
            <a:pPr algn="l" indent="0" marL="0">
              <a:lnSpc>
                <a:spcPts val="1860"/>
              </a:lnSpc>
              <a:buNone/>
            </a:pPr>
            <a:r>
              <a:rPr lang="en-US" sz="1200" dirty="0">
                <a:solidFill>
                  <a:srgbClr val="0B0748"/>
                </a:solidFill>
                <a:latin typeface="JetBrains Mono" pitchFamily="49" charset="0"/>
                <a:ea typeface="JetBrains Mono" pitchFamily="49" charset="-122"/>
                <a:cs typeface="JetBrains Mono" pitchFamily="49" charset="-120"/>
              </a:rPr>
              <a:t>kubectl scale deployment podinfo --replicas=5</a:t>
            </a:r>
            <a:endParaRPr lang="en-US" sz="1200" dirty="0"/>
          </a:p>
        </p:txBody>
      </p:sp>
      <p:sp>
        <p:nvSpPr>
          <p:cNvPr id="17" name="Text 13"/>
          <p:cNvSpPr/>
          <p:nvPr/>
        </p:nvSpPr>
        <p:spPr>
          <a:xfrm>
            <a:off x="6997700" y="5415260"/>
            <a:ext cx="451294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revisionHistoryLimit (10), minReadySeconds, progressDeadlineSeconds (600 s).</a:t>
            </a:r>
            <a:endParaRPr lang="en-US" sz="1200" dirty="0"/>
          </a:p>
        </p:txBody>
      </p:sp>
      <p:pic>
        <p:nvPicPr>
          <p:cNvPr id="18" name="Image 2" descr="preencoded.png">    </p:cNvPr>
          <p:cNvPicPr>
            <a:picLocks noChangeAspect="1"/>
          </p:cNvPicPr>
          <p:nvPr/>
        </p:nvPicPr>
        <p:blipFill>
          <a:blip r:embed="rId3"/>
          <a:srcRect l="0" r="0" t="0" b="0"/>
          <a:stretch/>
        </p:blipFill>
        <p:spPr>
          <a:xfrm>
            <a:off x="812800" y="6299200"/>
            <a:ext cx="152400" cy="152400"/>
          </a:xfrm>
          <a:prstGeom prst="rect">
            <a:avLst/>
          </a:prstGeom>
        </p:spPr>
      </p:pic>
      <p:sp>
        <p:nvSpPr>
          <p:cNvPr id="19" name="Text 14"/>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0" name="Image 3" descr="Parcours : module 7 sur 16">    </p:cNvPr>
          <p:cNvPicPr>
            <a:picLocks noChangeAspect="1"/>
          </p:cNvPicPr>
          <p:nvPr/>
        </p:nvPicPr>
        <p:blipFill>
          <a:blip r:embed="rId4"/>
          <a:srcRect l="0" r="0" t="0" b="0"/>
          <a:stretch/>
        </p:blipFill>
        <p:spPr>
          <a:xfrm>
            <a:off x="9207500" y="6299200"/>
            <a:ext cx="2171700" cy="1524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07 · PODS, DEPLOYMENTS, SERVICES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namespaces</a:t>
            </a:r>
            <a:endParaRPr lang="en-US" sz="2800" dirty="0"/>
          </a:p>
        </p:txBody>
      </p:sp>
      <p:sp>
        <p:nvSpPr>
          <p:cNvPr id="4" name="Text 2"/>
          <p:cNvSpPr/>
          <p:nvPr/>
        </p:nvSpPr>
        <p:spPr>
          <a:xfrm>
            <a:off x="812800" y="155704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Un espace de noms qui regroupe des objets : deux Services peuvent s'appeler redis dans deux namespaces. C'est aussi l'unité des quotas (M11), des droits RBAC et des politiques de sécurité (M15).</a:t>
            </a:r>
            <a:endParaRPr lang="en-US" sz="1500" dirty="0"/>
          </a:p>
        </p:txBody>
      </p:sp>
      <p:sp>
        <p:nvSpPr>
          <p:cNvPr id="5" name="Shape 3"/>
          <p:cNvSpPr/>
          <p:nvPr/>
        </p:nvSpPr>
        <p:spPr>
          <a:xfrm>
            <a:off x="812800" y="2306340"/>
            <a:ext cx="4597400" cy="2238375"/>
          </a:xfrm>
          <a:prstGeom prst="rect">
            <a:avLst/>
          </a:prstGeom>
          <a:solidFill>
            <a:srgbClr val="FDFD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9891" y="2313431"/>
          <a:ext cx="4590309" cy="2231284"/>
        </p:xfrm>
        <a:graphic>
          <a:graphicData uri="http://schemas.openxmlformats.org/drawingml/2006/table">
            <a:tbl>
              <a:tblPr/>
              <a:tblGrid>
                <a:gridCol w="1927930"/>
                <a:gridCol w="2662379"/>
              </a:tblGrid>
              <a:tr h="353801">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Namespace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Contenu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58494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default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Objets créés sans namespace précisé</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kube-system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Composants du cluster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58494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kube-public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Lisible par tous, même sans authentification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kube-node-lease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Battements de cœur des nœuds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sp>
        <p:nvSpPr>
          <p:cNvPr id="7" name="Text 4"/>
          <p:cNvSpPr/>
          <p:nvPr/>
        </p:nvSpPr>
        <p:spPr>
          <a:xfrm>
            <a:off x="5664200" y="2306340"/>
            <a:ext cx="5715000" cy="2238375"/>
          </a:xfrm>
          <a:prstGeom prst="roundRect">
            <a:avLst>
              <a:gd name="adj" fmla="val 4539"/>
            </a:avLst>
          </a:prstGeom>
          <a:solidFill>
            <a:srgbClr val="0B0748"/>
          </a:solidFill>
          <a:ln/>
        </p:spPr>
        <p:txBody>
          <a:bodyPr wrap="none" lIns="160742" tIns="122642" rIns="722" bIns="122642" rtlCol="0" anchor="ctr">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get namespaces</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create namespace fil-rouge</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config set-context --current --namespace=fil-rouge</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get pods -A    </a:t>
            </a:r>
            <a:r>
              <a:rPr lang="en-US" sz="1200" dirty="0">
                <a:solidFill>
                  <a:srgbClr val="9A96D0"/>
                </a:solidFill>
                <a:latin typeface="JetBrains Mono" pitchFamily="49" charset="0"/>
                <a:ea typeface="JetBrains Mono" pitchFamily="49" charset="-122"/>
                <a:cs typeface="JetBrains Mono" pitchFamily="49" charset="-120"/>
              </a:rPr>
              <a:t># tous les namespaces</a:t>
            </a:r>
            <a:endParaRPr lang="en-US" sz="1200" dirty="0"/>
          </a:p>
        </p:txBody>
      </p:sp>
      <p:sp>
        <p:nvSpPr>
          <p:cNvPr id="8" name="Shape 5"/>
          <p:cNvSpPr/>
          <p:nvPr/>
        </p:nvSpPr>
        <p:spPr>
          <a:xfrm>
            <a:off x="812800" y="4996160"/>
            <a:ext cx="10566400" cy="845820"/>
          </a:xfrm>
          <a:prstGeom prst="roundRect">
            <a:avLst>
              <a:gd name="adj" fmla="val 15015"/>
            </a:avLst>
          </a:prstGeom>
          <a:solidFill>
            <a:srgbClr val="FCE6DC"/>
          </a:solidFill>
          <a:ln/>
        </p:spPr>
      </p:sp>
      <p:pic>
        <p:nvPicPr>
          <p:cNvPr id="9" name="Image 0" descr="Warning">    </p:cNvPr>
          <p:cNvPicPr>
            <a:picLocks noChangeAspect="1"/>
          </p:cNvPicPr>
          <p:nvPr/>
        </p:nvPicPr>
        <p:blipFill>
          <a:blip r:embed="rId1"/>
          <a:srcRect l="0" r="0" t="0" b="0"/>
          <a:stretch/>
        </p:blipFill>
        <p:spPr>
          <a:xfrm>
            <a:off x="1028700" y="5161260"/>
            <a:ext cx="279400" cy="279400"/>
          </a:xfrm>
          <a:prstGeom prst="rect">
            <a:avLst/>
          </a:prstGeom>
        </p:spPr>
      </p:pic>
      <p:sp>
        <p:nvSpPr>
          <p:cNvPr id="10" name="Text 6"/>
          <p:cNvSpPr/>
          <p:nvPr/>
        </p:nvSpPr>
        <p:spPr>
          <a:xfrm>
            <a:off x="1460500" y="5161260"/>
            <a:ext cx="9993884" cy="54102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0B0748"/>
                </a:solidFill>
                <a:latin typeface="IBM Plex Sans" pitchFamily="34" charset="0"/>
                <a:ea typeface="IBM Plex Sans" pitchFamily="34" charset="-122"/>
                <a:cs typeface="IBM Plex Sans" pitchFamily="34" charset="-120"/>
              </a:rPr>
              <a:t>Un namespace n'isole pas le réseau</a:t>
            </a:r>
            <a:r>
              <a:rPr lang="en-US" sz="1400" dirty="0">
                <a:solidFill>
                  <a:srgbClr val="0B0748"/>
                </a:solidFill>
                <a:latin typeface="IBM Plex Sans" pitchFamily="34" charset="0"/>
                <a:ea typeface="IBM Plex Sans" pitchFamily="34" charset="-122"/>
                <a:cs typeface="IBM Plex Sans" pitchFamily="34" charset="-120"/>
              </a:rPr>
              <a:t> : un pod de equipe-a joint un pod de equipe-b, sauf NetworkPolicies. Et supprimer un namespace supprime tout ce qu'il contient.</a:t>
            </a:r>
            <a:endParaRPr lang="en-US" sz="1400" dirty="0"/>
          </a:p>
        </p:txBody>
      </p:sp>
      <p:pic>
        <p:nvPicPr>
          <p:cNvPr id="11" name="Image 1" descr="preencoded.png">    </p:cNvPr>
          <p:cNvPicPr>
            <a:picLocks noChangeAspect="1"/>
          </p:cNvPicPr>
          <p:nvPr/>
        </p:nvPicPr>
        <p:blipFill>
          <a:blip r:embed="rId2"/>
          <a:srcRect l="0" r="0" t="0" b="0"/>
          <a:stretch/>
        </p:blipFill>
        <p:spPr>
          <a:xfrm>
            <a:off x="812800" y="6299200"/>
            <a:ext cx="152400" cy="152400"/>
          </a:xfrm>
          <a:prstGeom prst="rect">
            <a:avLst/>
          </a:prstGeom>
        </p:spPr>
      </p:pic>
      <p:sp>
        <p:nvSpPr>
          <p:cNvPr id="12" name="Text 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3" name="Image 2" descr="Parcours : module 7 sur 16">    </p:cNvPr>
          <p:cNvPicPr>
            <a:picLocks noChangeAspect="1"/>
          </p:cNvPicPr>
          <p:nvPr/>
        </p:nvPicPr>
        <p:blipFill>
          <a:blip r:embed="rId3"/>
          <a:srcRect l="0" r="0" t="0" b="0"/>
          <a:stretch/>
        </p:blipFill>
        <p:spPr>
          <a:xfrm>
            <a:off x="9207500" y="6299200"/>
            <a:ext cx="2171700" cy="1524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07 · PODS, DEPLOYMENTS, SERVICES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Services</a:t>
            </a:r>
            <a:endParaRPr lang="en-US" sz="2800" dirty="0"/>
          </a:p>
        </p:txBody>
      </p:sp>
      <p:sp>
        <p:nvSpPr>
          <p:cNvPr id="4" name="Shape 2"/>
          <p:cNvSpPr/>
          <p:nvPr/>
        </p:nvSpPr>
        <p:spPr>
          <a:xfrm>
            <a:off x="812800" y="1544340"/>
            <a:ext cx="3420533" cy="1036320"/>
          </a:xfrm>
          <a:prstGeom prst="roundRect">
            <a:avLst>
              <a:gd name="adj" fmla="val 11029"/>
            </a:avLst>
          </a:prstGeom>
          <a:solidFill>
            <a:srgbClr val="0B0748"/>
          </a:solidFill>
          <a:ln/>
        </p:spPr>
      </p:sp>
      <p:sp>
        <p:nvSpPr>
          <p:cNvPr id="5" name="Text 3"/>
          <p:cNvSpPr/>
          <p:nvPr/>
        </p:nvSpPr>
        <p:spPr>
          <a:xfrm>
            <a:off x="990600" y="1696839"/>
            <a:ext cx="315688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8F66"/>
                </a:solidFill>
                <a:latin typeface="Sora" pitchFamily="34" charset="0"/>
                <a:ea typeface="Sora" pitchFamily="34" charset="-122"/>
                <a:cs typeface="Sora" pitchFamily="34" charset="-120"/>
              </a:rPr>
              <a:t>Une IP stable</a:t>
            </a:r>
            <a:endParaRPr lang="en-US" sz="1500" dirty="0"/>
          </a:p>
        </p:txBody>
      </p:sp>
      <p:sp>
        <p:nvSpPr>
          <p:cNvPr id="6" name="Text 4"/>
          <p:cNvSpPr/>
          <p:nvPr/>
        </p:nvSpPr>
        <p:spPr>
          <a:xfrm>
            <a:off x="990600" y="2001540"/>
            <a:ext cx="31568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la ClusterIP, prise dans 10.96.0.0/12</a:t>
            </a:r>
            <a:endParaRPr lang="en-US" sz="1200" dirty="0"/>
          </a:p>
        </p:txBody>
      </p:sp>
      <p:sp>
        <p:nvSpPr>
          <p:cNvPr id="7" name="Shape 5"/>
          <p:cNvSpPr/>
          <p:nvPr/>
        </p:nvSpPr>
        <p:spPr>
          <a:xfrm>
            <a:off x="4385733" y="1544340"/>
            <a:ext cx="3420533" cy="1036320"/>
          </a:xfrm>
          <a:prstGeom prst="roundRect">
            <a:avLst>
              <a:gd name="adj" fmla="val 11029"/>
            </a:avLst>
          </a:prstGeom>
          <a:solidFill>
            <a:srgbClr val="0B0748"/>
          </a:solidFill>
          <a:ln/>
        </p:spPr>
      </p:sp>
      <p:sp>
        <p:nvSpPr>
          <p:cNvPr id="8" name="Text 6"/>
          <p:cNvSpPr/>
          <p:nvPr/>
        </p:nvSpPr>
        <p:spPr>
          <a:xfrm>
            <a:off x="4563533" y="1696839"/>
            <a:ext cx="315688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8F66"/>
                </a:solidFill>
                <a:latin typeface="Sora" pitchFamily="34" charset="0"/>
                <a:ea typeface="Sora" pitchFamily="34" charset="-122"/>
                <a:cs typeface="Sora" pitchFamily="34" charset="-120"/>
              </a:rPr>
              <a:t>Un nom DNS stable</a:t>
            </a:r>
            <a:endParaRPr lang="en-US" sz="1500" dirty="0"/>
          </a:p>
        </p:txBody>
      </p:sp>
      <p:sp>
        <p:nvSpPr>
          <p:cNvPr id="9" name="Text 7"/>
          <p:cNvSpPr/>
          <p:nvPr/>
        </p:nvSpPr>
        <p:spPr>
          <a:xfrm>
            <a:off x="4563533" y="2001540"/>
            <a:ext cx="31568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résolu par CoreDNS</a:t>
            </a:r>
            <a:endParaRPr lang="en-US" sz="1200" dirty="0"/>
          </a:p>
        </p:txBody>
      </p:sp>
      <p:sp>
        <p:nvSpPr>
          <p:cNvPr id="10" name="Shape 8"/>
          <p:cNvSpPr/>
          <p:nvPr/>
        </p:nvSpPr>
        <p:spPr>
          <a:xfrm>
            <a:off x="7958667" y="1544340"/>
            <a:ext cx="3420533" cy="1036320"/>
          </a:xfrm>
          <a:prstGeom prst="roundRect">
            <a:avLst>
              <a:gd name="adj" fmla="val 11029"/>
            </a:avLst>
          </a:prstGeom>
          <a:solidFill>
            <a:srgbClr val="0B0748"/>
          </a:solidFill>
          <a:ln/>
        </p:spPr>
      </p:sp>
      <p:sp>
        <p:nvSpPr>
          <p:cNvPr id="11" name="Text 9"/>
          <p:cNvSpPr/>
          <p:nvPr/>
        </p:nvSpPr>
        <p:spPr>
          <a:xfrm>
            <a:off x="8136467" y="1696839"/>
            <a:ext cx="315688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8F66"/>
                </a:solidFill>
                <a:latin typeface="Sora" pitchFamily="34" charset="0"/>
                <a:ea typeface="Sora" pitchFamily="34" charset="-122"/>
                <a:cs typeface="Sora" pitchFamily="34" charset="-120"/>
              </a:rPr>
              <a:t>Une répartition</a:t>
            </a:r>
            <a:endParaRPr lang="en-US" sz="1500" dirty="0"/>
          </a:p>
        </p:txBody>
      </p:sp>
      <p:sp>
        <p:nvSpPr>
          <p:cNvPr id="12" name="Text 10"/>
          <p:cNvSpPr/>
          <p:nvPr/>
        </p:nvSpPr>
        <p:spPr>
          <a:xfrm>
            <a:off x="8136467" y="2001540"/>
            <a:ext cx="315688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entre les pods prêts qui correspondent au selector</a:t>
            </a:r>
            <a:endParaRPr lang="en-US" sz="1200" dirty="0"/>
          </a:p>
        </p:txBody>
      </p:sp>
      <p:sp>
        <p:nvSpPr>
          <p:cNvPr id="13" name="Text 11"/>
          <p:cNvSpPr/>
          <p:nvPr/>
        </p:nvSpPr>
        <p:spPr>
          <a:xfrm>
            <a:off x="812800" y="2783830"/>
            <a:ext cx="108833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Le contrôleur EndpointSlice tient à jour les adresses des pods ; kube-proxy en déduit, sur chaque nœud, les règles qui redirigent la ClusterIP vers un pod.</a:t>
            </a:r>
            <a:endParaRPr lang="en-US" sz="1300" dirty="0"/>
          </a:p>
        </p:txBody>
      </p:sp>
      <p:sp>
        <p:nvSpPr>
          <p:cNvPr id="14" name="Shape 12"/>
          <p:cNvSpPr/>
          <p:nvPr/>
        </p:nvSpPr>
        <p:spPr>
          <a:xfrm>
            <a:off x="812800" y="3449340"/>
            <a:ext cx="10566400" cy="2129896"/>
          </a:xfrm>
          <a:prstGeom prst="rect">
            <a:avLst/>
          </a:prstGeom>
          <a:solidFill>
            <a:srgbClr val="FDFDFF"/>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19891" y="3456431"/>
          <a:ext cx="10559309" cy="2122805"/>
        </p:xfrm>
        <a:graphic>
          <a:graphicData uri="http://schemas.openxmlformats.org/drawingml/2006/table">
            <a:tbl>
              <a:tblPr/>
              <a:tblGrid>
                <a:gridCol w="2745420"/>
                <a:gridCol w="4012537"/>
                <a:gridCol w="3801351"/>
              </a:tblGrid>
              <a:tr h="353801">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Accessible depuis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Usage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ClusterIP (défaut)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L'intérieur du cluster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Entre composants : podinfo vers Redis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NodePort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L'extérieur, port 30000-32767 de chaque nœud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Tests, labos, répartiteur externe manuel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LoadBalancer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L'extérieur, via un répartiteur Cloud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Production sur un service managé</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ExternalName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L'intérieur : alias DNS vers un nom externe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Une base hébergée hors du cluster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Headless (clusterIP: None)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L'intérieur : le DNS renvoie les IP des pods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Bases de données en StatefulSet (M16)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bl>
          </a:graphicData>
        </a:graphic>
      </p:graphicFrame>
      <p:pic>
        <p:nvPicPr>
          <p:cNvPr id="16"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7" name="Text 13"/>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1" descr="Parcours : module 7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07 · PODS, DEPLOYMENTS, SERVICES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Quatre numéros de port à ne pas confondre</a:t>
            </a:r>
            <a:endParaRPr lang="en-US" sz="2800" dirty="0"/>
          </a:p>
        </p:txBody>
      </p:sp>
      <p:sp>
        <p:nvSpPr>
          <p:cNvPr id="4" name="Shape 2"/>
          <p:cNvSpPr/>
          <p:nvPr/>
        </p:nvSpPr>
        <p:spPr>
          <a:xfrm>
            <a:off x="815975" y="1572915"/>
            <a:ext cx="5048250" cy="622512"/>
          </a:xfrm>
          <a:prstGeom prst="roundRect">
            <a:avLst>
              <a:gd name="adj" fmla="val 15811"/>
            </a:avLst>
          </a:prstGeom>
          <a:solidFill>
            <a:srgbClr val="FDFDFF"/>
          </a:solidFill>
          <a:ln w="6350">
            <a:solidFill>
              <a:srgbClr val="E1DFEE"/>
            </a:solidFill>
            <a:prstDash val="solid"/>
          </a:ln>
        </p:spPr>
      </p:sp>
      <p:sp>
        <p:nvSpPr>
          <p:cNvPr id="5" name="Text 3"/>
          <p:cNvSpPr/>
          <p:nvPr/>
        </p:nvSpPr>
        <p:spPr>
          <a:xfrm>
            <a:off x="972291" y="1768574"/>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nodePort 30080</a:t>
            </a:r>
            <a:endParaRPr lang="en-US" sz="1300" dirty="0"/>
          </a:p>
        </p:txBody>
      </p:sp>
      <p:sp>
        <p:nvSpPr>
          <p:cNvPr id="6" name="Text 4"/>
          <p:cNvSpPr/>
          <p:nvPr/>
        </p:nvSpPr>
        <p:spPr>
          <a:xfrm>
            <a:off x="3004291" y="1678434"/>
            <a:ext cx="2784727"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ouvert sur chaque nœud (Service NodePort)</a:t>
            </a:r>
            <a:endParaRPr lang="en-US" sz="1200" dirty="0"/>
          </a:p>
        </p:txBody>
      </p:sp>
      <p:pic>
        <p:nvPicPr>
          <p:cNvPr id="7" name="Image 0" descr="arrow-down">    </p:cNvPr>
          <p:cNvPicPr>
            <a:picLocks noChangeAspect="1"/>
          </p:cNvPicPr>
          <p:nvPr/>
        </p:nvPicPr>
        <p:blipFill>
          <a:blip r:embed="rId1"/>
          <a:srcRect l="0" r="0" t="0" b="0"/>
          <a:stretch/>
        </p:blipFill>
        <p:spPr>
          <a:xfrm>
            <a:off x="3270250" y="2236688"/>
            <a:ext cx="139700" cy="190500"/>
          </a:xfrm>
          <a:prstGeom prst="rect">
            <a:avLst/>
          </a:prstGeom>
        </p:spPr>
      </p:pic>
      <p:sp>
        <p:nvSpPr>
          <p:cNvPr id="8" name="Shape 5"/>
          <p:cNvSpPr/>
          <p:nvPr/>
        </p:nvSpPr>
        <p:spPr>
          <a:xfrm>
            <a:off x="812800" y="2465288"/>
            <a:ext cx="5054600" cy="614680"/>
          </a:xfrm>
          <a:prstGeom prst="roundRect">
            <a:avLst>
              <a:gd name="adj" fmla="val 16529"/>
            </a:avLst>
          </a:prstGeom>
          <a:solidFill>
            <a:srgbClr val="0B0748"/>
          </a:solidFill>
          <a:ln/>
        </p:spPr>
      </p:sp>
      <p:sp>
        <p:nvSpPr>
          <p:cNvPr id="9" name="Text 6"/>
          <p:cNvSpPr/>
          <p:nvPr/>
        </p:nvSpPr>
        <p:spPr>
          <a:xfrm>
            <a:off x="965200" y="2657029"/>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8F66"/>
                </a:solidFill>
                <a:latin typeface="JetBrains Mono" pitchFamily="49" charset="0"/>
                <a:ea typeface="JetBrains Mono" pitchFamily="49" charset="-122"/>
                <a:cs typeface="JetBrains Mono" pitchFamily="49" charset="-120"/>
              </a:rPr>
              <a:t>port 9898</a:t>
            </a:r>
            <a:endParaRPr lang="en-US" sz="1300" dirty="0"/>
          </a:p>
        </p:txBody>
      </p:sp>
      <p:sp>
        <p:nvSpPr>
          <p:cNvPr id="10" name="Text 7"/>
          <p:cNvSpPr/>
          <p:nvPr/>
        </p:nvSpPr>
        <p:spPr>
          <a:xfrm>
            <a:off x="2997200" y="2566888"/>
            <a:ext cx="279933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CEAFF"/>
                </a:solidFill>
                <a:latin typeface="IBM Plex Sans" pitchFamily="34" charset="0"/>
                <a:ea typeface="IBM Plex Sans" pitchFamily="34" charset="-122"/>
                <a:cs typeface="IBM Plex Sans" pitchFamily="34" charset="-120"/>
              </a:rPr>
              <a:t>celui de la ClusterIP, qu'appellent les clients</a:t>
            </a:r>
            <a:endParaRPr lang="en-US" sz="1200" dirty="0"/>
          </a:p>
        </p:txBody>
      </p:sp>
      <p:pic>
        <p:nvPicPr>
          <p:cNvPr id="11" name="Image 1" descr="arrow-down">    </p:cNvPr>
          <p:cNvPicPr>
            <a:picLocks noChangeAspect="1"/>
          </p:cNvPicPr>
          <p:nvPr/>
        </p:nvPicPr>
        <p:blipFill>
          <a:blip r:embed="rId2"/>
          <a:srcRect l="0" r="0" t="0" b="0"/>
          <a:stretch/>
        </p:blipFill>
        <p:spPr>
          <a:xfrm>
            <a:off x="3270250" y="3118048"/>
            <a:ext cx="139700" cy="190500"/>
          </a:xfrm>
          <a:prstGeom prst="rect">
            <a:avLst/>
          </a:prstGeom>
        </p:spPr>
      </p:pic>
      <p:sp>
        <p:nvSpPr>
          <p:cNvPr id="12" name="Shape 8"/>
          <p:cNvSpPr/>
          <p:nvPr/>
        </p:nvSpPr>
        <p:spPr>
          <a:xfrm>
            <a:off x="815975" y="3349823"/>
            <a:ext cx="5048250" cy="622512"/>
          </a:xfrm>
          <a:prstGeom prst="roundRect">
            <a:avLst>
              <a:gd name="adj" fmla="val 15811"/>
            </a:avLst>
          </a:prstGeom>
          <a:solidFill>
            <a:srgbClr val="FDFDFF"/>
          </a:solidFill>
          <a:ln w="6350">
            <a:solidFill>
              <a:srgbClr val="E1DFEE"/>
            </a:solidFill>
            <a:prstDash val="solid"/>
          </a:ln>
        </p:spPr>
      </p:sp>
      <p:sp>
        <p:nvSpPr>
          <p:cNvPr id="13" name="Text 9"/>
          <p:cNvSpPr/>
          <p:nvPr/>
        </p:nvSpPr>
        <p:spPr>
          <a:xfrm>
            <a:off x="972291" y="3545532"/>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targetPort http</a:t>
            </a:r>
            <a:endParaRPr lang="en-US" sz="1300" dirty="0"/>
          </a:p>
        </p:txBody>
      </p:sp>
      <p:sp>
        <p:nvSpPr>
          <p:cNvPr id="14" name="Text 10"/>
          <p:cNvSpPr/>
          <p:nvPr/>
        </p:nvSpPr>
        <p:spPr>
          <a:xfrm>
            <a:off x="3004291" y="3455343"/>
            <a:ext cx="2784727"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le port du pod visé, par numéro ou par nom</a:t>
            </a:r>
            <a:endParaRPr lang="en-US" sz="1200" dirty="0"/>
          </a:p>
        </p:txBody>
      </p:sp>
      <p:pic>
        <p:nvPicPr>
          <p:cNvPr id="15" name="Image 2" descr="arrow-down">    </p:cNvPr>
          <p:cNvPicPr>
            <a:picLocks noChangeAspect="1"/>
          </p:cNvPicPr>
          <p:nvPr/>
        </p:nvPicPr>
        <p:blipFill>
          <a:blip r:embed="rId3"/>
          <a:srcRect l="0" r="0" t="0" b="0"/>
          <a:stretch/>
        </p:blipFill>
        <p:spPr>
          <a:xfrm>
            <a:off x="3270250" y="4013646"/>
            <a:ext cx="139700" cy="190500"/>
          </a:xfrm>
          <a:prstGeom prst="rect">
            <a:avLst/>
          </a:prstGeom>
        </p:spPr>
      </p:pic>
      <p:sp>
        <p:nvSpPr>
          <p:cNvPr id="16" name="Shape 11"/>
          <p:cNvSpPr/>
          <p:nvPr/>
        </p:nvSpPr>
        <p:spPr>
          <a:xfrm>
            <a:off x="815975" y="4245421"/>
            <a:ext cx="5048250" cy="442172"/>
          </a:xfrm>
          <a:prstGeom prst="roundRect">
            <a:avLst>
              <a:gd name="adj" fmla="val 22259"/>
            </a:avLst>
          </a:prstGeom>
          <a:solidFill>
            <a:srgbClr val="FDFDFF"/>
          </a:solidFill>
          <a:ln w="6350">
            <a:solidFill>
              <a:srgbClr val="E1DFEE"/>
            </a:solidFill>
            <a:prstDash val="solid"/>
          </a:ln>
        </p:spPr>
      </p:sp>
      <p:sp>
        <p:nvSpPr>
          <p:cNvPr id="17" name="Text 12"/>
          <p:cNvSpPr/>
          <p:nvPr/>
        </p:nvSpPr>
        <p:spPr>
          <a:xfrm>
            <a:off x="972291" y="4350891"/>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JetBrains Mono" pitchFamily="49" charset="0"/>
                <a:ea typeface="JetBrains Mono" pitchFamily="49" charset="-122"/>
                <a:cs typeface="JetBrains Mono" pitchFamily="49" charset="-120"/>
              </a:rPr>
              <a:t>containerPort 9898</a:t>
            </a:r>
            <a:endParaRPr lang="en-US" sz="1300" dirty="0"/>
          </a:p>
        </p:txBody>
      </p:sp>
      <p:sp>
        <p:nvSpPr>
          <p:cNvPr id="18" name="Text 13"/>
          <p:cNvSpPr/>
          <p:nvPr/>
        </p:nvSpPr>
        <p:spPr>
          <a:xfrm>
            <a:off x="3004291" y="4363591"/>
            <a:ext cx="2784727"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là où l'application écoute (informatif)</a:t>
            </a:r>
            <a:endParaRPr lang="en-US" sz="1200" dirty="0"/>
          </a:p>
        </p:txBody>
      </p:sp>
      <p:sp>
        <p:nvSpPr>
          <p:cNvPr id="19" name="Text 14"/>
          <p:cNvSpPr/>
          <p:nvPr/>
        </p:nvSpPr>
        <p:spPr>
          <a:xfrm>
            <a:off x="812800" y="5415260"/>
            <a:ext cx="520623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Un Service sans endpoint : selector qui ne correspond à aucun label de pod, ou pods pas prêts.</a:t>
            </a:r>
            <a:endParaRPr lang="en-US" sz="1200" dirty="0"/>
          </a:p>
        </p:txBody>
      </p:sp>
      <p:sp>
        <p:nvSpPr>
          <p:cNvPr id="20" name="Text 15"/>
          <p:cNvSpPr/>
          <p:nvPr/>
        </p:nvSpPr>
        <p:spPr>
          <a:xfrm>
            <a:off x="6172200" y="1569740"/>
            <a:ext cx="5207000" cy="4272280"/>
          </a:xfrm>
          <a:prstGeom prst="roundRect">
            <a:avLst>
              <a:gd name="adj" fmla="val 2378"/>
            </a:avLst>
          </a:prstGeom>
          <a:solidFill>
            <a:srgbClr val="0B0748"/>
          </a:solidFill>
          <a:ln/>
        </p:spPr>
        <p:txBody>
          <a:bodyPr wrap="none" lIns="160742" tIns="277572" rIns="15962" bIns="252192" rtlCol="0" anchor="t">
            <a:normAutofit/>
          </a:bodyPr>
          <a:lstStyle/>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apiVersion: v1</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kind: Service</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metadata:</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name: podinfo</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spec:</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type: NodePort</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selector:</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app: podinfo        </a:t>
            </a:r>
            <a:r>
              <a:rPr lang="en-US" sz="1200" dirty="0">
                <a:solidFill>
                  <a:srgbClr val="9A96D0"/>
                </a:solidFill>
                <a:latin typeface="JetBrains Mono" pitchFamily="49" charset="0"/>
                <a:ea typeface="JetBrains Mono" pitchFamily="49" charset="-122"/>
                <a:cs typeface="JetBrains Mono" pitchFamily="49" charset="-120"/>
              </a:rPr>
              <a:t># les pods prêts de ce label</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ports:</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 name: http</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port: 9898</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targetPort: http</a:t>
            </a: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9A96D0"/>
                </a:solidFill>
                <a:latin typeface="JetBrains Mono" pitchFamily="49" charset="0"/>
                <a:ea typeface="JetBrains Mono" pitchFamily="49" charset="-122"/>
                <a:cs typeface="JetBrains Mono" pitchFamily="49" charset="-120"/>
              </a:rPr>
              <a:t># port nommé du conteneur</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nodePort: 30080</a:t>
            </a: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9A96D0"/>
                </a:solidFill>
                <a:latin typeface="JetBrains Mono" pitchFamily="49" charset="0"/>
                <a:ea typeface="JetBrains Mono" pitchFamily="49" charset="-122"/>
                <a:cs typeface="JetBrains Mono" pitchFamily="49" charset="-120"/>
              </a:rPr>
              <a:t># facultatif</a:t>
            </a:r>
            <a:endParaRPr lang="en-US" sz="1200" dirty="0"/>
          </a:p>
          <a:p>
            <a:pPr algn="l" indent="0" marL="0">
              <a:lnSpc>
                <a:spcPts val="1800"/>
              </a:lnSpc>
              <a:buNone/>
            </a:pP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kubectl get endpointslices \</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-l kubernetes.io/service-name=podinfo</a:t>
            </a:r>
            <a:endParaRPr lang="en-US" sz="1200" dirty="0"/>
          </a:p>
        </p:txBody>
      </p:sp>
      <p:pic>
        <p:nvPicPr>
          <p:cNvPr id="21" name="Image 3" descr="preencoded.png">    </p:cNvPr>
          <p:cNvPicPr>
            <a:picLocks noChangeAspect="1"/>
          </p:cNvPicPr>
          <p:nvPr/>
        </p:nvPicPr>
        <p:blipFill>
          <a:blip r:embed="rId4"/>
          <a:srcRect l="0" r="0" t="0" b="0"/>
          <a:stretch/>
        </p:blipFill>
        <p:spPr>
          <a:xfrm>
            <a:off x="812800" y="6299200"/>
            <a:ext cx="152400" cy="152400"/>
          </a:xfrm>
          <a:prstGeom prst="rect">
            <a:avLst/>
          </a:prstGeom>
        </p:spPr>
      </p:pic>
      <p:sp>
        <p:nvSpPr>
          <p:cNvPr id="22" name="Text 1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3" name="Image 4" descr="Parcours : module 7 sur 16">    </p:cNvPr>
          <p:cNvPicPr>
            <a:picLocks noChangeAspect="1"/>
          </p:cNvPicPr>
          <p:nvPr/>
        </p:nvPicPr>
        <p:blipFill>
          <a:blip r:embed="rId5"/>
          <a:srcRect l="0" r="0" t="0" b="0"/>
          <a:stretch/>
        </p:blipFill>
        <p:spPr>
          <a:xfrm>
            <a:off x="9207500" y="6299200"/>
            <a:ext cx="2171700" cy="15240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07 · PODS, DEPLOYMENTS, SERVICES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DNS interne</a:t>
            </a:r>
            <a:endParaRPr lang="en-US" sz="2800" dirty="0"/>
          </a:p>
        </p:txBody>
      </p:sp>
      <p:sp>
        <p:nvSpPr>
          <p:cNvPr id="4" name="Shape 2"/>
          <p:cNvSpPr/>
          <p:nvPr/>
        </p:nvSpPr>
        <p:spPr>
          <a:xfrm>
            <a:off x="815975" y="1560215"/>
            <a:ext cx="10560050" cy="1006052"/>
          </a:xfrm>
          <a:prstGeom prst="roundRect">
            <a:avLst>
              <a:gd name="adj" fmla="val 12308"/>
            </a:avLst>
          </a:prstGeom>
          <a:solidFill>
            <a:srgbClr val="FDFDFF"/>
          </a:solidFill>
          <a:ln w="6350">
            <a:solidFill>
              <a:srgbClr val="E1DFEE"/>
            </a:solidFill>
            <a:prstDash val="solid"/>
          </a:ln>
        </p:spPr>
      </p:sp>
      <p:sp>
        <p:nvSpPr>
          <p:cNvPr id="5" name="Text 3"/>
          <p:cNvSpPr/>
          <p:nvPr/>
        </p:nvSpPr>
        <p:spPr>
          <a:xfrm>
            <a:off x="3202940" y="1741934"/>
            <a:ext cx="9017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B0748"/>
                </a:solidFill>
                <a:latin typeface="JetBrains Mono" pitchFamily="49" charset="0"/>
                <a:ea typeface="JetBrains Mono" pitchFamily="49" charset="-122"/>
                <a:cs typeface="JetBrains Mono" pitchFamily="49" charset="-120"/>
              </a:rPr>
              <a:t>redis</a:t>
            </a:r>
            <a:endParaRPr lang="en-US" sz="2200" dirty="0"/>
          </a:p>
        </p:txBody>
      </p:sp>
      <p:sp>
        <p:nvSpPr>
          <p:cNvPr id="6" name="Text 4"/>
          <p:cNvSpPr/>
          <p:nvPr/>
        </p:nvSpPr>
        <p:spPr>
          <a:xfrm>
            <a:off x="3189234" y="2171154"/>
            <a:ext cx="865505" cy="23876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SERVICE</a:t>
            </a:r>
            <a:endParaRPr lang="en-US" sz="1200" dirty="0"/>
          </a:p>
        </p:txBody>
      </p:sp>
      <p:sp>
        <p:nvSpPr>
          <p:cNvPr id="7" name="Text 5"/>
          <p:cNvSpPr/>
          <p:nvPr/>
        </p:nvSpPr>
        <p:spPr>
          <a:xfrm>
            <a:off x="4104640" y="1741934"/>
            <a:ext cx="21844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6A3C6"/>
                </a:solidFill>
                <a:latin typeface="JetBrains Mono" pitchFamily="49" charset="0"/>
                <a:ea typeface="JetBrains Mono" pitchFamily="49" charset="-122"/>
                <a:cs typeface="JetBrains Mono" pitchFamily="49" charset="-120"/>
              </a:rPr>
              <a:t>.</a:t>
            </a:r>
            <a:endParaRPr lang="en-US" sz="2200" dirty="0"/>
          </a:p>
        </p:txBody>
      </p:sp>
      <p:sp>
        <p:nvSpPr>
          <p:cNvPr id="8" name="Text 6"/>
          <p:cNvSpPr/>
          <p:nvPr/>
        </p:nvSpPr>
        <p:spPr>
          <a:xfrm>
            <a:off x="4335780" y="1741934"/>
            <a:ext cx="157226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B0748"/>
                </a:solidFill>
                <a:latin typeface="JetBrains Mono" pitchFamily="49" charset="0"/>
                <a:ea typeface="JetBrains Mono" pitchFamily="49" charset="-122"/>
                <a:cs typeface="JetBrains Mono" pitchFamily="49" charset="-120"/>
              </a:rPr>
              <a:t>fil-rouge</a:t>
            </a:r>
            <a:endParaRPr lang="en-US" sz="2200" dirty="0"/>
          </a:p>
        </p:txBody>
      </p:sp>
      <p:sp>
        <p:nvSpPr>
          <p:cNvPr id="9" name="Text 7"/>
          <p:cNvSpPr/>
          <p:nvPr/>
        </p:nvSpPr>
        <p:spPr>
          <a:xfrm>
            <a:off x="4483608" y="2171154"/>
            <a:ext cx="1213104" cy="23876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NAMESPACE</a:t>
            </a:r>
            <a:endParaRPr lang="en-US" sz="1200" dirty="0"/>
          </a:p>
        </p:txBody>
      </p:sp>
      <p:sp>
        <p:nvSpPr>
          <p:cNvPr id="10" name="Text 8"/>
          <p:cNvSpPr/>
          <p:nvPr/>
        </p:nvSpPr>
        <p:spPr>
          <a:xfrm>
            <a:off x="5908040" y="1741934"/>
            <a:ext cx="21844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6A3C6"/>
                </a:solidFill>
                <a:latin typeface="JetBrains Mono" pitchFamily="49" charset="0"/>
                <a:ea typeface="JetBrains Mono" pitchFamily="49" charset="-122"/>
                <a:cs typeface="JetBrains Mono" pitchFamily="49" charset="-120"/>
              </a:rPr>
              <a:t>.</a:t>
            </a:r>
            <a:endParaRPr lang="en-US" sz="2200" dirty="0"/>
          </a:p>
        </p:txBody>
      </p:sp>
      <p:sp>
        <p:nvSpPr>
          <p:cNvPr id="11" name="Text 9"/>
          <p:cNvSpPr/>
          <p:nvPr/>
        </p:nvSpPr>
        <p:spPr>
          <a:xfrm>
            <a:off x="6139180" y="1741934"/>
            <a:ext cx="3419856"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6B6890"/>
                </a:solidFill>
                <a:latin typeface="JetBrains Mono" pitchFamily="49" charset="0"/>
                <a:ea typeface="JetBrains Mono" pitchFamily="49" charset="-122"/>
                <a:cs typeface="JetBrains Mono" pitchFamily="49" charset="-120"/>
              </a:rPr>
              <a:t>svc.cluster.local</a:t>
            </a:r>
            <a:endParaRPr lang="en-US" sz="2200" dirty="0"/>
          </a:p>
        </p:txBody>
      </p:sp>
      <p:sp>
        <p:nvSpPr>
          <p:cNvPr id="12" name="Text 10"/>
          <p:cNvSpPr/>
          <p:nvPr/>
        </p:nvSpPr>
        <p:spPr>
          <a:xfrm>
            <a:off x="6490853" y="2171154"/>
            <a:ext cx="2146427" cy="23876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SUFFIXE DU CLUSTER</a:t>
            </a:r>
            <a:endParaRPr lang="en-US" sz="1200" dirty="0"/>
          </a:p>
        </p:txBody>
      </p:sp>
      <p:sp>
        <p:nvSpPr>
          <p:cNvPr id="13" name="Text 11"/>
          <p:cNvSpPr/>
          <p:nvPr/>
        </p:nvSpPr>
        <p:spPr>
          <a:xfrm>
            <a:off x="812800" y="2785318"/>
            <a:ext cx="525856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POUR JOINDRE REDIS, DEPUIS UN POD…</a:t>
            </a:r>
            <a:endParaRPr lang="en-US" sz="1200" dirty="0"/>
          </a:p>
        </p:txBody>
      </p:sp>
      <p:sp>
        <p:nvSpPr>
          <p:cNvPr id="14" name="Shape 12"/>
          <p:cNvSpPr/>
          <p:nvPr/>
        </p:nvSpPr>
        <p:spPr>
          <a:xfrm>
            <a:off x="812800" y="3389742"/>
            <a:ext cx="5105400" cy="0"/>
          </a:xfrm>
          <a:prstGeom prst="line">
            <a:avLst/>
          </a:prstGeom>
          <a:noFill/>
          <a:ln w="6350">
            <a:solidFill>
              <a:srgbClr val="E1DFEE"/>
            </a:solidFill>
            <a:prstDash val="solid"/>
          </a:ln>
        </p:spPr>
      </p:sp>
      <p:sp>
        <p:nvSpPr>
          <p:cNvPr id="15" name="Text 13"/>
          <p:cNvSpPr/>
          <p:nvPr/>
        </p:nvSpPr>
        <p:spPr>
          <a:xfrm>
            <a:off x="812800" y="3087588"/>
            <a:ext cx="1701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de fil-rouge</a:t>
            </a:r>
            <a:endParaRPr lang="en-US" sz="1300" dirty="0"/>
          </a:p>
        </p:txBody>
      </p:sp>
      <p:sp>
        <p:nvSpPr>
          <p:cNvPr id="16" name="Text 14"/>
          <p:cNvSpPr/>
          <p:nvPr/>
        </p:nvSpPr>
        <p:spPr>
          <a:xfrm>
            <a:off x="2590800" y="3091160"/>
            <a:ext cx="342722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redis</a:t>
            </a:r>
            <a:endParaRPr lang="en-US" sz="1300" dirty="0"/>
          </a:p>
        </p:txBody>
      </p:sp>
      <p:sp>
        <p:nvSpPr>
          <p:cNvPr id="17" name="Shape 15"/>
          <p:cNvSpPr/>
          <p:nvPr/>
        </p:nvSpPr>
        <p:spPr>
          <a:xfrm>
            <a:off x="812800" y="3783988"/>
            <a:ext cx="5105400" cy="0"/>
          </a:xfrm>
          <a:prstGeom prst="line">
            <a:avLst/>
          </a:prstGeom>
          <a:noFill/>
          <a:ln w="6350">
            <a:solidFill>
              <a:srgbClr val="E1DFEE"/>
            </a:solidFill>
            <a:prstDash val="solid"/>
          </a:ln>
        </p:spPr>
      </p:sp>
      <p:sp>
        <p:nvSpPr>
          <p:cNvPr id="18" name="Text 16"/>
          <p:cNvSpPr/>
          <p:nvPr/>
        </p:nvSpPr>
        <p:spPr>
          <a:xfrm>
            <a:off x="812800" y="3481834"/>
            <a:ext cx="17780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d'un autre namespace</a:t>
            </a:r>
            <a:endParaRPr lang="en-US" sz="1300" dirty="0"/>
          </a:p>
        </p:txBody>
      </p:sp>
      <p:sp>
        <p:nvSpPr>
          <p:cNvPr id="19" name="Text 17"/>
          <p:cNvSpPr/>
          <p:nvPr/>
        </p:nvSpPr>
        <p:spPr>
          <a:xfrm>
            <a:off x="2590800" y="3485406"/>
            <a:ext cx="342722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redis.fil-rouge</a:t>
            </a:r>
            <a:endParaRPr lang="en-US" sz="1300" dirty="0"/>
          </a:p>
        </p:txBody>
      </p:sp>
      <p:sp>
        <p:nvSpPr>
          <p:cNvPr id="20" name="Text 18"/>
          <p:cNvSpPr/>
          <p:nvPr/>
        </p:nvSpPr>
        <p:spPr>
          <a:xfrm>
            <a:off x="812800" y="3876030"/>
            <a:ext cx="1701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de partout</a:t>
            </a:r>
            <a:endParaRPr lang="en-US" sz="1300" dirty="0"/>
          </a:p>
        </p:txBody>
      </p:sp>
      <p:sp>
        <p:nvSpPr>
          <p:cNvPr id="21" name="Text 19"/>
          <p:cNvSpPr/>
          <p:nvPr/>
        </p:nvSpPr>
        <p:spPr>
          <a:xfrm>
            <a:off x="2590800" y="3879652"/>
            <a:ext cx="35814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redis.fil-rouge.svc.cluster.local</a:t>
            </a:r>
            <a:endParaRPr lang="en-US" sz="1300" dirty="0"/>
          </a:p>
        </p:txBody>
      </p:sp>
      <p:sp>
        <p:nvSpPr>
          <p:cNvPr id="22" name="Text 20"/>
          <p:cNvSpPr/>
          <p:nvPr/>
        </p:nvSpPr>
        <p:spPr>
          <a:xfrm>
            <a:off x="812800" y="5201940"/>
            <a:ext cx="525856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Les formes courtes viennent des domaines de recherche de /etc/resolv.conf. Pour un Service headless, le nom renvoie la liste des IP des pods.</a:t>
            </a:r>
            <a:endParaRPr lang="en-US" sz="1200" dirty="0"/>
          </a:p>
        </p:txBody>
      </p:sp>
      <p:sp>
        <p:nvSpPr>
          <p:cNvPr id="23" name="Text 21"/>
          <p:cNvSpPr/>
          <p:nvPr/>
        </p:nvSpPr>
        <p:spPr>
          <a:xfrm>
            <a:off x="6172200" y="2785318"/>
            <a:ext cx="5207000" cy="3056678"/>
          </a:xfrm>
          <a:prstGeom prst="roundRect">
            <a:avLst>
              <a:gd name="adj" fmla="val 3324"/>
            </a:avLst>
          </a:prstGeom>
          <a:solidFill>
            <a:srgbClr val="0B0748"/>
          </a:solidFill>
          <a:ln/>
        </p:spPr>
        <p:txBody>
          <a:bodyPr wrap="none" lIns="160742" tIns="122642" rIns="15962" bIns="122642" rtlCol="0" anchor="ctr">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run dns --rm -it --restart=Never \</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  --image=mirror.gcr.io/library/busybox:1.36 -- sh</a:t>
            </a:r>
            <a:endParaRPr lang="en-US" sz="1200" dirty="0"/>
          </a:p>
          <a:p>
            <a:pPr algn="l" indent="0" marL="0">
              <a:lnSpc>
                <a:spcPts val="1920"/>
              </a:lnSpc>
              <a:buNone/>
            </a:pPr>
            <a:r>
              <a:rPr lang="en-US" sz="1200" dirty="0">
                <a:solidFill>
                  <a:srgbClr val="9A96D0"/>
                </a:solidFill>
                <a:latin typeface="JetBrains Mono" pitchFamily="49" charset="0"/>
                <a:ea typeface="JetBrains Mono" pitchFamily="49" charset="-122"/>
                <a:cs typeface="JetBrains Mono" pitchFamily="49" charset="-120"/>
              </a:rPr>
              <a:t># dans le pod :</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cat /etc/resolv.conf</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nslookup redis.fil-rouge</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wget -qO- http://podinfo.fil-rouge:9898</a:t>
            </a:r>
            <a:endParaRPr lang="en-US" sz="1200" dirty="0"/>
          </a:p>
        </p:txBody>
      </p:sp>
      <p:pic>
        <p:nvPicPr>
          <p:cNvPr id="24"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5" name="Text 22"/>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6" name="Image 1" descr="Parcours : module 7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07 · PODS, DEPLOYMENTS, SERVICES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Exposer une application en HTTP</a:t>
            </a:r>
            <a:endParaRPr lang="en-US" sz="2800" dirty="0"/>
          </a:p>
        </p:txBody>
      </p:sp>
      <p:sp>
        <p:nvSpPr>
          <p:cNvPr id="4" name="Text 2"/>
          <p:cNvSpPr/>
          <p:nvPr/>
        </p:nvSpPr>
        <p:spPr>
          <a:xfrm>
            <a:off x="812800" y="1544439"/>
            <a:ext cx="56509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Un NodePort par application ne passe pas à l'échelle : une seule entrée HTTP route vers les Services, selon le nom d'hôte et le chemin.</a:t>
            </a:r>
            <a:endParaRPr lang="en-US" sz="1300" dirty="0"/>
          </a:p>
        </p:txBody>
      </p:sp>
      <p:sp>
        <p:nvSpPr>
          <p:cNvPr id="5" name="Shape 3"/>
          <p:cNvSpPr/>
          <p:nvPr/>
        </p:nvSpPr>
        <p:spPr>
          <a:xfrm>
            <a:off x="815975" y="2124075"/>
            <a:ext cx="5480050" cy="1031452"/>
          </a:xfrm>
          <a:prstGeom prst="roundRect">
            <a:avLst>
              <a:gd name="adj" fmla="val 10774"/>
            </a:avLst>
          </a:prstGeom>
          <a:solidFill>
            <a:srgbClr val="FDFDFF"/>
          </a:solidFill>
          <a:ln w="6350">
            <a:solidFill>
              <a:srgbClr val="E1DFEE"/>
            </a:solidFill>
            <a:prstDash val="solid"/>
          </a:ln>
        </p:spPr>
      </p:sp>
      <p:sp>
        <p:nvSpPr>
          <p:cNvPr id="6" name="Text 4"/>
          <p:cNvSpPr/>
          <p:nvPr/>
        </p:nvSpPr>
        <p:spPr>
          <a:xfrm>
            <a:off x="997691" y="2267694"/>
            <a:ext cx="527011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Sora" pitchFamily="34" charset="0"/>
                <a:ea typeface="Sora" pitchFamily="34" charset="-122"/>
                <a:cs typeface="Sora" pitchFamily="34" charset="-120"/>
              </a:rPr>
              <a:t>Ingress</a:t>
            </a:r>
            <a:endParaRPr lang="en-US" sz="1500" dirty="0"/>
          </a:p>
        </p:txBody>
      </p:sp>
      <p:sp>
        <p:nvSpPr>
          <p:cNvPr id="7" name="Text 5"/>
          <p:cNvSpPr/>
          <p:nvPr/>
        </p:nvSpPr>
        <p:spPr>
          <a:xfrm>
            <a:off x="997691" y="2585194"/>
            <a:ext cx="527011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L'API historique, simple et très répandue. Elle ne fait rien seule : il faut un contrôleur Ingress. Son API n'évolue plus.</a:t>
            </a:r>
            <a:endParaRPr lang="en-US" sz="1200" dirty="0"/>
          </a:p>
        </p:txBody>
      </p:sp>
      <p:sp>
        <p:nvSpPr>
          <p:cNvPr id="8" name="Shape 6"/>
          <p:cNvSpPr/>
          <p:nvPr/>
        </p:nvSpPr>
        <p:spPr>
          <a:xfrm>
            <a:off x="812800" y="3272979"/>
            <a:ext cx="5486400" cy="1977708"/>
          </a:xfrm>
          <a:prstGeom prst="roundRect">
            <a:avLst>
              <a:gd name="adj" fmla="val 5779"/>
            </a:avLst>
          </a:prstGeom>
          <a:solidFill>
            <a:srgbClr val="0B0748"/>
          </a:solidFill>
          <a:ln/>
        </p:spPr>
      </p:sp>
      <p:sp>
        <p:nvSpPr>
          <p:cNvPr id="9" name="Text 7"/>
          <p:cNvSpPr/>
          <p:nvPr/>
        </p:nvSpPr>
        <p:spPr>
          <a:xfrm>
            <a:off x="990600" y="3412679"/>
            <a:ext cx="528472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8F66"/>
                </a:solidFill>
                <a:latin typeface="Sora" pitchFamily="34" charset="0"/>
                <a:ea typeface="Sora" pitchFamily="34" charset="-122"/>
                <a:cs typeface="Sora" pitchFamily="34" charset="-120"/>
              </a:rPr>
              <a:t>Gateway API · recommandée</a:t>
            </a:r>
            <a:endParaRPr lang="en-US" sz="1500" dirty="0"/>
          </a:p>
        </p:txBody>
      </p:sp>
      <p:sp>
        <p:nvSpPr>
          <p:cNvPr id="10" name="Text 8"/>
          <p:cNvSpPr/>
          <p:nvPr/>
        </p:nvSpPr>
        <p:spPr>
          <a:xfrm>
            <a:off x="990600" y="3730179"/>
            <a:ext cx="52847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Son successeur, stable depuis 2023 : répartition pondérée, en-têtes, plusieurs protocoles.</a:t>
            </a:r>
            <a:endParaRPr lang="en-US" sz="1200" dirty="0"/>
          </a:p>
        </p:txBody>
      </p:sp>
      <p:sp>
        <p:nvSpPr>
          <p:cNvPr id="11" name="Text 9"/>
          <p:cNvSpPr/>
          <p:nvPr/>
        </p:nvSpPr>
        <p:spPr>
          <a:xfrm>
            <a:off x="990600" y="4207718"/>
            <a:ext cx="52847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6E8"/>
                </a:solidFill>
                <a:latin typeface="IBM Plex Sans" pitchFamily="34" charset="0"/>
                <a:ea typeface="IBM Plex Sans" pitchFamily="34" charset="-122"/>
                <a:cs typeface="IBM Plex Sans" pitchFamily="34" charset="-120"/>
              </a:rPr>
              <a:t>Elle sépare les rôles : l'équipe plateforme définit la Gateway, les équipes applicatives leurs HTTPRoute.</a:t>
            </a:r>
            <a:endParaRPr lang="en-US" sz="1200" dirty="0"/>
          </a:p>
        </p:txBody>
      </p:sp>
      <p:sp>
        <p:nvSpPr>
          <p:cNvPr id="12" name="Text 10"/>
          <p:cNvSpPr/>
          <p:nvPr/>
        </p:nvSpPr>
        <p:spPr>
          <a:xfrm>
            <a:off x="6553200" y="1544439"/>
            <a:ext cx="4826000" cy="3706389"/>
          </a:xfrm>
          <a:prstGeom prst="roundRect">
            <a:avLst>
              <a:gd name="adj" fmla="val 2741"/>
            </a:avLst>
          </a:prstGeom>
          <a:solidFill>
            <a:srgbClr val="0B0748"/>
          </a:solidFill>
          <a:ln/>
        </p:spPr>
        <p:txBody>
          <a:bodyPr wrap="none" lIns="160742" tIns="109942" rIns="27392" bIns="109942" rtlCol="0" anchor="t">
            <a:normAutofit/>
          </a:bodyPr>
          <a:lstStyle/>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apiVersion: gateway.networking.k8s.io/v1</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kind: </a:t>
            </a:r>
            <a:r>
              <a:rPr lang="en-US" sz="1200" dirty="0">
                <a:solidFill>
                  <a:srgbClr val="FFB08F"/>
                </a:solidFill>
                <a:latin typeface="JetBrains Mono" pitchFamily="49" charset="0"/>
                <a:ea typeface="JetBrains Mono" pitchFamily="49" charset="-122"/>
                <a:cs typeface="JetBrains Mono" pitchFamily="49" charset="-120"/>
              </a:rPr>
              <a:t>HTTPRoute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metadata:</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name: podinfo</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namespace: fil-rouge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parentRefs: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 name: passerelle-principale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namespace: infra</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hostnames: ["podinfo.exemple.fr"]</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rules: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 backendRefs: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 name: podinfo</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port: 9898</a:t>
            </a:r>
            <a:endParaRPr lang="en-US" sz="1200" dirty="0"/>
          </a:p>
        </p:txBody>
      </p:sp>
      <p:sp>
        <p:nvSpPr>
          <p:cNvPr id="13" name="Shape 11"/>
          <p:cNvSpPr/>
          <p:nvPr/>
        </p:nvSpPr>
        <p:spPr>
          <a:xfrm>
            <a:off x="812800" y="5460256"/>
            <a:ext cx="10566400" cy="0"/>
          </a:xfrm>
          <a:prstGeom prst="line">
            <a:avLst/>
          </a:prstGeom>
          <a:noFill/>
          <a:ln w="12700">
            <a:solidFill>
              <a:srgbClr val="0B0748"/>
            </a:solidFill>
            <a:prstDash val="solid"/>
          </a:ln>
        </p:spPr>
      </p:sp>
      <p:pic>
        <p:nvPicPr>
          <p:cNvPr id="14" name="Image 0" descr="Tool">    </p:cNvPr>
          <p:cNvPicPr>
            <a:picLocks noChangeAspect="1"/>
          </p:cNvPicPr>
          <p:nvPr/>
        </p:nvPicPr>
        <p:blipFill>
          <a:blip r:embed="rId1"/>
          <a:srcRect l="0" r="0" t="0" b="0"/>
          <a:stretch/>
        </p:blipFill>
        <p:spPr>
          <a:xfrm>
            <a:off x="812800" y="5588000"/>
            <a:ext cx="254000" cy="254000"/>
          </a:xfrm>
          <a:prstGeom prst="rect">
            <a:avLst/>
          </a:prstGeom>
        </p:spPr>
      </p:pic>
      <p:sp>
        <p:nvSpPr>
          <p:cNvPr id="15" name="Text 12"/>
          <p:cNvSpPr/>
          <p:nvPr/>
        </p:nvSpPr>
        <p:spPr>
          <a:xfrm>
            <a:off x="1193800" y="5599410"/>
            <a:ext cx="104909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Dépannage, sans rien exposer : </a:t>
            </a:r>
            <a:r>
              <a:rPr lang="en-US" sz="1300" b="1" dirty="0">
                <a:solidFill>
                  <a:srgbClr val="0B0748"/>
                </a:solidFill>
                <a:latin typeface="IBM Plex Sans" pitchFamily="34" charset="0"/>
                <a:ea typeface="IBM Plex Sans" pitchFamily="34" charset="-122"/>
                <a:cs typeface="IBM Plex Sans" pitchFamily="34" charset="-120"/>
              </a:rPr>
              <a:t>kubectl port-forward svc/podinfo 9898:9898</a:t>
            </a:r>
            <a:r>
              <a:rPr lang="en-US" sz="1300" dirty="0">
                <a:solidFill>
                  <a:srgbClr val="0B0748"/>
                </a:solidFill>
                <a:latin typeface="IBM Plex Sans" pitchFamily="34" charset="0"/>
                <a:ea typeface="IBM Plex Sans" pitchFamily="34" charset="-122"/>
                <a:cs typeface="IBM Plex Sans" pitchFamily="34" charset="-120"/>
              </a:rPr>
              <a:t>, puis http://localhost:9898 depuis la machine de kubectl.</a:t>
            </a:r>
            <a:endParaRPr lang="en-US" sz="1300" dirty="0"/>
          </a:p>
        </p:txBody>
      </p:sp>
      <p:pic>
        <p:nvPicPr>
          <p:cNvPr id="16" name="Image 1" descr="preencoded.png">    </p:cNvPr>
          <p:cNvPicPr>
            <a:picLocks noChangeAspect="1"/>
          </p:cNvPicPr>
          <p:nvPr/>
        </p:nvPicPr>
        <p:blipFill>
          <a:blip r:embed="rId2"/>
          <a:srcRect l="0" r="0" t="0" b="0"/>
          <a:stretch/>
        </p:blipFill>
        <p:spPr>
          <a:xfrm>
            <a:off x="812800" y="6299200"/>
            <a:ext cx="152400" cy="152400"/>
          </a:xfrm>
          <a:prstGeom prst="rect">
            <a:avLst/>
          </a:prstGeom>
        </p:spPr>
      </p:pic>
      <p:sp>
        <p:nvSpPr>
          <p:cNvPr id="17" name="Text 13"/>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2" descr="Parcours : module 7 sur 16">    </p:cNvPr>
          <p:cNvPicPr>
            <a:picLocks noChangeAspect="1"/>
          </p:cNvPicPr>
          <p:nvPr/>
        </p:nvPicPr>
        <p:blipFill>
          <a:blip r:embed="rId3"/>
          <a:srcRect l="0" r="0" t="0" b="0"/>
          <a:stretch/>
        </p:blipFill>
        <p:spPr>
          <a:xfrm>
            <a:off x="9207500" y="6299200"/>
            <a:ext cx="2171700" cy="1524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07 · PODS, DEPLOYMENTS, SERVICES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L'application fil rouge</a:t>
            </a:r>
            <a:endParaRPr lang="en-US" sz="2800" dirty="0"/>
          </a:p>
        </p:txBody>
      </p:sp>
      <p:sp>
        <p:nvSpPr>
          <p:cNvPr id="4" name="Shape 2"/>
          <p:cNvSpPr/>
          <p:nvPr/>
        </p:nvSpPr>
        <p:spPr>
          <a:xfrm>
            <a:off x="819150" y="2046734"/>
            <a:ext cx="1384300" cy="1055582"/>
          </a:xfrm>
          <a:prstGeom prst="roundRect">
            <a:avLst>
              <a:gd name="adj" fmla="val 9023"/>
            </a:avLst>
          </a:prstGeom>
          <a:solidFill>
            <a:srgbClr val="FDFDFF"/>
          </a:solidFill>
          <a:ln w="12700">
            <a:solidFill>
              <a:srgbClr val="0B0748"/>
            </a:solidFill>
            <a:prstDash val="solid"/>
          </a:ln>
        </p:spPr>
      </p:sp>
      <p:pic>
        <p:nvPicPr>
          <p:cNvPr id="5" name="Image 0" descr="Globe">    </p:cNvPr>
          <p:cNvPicPr>
            <a:picLocks noChangeAspect="1"/>
          </p:cNvPicPr>
          <p:nvPr/>
        </p:nvPicPr>
        <p:blipFill>
          <a:blip r:embed="rId1"/>
          <a:srcRect l="0" r="0" t="0" b="0"/>
          <a:stretch/>
        </p:blipFill>
        <p:spPr>
          <a:xfrm>
            <a:off x="1371600" y="2174429"/>
            <a:ext cx="279400" cy="279400"/>
          </a:xfrm>
          <a:prstGeom prst="rect">
            <a:avLst/>
          </a:prstGeom>
        </p:spPr>
      </p:pic>
      <p:sp>
        <p:nvSpPr>
          <p:cNvPr id="6" name="Text 3"/>
          <p:cNvSpPr/>
          <p:nvPr/>
        </p:nvSpPr>
        <p:spPr>
          <a:xfrm>
            <a:off x="965973" y="2491929"/>
            <a:ext cx="1090549"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Client HTTP</a:t>
            </a:r>
            <a:endParaRPr lang="en-US" sz="1300" dirty="0"/>
          </a:p>
        </p:txBody>
      </p:sp>
      <p:sp>
        <p:nvSpPr>
          <p:cNvPr id="7" name="Text 4"/>
          <p:cNvSpPr/>
          <p:nvPr/>
        </p:nvSpPr>
        <p:spPr>
          <a:xfrm>
            <a:off x="875422" y="2761208"/>
            <a:ext cx="127165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curl, navigateur</a:t>
            </a:r>
            <a:endParaRPr lang="en-US" sz="1200" dirty="0"/>
          </a:p>
        </p:txBody>
      </p:sp>
      <p:pic>
        <p:nvPicPr>
          <p:cNvPr id="8" name="Image 1" descr="arrow-right">    </p:cNvPr>
          <p:cNvPicPr>
            <a:picLocks noChangeAspect="1"/>
          </p:cNvPicPr>
          <p:nvPr/>
        </p:nvPicPr>
        <p:blipFill>
          <a:blip r:embed="rId2"/>
          <a:srcRect l="0" r="0" t="0" b="0"/>
          <a:stretch/>
        </p:blipFill>
        <p:spPr>
          <a:xfrm>
            <a:off x="2311400" y="2498279"/>
            <a:ext cx="304800" cy="152400"/>
          </a:xfrm>
          <a:prstGeom prst="rect">
            <a:avLst/>
          </a:prstGeom>
        </p:spPr>
      </p:pic>
      <p:sp>
        <p:nvSpPr>
          <p:cNvPr id="9" name="Shape 5"/>
          <p:cNvSpPr/>
          <p:nvPr/>
        </p:nvSpPr>
        <p:spPr>
          <a:xfrm>
            <a:off x="2720975" y="1952079"/>
            <a:ext cx="1390650" cy="1244812"/>
          </a:xfrm>
          <a:prstGeom prst="roundRect">
            <a:avLst>
              <a:gd name="adj" fmla="val 7907"/>
            </a:avLst>
          </a:prstGeom>
          <a:solidFill>
            <a:srgbClr val="FDFDFF"/>
          </a:solidFill>
          <a:ln w="6350">
            <a:solidFill>
              <a:srgbClr val="CFCCE3"/>
            </a:solidFill>
            <a:prstDash val="solid"/>
          </a:ln>
        </p:spPr>
      </p:sp>
      <p:sp>
        <p:nvSpPr>
          <p:cNvPr id="10" name="Text 6"/>
          <p:cNvSpPr/>
          <p:nvPr/>
        </p:nvSpPr>
        <p:spPr>
          <a:xfrm>
            <a:off x="3000375" y="2082998"/>
            <a:ext cx="83185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Un nœud</a:t>
            </a:r>
            <a:endParaRPr lang="en-US" sz="1300" dirty="0"/>
          </a:p>
        </p:txBody>
      </p:sp>
      <p:sp>
        <p:nvSpPr>
          <p:cNvPr id="11" name="Text 7"/>
          <p:cNvSpPr/>
          <p:nvPr/>
        </p:nvSpPr>
        <p:spPr>
          <a:xfrm>
            <a:off x="3032252" y="2352229"/>
            <a:ext cx="768096"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B8421A"/>
                </a:solidFill>
                <a:latin typeface="JetBrains Mono" pitchFamily="49" charset="0"/>
                <a:ea typeface="JetBrains Mono" pitchFamily="49" charset="-122"/>
                <a:cs typeface="JetBrains Mono" pitchFamily="49" charset="-120"/>
              </a:rPr>
              <a:t>:30080</a:t>
            </a:r>
            <a:endParaRPr lang="en-US" sz="1400" dirty="0"/>
          </a:p>
        </p:txBody>
      </p:sp>
      <p:sp>
        <p:nvSpPr>
          <p:cNvPr id="12" name="Text 8"/>
          <p:cNvSpPr/>
          <p:nvPr/>
        </p:nvSpPr>
        <p:spPr>
          <a:xfrm>
            <a:off x="2826491" y="2639268"/>
            <a:ext cx="1179618"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règles kube-proxy</a:t>
            </a:r>
            <a:endParaRPr lang="en-US" sz="1200" dirty="0"/>
          </a:p>
        </p:txBody>
      </p:sp>
      <p:pic>
        <p:nvPicPr>
          <p:cNvPr id="13" name="Image 2" descr="arrow-right">    </p:cNvPr>
          <p:cNvPicPr>
            <a:picLocks noChangeAspect="1"/>
          </p:cNvPicPr>
          <p:nvPr/>
        </p:nvPicPr>
        <p:blipFill>
          <a:blip r:embed="rId3"/>
          <a:srcRect l="0" r="0" t="0" b="0"/>
          <a:stretch/>
        </p:blipFill>
        <p:spPr>
          <a:xfrm>
            <a:off x="4216400" y="2498279"/>
            <a:ext cx="304800" cy="152400"/>
          </a:xfrm>
          <a:prstGeom prst="rect">
            <a:avLst/>
          </a:prstGeom>
        </p:spPr>
      </p:pic>
      <p:sp>
        <p:nvSpPr>
          <p:cNvPr id="14" name="Shape 9"/>
          <p:cNvSpPr/>
          <p:nvPr/>
        </p:nvSpPr>
        <p:spPr>
          <a:xfrm>
            <a:off x="4632325" y="1604665"/>
            <a:ext cx="6737350" cy="1939713"/>
          </a:xfrm>
          <a:prstGeom prst="roundRect">
            <a:avLst>
              <a:gd name="adj" fmla="val 7366"/>
            </a:avLst>
          </a:prstGeom>
          <a:noFill/>
          <a:ln w="19050">
            <a:solidFill>
              <a:srgbClr val="A6A3C6"/>
            </a:solidFill>
            <a:prstDash val="dash"/>
          </a:ln>
        </p:spPr>
      </p:sp>
      <p:sp>
        <p:nvSpPr>
          <p:cNvPr id="15" name="Text 10"/>
          <p:cNvSpPr/>
          <p:nvPr/>
        </p:nvSpPr>
        <p:spPr>
          <a:xfrm>
            <a:off x="4776682" y="1723579"/>
            <a:ext cx="664209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NAMESPACE fil-rouge</a:t>
            </a:r>
            <a:endParaRPr lang="en-US" sz="1200" dirty="0"/>
          </a:p>
        </p:txBody>
      </p:sp>
      <p:sp>
        <p:nvSpPr>
          <p:cNvPr id="16" name="Shape 11"/>
          <p:cNvSpPr/>
          <p:nvPr/>
        </p:nvSpPr>
        <p:spPr>
          <a:xfrm>
            <a:off x="4776682" y="2013148"/>
            <a:ext cx="1835256" cy="1386840"/>
          </a:xfrm>
          <a:prstGeom prst="roundRect">
            <a:avLst>
              <a:gd name="adj" fmla="val 7326"/>
            </a:avLst>
          </a:prstGeom>
          <a:solidFill>
            <a:srgbClr val="0B0748"/>
          </a:solidFill>
          <a:ln/>
        </p:spPr>
      </p:sp>
      <p:sp>
        <p:nvSpPr>
          <p:cNvPr id="17" name="Text 12"/>
          <p:cNvSpPr/>
          <p:nvPr/>
        </p:nvSpPr>
        <p:spPr>
          <a:xfrm>
            <a:off x="4890982" y="2127448"/>
            <a:ext cx="16574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6E8"/>
                </a:solidFill>
                <a:latin typeface="IBM Plex Sans" pitchFamily="34" charset="0"/>
                <a:ea typeface="IBM Plex Sans" pitchFamily="34" charset="-122"/>
                <a:cs typeface="IBM Plex Sans" pitchFamily="34" charset="-120"/>
              </a:rPr>
              <a:t>Deployment podinfo</a:t>
            </a:r>
            <a:endParaRPr lang="en-US" sz="1200" dirty="0"/>
          </a:p>
        </p:txBody>
      </p:sp>
      <p:sp>
        <p:nvSpPr>
          <p:cNvPr id="18" name="Text 13"/>
          <p:cNvSpPr/>
          <p:nvPr/>
        </p:nvSpPr>
        <p:spPr>
          <a:xfrm>
            <a:off x="4890982" y="2391618"/>
            <a:ext cx="1606656" cy="264160"/>
          </a:xfrm>
          <a:prstGeom prst="roundRect">
            <a:avLst>
              <a:gd name="adj" fmla="val 19231"/>
            </a:avLst>
          </a:prstGeom>
          <a:solidFill>
            <a:srgbClr val="1D1870"/>
          </a:solidFill>
          <a:ln/>
        </p:spPr>
        <p:txBody>
          <a:bodyPr wrap="square" lIns="61321" tIns="10521" rIns="10521" bIns="0" rtlCol="0" anchor="t">
            <a:normAutofit/>
          </a:bodyPr>
          <a:lstStyle/>
          <a:p>
            <a:pPr algn="l" indent="0" marL="0">
              <a:lnSpc>
                <a:spcPts val="1680"/>
              </a:lnSpc>
              <a:buNone/>
            </a:pPr>
            <a:r>
              <a:rPr lang="en-US" sz="1200" dirty="0">
                <a:solidFill>
                  <a:srgbClr val="F5F4F9"/>
                </a:solidFill>
                <a:latin typeface="JetBrains Mono" pitchFamily="49" charset="0"/>
                <a:ea typeface="JetBrains Mono" pitchFamily="49" charset="-122"/>
                <a:cs typeface="JetBrains Mono" pitchFamily="49" charset="-120"/>
              </a:rPr>
              <a:t>podinfo</a:t>
            </a:r>
            <a:endParaRPr lang="en-US" sz="1200" dirty="0"/>
          </a:p>
        </p:txBody>
      </p:sp>
      <p:sp>
        <p:nvSpPr>
          <p:cNvPr id="19" name="Text 14"/>
          <p:cNvSpPr/>
          <p:nvPr/>
        </p:nvSpPr>
        <p:spPr>
          <a:xfrm>
            <a:off x="4890982" y="2706588"/>
            <a:ext cx="1606656" cy="264160"/>
          </a:xfrm>
          <a:prstGeom prst="roundRect">
            <a:avLst>
              <a:gd name="adj" fmla="val 19231"/>
            </a:avLst>
          </a:prstGeom>
          <a:solidFill>
            <a:srgbClr val="1D1870"/>
          </a:solidFill>
          <a:ln/>
        </p:spPr>
        <p:txBody>
          <a:bodyPr wrap="square" lIns="61321" tIns="10521" rIns="10521" bIns="0" rtlCol="0" anchor="t">
            <a:normAutofit/>
          </a:bodyPr>
          <a:lstStyle/>
          <a:p>
            <a:pPr algn="l" indent="0" marL="0">
              <a:lnSpc>
                <a:spcPts val="1680"/>
              </a:lnSpc>
              <a:buNone/>
            </a:pPr>
            <a:r>
              <a:rPr lang="en-US" sz="1200" dirty="0">
                <a:solidFill>
                  <a:srgbClr val="F5F4F9"/>
                </a:solidFill>
                <a:latin typeface="JetBrains Mono" pitchFamily="49" charset="0"/>
                <a:ea typeface="JetBrains Mono" pitchFamily="49" charset="-122"/>
                <a:cs typeface="JetBrains Mono" pitchFamily="49" charset="-120"/>
              </a:rPr>
              <a:t>podinfo</a:t>
            </a:r>
            <a:endParaRPr lang="en-US" sz="1200" dirty="0"/>
          </a:p>
        </p:txBody>
      </p:sp>
      <p:sp>
        <p:nvSpPr>
          <p:cNvPr id="20" name="Text 15"/>
          <p:cNvSpPr/>
          <p:nvPr/>
        </p:nvSpPr>
        <p:spPr>
          <a:xfrm>
            <a:off x="4890982" y="3021558"/>
            <a:ext cx="1606656" cy="264160"/>
          </a:xfrm>
          <a:prstGeom prst="roundRect">
            <a:avLst>
              <a:gd name="adj" fmla="val 19231"/>
            </a:avLst>
          </a:prstGeom>
          <a:solidFill>
            <a:srgbClr val="1D1870"/>
          </a:solidFill>
          <a:ln/>
        </p:spPr>
        <p:txBody>
          <a:bodyPr wrap="square" lIns="61321" tIns="10521" rIns="10521" bIns="0" rtlCol="0" anchor="t">
            <a:normAutofit/>
          </a:bodyPr>
          <a:lstStyle/>
          <a:p>
            <a:pPr algn="l" indent="0" marL="0">
              <a:lnSpc>
                <a:spcPts val="1680"/>
              </a:lnSpc>
              <a:buNone/>
            </a:pPr>
            <a:r>
              <a:rPr lang="en-US" sz="1200" dirty="0">
                <a:solidFill>
                  <a:srgbClr val="F5F4F9"/>
                </a:solidFill>
                <a:latin typeface="JetBrains Mono" pitchFamily="49" charset="0"/>
                <a:ea typeface="JetBrains Mono" pitchFamily="49" charset="-122"/>
                <a:cs typeface="JetBrains Mono" pitchFamily="49" charset="-120"/>
              </a:rPr>
              <a:t>podinfo</a:t>
            </a:r>
            <a:endParaRPr lang="en-US" sz="1200" dirty="0"/>
          </a:p>
        </p:txBody>
      </p:sp>
      <p:pic>
        <p:nvPicPr>
          <p:cNvPr id="21" name="Image 3" descr="arrow-right">    </p:cNvPr>
          <p:cNvPicPr>
            <a:picLocks noChangeAspect="1"/>
          </p:cNvPicPr>
          <p:nvPr/>
        </p:nvPicPr>
        <p:blipFill>
          <a:blip r:embed="rId4"/>
          <a:srcRect l="0" r="0" t="0" b="0"/>
          <a:stretch/>
        </p:blipFill>
        <p:spPr>
          <a:xfrm>
            <a:off x="6700838" y="2636738"/>
            <a:ext cx="279400" cy="139700"/>
          </a:xfrm>
          <a:prstGeom prst="rect">
            <a:avLst/>
          </a:prstGeom>
        </p:spPr>
      </p:pic>
      <p:sp>
        <p:nvSpPr>
          <p:cNvPr id="22" name="Shape 16"/>
          <p:cNvSpPr/>
          <p:nvPr/>
        </p:nvSpPr>
        <p:spPr>
          <a:xfrm>
            <a:off x="7072313" y="2203549"/>
            <a:ext cx="1843193" cy="1006052"/>
          </a:xfrm>
          <a:prstGeom prst="roundRect">
            <a:avLst>
              <a:gd name="adj" fmla="val 9783"/>
            </a:avLst>
          </a:prstGeom>
          <a:solidFill>
            <a:srgbClr val="FDFDFF"/>
          </a:solidFill>
          <a:ln w="6350">
            <a:solidFill>
              <a:srgbClr val="CFCCE3"/>
            </a:solidFill>
            <a:prstDash val="solid"/>
          </a:ln>
        </p:spPr>
      </p:sp>
      <p:sp>
        <p:nvSpPr>
          <p:cNvPr id="23" name="Text 17"/>
          <p:cNvSpPr/>
          <p:nvPr/>
        </p:nvSpPr>
        <p:spPr>
          <a:xfrm>
            <a:off x="7400692" y="2321768"/>
            <a:ext cx="1186434"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Service redis</a:t>
            </a:r>
            <a:endParaRPr lang="en-US" sz="1300" dirty="0"/>
          </a:p>
        </p:txBody>
      </p:sp>
      <p:sp>
        <p:nvSpPr>
          <p:cNvPr id="24" name="Text 18"/>
          <p:cNvSpPr/>
          <p:nvPr/>
        </p:nvSpPr>
        <p:spPr>
          <a:xfrm>
            <a:off x="7608856" y="2590998"/>
            <a:ext cx="7700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ClusterIP</a:t>
            </a:r>
            <a:endParaRPr lang="en-US" sz="1200" dirty="0"/>
          </a:p>
        </p:txBody>
      </p:sp>
      <p:sp>
        <p:nvSpPr>
          <p:cNvPr id="25" name="Text 19"/>
          <p:cNvSpPr/>
          <p:nvPr/>
        </p:nvSpPr>
        <p:spPr>
          <a:xfrm>
            <a:off x="7673869" y="2842468"/>
            <a:ext cx="64008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B8421A"/>
                </a:solidFill>
                <a:latin typeface="JetBrains Mono" pitchFamily="49" charset="0"/>
                <a:ea typeface="JetBrains Mono" pitchFamily="49" charset="-122"/>
                <a:cs typeface="JetBrains Mono" pitchFamily="49" charset="-120"/>
              </a:rPr>
              <a:t>:6379</a:t>
            </a:r>
            <a:endParaRPr lang="en-US" sz="1400" dirty="0"/>
          </a:p>
        </p:txBody>
      </p:sp>
      <p:pic>
        <p:nvPicPr>
          <p:cNvPr id="26" name="Image 4" descr="arrow-right">    </p:cNvPr>
          <p:cNvPicPr>
            <a:picLocks noChangeAspect="1"/>
          </p:cNvPicPr>
          <p:nvPr/>
        </p:nvPicPr>
        <p:blipFill>
          <a:blip r:embed="rId5"/>
          <a:srcRect l="0" r="0" t="0" b="0"/>
          <a:stretch/>
        </p:blipFill>
        <p:spPr>
          <a:xfrm>
            <a:off x="9007580" y="2636738"/>
            <a:ext cx="279400" cy="139700"/>
          </a:xfrm>
          <a:prstGeom prst="rect">
            <a:avLst/>
          </a:prstGeom>
        </p:spPr>
      </p:pic>
      <p:sp>
        <p:nvSpPr>
          <p:cNvPr id="27" name="Shape 20"/>
          <p:cNvSpPr/>
          <p:nvPr/>
        </p:nvSpPr>
        <p:spPr>
          <a:xfrm>
            <a:off x="9382230" y="2191494"/>
            <a:ext cx="1836737" cy="1030182"/>
          </a:xfrm>
          <a:prstGeom prst="roundRect">
            <a:avLst>
              <a:gd name="adj" fmla="val 9246"/>
            </a:avLst>
          </a:prstGeom>
          <a:solidFill>
            <a:srgbClr val="FCE6DC"/>
          </a:solidFill>
          <a:ln w="12700">
            <a:solidFill>
              <a:srgbClr val="E25A2C"/>
            </a:solidFill>
            <a:prstDash val="solid"/>
          </a:ln>
        </p:spPr>
      </p:sp>
      <p:pic>
        <p:nvPicPr>
          <p:cNvPr id="28" name="Image 5" descr="Database">    </p:cNvPr>
          <p:cNvPicPr>
            <a:picLocks noChangeAspect="1"/>
          </p:cNvPicPr>
          <p:nvPr/>
        </p:nvPicPr>
        <p:blipFill>
          <a:blip r:embed="rId6"/>
          <a:srcRect l="0" r="0" t="0" b="0"/>
          <a:stretch/>
        </p:blipFill>
        <p:spPr>
          <a:xfrm>
            <a:off x="10160846" y="2306538"/>
            <a:ext cx="279400" cy="279400"/>
          </a:xfrm>
          <a:prstGeom prst="rect">
            <a:avLst/>
          </a:prstGeom>
        </p:spPr>
      </p:pic>
      <p:sp>
        <p:nvSpPr>
          <p:cNvPr id="29" name="Text 21"/>
          <p:cNvSpPr/>
          <p:nvPr/>
        </p:nvSpPr>
        <p:spPr>
          <a:xfrm>
            <a:off x="9844871" y="2624038"/>
            <a:ext cx="911352"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Pod Redis</a:t>
            </a:r>
            <a:endParaRPr lang="en-US" sz="1300" dirty="0"/>
          </a:p>
        </p:txBody>
      </p:sp>
      <p:sp>
        <p:nvSpPr>
          <p:cNvPr id="30" name="Text 22"/>
          <p:cNvSpPr/>
          <p:nvPr/>
        </p:nvSpPr>
        <p:spPr>
          <a:xfrm>
            <a:off x="9960938" y="2893268"/>
            <a:ext cx="67932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le cache</a:t>
            </a:r>
            <a:endParaRPr lang="en-US" sz="1200" dirty="0"/>
          </a:p>
        </p:txBody>
      </p:sp>
      <p:sp>
        <p:nvSpPr>
          <p:cNvPr id="31" name="Shape 23"/>
          <p:cNvSpPr/>
          <p:nvPr/>
        </p:nvSpPr>
        <p:spPr>
          <a:xfrm>
            <a:off x="815975" y="3811042"/>
            <a:ext cx="5187950" cy="2027767"/>
          </a:xfrm>
          <a:prstGeom prst="roundRect">
            <a:avLst>
              <a:gd name="adj" fmla="val 6106"/>
            </a:avLst>
          </a:prstGeom>
          <a:solidFill>
            <a:srgbClr val="FDFDFF"/>
          </a:solidFill>
          <a:ln w="6350">
            <a:solidFill>
              <a:srgbClr val="E1DFEE"/>
            </a:solidFill>
            <a:prstDash val="solid"/>
          </a:ln>
        </p:spPr>
      </p:sp>
      <p:sp>
        <p:nvSpPr>
          <p:cNvPr id="32" name="Text 24"/>
          <p:cNvSpPr/>
          <p:nvPr/>
        </p:nvSpPr>
        <p:spPr>
          <a:xfrm>
            <a:off x="1023091" y="3992761"/>
            <a:ext cx="491693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JetBrains Mono" pitchFamily="49" charset="0"/>
                <a:ea typeface="JetBrains Mono" pitchFamily="49" charset="-122"/>
                <a:cs typeface="JetBrains Mono" pitchFamily="49" charset="-120"/>
              </a:rPr>
              <a:t>podinfo</a:t>
            </a:r>
            <a:endParaRPr lang="en-US" sz="1400" dirty="0"/>
          </a:p>
        </p:txBody>
      </p:sp>
      <p:sp>
        <p:nvSpPr>
          <p:cNvPr id="33" name="Text 25"/>
          <p:cNvSpPr/>
          <p:nvPr/>
        </p:nvSpPr>
        <p:spPr>
          <a:xfrm>
            <a:off x="1023091" y="4305201"/>
            <a:ext cx="4916930"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F3C6B"/>
                </a:solidFill>
                <a:latin typeface="IBM Plex Sans" pitchFamily="34" charset="0"/>
                <a:ea typeface="IBM Plex Sans" pitchFamily="34" charset="-122"/>
                <a:cs typeface="IBM Plex Sans" pitchFamily="34" charset="-120"/>
              </a:rPr>
              <a:t>Deployment de 3 réplicas, lancé avec --cache-server=tcp://redis:6379 : il joint Redis par son nom DNS court. Service NodePort sur 30080.</a:t>
            </a:r>
            <a:endParaRPr lang="en-US" sz="1300" dirty="0"/>
          </a:p>
        </p:txBody>
      </p:sp>
      <p:sp>
        <p:nvSpPr>
          <p:cNvPr id="34" name="Shape 26"/>
          <p:cNvSpPr/>
          <p:nvPr/>
        </p:nvSpPr>
        <p:spPr>
          <a:xfrm>
            <a:off x="6188075" y="3811042"/>
            <a:ext cx="5187950" cy="2027767"/>
          </a:xfrm>
          <a:prstGeom prst="roundRect">
            <a:avLst>
              <a:gd name="adj" fmla="val 6106"/>
            </a:avLst>
          </a:prstGeom>
          <a:solidFill>
            <a:srgbClr val="FDFDFF"/>
          </a:solidFill>
          <a:ln w="6350">
            <a:solidFill>
              <a:srgbClr val="E1DFEE"/>
            </a:solidFill>
            <a:prstDash val="solid"/>
          </a:ln>
        </p:spPr>
      </p:sp>
      <p:sp>
        <p:nvSpPr>
          <p:cNvPr id="35" name="Text 27"/>
          <p:cNvSpPr/>
          <p:nvPr/>
        </p:nvSpPr>
        <p:spPr>
          <a:xfrm>
            <a:off x="6395191" y="3992761"/>
            <a:ext cx="491693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JetBrains Mono" pitchFamily="49" charset="0"/>
                <a:ea typeface="JetBrains Mono" pitchFamily="49" charset="-122"/>
                <a:cs typeface="JetBrains Mono" pitchFamily="49" charset="-120"/>
              </a:rPr>
              <a:t>redis</a:t>
            </a:r>
            <a:endParaRPr lang="en-US" sz="1400" dirty="0"/>
          </a:p>
        </p:txBody>
      </p:sp>
      <p:sp>
        <p:nvSpPr>
          <p:cNvPr id="36" name="Text 28"/>
          <p:cNvSpPr/>
          <p:nvPr/>
        </p:nvSpPr>
        <p:spPr>
          <a:xfrm>
            <a:off x="6395191" y="4305201"/>
            <a:ext cx="491693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F3C6B"/>
                </a:solidFill>
                <a:latin typeface="IBM Plex Sans" pitchFamily="34" charset="0"/>
                <a:ea typeface="IBM Plex Sans" pitchFamily="34" charset="-122"/>
                <a:cs typeface="IBM Plex Sans" pitchFamily="34" charset="-120"/>
              </a:rPr>
              <a:t>Deployment d'un réplica et Service ClusterIP sur le port 6379. Dans les TP, on teste avec curl depuis k8s-cp.</a:t>
            </a:r>
            <a:endParaRPr lang="en-US" sz="1300" dirty="0"/>
          </a:p>
        </p:txBody>
      </p:sp>
      <p:pic>
        <p:nvPicPr>
          <p:cNvPr id="37" name="Image 6" descr="preencoded.png">    </p:cNvPr>
          <p:cNvPicPr>
            <a:picLocks noChangeAspect="1"/>
          </p:cNvPicPr>
          <p:nvPr/>
        </p:nvPicPr>
        <p:blipFill>
          <a:blip r:embed="rId7"/>
          <a:srcRect l="0" r="0" t="0" b="0"/>
          <a:stretch/>
        </p:blipFill>
        <p:spPr>
          <a:xfrm>
            <a:off x="812800" y="6299200"/>
            <a:ext cx="152400" cy="152400"/>
          </a:xfrm>
          <a:prstGeom prst="rect">
            <a:avLst/>
          </a:prstGeom>
        </p:spPr>
      </p:pic>
      <p:sp>
        <p:nvSpPr>
          <p:cNvPr id="38" name="Text 29"/>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9" name="Image 7" descr="Parcours : module 7 sur 16">    </p:cNvPr>
          <p:cNvPicPr>
            <a:picLocks noChangeAspect="1"/>
          </p:cNvPicPr>
          <p:nvPr/>
        </p:nvPicPr>
        <p:blipFill>
          <a:blip r:embed="rId8"/>
          <a:srcRect l="0" r="0" t="0" b="0"/>
          <a:stretch/>
        </p:blipFill>
        <p:spPr>
          <a:xfrm>
            <a:off x="9207500" y="6299200"/>
            <a:ext cx="2171700" cy="1524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07 · BILAN</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40"/>
            <a:ext cx="5199909"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17600" y="1849140"/>
            <a:ext cx="228600" cy="228600"/>
          </a:xfrm>
          <a:prstGeom prst="rect">
            <a:avLst/>
          </a:prstGeom>
        </p:spPr>
      </p:pic>
      <p:sp>
        <p:nvSpPr>
          <p:cNvPr id="6" name="Text 3"/>
          <p:cNvSpPr/>
          <p:nvPr/>
        </p:nvSpPr>
        <p:spPr>
          <a:xfrm>
            <a:off x="1473200" y="1849140"/>
            <a:ext cx="436175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Un pod = un ou plusieurs conteneurs partageant IP et volumes ; éphémère, il est toujours géré par un contrôleur.</a:t>
            </a:r>
            <a:endParaRPr lang="en-US" sz="1300" dirty="0"/>
          </a:p>
        </p:txBody>
      </p:sp>
      <p:pic>
        <p:nvPicPr>
          <p:cNvPr id="7" name="Image 1" descr="Check">    </p:cNvPr>
          <p:cNvPicPr>
            <a:picLocks noChangeAspect="1"/>
          </p:cNvPicPr>
          <p:nvPr/>
        </p:nvPicPr>
        <p:blipFill>
          <a:blip r:embed="rId2"/>
          <a:srcRect l="0" r="0" t="0" b="0"/>
          <a:stretch/>
        </p:blipFill>
        <p:spPr>
          <a:xfrm>
            <a:off x="1117600" y="2682230"/>
            <a:ext cx="228600" cy="228600"/>
          </a:xfrm>
          <a:prstGeom prst="rect">
            <a:avLst/>
          </a:prstGeom>
        </p:spPr>
      </p:pic>
      <p:sp>
        <p:nvSpPr>
          <p:cNvPr id="8" name="Text 4"/>
          <p:cNvSpPr/>
          <p:nvPr/>
        </p:nvSpPr>
        <p:spPr>
          <a:xfrm>
            <a:off x="1473200" y="2682230"/>
            <a:ext cx="43617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Deployment → ReplicaSet → Pods : les labels du modèle doivent correspondre au selector.</a:t>
            </a:r>
            <a:endParaRPr lang="en-US" sz="1300" dirty="0"/>
          </a:p>
        </p:txBody>
      </p:sp>
      <p:pic>
        <p:nvPicPr>
          <p:cNvPr id="9" name="Image 2" descr="Check">    </p:cNvPr>
          <p:cNvPicPr>
            <a:picLocks noChangeAspect="1"/>
          </p:cNvPicPr>
          <p:nvPr/>
        </p:nvPicPr>
        <p:blipFill>
          <a:blip r:embed="rId3"/>
          <a:srcRect l="0" r="0" t="0" b="0"/>
          <a:stretch/>
        </p:blipFill>
        <p:spPr>
          <a:xfrm>
            <a:off x="1117600" y="3284240"/>
            <a:ext cx="228600" cy="228600"/>
          </a:xfrm>
          <a:prstGeom prst="rect">
            <a:avLst/>
          </a:prstGeom>
        </p:spPr>
      </p:pic>
      <p:sp>
        <p:nvSpPr>
          <p:cNvPr id="10" name="Text 5"/>
          <p:cNvSpPr/>
          <p:nvPr/>
        </p:nvSpPr>
        <p:spPr>
          <a:xfrm>
            <a:off x="1473200" y="3284240"/>
            <a:ext cx="43617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Un Service donne une IP, un nom DNS et une répartition de charge stables devant des pods qui changent.</a:t>
            </a:r>
            <a:endParaRPr lang="en-US" sz="1300" dirty="0"/>
          </a:p>
        </p:txBody>
      </p:sp>
      <p:pic>
        <p:nvPicPr>
          <p:cNvPr id="11" name="Image 3" descr="Check">    </p:cNvPr>
          <p:cNvPicPr>
            <a:picLocks noChangeAspect="1"/>
          </p:cNvPicPr>
          <p:nvPr/>
        </p:nvPicPr>
        <p:blipFill>
          <a:blip r:embed="rId4"/>
          <a:srcRect l="0" r="0" t="0" b="0"/>
          <a:stretch/>
        </p:blipFill>
        <p:spPr>
          <a:xfrm>
            <a:off x="1117600" y="3886200"/>
            <a:ext cx="228600" cy="228600"/>
          </a:xfrm>
          <a:prstGeom prst="rect">
            <a:avLst/>
          </a:prstGeom>
        </p:spPr>
      </p:pic>
      <p:sp>
        <p:nvSpPr>
          <p:cNvPr id="12" name="Text 6"/>
          <p:cNvSpPr/>
          <p:nvPr/>
        </p:nvSpPr>
        <p:spPr>
          <a:xfrm>
            <a:off x="1473200" y="3886200"/>
            <a:ext cx="43617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port : celui du Service ; targetPort : celui du conteneur ; nodePort : celui du nœud.</a:t>
            </a:r>
            <a:endParaRPr lang="en-US" sz="1300" dirty="0"/>
          </a:p>
        </p:txBody>
      </p:sp>
      <p:pic>
        <p:nvPicPr>
          <p:cNvPr id="13" name="Image 4" descr="Check">    </p:cNvPr>
          <p:cNvPicPr>
            <a:picLocks noChangeAspect="1"/>
          </p:cNvPicPr>
          <p:nvPr/>
        </p:nvPicPr>
        <p:blipFill>
          <a:blip r:embed="rId5"/>
          <a:srcRect l="0" r="0" t="0" b="0"/>
          <a:stretch/>
        </p:blipFill>
        <p:spPr>
          <a:xfrm>
            <a:off x="1117600" y="4488160"/>
            <a:ext cx="228600" cy="228600"/>
          </a:xfrm>
          <a:prstGeom prst="rect">
            <a:avLst/>
          </a:prstGeom>
        </p:spPr>
      </p:pic>
      <p:sp>
        <p:nvSpPr>
          <p:cNvPr id="14" name="Text 7"/>
          <p:cNvSpPr/>
          <p:nvPr/>
        </p:nvSpPr>
        <p:spPr>
          <a:xfrm>
            <a:off x="1473200" y="4488160"/>
            <a:ext cx="43617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Un namespace range et délègue, mais n'isole pas le réseau.</a:t>
            </a:r>
            <a:endParaRPr lang="en-US" sz="1300" dirty="0"/>
          </a:p>
        </p:txBody>
      </p:sp>
      <p:sp>
        <p:nvSpPr>
          <p:cNvPr id="15" name="Shape 8"/>
          <p:cNvSpPr/>
          <p:nvPr/>
        </p:nvSpPr>
        <p:spPr>
          <a:xfrm>
            <a:off x="6219084" y="1598315"/>
            <a:ext cx="5156941" cy="4240530"/>
          </a:xfrm>
          <a:prstGeom prst="roundRect">
            <a:avLst>
              <a:gd name="adj" fmla="val 3519"/>
            </a:avLst>
          </a:prstGeom>
          <a:solidFill>
            <a:srgbClr val="FDFDFF"/>
          </a:solidFill>
          <a:ln w="6350">
            <a:solidFill>
              <a:srgbClr val="E1DFEE"/>
            </a:solidFill>
            <a:prstDash val="solid"/>
          </a:ln>
        </p:spPr>
      </p:sp>
      <p:sp>
        <p:nvSpPr>
          <p:cNvPr id="16" name="Text 9"/>
          <p:cNvSpPr/>
          <p:nvPr/>
        </p:nvSpPr>
        <p:spPr>
          <a:xfrm>
            <a:off x="6502400" y="1856234"/>
            <a:ext cx="472801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7" name="Text 10"/>
          <p:cNvSpPr/>
          <p:nvPr/>
        </p:nvSpPr>
        <p:spPr>
          <a:xfrm>
            <a:off x="6502400" y="2183854"/>
            <a:ext cx="2286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1</a:t>
            </a:r>
            <a:endParaRPr lang="en-US" sz="1200" dirty="0"/>
          </a:p>
        </p:txBody>
      </p:sp>
      <p:sp>
        <p:nvSpPr>
          <p:cNvPr id="18" name="Text 11"/>
          <p:cNvSpPr/>
          <p:nvPr/>
        </p:nvSpPr>
        <p:spPr>
          <a:xfrm>
            <a:off x="6781800" y="2183854"/>
            <a:ext cx="44402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Deux conteneurs d'un même pod peuvent-ils écouter tous deux sur le port 8080 ? Pourquoi ?</a:t>
            </a:r>
            <a:endParaRPr lang="en-US" sz="1200" dirty="0"/>
          </a:p>
        </p:txBody>
      </p:sp>
      <p:sp>
        <p:nvSpPr>
          <p:cNvPr id="19" name="Text 12"/>
          <p:cNvSpPr/>
          <p:nvPr/>
        </p:nvSpPr>
        <p:spPr>
          <a:xfrm>
            <a:off x="6502400" y="2724894"/>
            <a:ext cx="2286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2</a:t>
            </a:r>
            <a:endParaRPr lang="en-US" sz="1200" dirty="0"/>
          </a:p>
        </p:txBody>
      </p:sp>
      <p:sp>
        <p:nvSpPr>
          <p:cNvPr id="20" name="Text 13"/>
          <p:cNvSpPr/>
          <p:nvPr/>
        </p:nvSpPr>
        <p:spPr>
          <a:xfrm>
            <a:off x="6781800" y="2724894"/>
            <a:ext cx="44402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Que se passe-t-il si le selector d'un Service ne correspond à aucun pod ?</a:t>
            </a:r>
            <a:endParaRPr lang="en-US" sz="1200" dirty="0"/>
          </a:p>
        </p:txBody>
      </p:sp>
      <p:sp>
        <p:nvSpPr>
          <p:cNvPr id="21" name="Text 14"/>
          <p:cNvSpPr/>
          <p:nvPr/>
        </p:nvSpPr>
        <p:spPr>
          <a:xfrm>
            <a:off x="6502400" y="3265934"/>
            <a:ext cx="2286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3</a:t>
            </a:r>
            <a:endParaRPr lang="en-US" sz="1200" dirty="0"/>
          </a:p>
        </p:txBody>
      </p:sp>
      <p:sp>
        <p:nvSpPr>
          <p:cNvPr id="22" name="Text 15"/>
          <p:cNvSpPr/>
          <p:nvPr/>
        </p:nvSpPr>
        <p:spPr>
          <a:xfrm>
            <a:off x="6781800" y="3265934"/>
            <a:ext cx="44402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Quel nom pour joindre le Service redis de fil-rouge depuis le namespace equipe-a ?</a:t>
            </a:r>
            <a:endParaRPr lang="en-US" sz="1200" dirty="0"/>
          </a:p>
        </p:txBody>
      </p:sp>
      <p:sp>
        <p:nvSpPr>
          <p:cNvPr id="23" name="Text 16"/>
          <p:cNvSpPr/>
          <p:nvPr/>
        </p:nvSpPr>
        <p:spPr>
          <a:xfrm>
            <a:off x="6502400" y="3806924"/>
            <a:ext cx="2286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4</a:t>
            </a:r>
            <a:endParaRPr lang="en-US" sz="1200" dirty="0"/>
          </a:p>
        </p:txBody>
      </p:sp>
      <p:sp>
        <p:nvSpPr>
          <p:cNvPr id="24" name="Text 17"/>
          <p:cNvSpPr/>
          <p:nvPr/>
        </p:nvSpPr>
        <p:spPr>
          <a:xfrm>
            <a:off x="6781800" y="3806924"/>
            <a:ext cx="44402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Pourquoi un pod créé seul, sans Deployment, est-il déconseillé ?</a:t>
            </a:r>
            <a:endParaRPr lang="en-US" sz="1200" dirty="0"/>
          </a:p>
        </p:txBody>
      </p:sp>
      <p:sp>
        <p:nvSpPr>
          <p:cNvPr id="25" name="Text 18"/>
          <p:cNvSpPr/>
          <p:nvPr/>
        </p:nvSpPr>
        <p:spPr>
          <a:xfrm>
            <a:off x="6502400" y="4347964"/>
            <a:ext cx="2286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5</a:t>
            </a:r>
            <a:endParaRPr lang="en-US" sz="1200" dirty="0"/>
          </a:p>
        </p:txBody>
      </p:sp>
      <p:sp>
        <p:nvSpPr>
          <p:cNvPr id="26" name="Text 19"/>
          <p:cNvSpPr/>
          <p:nvPr/>
        </p:nvSpPr>
        <p:spPr>
          <a:xfrm>
            <a:off x="6781800" y="4347964"/>
            <a:ext cx="44402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Quelle différence entre un Service NodePort et un Service LoadBalancer ?</a:t>
            </a:r>
            <a:endParaRPr lang="en-US" sz="1200" dirty="0"/>
          </a:p>
        </p:txBody>
      </p:sp>
      <p:pic>
        <p:nvPicPr>
          <p:cNvPr id="27" name="Image 5" descr="preencoded.png">    </p:cNvPr>
          <p:cNvPicPr>
            <a:picLocks noChangeAspect="1"/>
          </p:cNvPicPr>
          <p:nvPr/>
        </p:nvPicPr>
        <p:blipFill>
          <a:blip r:embed="rId6"/>
          <a:srcRect l="0" r="0" t="0" b="0"/>
          <a:stretch/>
        </p:blipFill>
        <p:spPr>
          <a:xfrm>
            <a:off x="812800" y="6299200"/>
            <a:ext cx="152400" cy="152400"/>
          </a:xfrm>
          <a:prstGeom prst="rect">
            <a:avLst/>
          </a:prstGeom>
        </p:spPr>
      </p:pic>
      <p:sp>
        <p:nvSpPr>
          <p:cNvPr id="28" name="Text 2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9" name="Image 6" descr="Parcours : module 7 sur 16">    </p:cNvPr>
          <p:cNvPicPr>
            <a:picLocks noChangeAspect="1"/>
          </p:cNvPicPr>
          <p:nvPr/>
        </p:nvPicPr>
        <p:blipFill>
          <a:blip r:embed="rId7"/>
          <a:srcRect l="0" r="0" t="0" b="0"/>
          <a:stretch/>
        </p:blipFill>
        <p:spPr>
          <a:xfrm>
            <a:off x="9207500" y="6299200"/>
            <a:ext cx="2171700" cy="1524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2 · DÉCRIRE ET EXPLOITER</a:t>
            </a:r>
            <a:endParaRPr lang="en-US" sz="1200" dirty="0"/>
          </a:p>
        </p:txBody>
      </p:sp>
      <p:sp>
        <p:nvSpPr>
          <p:cNvPr id="3" name="Text 1"/>
          <p:cNvSpPr/>
          <p:nvPr/>
        </p:nvSpPr>
        <p:spPr>
          <a:xfrm>
            <a:off x="812800" y="1076970"/>
            <a:ext cx="2057400"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08</a:t>
            </a:r>
            <a:endParaRPr lang="en-US" sz="10000" dirty="0"/>
          </a:p>
        </p:txBody>
      </p:sp>
      <p:sp>
        <p:nvSpPr>
          <p:cNvPr id="4" name="Text 2"/>
          <p:cNvSpPr/>
          <p:nvPr>
            <p:ph type="title"/>
          </p:nvPr>
        </p:nvSpPr>
        <p:spPr>
          <a:xfrm>
            <a:off x="2882900" y="1127770"/>
            <a:ext cx="8751189" cy="10922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Configuration : ConfigMaps et Secrets</a:t>
            </a:r>
            <a:endParaRPr lang="en-US" sz="4000" dirty="0"/>
          </a:p>
        </p:txBody>
      </p:sp>
      <p:sp>
        <p:nvSpPr>
          <p:cNvPr id="5" name="Text 3"/>
          <p:cNvSpPr/>
          <p:nvPr/>
        </p:nvSpPr>
        <p:spPr>
          <a:xfrm>
            <a:off x="2882900" y="2346970"/>
            <a:ext cx="875118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La même image tourne en recette et en production : seuls changent les ConfigMaps et les Secrets. Un Secret n'est qu'encodé : sa protection repose sur les droits et le chiffrement.</a:t>
            </a:r>
            <a:endParaRPr lang="en-US" sz="1500" dirty="0"/>
          </a:p>
        </p:txBody>
      </p:sp>
      <p:sp>
        <p:nvSpPr>
          <p:cNvPr id="6" name="Text 4"/>
          <p:cNvSpPr/>
          <p:nvPr/>
        </p:nvSpPr>
        <p:spPr>
          <a:xfrm>
            <a:off x="2882900" y="3032770"/>
            <a:ext cx="2854854"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TP5 · Application fil rouge · J2 10:30</a:t>
            </a:r>
            <a:endParaRPr lang="en-US" sz="1200" dirty="0"/>
          </a:p>
        </p:txBody>
      </p:sp>
      <p:pic>
        <p:nvPicPr>
          <p:cNvPr id="7" name="Image 0" descr="Parcours de la formation : module 8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99"/>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9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08 · CONFIGMAPS ET SECRETS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Une image, plusieurs configurations</a:t>
            </a:r>
            <a:endParaRPr lang="en-US" sz="2800" dirty="0"/>
          </a:p>
        </p:txBody>
      </p:sp>
      <p:sp>
        <p:nvSpPr>
          <p:cNvPr id="4" name="Shape 2"/>
          <p:cNvSpPr/>
          <p:nvPr/>
        </p:nvSpPr>
        <p:spPr>
          <a:xfrm>
            <a:off x="812800" y="2529185"/>
            <a:ext cx="2667000" cy="1351280"/>
          </a:xfrm>
          <a:prstGeom prst="roundRect">
            <a:avLst>
              <a:gd name="adj" fmla="val 9398"/>
            </a:avLst>
          </a:prstGeom>
          <a:solidFill>
            <a:srgbClr val="0B0748"/>
          </a:solidFill>
          <a:ln/>
        </p:spPr>
      </p:sp>
      <p:pic>
        <p:nvPicPr>
          <p:cNvPr id="5" name="Image 0" descr="Code">    </p:cNvPr>
          <p:cNvPicPr>
            <a:picLocks noChangeAspect="1"/>
          </p:cNvPicPr>
          <p:nvPr/>
        </p:nvPicPr>
        <p:blipFill>
          <a:blip r:embed="rId1"/>
          <a:srcRect l="0" r="0" t="0" b="0"/>
          <a:stretch/>
        </p:blipFill>
        <p:spPr>
          <a:xfrm>
            <a:off x="1968500" y="2732385"/>
            <a:ext cx="355600" cy="355600"/>
          </a:xfrm>
          <a:prstGeom prst="rect">
            <a:avLst/>
          </a:prstGeom>
        </p:spPr>
      </p:pic>
      <p:sp>
        <p:nvSpPr>
          <p:cNvPr id="6" name="Text 3"/>
          <p:cNvSpPr/>
          <p:nvPr/>
        </p:nvSpPr>
        <p:spPr>
          <a:xfrm>
            <a:off x="1477656" y="3151485"/>
            <a:ext cx="133718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9B6E8"/>
                </a:solidFill>
                <a:latin typeface="IBM Plex Sans" pitchFamily="34" charset="0"/>
                <a:ea typeface="IBM Plex Sans" pitchFamily="34" charset="-122"/>
                <a:cs typeface="IBM Plex Sans" pitchFamily="34" charset="-120"/>
              </a:rPr>
              <a:t>une seule image</a:t>
            </a:r>
            <a:endParaRPr lang="en-US" sz="1200" dirty="0"/>
          </a:p>
        </p:txBody>
      </p:sp>
      <p:sp>
        <p:nvSpPr>
          <p:cNvPr id="7" name="Text 4"/>
          <p:cNvSpPr/>
          <p:nvPr/>
        </p:nvSpPr>
        <p:spPr>
          <a:xfrm>
            <a:off x="1314196" y="3428355"/>
            <a:ext cx="1664208"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5F4F9"/>
                </a:solidFill>
                <a:latin typeface="JetBrains Mono" pitchFamily="49" charset="0"/>
                <a:ea typeface="JetBrains Mono" pitchFamily="49" charset="-122"/>
                <a:cs typeface="JetBrains Mono" pitchFamily="49" charset="-120"/>
              </a:rPr>
              <a:t>podinfo:6.7.1</a:t>
            </a:r>
            <a:endParaRPr lang="en-US" sz="1400" dirty="0"/>
          </a:p>
        </p:txBody>
      </p:sp>
      <p:pic>
        <p:nvPicPr>
          <p:cNvPr id="8" name="Image 1" descr="arrow-right">    </p:cNvPr>
          <p:cNvPicPr>
            <a:picLocks noChangeAspect="1"/>
          </p:cNvPicPr>
          <p:nvPr/>
        </p:nvPicPr>
        <p:blipFill>
          <a:blip r:embed="rId2"/>
          <a:srcRect l="0" r="0" t="0" b="0"/>
          <a:stretch/>
        </p:blipFill>
        <p:spPr>
          <a:xfrm>
            <a:off x="3657600" y="3103265"/>
            <a:ext cx="406400" cy="203200"/>
          </a:xfrm>
          <a:prstGeom prst="rect">
            <a:avLst/>
          </a:prstGeom>
        </p:spPr>
      </p:pic>
      <p:sp>
        <p:nvSpPr>
          <p:cNvPr id="9" name="Shape 5"/>
          <p:cNvSpPr/>
          <p:nvPr/>
        </p:nvSpPr>
        <p:spPr>
          <a:xfrm>
            <a:off x="4244975" y="2497882"/>
            <a:ext cx="7131050" cy="627592"/>
          </a:xfrm>
          <a:prstGeom prst="roundRect">
            <a:avLst>
              <a:gd name="adj" fmla="val 19730"/>
            </a:avLst>
          </a:prstGeom>
          <a:solidFill>
            <a:srgbClr val="FDFDFF"/>
          </a:solidFill>
          <a:ln w="6350">
            <a:solidFill>
              <a:srgbClr val="E1DFEE"/>
            </a:solidFill>
            <a:prstDash val="solid"/>
          </a:ln>
        </p:spPr>
      </p:sp>
      <p:sp>
        <p:nvSpPr>
          <p:cNvPr id="10" name="Text 6"/>
          <p:cNvSpPr/>
          <p:nvPr/>
        </p:nvSpPr>
        <p:spPr>
          <a:xfrm>
            <a:off x="4439391" y="2669431"/>
            <a:ext cx="1320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Recette</a:t>
            </a:r>
            <a:endParaRPr lang="en-US" sz="1600" dirty="0"/>
          </a:p>
        </p:txBody>
      </p:sp>
      <p:sp>
        <p:nvSpPr>
          <p:cNvPr id="11" name="Text 7"/>
          <p:cNvSpPr/>
          <p:nvPr/>
        </p:nvSpPr>
        <p:spPr>
          <a:xfrm>
            <a:off x="5836391" y="2654201"/>
            <a:ext cx="1919393" cy="31496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ConfigMap : paramètres</a:t>
            </a:r>
            <a:endParaRPr lang="en-US" sz="1200" dirty="0"/>
          </a:p>
        </p:txBody>
      </p:sp>
      <p:sp>
        <p:nvSpPr>
          <p:cNvPr id="12" name="Text 8"/>
          <p:cNvSpPr/>
          <p:nvPr/>
        </p:nvSpPr>
        <p:spPr>
          <a:xfrm>
            <a:off x="7882784" y="2654201"/>
            <a:ext cx="2185141" cy="314960"/>
          </a:xfrm>
          <a:prstGeom prst="roundRect">
            <a:avLst>
              <a:gd name="adj" fmla="val 50000"/>
            </a:avLst>
          </a:prstGeom>
          <a:solidFill>
            <a:srgbClr val="FCE6DC"/>
          </a:solidFill>
          <a:ln/>
        </p:spPr>
        <p:txBody>
          <a:bodyPr wrap="none" lIns="0" tIns="0" rIns="0" bIns="0" rtlCol="0" anchor="ctr">
            <a:normAutofit/>
          </a:bodyPr>
          <a:lstStyle/>
          <a:p>
            <a:pPr algn="ctr" indent="0" marL="0">
              <a:lnSpc>
                <a:spcPts val="1680"/>
              </a:lnSpc>
              <a:buNone/>
            </a:pPr>
            <a:r>
              <a:rPr lang="en-US" sz="1200" b="1" dirty="0">
                <a:solidFill>
                  <a:srgbClr val="B8421A"/>
                </a:solidFill>
                <a:latin typeface="IBM Plex Sans" pitchFamily="34" charset="0"/>
                <a:ea typeface="IBM Plex Sans" pitchFamily="34" charset="-122"/>
                <a:cs typeface="IBM Plex Sans" pitchFamily="34" charset="-120"/>
              </a:rPr>
              <a:t>Secret : mots de passe, clés</a:t>
            </a:r>
            <a:endParaRPr lang="en-US" sz="1200" dirty="0"/>
          </a:p>
        </p:txBody>
      </p:sp>
      <p:sp>
        <p:nvSpPr>
          <p:cNvPr id="13" name="Shape 9"/>
          <p:cNvSpPr/>
          <p:nvPr/>
        </p:nvSpPr>
        <p:spPr>
          <a:xfrm>
            <a:off x="4244975" y="3284240"/>
            <a:ext cx="7131050" cy="627592"/>
          </a:xfrm>
          <a:prstGeom prst="roundRect">
            <a:avLst>
              <a:gd name="adj" fmla="val 19730"/>
            </a:avLst>
          </a:prstGeom>
          <a:solidFill>
            <a:srgbClr val="FDFDFF"/>
          </a:solidFill>
          <a:ln w="6350">
            <a:solidFill>
              <a:srgbClr val="E1DFEE"/>
            </a:solidFill>
            <a:prstDash val="solid"/>
          </a:ln>
        </p:spPr>
      </p:sp>
      <p:sp>
        <p:nvSpPr>
          <p:cNvPr id="14" name="Text 10"/>
          <p:cNvSpPr/>
          <p:nvPr/>
        </p:nvSpPr>
        <p:spPr>
          <a:xfrm>
            <a:off x="4439391" y="3455789"/>
            <a:ext cx="1320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Production</a:t>
            </a:r>
            <a:endParaRPr lang="en-US" sz="1600" dirty="0"/>
          </a:p>
        </p:txBody>
      </p:sp>
      <p:sp>
        <p:nvSpPr>
          <p:cNvPr id="15" name="Text 11"/>
          <p:cNvSpPr/>
          <p:nvPr/>
        </p:nvSpPr>
        <p:spPr>
          <a:xfrm>
            <a:off x="5836391" y="3440559"/>
            <a:ext cx="1919393" cy="31496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ConfigMap : paramètres</a:t>
            </a:r>
            <a:endParaRPr lang="en-US" sz="1200" dirty="0"/>
          </a:p>
        </p:txBody>
      </p:sp>
      <p:sp>
        <p:nvSpPr>
          <p:cNvPr id="16" name="Text 12"/>
          <p:cNvSpPr/>
          <p:nvPr/>
        </p:nvSpPr>
        <p:spPr>
          <a:xfrm>
            <a:off x="7882784" y="3440559"/>
            <a:ext cx="2185141" cy="314960"/>
          </a:xfrm>
          <a:prstGeom prst="roundRect">
            <a:avLst>
              <a:gd name="adj" fmla="val 50000"/>
            </a:avLst>
          </a:prstGeom>
          <a:solidFill>
            <a:srgbClr val="FCE6DC"/>
          </a:solidFill>
          <a:ln/>
        </p:spPr>
        <p:txBody>
          <a:bodyPr wrap="none" lIns="0" tIns="0" rIns="0" bIns="0" rtlCol="0" anchor="ctr">
            <a:normAutofit/>
          </a:bodyPr>
          <a:lstStyle/>
          <a:p>
            <a:pPr algn="ctr" indent="0" marL="0">
              <a:lnSpc>
                <a:spcPts val="1680"/>
              </a:lnSpc>
              <a:buNone/>
            </a:pPr>
            <a:r>
              <a:rPr lang="en-US" sz="1200" b="1" dirty="0">
                <a:solidFill>
                  <a:srgbClr val="B8421A"/>
                </a:solidFill>
                <a:latin typeface="IBM Plex Sans" pitchFamily="34" charset="0"/>
                <a:ea typeface="IBM Plex Sans" pitchFamily="34" charset="-122"/>
                <a:cs typeface="IBM Plex Sans" pitchFamily="34" charset="-120"/>
              </a:rPr>
              <a:t>Secret : mots de passe, clés</a:t>
            </a:r>
            <a:endParaRPr lang="en-US" sz="1200" dirty="0"/>
          </a:p>
        </p:txBody>
      </p:sp>
      <p:sp>
        <p:nvSpPr>
          <p:cNvPr id="17" name="Text 13"/>
          <p:cNvSpPr/>
          <p:nvPr/>
        </p:nvSpPr>
        <p:spPr>
          <a:xfrm>
            <a:off x="812800" y="5068590"/>
            <a:ext cx="5350129"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0B0748"/>
                </a:solidFill>
                <a:latin typeface="IBM Plex Sans" pitchFamily="34" charset="0"/>
                <a:ea typeface="IBM Plex Sans" pitchFamily="34" charset="-122"/>
                <a:cs typeface="IBM Plex Sans" pitchFamily="34" charset="-120"/>
              </a:rPr>
              <a:t>Reconstruire une image pour changer une adresse de base de données est lent et risqué : l'image testée n'est plus celle qu'on déploie.</a:t>
            </a:r>
            <a:endParaRPr lang="en-US" sz="1400" dirty="0"/>
          </a:p>
        </p:txBody>
      </p:sp>
      <p:sp>
        <p:nvSpPr>
          <p:cNvPr id="18" name="Text 14"/>
          <p:cNvSpPr/>
          <p:nvPr/>
        </p:nvSpPr>
        <p:spPr>
          <a:xfrm>
            <a:off x="6184900" y="5068590"/>
            <a:ext cx="5350129"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Le principe des « 12 facteurs » : une image unique, et sa configuration injectée au démarrage, en variables d'environnement ou en fichiers.</a:t>
            </a:r>
            <a:endParaRPr lang="en-US" sz="1400" dirty="0"/>
          </a:p>
        </p:txBody>
      </p:sp>
      <p:pic>
        <p:nvPicPr>
          <p:cNvPr id="19" name="Image 2" descr="preencoded.png">    </p:cNvPr>
          <p:cNvPicPr>
            <a:picLocks noChangeAspect="1"/>
          </p:cNvPicPr>
          <p:nvPr/>
        </p:nvPicPr>
        <p:blipFill>
          <a:blip r:embed="rId3"/>
          <a:srcRect l="0" r="0" t="0" b="0"/>
          <a:stretch/>
        </p:blipFill>
        <p:spPr>
          <a:xfrm>
            <a:off x="812800" y="6299200"/>
            <a:ext cx="152400" cy="152400"/>
          </a:xfrm>
          <a:prstGeom prst="rect">
            <a:avLst/>
          </a:prstGeom>
        </p:spPr>
      </p:pic>
      <p:sp>
        <p:nvSpPr>
          <p:cNvPr id="20" name="Text 15"/>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1" name="Image 3" descr="Parcours : module 8 sur 16">    </p:cNvPr>
          <p:cNvPicPr>
            <a:picLocks noChangeAspect="1"/>
          </p:cNvPicPr>
          <p:nvPr/>
        </p:nvPicPr>
        <p:blipFill>
          <a:blip r:embed="rId4"/>
          <a:srcRect l="0" r="0" t="0" b="0"/>
          <a:stretch/>
        </p:blipFill>
        <p:spPr>
          <a:xfrm>
            <a:off x="9207500" y="6299200"/>
            <a:ext cx="2171700" cy="1524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08 · CONFIGMAPS ET SECRETS</a:t>
            </a:r>
            <a:endParaRPr lang="en-US" sz="1200" dirty="0"/>
          </a:p>
        </p:txBody>
      </p:sp>
      <p:sp>
        <p:nvSpPr>
          <p:cNvPr id="3" name="Text 1"/>
          <p:cNvSpPr/>
          <p:nvPr>
            <p:ph type="title"/>
          </p:nvPr>
        </p:nvSpPr>
        <p:spPr>
          <a:xfrm>
            <a:off x="812800" y="95006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ConfigMaps</a:t>
            </a:r>
            <a:endParaRPr lang="en-US" sz="2800" dirty="0"/>
          </a:p>
        </p:txBody>
      </p:sp>
      <p:sp>
        <p:nvSpPr>
          <p:cNvPr id="4" name="Text 2"/>
          <p:cNvSpPr/>
          <p:nvPr/>
        </p:nvSpPr>
        <p:spPr>
          <a:xfrm>
            <a:off x="812800" y="1531640"/>
            <a:ext cx="10566400" cy="1010920"/>
          </a:xfrm>
          <a:prstGeom prst="roundRect">
            <a:avLst>
              <a:gd name="adj" fmla="val 10050"/>
            </a:avLst>
          </a:prstGeom>
          <a:solidFill>
            <a:srgbClr val="0B0748"/>
          </a:solidFill>
          <a:ln/>
        </p:spPr>
        <p:txBody>
          <a:bodyPr wrap="none" lIns="173442" tIns="109942" rIns="0" bIns="84542" rtlCol="0" anchor="t">
            <a:normAutofit/>
          </a:bodyPr>
          <a:lstStyle/>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create configmap app-config --from-literal=MODE=prod --from-literal=NIVEAU_LOG=info</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create configmap nginx-conf --from-file=nginx.conf     </a:t>
            </a:r>
            <a:r>
              <a:rPr lang="en-US" sz="1200" dirty="0">
                <a:solidFill>
                  <a:srgbClr val="9A96D0"/>
                </a:solidFill>
                <a:latin typeface="JetBrains Mono" pitchFamily="49" charset="0"/>
                <a:ea typeface="JetBrains Mono" pitchFamily="49" charset="-122"/>
                <a:cs typeface="JetBrains Mono" pitchFamily="49" charset="-120"/>
              </a:rPr>
              <a:t># clé = nom du fichier</a:t>
            </a:r>
            <a:endParaRPr lang="en-US" sz="1200" dirty="0"/>
          </a:p>
          <a:p>
            <a:pPr algn="l" indent="0" marL="0">
              <a:lnSpc>
                <a:spcPts val="1920"/>
              </a:lnSpc>
              <a:buNone/>
            </a:pPr>
            <a:r>
              <a:rPr lang="en-US" sz="1200" dirty="0">
                <a:solidFill>
                  <a:srgbClr val="ECEAFF"/>
                </a:solidFill>
                <a:latin typeface="JetBrains Mono" pitchFamily="49" charset="0"/>
                <a:ea typeface="JetBrains Mono" pitchFamily="49" charset="-122"/>
                <a:cs typeface="JetBrains Mono" pitchFamily="49" charset="-120"/>
              </a:rPr>
              <a:t>kubectl create configmap env-conf --from-env-file=app.env      </a:t>
            </a:r>
            <a:r>
              <a:rPr lang="en-US" sz="1200" dirty="0">
                <a:solidFill>
                  <a:srgbClr val="9A96D0"/>
                </a:solidFill>
                <a:latin typeface="JetBrains Mono" pitchFamily="49" charset="0"/>
                <a:ea typeface="JetBrains Mono" pitchFamily="49" charset="-122"/>
                <a:cs typeface="JetBrains Mono" pitchFamily="49" charset="-120"/>
              </a:rPr>
              <a:t># une clé par ligne CLE=valeur</a:t>
            </a:r>
            <a:endParaRPr lang="en-US" sz="1200" dirty="0"/>
          </a:p>
        </p:txBody>
      </p:sp>
      <p:sp>
        <p:nvSpPr>
          <p:cNvPr id="5" name="Text 3"/>
          <p:cNvSpPr/>
          <p:nvPr/>
        </p:nvSpPr>
        <p:spPr>
          <a:xfrm>
            <a:off x="812800" y="2733030"/>
            <a:ext cx="5207000" cy="3108960"/>
          </a:xfrm>
          <a:prstGeom prst="roundRect">
            <a:avLst>
              <a:gd name="adj" fmla="val 3268"/>
            </a:avLst>
          </a:prstGeom>
          <a:solidFill>
            <a:srgbClr val="0B0748"/>
          </a:solidFill>
          <a:ln/>
        </p:spPr>
        <p:txBody>
          <a:bodyPr wrap="none" lIns="160742" tIns="109942" rIns="15962" bIns="109942" rtlCol="0" anchor="ctr">
            <a:normAutofit/>
          </a:bodyPr>
          <a:lstStyle/>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apiVersion: v1</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kind: </a:t>
            </a:r>
            <a:r>
              <a:rPr lang="en-US" sz="1200" dirty="0">
                <a:solidFill>
                  <a:srgbClr val="FFB08F"/>
                </a:solidFill>
                <a:latin typeface="JetBrains Mono" pitchFamily="49" charset="0"/>
                <a:ea typeface="JetBrains Mono" pitchFamily="49" charset="-122"/>
                <a:cs typeface="JetBrains Mono" pitchFamily="49" charset="-120"/>
              </a:rPr>
              <a:t>ConfigMap</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metadata:</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name: podinfo-config</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data:</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PODINFO_UI_MESSAGE: "Bienvenue à l'INSEE"</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PODINFO_UI_COLOR: "#2b5797"</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config.yaml: |</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niveau: info</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cache:</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ttl: 300</a:t>
            </a:r>
            <a:endParaRPr lang="en-US" sz="1200" dirty="0"/>
          </a:p>
        </p:txBody>
      </p:sp>
      <p:sp>
        <p:nvSpPr>
          <p:cNvPr id="6" name="Text 4"/>
          <p:cNvSpPr/>
          <p:nvPr/>
        </p:nvSpPr>
        <p:spPr>
          <a:xfrm>
            <a:off x="6273800" y="3295551"/>
            <a:ext cx="5918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Des paires clé-valeur </a:t>
            </a:r>
            <a:r>
              <a:rPr lang="en-US" sz="1500" b="1" dirty="0">
                <a:solidFill>
                  <a:srgbClr val="0B0748"/>
                </a:solidFill>
                <a:latin typeface="IBM Plex Sans" pitchFamily="34" charset="0"/>
                <a:ea typeface="IBM Plex Sans" pitchFamily="34" charset="-122"/>
                <a:cs typeface="IBM Plex Sans" pitchFamily="34" charset="-120"/>
              </a:rPr>
              <a:t>non sensibles</a:t>
            </a:r>
            <a:r>
              <a:rPr lang="en-US" sz="1500" dirty="0">
                <a:solidFill>
                  <a:srgbClr val="0B0748"/>
                </a:solidFill>
                <a:latin typeface="IBM Plex Sans" pitchFamily="34" charset="0"/>
                <a:ea typeface="IBM Plex Sans" pitchFamily="34" charset="-122"/>
                <a:cs typeface="IBM Plex Sans" pitchFamily="34" charset="-120"/>
              </a:rPr>
              <a:t>, 1 Mio au plus au total.</a:t>
            </a:r>
            <a:endParaRPr lang="en-US" sz="1500" dirty="0"/>
          </a:p>
        </p:txBody>
      </p:sp>
      <p:sp>
        <p:nvSpPr>
          <p:cNvPr id="7" name="Text 5"/>
          <p:cNvSpPr/>
          <p:nvPr/>
        </p:nvSpPr>
        <p:spPr>
          <a:xfrm>
            <a:off x="6273800" y="3689251"/>
            <a:ext cx="5258562"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F3C6B"/>
                </a:solidFill>
                <a:latin typeface="IBM Plex Sans" pitchFamily="34" charset="0"/>
                <a:ea typeface="IBM Plex Sans" pitchFamily="34" charset="-122"/>
                <a:cs typeface="IBM Plex Sans" pitchFamily="34" charset="-120"/>
              </a:rPr>
              <a:t>Une valeur peut être courte (MODE=prod) ou contenir un fichier entier, comme config.yaml ici.</a:t>
            </a:r>
            <a:endParaRPr lang="en-US" sz="1300" dirty="0"/>
          </a:p>
        </p:txBody>
      </p:sp>
      <p:sp>
        <p:nvSpPr>
          <p:cNvPr id="8" name="Shape 6"/>
          <p:cNvSpPr/>
          <p:nvPr/>
        </p:nvSpPr>
        <p:spPr>
          <a:xfrm>
            <a:off x="6276975" y="4298206"/>
            <a:ext cx="5099050" cy="978112"/>
          </a:xfrm>
          <a:prstGeom prst="roundRect">
            <a:avLst>
              <a:gd name="adj" fmla="val 11361"/>
            </a:avLst>
          </a:prstGeom>
          <a:solidFill>
            <a:srgbClr val="FDFDFF"/>
          </a:solidFill>
          <a:ln w="6350">
            <a:solidFill>
              <a:srgbClr val="E1DFEE"/>
            </a:solidFill>
            <a:prstDash val="solid"/>
          </a:ln>
        </p:spPr>
      </p:sp>
      <p:sp>
        <p:nvSpPr>
          <p:cNvPr id="9" name="Text 7"/>
          <p:cNvSpPr/>
          <p:nvPr/>
        </p:nvSpPr>
        <p:spPr>
          <a:xfrm>
            <a:off x="6445991" y="4441825"/>
            <a:ext cx="490384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immutable: true</a:t>
            </a:r>
            <a:endParaRPr lang="en-US" sz="1200" dirty="0"/>
          </a:p>
        </p:txBody>
      </p:sp>
      <p:sp>
        <p:nvSpPr>
          <p:cNvPr id="10" name="Text 8"/>
          <p:cNvSpPr/>
          <p:nvPr/>
        </p:nvSpPr>
        <p:spPr>
          <a:xfrm>
            <a:off x="6445991" y="4705995"/>
            <a:ext cx="49038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Elle ne peut plus être modifiée, seulement remplacée (podinfo-config-v2) : moins d'accidents, moins de charge pour l'API server.</a:t>
            </a:r>
            <a:endParaRPr lang="en-US" sz="1200" dirty="0"/>
          </a:p>
        </p:txBody>
      </p:sp>
      <p:pic>
        <p:nvPicPr>
          <p:cNvPr id="11"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2" name="Text 9"/>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3" name="Image 1" descr="Parcours : module 8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08 · CONFIGMAPS ET SECRETS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Trois façons de consommer une ConfigMap</a:t>
            </a:r>
            <a:endParaRPr lang="en-US" sz="2800" dirty="0"/>
          </a:p>
        </p:txBody>
      </p:sp>
      <p:sp>
        <p:nvSpPr>
          <p:cNvPr id="4" name="Text 2"/>
          <p:cNvSpPr/>
          <p:nvPr/>
        </p:nvSpPr>
        <p:spPr>
          <a:xfrm>
            <a:off x="812800" y="1569740"/>
            <a:ext cx="6477000" cy="4272280"/>
          </a:xfrm>
          <a:prstGeom prst="roundRect">
            <a:avLst>
              <a:gd name="adj" fmla="val 2378"/>
            </a:avLst>
          </a:prstGeom>
          <a:solidFill>
            <a:srgbClr val="0B0748"/>
          </a:solidFill>
          <a:ln/>
        </p:spPr>
        <p:txBody>
          <a:bodyPr wrap="none" lIns="160742" tIns="97242" rIns="0" bIns="97242" rtlCol="0" anchor="ctr">
            <a:normAutofit/>
          </a:bodyPr>
          <a:lstStyle/>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containers:</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name: app</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env:                          </a:t>
            </a:r>
            <a:r>
              <a:rPr lang="en-US" sz="1200" dirty="0">
                <a:solidFill>
                  <a:srgbClr val="FFB08F"/>
                </a:solidFill>
                <a:latin typeface="JetBrains Mono" pitchFamily="49" charset="0"/>
                <a:ea typeface="JetBrains Mono" pitchFamily="49" charset="-122"/>
                <a:cs typeface="JetBrains Mono" pitchFamily="49" charset="-120"/>
              </a:rPr>
              <a:t># 1 · une clé, une variable</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 name: MESSAGE</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valueFrom:</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configMapKeyRef:</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name: podinfo-config</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key: PODINFO_UI_MESSAGE</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envFrom:                      </a:t>
            </a:r>
            <a:r>
              <a:rPr lang="en-US" sz="1200" dirty="0">
                <a:solidFill>
                  <a:srgbClr val="FFB08F"/>
                </a:solidFill>
                <a:latin typeface="JetBrains Mono" pitchFamily="49" charset="0"/>
                <a:ea typeface="JetBrains Mono" pitchFamily="49" charset="-122"/>
                <a:cs typeface="JetBrains Mono" pitchFamily="49" charset="-120"/>
              </a:rPr>
              <a:t># 2 · toutes les clés en variables</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 configMapRef:</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name: podinfo-config</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volumeMounts:                 </a:t>
            </a:r>
            <a:r>
              <a:rPr lang="en-US" sz="1200" dirty="0">
                <a:solidFill>
                  <a:srgbClr val="FFB08F"/>
                </a:solidFill>
                <a:latin typeface="JetBrains Mono" pitchFamily="49" charset="0"/>
                <a:ea typeface="JetBrains Mono" pitchFamily="49" charset="-122"/>
                <a:cs typeface="JetBrains Mono" pitchFamily="49" charset="-120"/>
              </a:rPr>
              <a:t># 3 · les clés en fichiers</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 name: config</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mountPath: /etc/podinfo</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volumes:</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name: config</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configMap:</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name: podinfo-config</a:t>
            </a:r>
            <a:endParaRPr lang="en-US" sz="1200" dirty="0"/>
          </a:p>
        </p:txBody>
      </p:sp>
      <p:sp>
        <p:nvSpPr>
          <p:cNvPr id="5" name="Text 3"/>
          <p:cNvSpPr/>
          <p:nvPr/>
        </p:nvSpPr>
        <p:spPr>
          <a:xfrm>
            <a:off x="7543800" y="1569740"/>
            <a:ext cx="395046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ET SI LA CONFIGMAP CHANGE ?</a:t>
            </a:r>
            <a:endParaRPr lang="en-US" sz="1200" dirty="0"/>
          </a:p>
        </p:txBody>
      </p:sp>
      <p:sp>
        <p:nvSpPr>
          <p:cNvPr id="6" name="Shape 4"/>
          <p:cNvSpPr/>
          <p:nvPr/>
        </p:nvSpPr>
        <p:spPr>
          <a:xfrm>
            <a:off x="7543800" y="2388956"/>
            <a:ext cx="3835400" cy="0"/>
          </a:xfrm>
          <a:prstGeom prst="line">
            <a:avLst/>
          </a:prstGeom>
          <a:noFill/>
          <a:ln w="6350">
            <a:solidFill>
              <a:srgbClr val="E1DFEE"/>
            </a:solidFill>
            <a:prstDash val="solid"/>
          </a:ln>
        </p:spPr>
      </p:sp>
      <p:sp>
        <p:nvSpPr>
          <p:cNvPr id="7" name="Text 5"/>
          <p:cNvSpPr/>
          <p:nvPr/>
        </p:nvSpPr>
        <p:spPr>
          <a:xfrm>
            <a:off x="7543800" y="1871960"/>
            <a:ext cx="39504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env, envFrom</a:t>
            </a:r>
            <a:endParaRPr lang="en-US" sz="1300" dirty="0"/>
          </a:p>
        </p:txBody>
      </p:sp>
      <p:sp>
        <p:nvSpPr>
          <p:cNvPr id="8" name="Text 6"/>
          <p:cNvSpPr/>
          <p:nvPr/>
        </p:nvSpPr>
        <p:spPr>
          <a:xfrm>
            <a:off x="7543800" y="2115840"/>
            <a:ext cx="3950462"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Jamais : lue au prochain démarrage du conteneur.</a:t>
            </a:r>
            <a:endParaRPr lang="en-US" sz="1200" dirty="0"/>
          </a:p>
        </p:txBody>
      </p:sp>
      <p:sp>
        <p:nvSpPr>
          <p:cNvPr id="9" name="Shape 7"/>
          <p:cNvSpPr/>
          <p:nvPr/>
        </p:nvSpPr>
        <p:spPr>
          <a:xfrm>
            <a:off x="7543800" y="3203800"/>
            <a:ext cx="3835400" cy="0"/>
          </a:xfrm>
          <a:prstGeom prst="line">
            <a:avLst/>
          </a:prstGeom>
          <a:noFill/>
          <a:ln w="6350">
            <a:solidFill>
              <a:srgbClr val="E1DFEE"/>
            </a:solidFill>
            <a:prstDash val="solid"/>
          </a:ln>
        </p:spPr>
      </p:sp>
      <p:sp>
        <p:nvSpPr>
          <p:cNvPr id="10" name="Text 8"/>
          <p:cNvSpPr/>
          <p:nvPr/>
        </p:nvSpPr>
        <p:spPr>
          <a:xfrm>
            <a:off x="7543800" y="2481064"/>
            <a:ext cx="39504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Volume</a:t>
            </a:r>
            <a:endParaRPr lang="en-US" sz="1300" dirty="0"/>
          </a:p>
        </p:txBody>
      </p:sp>
      <p:sp>
        <p:nvSpPr>
          <p:cNvPr id="11" name="Text 9"/>
          <p:cNvSpPr/>
          <p:nvPr/>
        </p:nvSpPr>
        <p:spPr>
          <a:xfrm>
            <a:off x="7543800" y="2724894"/>
            <a:ext cx="395046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Fichiers mis à jour après un délai, de l'ordre de la minute ; l'application doit les relire.</a:t>
            </a:r>
            <a:endParaRPr lang="en-US" sz="1200" dirty="0"/>
          </a:p>
        </p:txBody>
      </p:sp>
      <p:sp>
        <p:nvSpPr>
          <p:cNvPr id="12" name="Text 10"/>
          <p:cNvSpPr/>
          <p:nvPr/>
        </p:nvSpPr>
        <p:spPr>
          <a:xfrm>
            <a:off x="7543800" y="3295948"/>
            <a:ext cx="39504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Volume avec subPath</a:t>
            </a:r>
            <a:endParaRPr lang="en-US" sz="1300" dirty="0"/>
          </a:p>
        </p:txBody>
      </p:sp>
      <p:sp>
        <p:nvSpPr>
          <p:cNvPr id="13" name="Text 11"/>
          <p:cNvSpPr/>
          <p:nvPr/>
        </p:nvSpPr>
        <p:spPr>
          <a:xfrm>
            <a:off x="7543800" y="3539679"/>
            <a:ext cx="3950462"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Jamais.</a:t>
            </a:r>
            <a:endParaRPr lang="en-US" sz="1200" dirty="0"/>
          </a:p>
        </p:txBody>
      </p:sp>
      <p:sp>
        <p:nvSpPr>
          <p:cNvPr id="14" name="Shape 12"/>
          <p:cNvSpPr/>
          <p:nvPr/>
        </p:nvSpPr>
        <p:spPr>
          <a:xfrm>
            <a:off x="7543800" y="4935240"/>
            <a:ext cx="3835400" cy="906780"/>
          </a:xfrm>
          <a:prstGeom prst="roundRect">
            <a:avLst>
              <a:gd name="adj" fmla="val 11204"/>
            </a:avLst>
          </a:prstGeom>
          <a:solidFill>
            <a:srgbClr val="FCE6DC"/>
          </a:solidFill>
          <a:ln/>
        </p:spPr>
      </p:sp>
      <p:sp>
        <p:nvSpPr>
          <p:cNvPr id="15" name="Text 13"/>
          <p:cNvSpPr/>
          <p:nvPr/>
        </p:nvSpPr>
        <p:spPr>
          <a:xfrm>
            <a:off x="7683500" y="5049540"/>
            <a:ext cx="3662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La méthode fiable :</a:t>
            </a:r>
            <a:endParaRPr lang="en-US" sz="1200" dirty="0"/>
          </a:p>
        </p:txBody>
      </p:sp>
      <p:sp>
        <p:nvSpPr>
          <p:cNvPr id="16" name="Text 14"/>
          <p:cNvSpPr/>
          <p:nvPr/>
        </p:nvSpPr>
        <p:spPr>
          <a:xfrm>
            <a:off x="7683500" y="5300960"/>
            <a:ext cx="366268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kubectl rollout restart deployment podinfo</a:t>
            </a:r>
            <a:endParaRPr lang="en-US" sz="1200" dirty="0"/>
          </a:p>
        </p:txBody>
      </p:sp>
      <p:pic>
        <p:nvPicPr>
          <p:cNvPr id="17"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8" name="Text 15"/>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9" name="Image 1" descr="Parcours : module 8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08 · CONFIGMAPS ET SECRETS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Secrets</a:t>
            </a:r>
            <a:endParaRPr lang="en-US" sz="2800" dirty="0"/>
          </a:p>
        </p:txBody>
      </p:sp>
      <p:sp>
        <p:nvSpPr>
          <p:cNvPr id="4" name="Text 2"/>
          <p:cNvSpPr/>
          <p:nvPr/>
        </p:nvSpPr>
        <p:spPr>
          <a:xfrm>
            <a:off x="812800" y="1518940"/>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Comme une ConfigMap, pour les données sensibles : monté en mémoire (tmpfs), envoyé aux seuls nœuds qui en ont besoin, chiffrable dans etcd.</a:t>
            </a:r>
            <a:endParaRPr lang="en-US" sz="1400" dirty="0"/>
          </a:p>
        </p:txBody>
      </p:sp>
      <p:sp>
        <p:nvSpPr>
          <p:cNvPr id="5" name="Text 3"/>
          <p:cNvSpPr/>
          <p:nvPr/>
        </p:nvSpPr>
        <p:spPr>
          <a:xfrm>
            <a:off x="812800" y="2194570"/>
            <a:ext cx="10566400" cy="1198880"/>
          </a:xfrm>
          <a:prstGeom prst="roundRect">
            <a:avLst>
              <a:gd name="adj" fmla="val 8475"/>
            </a:avLst>
          </a:prstGeom>
          <a:solidFill>
            <a:srgbClr val="0B0748"/>
          </a:solidFill>
          <a:ln/>
        </p:spPr>
        <p:txBody>
          <a:bodyPr wrap="none" lIns="173442" tIns="97242" rIns="0" bIns="71842" rtlCol="0" anchor="t">
            <a:normAutofit/>
          </a:bodyPr>
          <a:lstStyle/>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kubectl create secret generic podinfo-secret --from-literal=API_TOKEN=s3cr3t-insee</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kubectl create secret tls podinfo-tls --cert=tls.crt --key=tls.key</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kubectl create secret docker-registry registre-prive --docker-server=registry.exemple.fr \</a:t>
            </a:r>
            <a:endParaRPr lang="en-US" sz="1200" dirty="0"/>
          </a:p>
          <a:p>
            <a:pPr algn="l" indent="0" marL="0">
              <a:lnSpc>
                <a:spcPts val="1860"/>
              </a:lnSpc>
              <a:buNone/>
            </a:pPr>
            <a:r>
              <a:rPr lang="en-US" sz="1200" dirty="0">
                <a:solidFill>
                  <a:srgbClr val="ECEAFF"/>
                </a:solidFill>
                <a:latin typeface="JetBrains Mono" pitchFamily="49" charset="0"/>
                <a:ea typeface="JetBrains Mono" pitchFamily="49" charset="-122"/>
                <a:cs typeface="JetBrains Mono" pitchFamily="49" charset="-120"/>
              </a:rPr>
              <a:t>  --docker-username=robot --docker-password='…'</a:t>
            </a:r>
            <a:endParaRPr lang="en-US" sz="1200" dirty="0"/>
          </a:p>
        </p:txBody>
      </p:sp>
      <p:sp>
        <p:nvSpPr>
          <p:cNvPr id="6" name="Shape 4"/>
          <p:cNvSpPr/>
          <p:nvPr/>
        </p:nvSpPr>
        <p:spPr>
          <a:xfrm>
            <a:off x="812800" y="3571329"/>
            <a:ext cx="5892800" cy="1642745"/>
          </a:xfrm>
          <a:prstGeom prst="rect">
            <a:avLst/>
          </a:prstGeom>
          <a:solidFill>
            <a:srgbClr val="FDFDFF"/>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9891" y="3578420"/>
          <a:ext cx="5885709" cy="1635654"/>
        </p:xfrm>
        <a:graphic>
          <a:graphicData uri="http://schemas.openxmlformats.org/drawingml/2006/table">
            <a:tbl>
              <a:tblPr/>
              <a:tblGrid>
                <a:gridCol w="3060569"/>
                <a:gridCol w="2825140"/>
              </a:tblGrid>
              <a:tr h="327131">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Type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Usage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Opaque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Données libres (défaut)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kubernetes.io/tls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Certificat et clé privée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kubernetes.io/dockerconfigjson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Identifiants d'un registre privé</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kubernetes.io/basic-auth, ssh-auth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Identifiants structurés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sp>
        <p:nvSpPr>
          <p:cNvPr id="8" name="Text 5"/>
          <p:cNvSpPr/>
          <p:nvPr/>
        </p:nvSpPr>
        <p:spPr>
          <a:xfrm>
            <a:off x="6934200" y="3571329"/>
            <a:ext cx="4445000" cy="1112520"/>
          </a:xfrm>
          <a:prstGeom prst="roundRect">
            <a:avLst>
              <a:gd name="adj" fmla="val 9132"/>
            </a:avLst>
          </a:prstGeom>
          <a:solidFill>
            <a:srgbClr val="0B0748"/>
          </a:solidFill>
          <a:ln/>
        </p:spPr>
        <p:txBody>
          <a:bodyPr wrap="none" lIns="135342" tIns="84542" rIns="11898" bIns="59142" rtlCol="0" anchor="t">
            <a:normAutofit/>
          </a:bodyPr>
          <a:lstStyle/>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kind: Secret</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type: Opaque</a:t>
            </a:r>
            <a:endParaRPr lang="en-US" sz="1200" dirty="0"/>
          </a:p>
          <a:p>
            <a:pPr algn="l" indent="0" marL="0">
              <a:lnSpc>
                <a:spcPts val="1740"/>
              </a:lnSpc>
              <a:buNone/>
            </a:pPr>
            <a:r>
              <a:rPr lang="en-US" sz="1200" dirty="0">
                <a:solidFill>
                  <a:srgbClr val="FFB08F"/>
                </a:solidFill>
                <a:latin typeface="JetBrains Mono" pitchFamily="49" charset="0"/>
                <a:ea typeface="JetBrains Mono" pitchFamily="49" charset="-122"/>
                <a:cs typeface="JetBrains Mono" pitchFamily="49" charset="-120"/>
              </a:rPr>
              <a:t>stringData:</a:t>
            </a: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9A96D0"/>
                </a:solidFill>
                <a:latin typeface="JetBrains Mono" pitchFamily="49" charset="0"/>
                <a:ea typeface="JetBrains Mono" pitchFamily="49" charset="-122"/>
                <a:cs typeface="JetBrains Mono" pitchFamily="49" charset="-120"/>
              </a:rPr>
              <a:t># texte en clair</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API_TOKEN: s3cr3t-insee</a:t>
            </a:r>
            <a:endParaRPr lang="en-US" sz="1200" dirty="0"/>
          </a:p>
        </p:txBody>
      </p:sp>
      <p:sp>
        <p:nvSpPr>
          <p:cNvPr id="9" name="Text 6"/>
          <p:cNvSpPr/>
          <p:nvPr/>
        </p:nvSpPr>
        <p:spPr>
          <a:xfrm>
            <a:off x="6934200" y="4759970"/>
            <a:ext cx="45783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data attend du base64. On consomme un Secret comme une ConfigMap ; registre privé : imagePullSecrets dans le pod.</a:t>
            </a:r>
            <a:endParaRPr lang="en-US" sz="1200" dirty="0"/>
          </a:p>
        </p:txBody>
      </p:sp>
      <p:pic>
        <p:nvPicPr>
          <p:cNvPr id="10"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1" name="Text 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2" name="Image 1" descr="Parcours : module 8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08 · CONFIGMAPS ET SECRETS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Ce que protège vraiment un Secret</a:t>
            </a:r>
            <a:endParaRPr lang="en-US" sz="2800" dirty="0"/>
          </a:p>
        </p:txBody>
      </p:sp>
      <p:sp>
        <p:nvSpPr>
          <p:cNvPr id="4" name="Shape 2"/>
          <p:cNvSpPr/>
          <p:nvPr/>
        </p:nvSpPr>
        <p:spPr>
          <a:xfrm>
            <a:off x="812800" y="1544340"/>
            <a:ext cx="10566400" cy="975360"/>
          </a:xfrm>
          <a:prstGeom prst="roundRect">
            <a:avLst>
              <a:gd name="adj" fmla="val 13021"/>
            </a:avLst>
          </a:prstGeom>
          <a:solidFill>
            <a:srgbClr val="0B0748"/>
          </a:solidFill>
          <a:ln/>
        </p:spPr>
      </p:sp>
      <p:sp>
        <p:nvSpPr>
          <p:cNvPr id="5" name="Text 3"/>
          <p:cNvSpPr/>
          <p:nvPr/>
        </p:nvSpPr>
        <p:spPr>
          <a:xfrm>
            <a:off x="1028700" y="1709440"/>
            <a:ext cx="1043863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8F66"/>
                </a:solidFill>
                <a:latin typeface="Sora" pitchFamily="34" charset="0"/>
                <a:ea typeface="Sora" pitchFamily="34" charset="-122"/>
                <a:cs typeface="Sora" pitchFamily="34" charset="-120"/>
              </a:rPr>
              <a:t>base64 n'est pas un chiffrement.</a:t>
            </a:r>
            <a:endParaRPr lang="en-US" sz="2000" dirty="0"/>
          </a:p>
        </p:txBody>
      </p:sp>
      <p:sp>
        <p:nvSpPr>
          <p:cNvPr id="6" name="Text 4"/>
          <p:cNvSpPr/>
          <p:nvPr/>
        </p:nvSpPr>
        <p:spPr>
          <a:xfrm>
            <a:off x="1028700" y="2141240"/>
            <a:ext cx="1043863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CEAFF"/>
                </a:solidFill>
                <a:latin typeface="JetBrains Mono" pitchFamily="49" charset="0"/>
                <a:ea typeface="JetBrains Mono" pitchFamily="49" charset="-122"/>
                <a:cs typeface="JetBrains Mono" pitchFamily="49" charset="-120"/>
              </a:rPr>
              <a:t>kubectl get secret podinfo-secret -o jsonpath='{.data.API_TOKEN}' | base64 -d</a:t>
            </a:r>
            <a:endParaRPr lang="en-US" sz="1200" dirty="0"/>
          </a:p>
        </p:txBody>
      </p:sp>
      <p:sp>
        <p:nvSpPr>
          <p:cNvPr id="7" name="Text 5"/>
          <p:cNvSpPr/>
          <p:nvPr/>
        </p:nvSpPr>
        <p:spPr>
          <a:xfrm>
            <a:off x="812800" y="2722860"/>
            <a:ext cx="475101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LES RISQUES</a:t>
            </a:r>
            <a:endParaRPr lang="en-US" sz="1200" dirty="0"/>
          </a:p>
        </p:txBody>
      </p:sp>
      <p:pic>
        <p:nvPicPr>
          <p:cNvPr id="8" name="Image 0" descr="Warning">    </p:cNvPr>
          <p:cNvPicPr>
            <a:picLocks noChangeAspect="1"/>
          </p:cNvPicPr>
          <p:nvPr/>
        </p:nvPicPr>
        <p:blipFill>
          <a:blip r:embed="rId1"/>
          <a:srcRect l="0" r="0" t="0" b="0"/>
          <a:stretch/>
        </p:blipFill>
        <p:spPr>
          <a:xfrm>
            <a:off x="812800" y="3025130"/>
            <a:ext cx="215900" cy="215900"/>
          </a:xfrm>
          <a:prstGeom prst="rect">
            <a:avLst/>
          </a:prstGeom>
        </p:spPr>
      </p:pic>
      <p:sp>
        <p:nvSpPr>
          <p:cNvPr id="9" name="Text 6"/>
          <p:cNvSpPr/>
          <p:nvPr/>
        </p:nvSpPr>
        <p:spPr>
          <a:xfrm>
            <a:off x="1130300" y="3025130"/>
            <a:ext cx="442399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0B0748"/>
                </a:solidFill>
                <a:latin typeface="IBM Plex Sans" pitchFamily="34" charset="0"/>
                <a:ea typeface="IBM Plex Sans" pitchFamily="34" charset="-122"/>
                <a:cs typeface="IBM Plex Sans" pitchFamily="34" charset="-120"/>
              </a:rPr>
              <a:t>Par défaut, stockés </a:t>
            </a:r>
            <a:r>
              <a:rPr lang="en-US" sz="1250" b="1" dirty="0">
                <a:solidFill>
                  <a:srgbClr val="0B0748"/>
                </a:solidFill>
                <a:latin typeface="IBM Plex Sans" pitchFamily="34" charset="0"/>
                <a:ea typeface="IBM Plex Sans" pitchFamily="34" charset="-122"/>
                <a:cs typeface="IBM Plex Sans" pitchFamily="34" charset="-120"/>
              </a:rPr>
              <a:t>en clair dans etcd</a:t>
            </a:r>
            <a:r>
              <a:rPr lang="en-US" sz="1250" dirty="0">
                <a:solidFill>
                  <a:srgbClr val="0B0748"/>
                </a:solidFill>
                <a:latin typeface="IBM Plex Sans" pitchFamily="34" charset="0"/>
                <a:ea typeface="IBM Plex Sans" pitchFamily="34" charset="-122"/>
                <a:cs typeface="IBM Plex Sans" pitchFamily="34" charset="-120"/>
              </a:rPr>
              <a:t> : une sauvegarde volée les révèle tous.</a:t>
            </a:r>
            <a:endParaRPr lang="en-US" sz="1250" dirty="0"/>
          </a:p>
        </p:txBody>
      </p:sp>
      <p:pic>
        <p:nvPicPr>
          <p:cNvPr id="10" name="Image 1" descr="Warning">    </p:cNvPr>
          <p:cNvPicPr>
            <a:picLocks noChangeAspect="1"/>
          </p:cNvPicPr>
          <p:nvPr/>
        </p:nvPicPr>
        <p:blipFill>
          <a:blip r:embed="rId2"/>
          <a:srcRect l="0" r="0" t="0" b="0"/>
          <a:stretch/>
        </p:blipFill>
        <p:spPr>
          <a:xfrm>
            <a:off x="812800" y="3558530"/>
            <a:ext cx="215900" cy="215900"/>
          </a:xfrm>
          <a:prstGeom prst="rect">
            <a:avLst/>
          </a:prstGeom>
        </p:spPr>
      </p:pic>
      <p:sp>
        <p:nvSpPr>
          <p:cNvPr id="11" name="Text 7"/>
          <p:cNvSpPr/>
          <p:nvPr/>
        </p:nvSpPr>
        <p:spPr>
          <a:xfrm>
            <a:off x="1130300" y="3558530"/>
            <a:ext cx="442399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0B0748"/>
                </a:solidFill>
                <a:latin typeface="IBM Plex Sans" pitchFamily="34" charset="0"/>
                <a:ea typeface="IBM Plex Sans" pitchFamily="34" charset="-122"/>
                <a:cs typeface="IBM Plex Sans" pitchFamily="34" charset="-120"/>
              </a:rPr>
              <a:t>Qui peut créer un pod dans un namespace peut y monter n'importe quel Secret, donc le lire.</a:t>
            </a:r>
            <a:endParaRPr lang="en-US" sz="1250" dirty="0"/>
          </a:p>
        </p:txBody>
      </p:sp>
      <p:pic>
        <p:nvPicPr>
          <p:cNvPr id="12" name="Image 2" descr="Warning">    </p:cNvPr>
          <p:cNvPicPr>
            <a:picLocks noChangeAspect="1"/>
          </p:cNvPicPr>
          <p:nvPr/>
        </p:nvPicPr>
        <p:blipFill>
          <a:blip r:embed="rId3"/>
          <a:srcRect l="0" r="0" t="0" b="0"/>
          <a:stretch/>
        </p:blipFill>
        <p:spPr>
          <a:xfrm>
            <a:off x="812800" y="4091930"/>
            <a:ext cx="215900" cy="215900"/>
          </a:xfrm>
          <a:prstGeom prst="rect">
            <a:avLst/>
          </a:prstGeom>
        </p:spPr>
      </p:pic>
      <p:sp>
        <p:nvSpPr>
          <p:cNvPr id="13" name="Text 8"/>
          <p:cNvSpPr/>
          <p:nvPr/>
        </p:nvSpPr>
        <p:spPr>
          <a:xfrm>
            <a:off x="1130300" y="4091930"/>
            <a:ext cx="442399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0B0748"/>
                </a:solidFill>
                <a:latin typeface="IBM Plex Sans" pitchFamily="34" charset="0"/>
                <a:ea typeface="IBM Plex Sans" pitchFamily="34" charset="-122"/>
                <a:cs typeface="IBM Plex Sans" pitchFamily="34" charset="-120"/>
              </a:rPr>
              <a:t>En variable d'environnement, il peut fuiter dans les logs ou les rapports d'erreur.</a:t>
            </a:r>
            <a:endParaRPr lang="en-US" sz="1250" dirty="0"/>
          </a:p>
        </p:txBody>
      </p:sp>
      <p:sp>
        <p:nvSpPr>
          <p:cNvPr id="14" name="Shape 9"/>
          <p:cNvSpPr/>
          <p:nvPr/>
        </p:nvSpPr>
        <p:spPr>
          <a:xfrm>
            <a:off x="5682615" y="2726035"/>
            <a:ext cx="5693410" cy="3112770"/>
          </a:xfrm>
          <a:prstGeom prst="roundRect">
            <a:avLst>
              <a:gd name="adj" fmla="val 3978"/>
            </a:avLst>
          </a:prstGeom>
          <a:solidFill>
            <a:srgbClr val="FDFDFF"/>
          </a:solidFill>
          <a:ln w="6350">
            <a:solidFill>
              <a:srgbClr val="E1DFEE"/>
            </a:solidFill>
            <a:prstDash val="solid"/>
          </a:ln>
        </p:spPr>
      </p:sp>
      <p:sp>
        <p:nvSpPr>
          <p:cNvPr id="15" name="Text 10"/>
          <p:cNvSpPr/>
          <p:nvPr/>
        </p:nvSpPr>
        <p:spPr>
          <a:xfrm>
            <a:off x="5877031" y="2895054"/>
            <a:ext cx="546371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LES PROTECTIONS, PAR PRIORITÉ</a:t>
            </a:r>
            <a:endParaRPr lang="en-US" sz="1200" dirty="0"/>
          </a:p>
        </p:txBody>
      </p:sp>
      <p:sp>
        <p:nvSpPr>
          <p:cNvPr id="16" name="Text 11"/>
          <p:cNvSpPr/>
          <p:nvPr/>
        </p:nvSpPr>
        <p:spPr>
          <a:xfrm>
            <a:off x="5877031" y="3171924"/>
            <a:ext cx="215900"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E25A2C"/>
                </a:solidFill>
                <a:latin typeface="Sora" pitchFamily="34" charset="0"/>
                <a:ea typeface="Sora" pitchFamily="34" charset="-122"/>
                <a:cs typeface="Sora" pitchFamily="34" charset="-120"/>
              </a:rPr>
              <a:t>1</a:t>
            </a:r>
            <a:endParaRPr lang="en-US" sz="1250" dirty="0"/>
          </a:p>
        </p:txBody>
      </p:sp>
      <p:sp>
        <p:nvSpPr>
          <p:cNvPr id="17" name="Text 12"/>
          <p:cNvSpPr/>
          <p:nvPr/>
        </p:nvSpPr>
        <p:spPr>
          <a:xfrm>
            <a:off x="6131031" y="3171924"/>
            <a:ext cx="5202096" cy="24765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3F3C6B"/>
                </a:solidFill>
                <a:latin typeface="IBM Plex Sans" pitchFamily="34" charset="0"/>
                <a:ea typeface="IBM Plex Sans" pitchFamily="34" charset="-122"/>
                <a:cs typeface="IBM Plex Sans" pitchFamily="34" charset="-120"/>
              </a:rPr>
              <a:t>RBAC</a:t>
            </a:r>
            <a:r>
              <a:rPr lang="en-US" sz="1200" dirty="0">
                <a:solidFill>
                  <a:srgbClr val="3F3C6B"/>
                </a:solidFill>
                <a:latin typeface="IBM Plex Sans" pitchFamily="34" charset="0"/>
                <a:ea typeface="IBM Plex Sans" pitchFamily="34" charset="-122"/>
                <a:cs typeface="IBM Plex Sans" pitchFamily="34" charset="-120"/>
              </a:rPr>
              <a:t> : get, list, watch réservés à qui en a besoin ; list suffit à tout lire.</a:t>
            </a:r>
            <a:endParaRPr lang="en-US" sz="1200" dirty="0"/>
          </a:p>
        </p:txBody>
      </p:sp>
      <p:sp>
        <p:nvSpPr>
          <p:cNvPr id="18" name="Text 13"/>
          <p:cNvSpPr/>
          <p:nvPr/>
        </p:nvSpPr>
        <p:spPr>
          <a:xfrm>
            <a:off x="5877031" y="3457674"/>
            <a:ext cx="215900"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E25A2C"/>
                </a:solidFill>
                <a:latin typeface="Sora" pitchFamily="34" charset="0"/>
                <a:ea typeface="Sora" pitchFamily="34" charset="-122"/>
                <a:cs typeface="Sora" pitchFamily="34" charset="-120"/>
              </a:rPr>
              <a:t>2</a:t>
            </a:r>
            <a:endParaRPr lang="en-US" sz="1250" dirty="0"/>
          </a:p>
        </p:txBody>
      </p:sp>
      <p:sp>
        <p:nvSpPr>
          <p:cNvPr id="19" name="Text 14"/>
          <p:cNvSpPr/>
          <p:nvPr/>
        </p:nvSpPr>
        <p:spPr>
          <a:xfrm>
            <a:off x="6131031" y="3457674"/>
            <a:ext cx="5202096" cy="24765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3F3C6B"/>
                </a:solidFill>
                <a:latin typeface="IBM Plex Sans" pitchFamily="34" charset="0"/>
                <a:ea typeface="IBM Plex Sans" pitchFamily="34" charset="-122"/>
                <a:cs typeface="IBM Plex Sans" pitchFamily="34" charset="-120"/>
              </a:rPr>
              <a:t>Chiffrement au repos</a:t>
            </a:r>
            <a:r>
              <a:rPr lang="en-US" sz="1200" dirty="0">
                <a:solidFill>
                  <a:srgbClr val="3F3C6B"/>
                </a:solidFill>
                <a:latin typeface="IBM Plex Sans" pitchFamily="34" charset="0"/>
                <a:ea typeface="IBM Plex Sans" pitchFamily="34" charset="-122"/>
                <a:cs typeface="IBM Plex Sans" pitchFamily="34" charset="-120"/>
              </a:rPr>
              <a:t> dans etcd, clé locale ou mieux KMS.</a:t>
            </a:r>
            <a:endParaRPr lang="en-US" sz="1200" dirty="0"/>
          </a:p>
        </p:txBody>
      </p:sp>
      <p:sp>
        <p:nvSpPr>
          <p:cNvPr id="20" name="Text 15"/>
          <p:cNvSpPr/>
          <p:nvPr/>
        </p:nvSpPr>
        <p:spPr>
          <a:xfrm>
            <a:off x="5877031" y="3743424"/>
            <a:ext cx="215900" cy="43688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E25A2C"/>
                </a:solidFill>
                <a:latin typeface="Sora" pitchFamily="34" charset="0"/>
                <a:ea typeface="Sora" pitchFamily="34" charset="-122"/>
                <a:cs typeface="Sora" pitchFamily="34" charset="-120"/>
              </a:rPr>
              <a:t>3</a:t>
            </a:r>
            <a:endParaRPr lang="en-US" sz="1250" dirty="0"/>
          </a:p>
        </p:txBody>
      </p:sp>
      <p:sp>
        <p:nvSpPr>
          <p:cNvPr id="21" name="Text 16"/>
          <p:cNvSpPr/>
          <p:nvPr/>
        </p:nvSpPr>
        <p:spPr>
          <a:xfrm>
            <a:off x="6131031" y="3743424"/>
            <a:ext cx="5202096"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3F3C6B"/>
                </a:solidFill>
                <a:latin typeface="IBM Plex Sans" pitchFamily="34" charset="0"/>
                <a:ea typeface="IBM Plex Sans" pitchFamily="34" charset="-122"/>
                <a:cs typeface="IBM Plex Sans" pitchFamily="34" charset="-120"/>
              </a:rPr>
              <a:t>Coffre-fort externe</a:t>
            </a:r>
            <a:r>
              <a:rPr lang="en-US" sz="1200" dirty="0">
                <a:solidFill>
                  <a:srgbClr val="3F3C6B"/>
                </a:solidFill>
                <a:latin typeface="IBM Plex Sans" pitchFamily="34" charset="0"/>
                <a:ea typeface="IBM Plex Sans" pitchFamily="34" charset="-122"/>
                <a:cs typeface="IBM Plex Sans" pitchFamily="34" charset="-120"/>
              </a:rPr>
              <a:t> (Vault…) synchronisé : External Secrets Operator, Secrets Store CSI.</a:t>
            </a:r>
            <a:endParaRPr lang="en-US" sz="1200" dirty="0"/>
          </a:p>
        </p:txBody>
      </p:sp>
      <p:sp>
        <p:nvSpPr>
          <p:cNvPr id="22" name="Text 17"/>
          <p:cNvSpPr/>
          <p:nvPr/>
        </p:nvSpPr>
        <p:spPr>
          <a:xfrm>
            <a:off x="5877031" y="4218434"/>
            <a:ext cx="215900"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E25A2C"/>
                </a:solidFill>
                <a:latin typeface="Sora" pitchFamily="34" charset="0"/>
                <a:ea typeface="Sora" pitchFamily="34" charset="-122"/>
                <a:cs typeface="Sora" pitchFamily="34" charset="-120"/>
              </a:rPr>
              <a:t>4</a:t>
            </a:r>
            <a:endParaRPr lang="en-US" sz="1250" dirty="0"/>
          </a:p>
        </p:txBody>
      </p:sp>
      <p:sp>
        <p:nvSpPr>
          <p:cNvPr id="23" name="Text 18"/>
          <p:cNvSpPr/>
          <p:nvPr/>
        </p:nvSpPr>
        <p:spPr>
          <a:xfrm>
            <a:off x="6131031" y="4218434"/>
            <a:ext cx="5202096" cy="24765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3F3C6B"/>
                </a:solidFill>
                <a:latin typeface="IBM Plex Sans" pitchFamily="34" charset="0"/>
                <a:ea typeface="IBM Plex Sans" pitchFamily="34" charset="-122"/>
                <a:cs typeface="IBM Plex Sans" pitchFamily="34" charset="-120"/>
              </a:rPr>
              <a:t>Rien en clair dans Git</a:t>
            </a:r>
            <a:r>
              <a:rPr lang="en-US" sz="1200" dirty="0">
                <a:solidFill>
                  <a:srgbClr val="3F3C6B"/>
                </a:solidFill>
                <a:latin typeface="IBM Plex Sans" pitchFamily="34" charset="0"/>
                <a:ea typeface="IBM Plex Sans" pitchFamily="34" charset="-122"/>
                <a:cs typeface="IBM Plex Sans" pitchFamily="34" charset="-120"/>
              </a:rPr>
              <a:t> : Sealed Secrets ou SOPS.</a:t>
            </a:r>
            <a:endParaRPr lang="en-US" sz="1200" dirty="0"/>
          </a:p>
        </p:txBody>
      </p:sp>
      <p:sp>
        <p:nvSpPr>
          <p:cNvPr id="24" name="Text 19"/>
          <p:cNvSpPr/>
          <p:nvPr/>
        </p:nvSpPr>
        <p:spPr>
          <a:xfrm>
            <a:off x="5877031" y="4504184"/>
            <a:ext cx="215900"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E25A2C"/>
                </a:solidFill>
                <a:latin typeface="Sora" pitchFamily="34" charset="0"/>
                <a:ea typeface="Sora" pitchFamily="34" charset="-122"/>
                <a:cs typeface="Sora" pitchFamily="34" charset="-120"/>
              </a:rPr>
              <a:t>5</a:t>
            </a:r>
            <a:endParaRPr lang="en-US" sz="1250" dirty="0"/>
          </a:p>
        </p:txBody>
      </p:sp>
      <p:sp>
        <p:nvSpPr>
          <p:cNvPr id="25" name="Text 20"/>
          <p:cNvSpPr/>
          <p:nvPr/>
        </p:nvSpPr>
        <p:spPr>
          <a:xfrm>
            <a:off x="6131031" y="4504184"/>
            <a:ext cx="5202096" cy="24765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3F3C6B"/>
                </a:solidFill>
                <a:latin typeface="IBM Plex Sans" pitchFamily="34" charset="0"/>
                <a:ea typeface="IBM Plex Sans" pitchFamily="34" charset="-122"/>
                <a:cs typeface="IBM Plex Sans" pitchFamily="34" charset="-120"/>
              </a:rPr>
              <a:t>Des fichiers plutôt que des variables</a:t>
            </a:r>
            <a:r>
              <a:rPr lang="en-US" sz="1200" dirty="0">
                <a:solidFill>
                  <a:srgbClr val="3F3C6B"/>
                </a:solidFill>
                <a:latin typeface="IBM Plex Sans" pitchFamily="34" charset="0"/>
                <a:ea typeface="IBM Plex Sans" pitchFamily="34" charset="-122"/>
                <a:cs typeface="IBM Plex Sans" pitchFamily="34" charset="-120"/>
              </a:rPr>
              <a:t> pour les plus sensibles.</a:t>
            </a:r>
            <a:endParaRPr lang="en-US" sz="1200" dirty="0"/>
          </a:p>
        </p:txBody>
      </p:sp>
      <p:pic>
        <p:nvPicPr>
          <p:cNvPr id="26" name="Image 3" descr="preencoded.png">    </p:cNvPr>
          <p:cNvPicPr>
            <a:picLocks noChangeAspect="1"/>
          </p:cNvPicPr>
          <p:nvPr/>
        </p:nvPicPr>
        <p:blipFill>
          <a:blip r:embed="rId4"/>
          <a:srcRect l="0" r="0" t="0" b="0"/>
          <a:stretch/>
        </p:blipFill>
        <p:spPr>
          <a:xfrm>
            <a:off x="812800" y="6299200"/>
            <a:ext cx="152400" cy="152400"/>
          </a:xfrm>
          <a:prstGeom prst="rect">
            <a:avLst/>
          </a:prstGeom>
        </p:spPr>
      </p:pic>
      <p:sp>
        <p:nvSpPr>
          <p:cNvPr id="27" name="Text 21"/>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8" name="Image 4" descr="Parcours : module 8 sur 16">    </p:cNvPr>
          <p:cNvPicPr>
            <a:picLocks noChangeAspect="1"/>
          </p:cNvPicPr>
          <p:nvPr/>
        </p:nvPicPr>
        <p:blipFill>
          <a:blip r:embed="rId5"/>
          <a:srcRect l="0" r="0" t="0" b="0"/>
          <a:stretch/>
        </p:blipFill>
        <p:spPr>
          <a:xfrm>
            <a:off x="9207500" y="6299200"/>
            <a:ext cx="2171700" cy="15240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08 · CONFIGMAPS ET SECRETS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L'API Downward et le fil rouge</a:t>
            </a:r>
            <a:endParaRPr lang="en-US" sz="2800" dirty="0"/>
          </a:p>
        </p:txBody>
      </p:sp>
      <p:sp>
        <p:nvSpPr>
          <p:cNvPr id="4" name="Text 2"/>
          <p:cNvSpPr/>
          <p:nvPr/>
        </p:nvSpPr>
        <p:spPr>
          <a:xfrm>
            <a:off x="812800" y="1569740"/>
            <a:ext cx="4445000" cy="4272280"/>
          </a:xfrm>
          <a:prstGeom prst="roundRect">
            <a:avLst>
              <a:gd name="adj" fmla="val 2378"/>
            </a:avLst>
          </a:prstGeom>
          <a:solidFill>
            <a:srgbClr val="0B0748"/>
          </a:solidFill>
          <a:ln/>
        </p:spPr>
        <p:txBody>
          <a:bodyPr wrap="none" lIns="160742" tIns="97242" rIns="38822" bIns="97242" rtlCol="0" anchor="ctr">
            <a:normAutofit/>
          </a:bodyPr>
          <a:lstStyle/>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env:</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name: NOM_POD</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valueFrom:</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fieldRef:</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fieldPath: </a:t>
            </a:r>
            <a:r>
              <a:rPr lang="en-US" sz="1200" dirty="0">
                <a:solidFill>
                  <a:srgbClr val="FFB08F"/>
                </a:solidFill>
                <a:latin typeface="JetBrains Mono" pitchFamily="49" charset="0"/>
                <a:ea typeface="JetBrains Mono" pitchFamily="49" charset="-122"/>
                <a:cs typeface="JetBrains Mono" pitchFamily="49" charset="-120"/>
              </a:rPr>
              <a:t>metadata.name</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name: NAMESPACE</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valueFrom:</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fieldRef:</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fieldPath: </a:t>
            </a:r>
            <a:r>
              <a:rPr lang="en-US" sz="1200" dirty="0">
                <a:solidFill>
                  <a:srgbClr val="FFB08F"/>
                </a:solidFill>
                <a:latin typeface="JetBrains Mono" pitchFamily="49" charset="0"/>
                <a:ea typeface="JetBrains Mono" pitchFamily="49" charset="-122"/>
                <a:cs typeface="JetBrains Mono" pitchFamily="49" charset="-120"/>
              </a:rPr>
              <a:t>metadata.namespace</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name: NOEUD</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valueFrom:</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fieldRef:</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fieldPath: </a:t>
            </a:r>
            <a:r>
              <a:rPr lang="en-US" sz="1200" dirty="0">
                <a:solidFill>
                  <a:srgbClr val="FFB08F"/>
                </a:solidFill>
                <a:latin typeface="JetBrains Mono" pitchFamily="49" charset="0"/>
                <a:ea typeface="JetBrains Mono" pitchFamily="49" charset="-122"/>
                <a:cs typeface="JetBrains Mono" pitchFamily="49" charset="-120"/>
              </a:rPr>
              <a:t>spec.nodeName</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name: LIMITE_MEMOIRE</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valueFrom:</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resourceFieldRef:</a:t>
            </a:r>
            <a:endParaRPr lang="en-US" sz="1200" dirty="0"/>
          </a:p>
          <a:p>
            <a:pPr algn="l" indent="0" marL="0">
              <a:lnSpc>
                <a:spcPts val="1620"/>
              </a:lnSpc>
              <a:buNone/>
            </a:pPr>
            <a:r>
              <a:rPr lang="en-US" sz="1200" dirty="0">
                <a:solidFill>
                  <a:srgbClr val="ECEAFF"/>
                </a:solidFill>
                <a:latin typeface="JetBrains Mono" pitchFamily="49" charset="0"/>
                <a:ea typeface="JetBrains Mono" pitchFamily="49" charset="-122"/>
                <a:cs typeface="JetBrains Mono" pitchFamily="49" charset="-120"/>
              </a:rPr>
              <a:t>      resource: </a:t>
            </a:r>
            <a:r>
              <a:rPr lang="en-US" sz="1200" dirty="0">
                <a:solidFill>
                  <a:srgbClr val="FFB08F"/>
                </a:solidFill>
                <a:latin typeface="JetBrains Mono" pitchFamily="49" charset="0"/>
                <a:ea typeface="JetBrains Mono" pitchFamily="49" charset="-122"/>
                <a:cs typeface="JetBrains Mono" pitchFamily="49" charset="-120"/>
              </a:rPr>
              <a:t>limits.memory</a:t>
            </a:r>
            <a:endParaRPr lang="en-US" sz="1200" dirty="0"/>
          </a:p>
        </p:txBody>
      </p:sp>
      <p:sp>
        <p:nvSpPr>
          <p:cNvPr id="5" name="Text 3"/>
          <p:cNvSpPr/>
          <p:nvPr/>
        </p:nvSpPr>
        <p:spPr>
          <a:xfrm>
            <a:off x="5562600" y="1569740"/>
            <a:ext cx="599109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Le conteneur connaît ses propres métadonnées, sans interroger l'API server.</a:t>
            </a:r>
            <a:endParaRPr lang="en-US" sz="1500" dirty="0"/>
          </a:p>
        </p:txBody>
      </p:sp>
      <p:sp>
        <p:nvSpPr>
          <p:cNvPr id="6" name="Text 4"/>
          <p:cNvSpPr/>
          <p:nvPr/>
        </p:nvSpPr>
        <p:spPr>
          <a:xfrm>
            <a:off x="5562600" y="2255540"/>
            <a:ext cx="5991098"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F3C6B"/>
                </a:solidFill>
                <a:latin typeface="IBM Plex Sans" pitchFamily="34" charset="0"/>
                <a:ea typeface="IBM Plex Sans" pitchFamily="34" charset="-122"/>
                <a:cs typeface="IBM Plex Sans" pitchFamily="34" charset="-120"/>
              </a:rPr>
              <a:t>Une variable peut aussi alimenter les arguments du conteneur : args: ["--message=$(MESSAGE)"].</a:t>
            </a:r>
            <a:endParaRPr lang="en-US" sz="1300" dirty="0"/>
          </a:p>
        </p:txBody>
      </p:sp>
      <p:sp>
        <p:nvSpPr>
          <p:cNvPr id="7" name="Shape 5"/>
          <p:cNvSpPr/>
          <p:nvPr/>
        </p:nvSpPr>
        <p:spPr>
          <a:xfrm>
            <a:off x="5565775" y="3912642"/>
            <a:ext cx="5810250" cy="1926167"/>
          </a:xfrm>
          <a:prstGeom prst="roundRect">
            <a:avLst>
              <a:gd name="adj" fmla="val 6429"/>
            </a:avLst>
          </a:prstGeom>
          <a:solidFill>
            <a:srgbClr val="FDFDFF"/>
          </a:solidFill>
          <a:ln w="6350">
            <a:solidFill>
              <a:srgbClr val="E1DFEE"/>
            </a:solidFill>
            <a:prstDash val="solid"/>
          </a:ln>
        </p:spPr>
      </p:sp>
      <p:sp>
        <p:nvSpPr>
          <p:cNvPr id="8" name="Text 6"/>
          <p:cNvSpPr/>
          <p:nvPr/>
        </p:nvSpPr>
        <p:spPr>
          <a:xfrm>
            <a:off x="5772891" y="4094361"/>
            <a:ext cx="555789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DANS L'APPLICATION FIL ROUGE</a:t>
            </a:r>
            <a:endParaRPr lang="en-US" sz="1200" dirty="0"/>
          </a:p>
        </p:txBody>
      </p:sp>
      <p:sp>
        <p:nvSpPr>
          <p:cNvPr id="9" name="Text 7"/>
          <p:cNvSpPr/>
          <p:nvPr/>
        </p:nvSpPr>
        <p:spPr>
          <a:xfrm>
            <a:off x="5772891" y="4383931"/>
            <a:ext cx="5557899"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0B0748"/>
                </a:solidFill>
                <a:latin typeface="IBM Plex Sans" pitchFamily="34" charset="0"/>
                <a:ea typeface="IBM Plex Sans" pitchFamily="34" charset="-122"/>
                <a:cs typeface="IBM Plex Sans" pitchFamily="34" charset="-120"/>
              </a:rPr>
              <a:t>podinfo lit son message d'accueil et sa couleur dans la ConfigMap podinfo-config, et un jeton fictif dans le Secret podinfo-secret, via envFrom.</a:t>
            </a:r>
            <a:endParaRPr lang="en-US" sz="1300" dirty="0"/>
          </a:p>
        </p:txBody>
      </p:sp>
      <p:sp>
        <p:nvSpPr>
          <p:cNvPr id="10" name="Text 8"/>
          <p:cNvSpPr/>
          <p:nvPr/>
        </p:nvSpPr>
        <p:spPr>
          <a:xfrm>
            <a:off x="5772891" y="5178326"/>
            <a:ext cx="5557899"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F3C6B"/>
                </a:solidFill>
                <a:latin typeface="IBM Plex Sans" pitchFamily="34" charset="0"/>
                <a:ea typeface="IBM Plex Sans" pitchFamily="34" charset="-122"/>
                <a:cs typeface="IBM Plex Sans" pitchFamily="34" charset="-120"/>
              </a:rPr>
              <a:t>Vous constaterez qu'une modification de la ConfigMap reste invisible jusqu'au kubectl rollout restart.</a:t>
            </a:r>
            <a:endParaRPr lang="en-US" sz="1300" dirty="0"/>
          </a:p>
        </p:txBody>
      </p:sp>
      <p:pic>
        <p:nvPicPr>
          <p:cNvPr id="11"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2" name="Text 9"/>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3" name="Image 1" descr="Parcours : module 8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BF0E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TRAVAUX PRATIQUES · À FAIRE MAINTENANT</a:t>
            </a:r>
            <a:endParaRPr lang="en-US" sz="1200" dirty="0"/>
          </a:p>
        </p:txBody>
      </p:sp>
      <p:sp>
        <p:nvSpPr>
          <p:cNvPr id="3" name="Text 1"/>
          <p:cNvSpPr/>
          <p:nvPr/>
        </p:nvSpPr>
        <p:spPr>
          <a:xfrm>
            <a:off x="812800" y="1127770"/>
            <a:ext cx="3008630" cy="1054100"/>
          </a:xfrm>
          <a:prstGeom prst="rect">
            <a:avLst/>
          </a:prstGeom>
          <a:noFill/>
          <a:ln/>
        </p:spPr>
        <p:txBody>
          <a:bodyPr wrap="square" lIns="0" tIns="0" rIns="0" bIns="0" rtlCol="0" anchor="t">
            <a:normAutofit/>
          </a:bodyPr>
          <a:lstStyle/>
          <a:p>
            <a:pPr algn="l" indent="0" marL="0">
              <a:lnSpc>
                <a:spcPts val="8100"/>
              </a:lnSpc>
              <a:buNone/>
            </a:pPr>
            <a:r>
              <a:rPr lang="en-US" sz="9000" b="1" spc="-300" kern="0" dirty="0">
                <a:solidFill>
                  <a:srgbClr val="E25A2C"/>
                </a:solidFill>
                <a:latin typeface="Sora" pitchFamily="34" charset="0"/>
                <a:ea typeface="Sora" pitchFamily="34" charset="-122"/>
                <a:cs typeface="Sora" pitchFamily="34" charset="-120"/>
              </a:rPr>
              <a:t>TP5</a:t>
            </a:r>
            <a:endParaRPr lang="en-US" sz="9000" dirty="0"/>
          </a:p>
        </p:txBody>
      </p:sp>
      <p:pic>
        <p:nvPicPr>
          <p:cNvPr id="4" name="Image 0" descr="Clock">    </p:cNvPr>
          <p:cNvPicPr>
            <a:picLocks noChangeAspect="1"/>
          </p:cNvPicPr>
          <p:nvPr/>
        </p:nvPicPr>
        <p:blipFill>
          <a:blip r:embed="rId1"/>
          <a:srcRect l="0" r="0" t="0" b="0"/>
          <a:stretch/>
        </p:blipFill>
        <p:spPr>
          <a:xfrm>
            <a:off x="812800" y="2467620"/>
            <a:ext cx="254000" cy="254000"/>
          </a:xfrm>
          <a:prstGeom prst="rect">
            <a:avLst/>
          </a:prstGeom>
        </p:spPr>
      </p:pic>
      <p:sp>
        <p:nvSpPr>
          <p:cNvPr id="5" name="Text 2"/>
          <p:cNvSpPr/>
          <p:nvPr/>
        </p:nvSpPr>
        <p:spPr>
          <a:xfrm>
            <a:off x="1181100" y="2461270"/>
            <a:ext cx="1477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Jour 2 · 10:30</a:t>
            </a:r>
            <a:endParaRPr lang="en-US" sz="1500" dirty="0"/>
          </a:p>
        </p:txBody>
      </p:sp>
      <p:pic>
        <p:nvPicPr>
          <p:cNvPr id="6" name="Image 1" descr="Activity">    </p:cNvPr>
          <p:cNvPicPr>
            <a:picLocks noChangeAspect="1"/>
          </p:cNvPicPr>
          <p:nvPr/>
        </p:nvPicPr>
        <p:blipFill>
          <a:blip r:embed="rId2"/>
          <a:srcRect l="0" r="0" t="0" b="0"/>
          <a:stretch/>
        </p:blipFill>
        <p:spPr>
          <a:xfrm>
            <a:off x="812800" y="2835920"/>
            <a:ext cx="254000" cy="254000"/>
          </a:xfrm>
          <a:prstGeom prst="rect">
            <a:avLst/>
          </a:prstGeom>
        </p:spPr>
      </p:pic>
      <p:sp>
        <p:nvSpPr>
          <p:cNvPr id="7" name="Text 3"/>
          <p:cNvSpPr/>
          <p:nvPr/>
        </p:nvSpPr>
        <p:spPr>
          <a:xfrm>
            <a:off x="1181100" y="2829570"/>
            <a:ext cx="11889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70 minutes</a:t>
            </a:r>
            <a:endParaRPr lang="en-US" sz="1500" dirty="0"/>
          </a:p>
        </p:txBody>
      </p:sp>
      <p:pic>
        <p:nvPicPr>
          <p:cNvPr id="8" name="Image 2" descr="Book">    </p:cNvPr>
          <p:cNvPicPr>
            <a:picLocks noChangeAspect="1"/>
          </p:cNvPicPr>
          <p:nvPr/>
        </p:nvPicPr>
        <p:blipFill>
          <a:blip r:embed="rId3"/>
          <a:srcRect l="0" r="0" t="0" b="0"/>
          <a:stretch/>
        </p:blipFill>
        <p:spPr>
          <a:xfrm>
            <a:off x="812800" y="3197870"/>
            <a:ext cx="254000" cy="254000"/>
          </a:xfrm>
          <a:prstGeom prst="rect">
            <a:avLst/>
          </a:prstGeom>
        </p:spPr>
      </p:pic>
      <p:sp>
        <p:nvSpPr>
          <p:cNvPr id="9" name="Text 4"/>
          <p:cNvSpPr/>
          <p:nvPr/>
        </p:nvSpPr>
        <p:spPr>
          <a:xfrm>
            <a:off x="1181100" y="3200400"/>
            <a:ext cx="284937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Sections 7.3 à 7.8 et 8.2 à 8.6</a:t>
            </a:r>
            <a:endParaRPr lang="en-US" sz="1400" dirty="0"/>
          </a:p>
        </p:txBody>
      </p:sp>
      <p:sp>
        <p:nvSpPr>
          <p:cNvPr id="10" name="Text 5"/>
          <p:cNvSpPr/>
          <p:nvPr>
            <p:ph type="title"/>
          </p:nvPr>
        </p:nvSpPr>
        <p:spPr>
          <a:xfrm>
            <a:off x="4191000" y="1127770"/>
            <a:ext cx="7403846"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Application fil rouge</a:t>
            </a:r>
            <a:endParaRPr lang="en-US" sz="2800" dirty="0"/>
          </a:p>
        </p:txBody>
      </p:sp>
      <p:sp>
        <p:nvSpPr>
          <p:cNvPr id="11" name="Text 6"/>
          <p:cNvSpPr/>
          <p:nvPr/>
        </p:nvSpPr>
        <p:spPr>
          <a:xfrm>
            <a:off x="4191000" y="1722140"/>
            <a:ext cx="7403846"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F3C6B"/>
                </a:solidFill>
                <a:latin typeface="IBM Plex Sans" pitchFamily="34" charset="0"/>
                <a:ea typeface="IBM Plex Sans" pitchFamily="34" charset="-122"/>
                <a:cs typeface="IBM Plex Sans" pitchFamily="34" charset="-120"/>
              </a:rPr>
              <a:t>Déployer l'application fil rouge dans le namespace fil-rouge : Redis et podinfo, leurs Services, une ConfigMap et un Secret.</a:t>
            </a:r>
            <a:endParaRPr lang="en-US" sz="1600" dirty="0"/>
          </a:p>
        </p:txBody>
      </p:sp>
      <p:sp>
        <p:nvSpPr>
          <p:cNvPr id="12" name="Shape 7"/>
          <p:cNvSpPr/>
          <p:nvPr/>
        </p:nvSpPr>
        <p:spPr>
          <a:xfrm>
            <a:off x="4194175" y="4627017"/>
            <a:ext cx="7181850" cy="1211792"/>
          </a:xfrm>
          <a:prstGeom prst="roundRect">
            <a:avLst>
              <a:gd name="adj" fmla="val 10218"/>
            </a:avLst>
          </a:prstGeom>
          <a:solidFill>
            <a:srgbClr val="FDFDFF"/>
          </a:solidFill>
          <a:ln w="6350">
            <a:solidFill>
              <a:srgbClr val="EBDDD2"/>
            </a:solidFill>
            <a:prstDash val="solid"/>
          </a:ln>
        </p:spPr>
      </p:sp>
      <p:pic>
        <p:nvPicPr>
          <p:cNvPr id="13" name="Image 3" descr="CheckCircle">    </p:cNvPr>
          <p:cNvPicPr>
            <a:picLocks noChangeAspect="1"/>
          </p:cNvPicPr>
          <p:nvPr/>
        </p:nvPicPr>
        <p:blipFill>
          <a:blip r:embed="rId4"/>
          <a:srcRect l="0" r="0" t="0" b="0"/>
          <a:stretch/>
        </p:blipFill>
        <p:spPr>
          <a:xfrm>
            <a:off x="4452091" y="4834136"/>
            <a:ext cx="355600" cy="355600"/>
          </a:xfrm>
          <a:prstGeom prst="rect">
            <a:avLst/>
          </a:prstGeom>
        </p:spPr>
      </p:pic>
      <p:sp>
        <p:nvSpPr>
          <p:cNvPr id="14" name="Text 8"/>
          <p:cNvSpPr/>
          <p:nvPr/>
        </p:nvSpPr>
        <p:spPr>
          <a:xfrm>
            <a:off x="4985491" y="4834136"/>
            <a:ext cx="63165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POINT DE CONTRÔLE</a:t>
            </a:r>
            <a:endParaRPr lang="en-US" sz="1200" dirty="0"/>
          </a:p>
        </p:txBody>
      </p:sp>
      <p:sp>
        <p:nvSpPr>
          <p:cNvPr id="15" name="Text 9"/>
          <p:cNvSpPr/>
          <p:nvPr/>
        </p:nvSpPr>
        <p:spPr>
          <a:xfrm>
            <a:off x="4985491" y="5098306"/>
            <a:ext cx="631659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3 pods podinfo et 1 pod Redis en Running, interface affichée sur le port 30080, écriture puis lecture dans le cache.</a:t>
            </a:r>
            <a:endParaRPr lang="en-US" sz="1500" dirty="0"/>
          </a:p>
        </p:txBody>
      </p:sp>
      <p:pic>
        <p:nvPicPr>
          <p:cNvPr id="16"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17" name="Text 1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5" descr="Parcours : module 8 sur 16">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08 · BILAN</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40"/>
            <a:ext cx="6138333"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40"/>
            <a:ext cx="228600" cy="228600"/>
          </a:xfrm>
          <a:prstGeom prst="rect">
            <a:avLst/>
          </a:prstGeom>
        </p:spPr>
      </p:pic>
      <p:sp>
        <p:nvSpPr>
          <p:cNvPr id="6" name="Text 3"/>
          <p:cNvSpPr/>
          <p:nvPr/>
        </p:nvSpPr>
        <p:spPr>
          <a:xfrm>
            <a:off x="1511300" y="1874540"/>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ConfigMap pour les paramètres, Secret pour les données sensibles : une seule image pour tous les environnements.</a:t>
            </a:r>
            <a:endParaRPr lang="en-US" sz="1500" dirty="0"/>
          </a:p>
        </p:txBody>
      </p:sp>
      <p:pic>
        <p:nvPicPr>
          <p:cNvPr id="7" name="Image 1" descr="Check">    </p:cNvPr>
          <p:cNvPicPr>
            <a:picLocks noChangeAspect="1"/>
          </p:cNvPicPr>
          <p:nvPr/>
        </p:nvPicPr>
        <p:blipFill>
          <a:blip r:embed="rId2"/>
          <a:srcRect l="0" r="0" t="0" b="0"/>
          <a:stretch/>
        </p:blipFill>
        <p:spPr>
          <a:xfrm>
            <a:off x="1143000" y="2585740"/>
            <a:ext cx="228600" cy="228600"/>
          </a:xfrm>
          <a:prstGeom prst="rect">
            <a:avLst/>
          </a:prstGeom>
        </p:spPr>
      </p:pic>
      <p:sp>
        <p:nvSpPr>
          <p:cNvPr id="8" name="Text 4"/>
          <p:cNvSpPr/>
          <p:nvPr/>
        </p:nvSpPr>
        <p:spPr>
          <a:xfrm>
            <a:off x="1511300" y="2585740"/>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Variables d'environnement : lues au démarrage seulement. Volumes : mis à jour, sauf avec subPath.</a:t>
            </a:r>
            <a:endParaRPr lang="en-US" sz="1500" dirty="0"/>
          </a:p>
        </p:txBody>
      </p:sp>
      <p:pic>
        <p:nvPicPr>
          <p:cNvPr id="9" name="Image 2" descr="Check">    </p:cNvPr>
          <p:cNvPicPr>
            <a:picLocks noChangeAspect="1"/>
          </p:cNvPicPr>
          <p:nvPr/>
        </p:nvPicPr>
        <p:blipFill>
          <a:blip r:embed="rId3"/>
          <a:srcRect l="0" r="0" t="0" b="0"/>
          <a:stretch/>
        </p:blipFill>
        <p:spPr>
          <a:xfrm>
            <a:off x="1143000" y="3296940"/>
            <a:ext cx="228600" cy="228600"/>
          </a:xfrm>
          <a:prstGeom prst="rect">
            <a:avLst/>
          </a:prstGeom>
        </p:spPr>
      </p:pic>
      <p:sp>
        <p:nvSpPr>
          <p:cNvPr id="10" name="Text 5"/>
          <p:cNvSpPr/>
          <p:nvPr/>
        </p:nvSpPr>
        <p:spPr>
          <a:xfrm>
            <a:off x="1511300" y="3296940"/>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Un Secret est encodé, pas chiffré : protégez-le par RBAC, chiffrement d'etcd et coffre-fort externe.</a:t>
            </a:r>
            <a:endParaRPr lang="en-US" sz="1500" dirty="0"/>
          </a:p>
        </p:txBody>
      </p:sp>
      <p:pic>
        <p:nvPicPr>
          <p:cNvPr id="11" name="Image 3" descr="Check">    </p:cNvPr>
          <p:cNvPicPr>
            <a:picLocks noChangeAspect="1"/>
          </p:cNvPicPr>
          <p:nvPr/>
        </p:nvPicPr>
        <p:blipFill>
          <a:blip r:embed="rId4"/>
          <a:srcRect l="0" r="0" t="0" b="0"/>
          <a:stretch/>
        </p:blipFill>
        <p:spPr>
          <a:xfrm>
            <a:off x="1143000" y="4008140"/>
            <a:ext cx="228600" cy="228600"/>
          </a:xfrm>
          <a:prstGeom prst="rect">
            <a:avLst/>
          </a:prstGeom>
        </p:spPr>
      </p:pic>
      <p:sp>
        <p:nvSpPr>
          <p:cNvPr id="12" name="Text 6"/>
          <p:cNvSpPr/>
          <p:nvPr/>
        </p:nvSpPr>
        <p:spPr>
          <a:xfrm>
            <a:off x="1511300" y="4008140"/>
            <a:ext cx="526292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Ne versionnez jamais un Secret en clair.</a:t>
            </a:r>
            <a:endParaRPr lang="en-US" sz="1500" dirty="0"/>
          </a:p>
        </p:txBody>
      </p:sp>
      <p:sp>
        <p:nvSpPr>
          <p:cNvPr id="13" name="Shape 7"/>
          <p:cNvSpPr/>
          <p:nvPr/>
        </p:nvSpPr>
        <p:spPr>
          <a:xfrm>
            <a:off x="7157508" y="1598315"/>
            <a:ext cx="4218517" cy="4240530"/>
          </a:xfrm>
          <a:prstGeom prst="roundRect">
            <a:avLst>
              <a:gd name="adj" fmla="val 3537"/>
            </a:avLst>
          </a:prstGeom>
          <a:solidFill>
            <a:srgbClr val="FDFDFF"/>
          </a:solidFill>
          <a:ln w="6350">
            <a:solidFill>
              <a:srgbClr val="E1DFEE"/>
            </a:solidFill>
            <a:prstDash val="solid"/>
          </a:ln>
        </p:spPr>
      </p:sp>
      <p:sp>
        <p:nvSpPr>
          <p:cNvPr id="14" name="Text 8"/>
          <p:cNvSpPr/>
          <p:nvPr/>
        </p:nvSpPr>
        <p:spPr>
          <a:xfrm>
            <a:off x="7440824" y="1856234"/>
            <a:ext cx="376144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5" name="Text 9"/>
          <p:cNvSpPr/>
          <p:nvPr/>
        </p:nvSpPr>
        <p:spPr>
          <a:xfrm>
            <a:off x="7440824" y="2196554"/>
            <a:ext cx="22860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1</a:t>
            </a:r>
            <a:endParaRPr lang="en-US" sz="1300" dirty="0"/>
          </a:p>
        </p:txBody>
      </p:sp>
      <p:sp>
        <p:nvSpPr>
          <p:cNvPr id="16" name="Text 10"/>
          <p:cNvSpPr/>
          <p:nvPr/>
        </p:nvSpPr>
        <p:spPr>
          <a:xfrm>
            <a:off x="7720224" y="2196554"/>
            <a:ext cx="347365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Vous modifiez une ConfigMap consommée par envFrom : que voient les pods en cours ? Que faire ?</a:t>
            </a:r>
            <a:endParaRPr lang="en-US" sz="1300" dirty="0"/>
          </a:p>
        </p:txBody>
      </p:sp>
      <p:sp>
        <p:nvSpPr>
          <p:cNvPr id="17" name="Text 11"/>
          <p:cNvSpPr/>
          <p:nvPr/>
        </p:nvSpPr>
        <p:spPr>
          <a:xfrm>
            <a:off x="7440824" y="3016994"/>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2</a:t>
            </a:r>
            <a:endParaRPr lang="en-US" sz="1300" dirty="0"/>
          </a:p>
        </p:txBody>
      </p:sp>
      <p:sp>
        <p:nvSpPr>
          <p:cNvPr id="18" name="Text 12"/>
          <p:cNvSpPr/>
          <p:nvPr/>
        </p:nvSpPr>
        <p:spPr>
          <a:xfrm>
            <a:off x="7720224" y="3016994"/>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Pourquoi le droit list sur les Secrets est-il aussi sensible que le droit get ?</a:t>
            </a:r>
            <a:endParaRPr lang="en-US" sz="1300" dirty="0"/>
          </a:p>
        </p:txBody>
      </p:sp>
      <p:sp>
        <p:nvSpPr>
          <p:cNvPr id="19" name="Text 13"/>
          <p:cNvSpPr/>
          <p:nvPr/>
        </p:nvSpPr>
        <p:spPr>
          <a:xfrm>
            <a:off x="7440824" y="3606254"/>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3</a:t>
            </a:r>
            <a:endParaRPr lang="en-US" sz="1300" dirty="0"/>
          </a:p>
        </p:txBody>
      </p:sp>
      <p:sp>
        <p:nvSpPr>
          <p:cNvPr id="20" name="Text 14"/>
          <p:cNvSpPr/>
          <p:nvPr/>
        </p:nvSpPr>
        <p:spPr>
          <a:xfrm>
            <a:off x="7720224" y="3606254"/>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Quelle différence entre les champs data et stringData d'un Secret ?</a:t>
            </a:r>
            <a:endParaRPr lang="en-US" sz="1300" dirty="0"/>
          </a:p>
        </p:txBody>
      </p:sp>
      <p:sp>
        <p:nvSpPr>
          <p:cNvPr id="21" name="Text 15"/>
          <p:cNvSpPr/>
          <p:nvPr/>
        </p:nvSpPr>
        <p:spPr>
          <a:xfrm>
            <a:off x="7440824" y="4195564"/>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4</a:t>
            </a:r>
            <a:endParaRPr lang="en-US" sz="1300" dirty="0"/>
          </a:p>
        </p:txBody>
      </p:sp>
      <p:sp>
        <p:nvSpPr>
          <p:cNvPr id="22" name="Text 16"/>
          <p:cNvSpPr/>
          <p:nvPr/>
        </p:nvSpPr>
        <p:spPr>
          <a:xfrm>
            <a:off x="7720224" y="4195564"/>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Citez deux façons d'éviter de stocker des Secrets en clair dans Git.</a:t>
            </a:r>
            <a:endParaRPr lang="en-US" sz="1300" dirty="0"/>
          </a:p>
        </p:txBody>
      </p:sp>
      <p:pic>
        <p:nvPicPr>
          <p:cNvPr id="23"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24" name="Text 1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5" descr="Parcours : module 8 sur 16">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2 · DÉCRIRE ET EXPLOITER</a:t>
            </a:r>
            <a:endParaRPr lang="en-US" sz="1200" dirty="0"/>
          </a:p>
        </p:txBody>
      </p:sp>
      <p:sp>
        <p:nvSpPr>
          <p:cNvPr id="3" name="Text 1"/>
          <p:cNvSpPr/>
          <p:nvPr/>
        </p:nvSpPr>
        <p:spPr>
          <a:xfrm>
            <a:off x="812800" y="1076970"/>
            <a:ext cx="2087880"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09</a:t>
            </a:r>
            <a:endParaRPr lang="en-US" sz="10000" dirty="0"/>
          </a:p>
        </p:txBody>
      </p:sp>
      <p:sp>
        <p:nvSpPr>
          <p:cNvPr id="4" name="Text 2"/>
          <p:cNvSpPr/>
          <p:nvPr>
            <p:ph type="title"/>
          </p:nvPr>
        </p:nvSpPr>
        <p:spPr>
          <a:xfrm>
            <a:off x="2908300" y="1127770"/>
            <a:ext cx="8725027" cy="5588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Cycle de vie des applications</a:t>
            </a:r>
            <a:endParaRPr lang="en-US" sz="4000" dirty="0"/>
          </a:p>
        </p:txBody>
      </p:sp>
      <p:sp>
        <p:nvSpPr>
          <p:cNvPr id="5" name="Text 3"/>
          <p:cNvSpPr/>
          <p:nvPr/>
        </p:nvSpPr>
        <p:spPr>
          <a:xfrm>
            <a:off x="2908300" y="1813570"/>
            <a:ext cx="87250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Un Deployment met à jour ses pods pas à pas et sait revenir en arrière ; les probes disent quand un pod est prêt. Job, CronJob et DaemonSet couvrent les autres formes de travail.</a:t>
            </a:r>
            <a:endParaRPr lang="en-US" sz="1500" dirty="0"/>
          </a:p>
        </p:txBody>
      </p:sp>
      <p:sp>
        <p:nvSpPr>
          <p:cNvPr id="6" name="Text 4"/>
          <p:cNvSpPr/>
          <p:nvPr/>
        </p:nvSpPr>
        <p:spPr>
          <a:xfrm>
            <a:off x="2908300" y="2499370"/>
            <a:ext cx="2973388"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TP6 · Mises à jour et probes · J2 13:00</a:t>
            </a:r>
            <a:endParaRPr lang="en-US" sz="1200" dirty="0"/>
          </a:p>
        </p:txBody>
      </p:sp>
      <p:pic>
        <p:nvPicPr>
          <p:cNvPr id="7" name="Image 0" descr="Parcours de la formation : module 9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09 · CYCLE DE VIE DES APPLICATIONS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RollingUpdate : maxSurge et maxUnavailable</a:t>
            </a:r>
            <a:endParaRPr lang="en-US" sz="2800" dirty="0"/>
          </a:p>
        </p:txBody>
      </p:sp>
      <p:sp>
        <p:nvSpPr>
          <p:cNvPr id="4" name="Text 2"/>
          <p:cNvSpPr/>
          <p:nvPr/>
        </p:nvSpPr>
        <p:spPr>
          <a:xfrm>
            <a:off x="812800" y="1544340"/>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Un rollout se déclenche dès que le </a:t>
            </a:r>
            <a:r>
              <a:rPr lang="en-US" sz="1400" b="1" dirty="0">
                <a:solidFill>
                  <a:srgbClr val="3F3C6B"/>
                </a:solidFill>
                <a:latin typeface="IBM Plex Sans" pitchFamily="34" charset="0"/>
                <a:ea typeface="IBM Plex Sans" pitchFamily="34" charset="-122"/>
                <a:cs typeface="IBM Plex Sans" pitchFamily="34" charset="-120"/>
              </a:rPr>
              <a:t>modèle de pod</a:t>
            </a:r>
            <a:r>
              <a:rPr lang="en-US" sz="1400" dirty="0">
                <a:solidFill>
                  <a:srgbClr val="3F3C6B"/>
                </a:solidFill>
                <a:latin typeface="IBM Plex Sans" pitchFamily="34" charset="0"/>
                <a:ea typeface="IBM Plex Sans" pitchFamily="34" charset="-122"/>
                <a:cs typeface="IBM Plex Sans" pitchFamily="34" charset="-120"/>
              </a:rPr>
              <a:t> change : image, variable, label du modèle, ressources. Changer le nombre de réplicas n'en déclenche pas.</a:t>
            </a:r>
            <a:endParaRPr lang="en-US" sz="1400" dirty="0"/>
          </a:p>
        </p:txBody>
      </p:sp>
      <p:sp>
        <p:nvSpPr>
          <p:cNvPr id="5" name="Shape 3"/>
          <p:cNvSpPr/>
          <p:nvPr/>
        </p:nvSpPr>
        <p:spPr>
          <a:xfrm>
            <a:off x="812800" y="2245469"/>
            <a:ext cx="4445000" cy="2694940"/>
          </a:xfrm>
          <a:prstGeom prst="roundRect">
            <a:avLst>
              <a:gd name="adj" fmla="val 4713"/>
            </a:avLst>
          </a:prstGeom>
          <a:solidFill>
            <a:srgbClr val="0B0748"/>
          </a:solidFill>
          <a:ln/>
        </p:spPr>
      </p:sp>
      <p:sp>
        <p:nvSpPr>
          <p:cNvPr id="6" name="Text 4"/>
          <p:cNvSpPr/>
          <p:nvPr/>
        </p:nvSpPr>
        <p:spPr>
          <a:xfrm>
            <a:off x="1028700" y="2435870"/>
            <a:ext cx="4133596" cy="4521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EXEMPLE : 4 RÉPLICAS, VALEURS PAR DÉFAUT (25 %)</a:t>
            </a:r>
            <a:endParaRPr lang="en-US" sz="1200" dirty="0"/>
          </a:p>
        </p:txBody>
      </p:sp>
      <p:sp>
        <p:nvSpPr>
          <p:cNvPr id="7" name="Text 5"/>
          <p:cNvSpPr/>
          <p:nvPr/>
        </p:nvSpPr>
        <p:spPr>
          <a:xfrm>
            <a:off x="1028700" y="2976860"/>
            <a:ext cx="748982" cy="340360"/>
          </a:xfrm>
          <a:custGeom>
            <a:avLst/>
            <a:gdLst/>
            <a:ahLst/>
            <a:cxnLst/>
            <a:rect l="l" t="t" r="r" b="b"/>
            <a:pathLst>
              <a:path w="748982" h="340360">
                <a:moveTo>
                  <a:pt x="63500" y="0"/>
                </a:moveTo>
                <a:lnTo>
                  <a:pt x="685482" y="0"/>
                </a:lnTo>
                <a:arcTo hR="63500" wR="63500" stAng="16200000" swAng="5400000"/>
                <a:lnTo>
                  <a:pt x="748982" y="276860"/>
                </a:lnTo>
                <a:arcTo hR="63500" wR="63500" stAng="0" swAng="5400000"/>
                <a:lnTo>
                  <a:pt x="63500" y="340360"/>
                </a:lnTo>
                <a:arcTo hR="63500" wR="63500" stAng="5400000" swAng="5400000"/>
                <a:lnTo>
                  <a:pt x="0" y="63500"/>
                </a:lnTo>
                <a:arcTo hR="63500" wR="63500" stAng="10800000" swAng="5400000"/>
                <a:close/>
              </a:path>
            </a:pathLst>
          </a:custGeom>
          <a:solidFill>
            <a:srgbClr val="B9B6E8"/>
          </a:solidFill>
          <a:ln/>
        </p:spPr>
        <p:txBody>
          <a:bodyPr wrap="square" lIns="0" tIns="63500" rIns="0" bIns="38100" rtlCol="0" anchor="t">
            <a:normAutofit/>
          </a:bodyPr>
          <a:lstStyle/>
          <a:p>
            <a:pPr algn="ct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pod</a:t>
            </a:r>
            <a:endParaRPr lang="en-US" sz="1200" dirty="0"/>
          </a:p>
        </p:txBody>
      </p:sp>
      <p:sp>
        <p:nvSpPr>
          <p:cNvPr id="8" name="Text 6"/>
          <p:cNvSpPr/>
          <p:nvPr/>
        </p:nvSpPr>
        <p:spPr>
          <a:xfrm>
            <a:off x="1841183" y="2976860"/>
            <a:ext cx="749088" cy="340360"/>
          </a:xfrm>
          <a:custGeom>
            <a:avLst/>
            <a:gdLst/>
            <a:ahLst/>
            <a:cxnLst/>
            <a:rect l="l" t="t" r="r" b="b"/>
            <a:pathLst>
              <a:path w="749088" h="340360">
                <a:moveTo>
                  <a:pt x="63500" y="0"/>
                </a:moveTo>
                <a:lnTo>
                  <a:pt x="685588" y="0"/>
                </a:lnTo>
                <a:arcTo hR="63500" wR="63500" stAng="16200000" swAng="5400000"/>
                <a:lnTo>
                  <a:pt x="749088" y="276860"/>
                </a:lnTo>
                <a:arcTo hR="63500" wR="63500" stAng="0" swAng="5400000"/>
                <a:lnTo>
                  <a:pt x="63500" y="340360"/>
                </a:lnTo>
                <a:arcTo hR="63500" wR="63500" stAng="5400000" swAng="5400000"/>
                <a:lnTo>
                  <a:pt x="0" y="63500"/>
                </a:lnTo>
                <a:arcTo hR="63500" wR="63500" stAng="10800000" swAng="5400000"/>
                <a:close/>
              </a:path>
            </a:pathLst>
          </a:custGeom>
          <a:solidFill>
            <a:srgbClr val="B9B6E8"/>
          </a:solidFill>
          <a:ln/>
        </p:spPr>
        <p:txBody>
          <a:bodyPr wrap="square" lIns="0" tIns="63500" rIns="0" bIns="38100" rtlCol="0" anchor="t">
            <a:normAutofit/>
          </a:bodyPr>
          <a:lstStyle/>
          <a:p>
            <a:pPr algn="ct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pod</a:t>
            </a:r>
            <a:endParaRPr lang="en-US" sz="1200" dirty="0"/>
          </a:p>
        </p:txBody>
      </p:sp>
      <p:sp>
        <p:nvSpPr>
          <p:cNvPr id="9" name="Text 7"/>
          <p:cNvSpPr/>
          <p:nvPr/>
        </p:nvSpPr>
        <p:spPr>
          <a:xfrm>
            <a:off x="2653771" y="2976860"/>
            <a:ext cx="748982" cy="340360"/>
          </a:xfrm>
          <a:custGeom>
            <a:avLst/>
            <a:gdLst/>
            <a:ahLst/>
            <a:cxnLst/>
            <a:rect l="l" t="t" r="r" b="b"/>
            <a:pathLst>
              <a:path w="748982" h="340360">
                <a:moveTo>
                  <a:pt x="63500" y="0"/>
                </a:moveTo>
                <a:lnTo>
                  <a:pt x="685482" y="0"/>
                </a:lnTo>
                <a:arcTo hR="63500" wR="63500" stAng="16200000" swAng="5400000"/>
                <a:lnTo>
                  <a:pt x="748982" y="276860"/>
                </a:lnTo>
                <a:arcTo hR="63500" wR="63500" stAng="0" swAng="5400000"/>
                <a:lnTo>
                  <a:pt x="63500" y="340360"/>
                </a:lnTo>
                <a:arcTo hR="63500" wR="63500" stAng="5400000" swAng="5400000"/>
                <a:lnTo>
                  <a:pt x="0" y="63500"/>
                </a:lnTo>
                <a:arcTo hR="63500" wR="63500" stAng="10800000" swAng="5400000"/>
                <a:close/>
              </a:path>
            </a:pathLst>
          </a:custGeom>
          <a:solidFill>
            <a:srgbClr val="B9B6E8"/>
          </a:solidFill>
          <a:ln/>
        </p:spPr>
        <p:txBody>
          <a:bodyPr wrap="square" lIns="0" tIns="63500" rIns="0" bIns="38100" rtlCol="0" anchor="t">
            <a:normAutofit/>
          </a:bodyPr>
          <a:lstStyle/>
          <a:p>
            <a:pPr algn="ct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pod</a:t>
            </a:r>
            <a:endParaRPr lang="en-US" sz="1200" dirty="0"/>
          </a:p>
        </p:txBody>
      </p:sp>
      <p:sp>
        <p:nvSpPr>
          <p:cNvPr id="10" name="Text 8"/>
          <p:cNvSpPr/>
          <p:nvPr/>
        </p:nvSpPr>
        <p:spPr>
          <a:xfrm>
            <a:off x="3466254" y="2976860"/>
            <a:ext cx="748982" cy="340360"/>
          </a:xfrm>
          <a:custGeom>
            <a:avLst/>
            <a:gdLst/>
            <a:ahLst/>
            <a:cxnLst/>
            <a:rect l="l" t="t" r="r" b="b"/>
            <a:pathLst>
              <a:path w="748982" h="340360">
                <a:moveTo>
                  <a:pt x="63500" y="0"/>
                </a:moveTo>
                <a:lnTo>
                  <a:pt x="685482" y="0"/>
                </a:lnTo>
                <a:arcTo hR="63500" wR="63500" stAng="16200000" swAng="5400000"/>
                <a:lnTo>
                  <a:pt x="748982" y="276860"/>
                </a:lnTo>
                <a:arcTo hR="63500" wR="63500" stAng="0" swAng="5400000"/>
                <a:lnTo>
                  <a:pt x="63500" y="340360"/>
                </a:lnTo>
                <a:arcTo hR="63500" wR="63500" stAng="5400000" swAng="5400000"/>
                <a:lnTo>
                  <a:pt x="0" y="63500"/>
                </a:lnTo>
                <a:arcTo hR="63500" wR="63500" stAng="10800000" swAng="5400000"/>
                <a:close/>
              </a:path>
            </a:pathLst>
          </a:custGeom>
          <a:solidFill>
            <a:srgbClr val="B9B6E8"/>
          </a:solidFill>
          <a:ln/>
        </p:spPr>
        <p:txBody>
          <a:bodyPr wrap="square" lIns="0" tIns="63500" rIns="0" bIns="38100" rtlCol="0" anchor="t">
            <a:normAutofit/>
          </a:bodyPr>
          <a:lstStyle/>
          <a:p>
            <a:pPr algn="ct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pod</a:t>
            </a:r>
            <a:endParaRPr lang="en-US" sz="1200" dirty="0"/>
          </a:p>
        </p:txBody>
      </p:sp>
      <p:sp>
        <p:nvSpPr>
          <p:cNvPr id="11" name="Text 9"/>
          <p:cNvSpPr/>
          <p:nvPr/>
        </p:nvSpPr>
        <p:spPr>
          <a:xfrm>
            <a:off x="4285086" y="2983210"/>
            <a:ext cx="750464" cy="327660"/>
          </a:xfrm>
          <a:custGeom>
            <a:avLst/>
            <a:gdLst/>
            <a:ahLst/>
            <a:cxnLst/>
            <a:rect l="l" t="t" r="r" b="b"/>
            <a:pathLst>
              <a:path w="750464" h="327660">
                <a:moveTo>
                  <a:pt x="57150" y="0"/>
                </a:moveTo>
                <a:lnTo>
                  <a:pt x="693314" y="0"/>
                </a:lnTo>
                <a:arcTo hR="57150" wR="57150" stAng="16200000" swAng="5400000"/>
                <a:lnTo>
                  <a:pt x="750464" y="270510"/>
                </a:lnTo>
                <a:arcTo hR="57150" wR="57150" stAng="0" swAng="5400000"/>
                <a:lnTo>
                  <a:pt x="57150" y="327660"/>
                </a:lnTo>
                <a:arcTo hR="57150" wR="57150" stAng="5400000" swAng="5400000"/>
                <a:lnTo>
                  <a:pt x="0" y="57150"/>
                </a:lnTo>
                <a:arcTo hR="57150" wR="57150" stAng="10800000" swAng="5400000"/>
                <a:close/>
              </a:path>
            </a:pathLst>
          </a:custGeom>
          <a:noFill/>
          <a:ln w="12700">
            <a:solidFill>
              <a:srgbClr val="FF8F66"/>
            </a:solidFill>
            <a:prstDash val="dash"/>
          </a:ln>
        </p:spPr>
        <p:txBody>
          <a:bodyPr wrap="square" lIns="0" tIns="51541" rIns="0" bIns="26141" rtlCol="0" anchor="t">
            <a:normAutofit/>
          </a:bodyPr>
          <a:lstStyle/>
          <a:p>
            <a:pPr algn="ctr" indent="0" marL="0">
              <a:lnSpc>
                <a:spcPts val="1680"/>
              </a:lnSpc>
              <a:buNone/>
            </a:pPr>
            <a:r>
              <a:rPr lang="en-US" sz="1200" dirty="0">
                <a:solidFill>
                  <a:srgbClr val="FF8F66"/>
                </a:solidFill>
                <a:latin typeface="IBM Plex Sans" pitchFamily="34" charset="0"/>
                <a:ea typeface="IBM Plex Sans" pitchFamily="34" charset="-122"/>
                <a:cs typeface="IBM Plex Sans" pitchFamily="34" charset="-120"/>
              </a:rPr>
              <a:t>+1</a:t>
            </a:r>
            <a:endParaRPr lang="en-US" sz="1200" dirty="0"/>
          </a:p>
        </p:txBody>
      </p:sp>
      <p:sp>
        <p:nvSpPr>
          <p:cNvPr id="12" name="Text 10"/>
          <p:cNvSpPr/>
          <p:nvPr/>
        </p:nvSpPr>
        <p:spPr>
          <a:xfrm>
            <a:off x="1028700" y="3431530"/>
            <a:ext cx="1988312"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F8F66"/>
                </a:solidFill>
                <a:latin typeface="Sora" pitchFamily="34" charset="0"/>
                <a:ea typeface="Sora" pitchFamily="34" charset="-122"/>
                <a:cs typeface="Sora" pitchFamily="34" charset="-120"/>
              </a:rPr>
              <a:t>≤ 5</a:t>
            </a:r>
            <a:endParaRPr lang="en-US" sz="3200" dirty="0"/>
          </a:p>
        </p:txBody>
      </p:sp>
      <p:sp>
        <p:nvSpPr>
          <p:cNvPr id="13" name="Text 11"/>
          <p:cNvSpPr/>
          <p:nvPr/>
        </p:nvSpPr>
        <p:spPr>
          <a:xfrm>
            <a:off x="1028700" y="3863330"/>
            <a:ext cx="198831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CEAFF"/>
                </a:solidFill>
                <a:latin typeface="IBM Plex Sans" pitchFamily="34" charset="0"/>
                <a:ea typeface="IBM Plex Sans" pitchFamily="34" charset="-122"/>
                <a:cs typeface="IBM Plex Sans" pitchFamily="34" charset="-120"/>
              </a:rPr>
              <a:t>pods au plus : maxSurge, arrondi au supérieur</a:t>
            </a:r>
            <a:endParaRPr lang="en-US" sz="1200" dirty="0"/>
          </a:p>
        </p:txBody>
      </p:sp>
      <p:sp>
        <p:nvSpPr>
          <p:cNvPr id="14" name="Text 12"/>
          <p:cNvSpPr/>
          <p:nvPr/>
        </p:nvSpPr>
        <p:spPr>
          <a:xfrm>
            <a:off x="3111500" y="3431530"/>
            <a:ext cx="1988312"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F8F66"/>
                </a:solidFill>
                <a:latin typeface="Sora" pitchFamily="34" charset="0"/>
                <a:ea typeface="Sora" pitchFamily="34" charset="-122"/>
                <a:cs typeface="Sora" pitchFamily="34" charset="-120"/>
              </a:rPr>
              <a:t>≥ 3</a:t>
            </a:r>
            <a:endParaRPr lang="en-US" sz="3200" dirty="0"/>
          </a:p>
        </p:txBody>
      </p:sp>
      <p:sp>
        <p:nvSpPr>
          <p:cNvPr id="15" name="Text 13"/>
          <p:cNvSpPr/>
          <p:nvPr/>
        </p:nvSpPr>
        <p:spPr>
          <a:xfrm>
            <a:off x="3111500" y="3863330"/>
            <a:ext cx="1988312"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CEAFF"/>
                </a:solidFill>
                <a:latin typeface="IBM Plex Sans" pitchFamily="34" charset="0"/>
                <a:ea typeface="IBM Plex Sans" pitchFamily="34" charset="-122"/>
                <a:cs typeface="IBM Plex Sans" pitchFamily="34" charset="-120"/>
              </a:rPr>
              <a:t>disponibles au moins : maxUnavailable, arrondi à l'inférieur</a:t>
            </a:r>
            <a:endParaRPr lang="en-US" sz="1200" dirty="0"/>
          </a:p>
        </p:txBody>
      </p:sp>
      <p:sp>
        <p:nvSpPr>
          <p:cNvPr id="16" name="Shape 14"/>
          <p:cNvSpPr/>
          <p:nvPr/>
        </p:nvSpPr>
        <p:spPr>
          <a:xfrm>
            <a:off x="5511800" y="2777705"/>
            <a:ext cx="5867400" cy="0"/>
          </a:xfrm>
          <a:prstGeom prst="line">
            <a:avLst/>
          </a:prstGeom>
          <a:noFill/>
          <a:ln w="6350">
            <a:solidFill>
              <a:srgbClr val="E1DFEE"/>
            </a:solidFill>
            <a:prstDash val="solid"/>
          </a:ln>
        </p:spPr>
      </p:sp>
      <p:sp>
        <p:nvSpPr>
          <p:cNvPr id="17" name="Text 15"/>
          <p:cNvSpPr/>
          <p:nvPr/>
        </p:nvSpPr>
        <p:spPr>
          <a:xfrm>
            <a:off x="5511800" y="2245469"/>
            <a:ext cx="604342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maxSurge: 1 · maxUnavailable: 0</a:t>
            </a:r>
            <a:endParaRPr lang="en-US" sz="1200" dirty="0"/>
          </a:p>
        </p:txBody>
      </p:sp>
      <p:sp>
        <p:nvSpPr>
          <p:cNvPr id="18" name="Text 16"/>
          <p:cNvSpPr/>
          <p:nvPr/>
        </p:nvSpPr>
        <p:spPr>
          <a:xfrm>
            <a:off x="5511800" y="2484140"/>
            <a:ext cx="60434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Jamais moins de pods que voulu ; il faut de la place pour un pod de plus.</a:t>
            </a:r>
            <a:endParaRPr lang="en-US" sz="1200" dirty="0"/>
          </a:p>
        </p:txBody>
      </p:sp>
      <p:sp>
        <p:nvSpPr>
          <p:cNvPr id="19" name="Shape 17"/>
          <p:cNvSpPr/>
          <p:nvPr/>
        </p:nvSpPr>
        <p:spPr>
          <a:xfrm>
            <a:off x="5511800" y="3389190"/>
            <a:ext cx="5867400" cy="0"/>
          </a:xfrm>
          <a:prstGeom prst="line">
            <a:avLst/>
          </a:prstGeom>
          <a:noFill/>
          <a:ln w="6350">
            <a:solidFill>
              <a:srgbClr val="E1DFEE"/>
            </a:solidFill>
            <a:prstDash val="solid"/>
          </a:ln>
        </p:spPr>
      </p:sp>
      <p:sp>
        <p:nvSpPr>
          <p:cNvPr id="20" name="Text 18"/>
          <p:cNvSpPr/>
          <p:nvPr/>
        </p:nvSpPr>
        <p:spPr>
          <a:xfrm>
            <a:off x="5511800" y="2856954"/>
            <a:ext cx="604342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maxSurge: 0 · maxUnavailable: 1</a:t>
            </a:r>
            <a:endParaRPr lang="en-US" sz="1200" dirty="0"/>
          </a:p>
        </p:txBody>
      </p:sp>
      <p:sp>
        <p:nvSpPr>
          <p:cNvPr id="21" name="Text 19"/>
          <p:cNvSpPr/>
          <p:nvPr/>
        </p:nvSpPr>
        <p:spPr>
          <a:xfrm>
            <a:off x="5511800" y="3095724"/>
            <a:ext cx="60434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Aucune ressource en plus ; capacité réduite d'un pod pendant la mise à jour.</a:t>
            </a:r>
            <a:endParaRPr lang="en-US" sz="1200" dirty="0"/>
          </a:p>
        </p:txBody>
      </p:sp>
      <p:sp>
        <p:nvSpPr>
          <p:cNvPr id="22" name="Text 20"/>
          <p:cNvSpPr/>
          <p:nvPr/>
        </p:nvSpPr>
        <p:spPr>
          <a:xfrm>
            <a:off x="5511800" y="3468588"/>
            <a:ext cx="604342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Défaut : 25 % et 25 %</a:t>
            </a:r>
            <a:endParaRPr lang="en-US" sz="1200" dirty="0"/>
          </a:p>
        </p:txBody>
      </p:sp>
      <p:sp>
        <p:nvSpPr>
          <p:cNvPr id="23" name="Text 21"/>
          <p:cNvSpPr/>
          <p:nvPr/>
        </p:nvSpPr>
        <p:spPr>
          <a:xfrm>
            <a:off x="5511800" y="3707358"/>
            <a:ext cx="60434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Un compromis entre vitesse et capacité.</a:t>
            </a:r>
            <a:endParaRPr lang="en-US" sz="1200" dirty="0"/>
          </a:p>
        </p:txBody>
      </p:sp>
      <p:sp>
        <p:nvSpPr>
          <p:cNvPr id="24" name="Shape 22"/>
          <p:cNvSpPr/>
          <p:nvPr/>
        </p:nvSpPr>
        <p:spPr>
          <a:xfrm>
            <a:off x="812800" y="5143500"/>
            <a:ext cx="10566400" cy="698500"/>
          </a:xfrm>
          <a:prstGeom prst="roundRect">
            <a:avLst>
              <a:gd name="adj" fmla="val 16364"/>
            </a:avLst>
          </a:prstGeom>
          <a:solidFill>
            <a:srgbClr val="FCE6DC"/>
          </a:solidFill>
          <a:ln/>
        </p:spPr>
      </p:sp>
      <p:pic>
        <p:nvPicPr>
          <p:cNvPr id="25" name="Image 0" descr="Warning">    </p:cNvPr>
          <p:cNvPicPr>
            <a:picLocks noChangeAspect="1"/>
          </p:cNvPicPr>
          <p:nvPr/>
        </p:nvPicPr>
        <p:blipFill>
          <a:blip r:embed="rId1"/>
          <a:srcRect l="0" r="0" t="0" b="0"/>
          <a:stretch/>
        </p:blipFill>
        <p:spPr>
          <a:xfrm>
            <a:off x="990600" y="5270500"/>
            <a:ext cx="228600" cy="228600"/>
          </a:xfrm>
          <a:prstGeom prst="rect">
            <a:avLst/>
          </a:prstGeom>
        </p:spPr>
      </p:pic>
      <p:sp>
        <p:nvSpPr>
          <p:cNvPr id="26" name="Text 23"/>
          <p:cNvSpPr/>
          <p:nvPr/>
        </p:nvSpPr>
        <p:spPr>
          <a:xfrm>
            <a:off x="1346200" y="5270500"/>
            <a:ext cx="10150856"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0748"/>
                </a:solidFill>
                <a:latin typeface="IBM Plex Sans" pitchFamily="34" charset="0"/>
                <a:ea typeface="IBM Plex Sans" pitchFamily="34" charset="-122"/>
                <a:cs typeface="IBM Plex Sans" pitchFamily="34" charset="-120"/>
              </a:rPr>
              <a:t>Recreate</a:t>
            </a:r>
            <a:r>
              <a:rPr lang="en-US" sz="1250" dirty="0">
                <a:solidFill>
                  <a:srgbClr val="0B0748"/>
                </a:solidFill>
                <a:latin typeface="IBM Plex Sans" pitchFamily="34" charset="0"/>
                <a:ea typeface="IBM Plex Sans" pitchFamily="34" charset="-122"/>
                <a:cs typeface="IBM Plex Sans" pitchFamily="34" charset="-120"/>
              </a:rPr>
              <a:t> : tout arrêter, puis tout recréer, donc une coupure. Pour deux versions qui ne peuvent coexister, ou un volume qu'un seul pod peut monter à la fois.</a:t>
            </a:r>
            <a:endParaRPr lang="en-US" sz="1250" dirty="0"/>
          </a:p>
        </p:txBody>
      </p:sp>
      <p:pic>
        <p:nvPicPr>
          <p:cNvPr id="27" name="Image 1" descr="preencoded.png">    </p:cNvPr>
          <p:cNvPicPr>
            <a:picLocks noChangeAspect="1"/>
          </p:cNvPicPr>
          <p:nvPr/>
        </p:nvPicPr>
        <p:blipFill>
          <a:blip r:embed="rId2"/>
          <a:srcRect l="0" r="0" t="0" b="0"/>
          <a:stretch/>
        </p:blipFill>
        <p:spPr>
          <a:xfrm>
            <a:off x="812800" y="6299200"/>
            <a:ext cx="152400" cy="152400"/>
          </a:xfrm>
          <a:prstGeom prst="rect">
            <a:avLst/>
          </a:prstGeom>
        </p:spPr>
      </p:pic>
      <p:sp>
        <p:nvSpPr>
          <p:cNvPr id="28" name="Text 24"/>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9" name="Image 2" descr="Parcours : module 9 sur 16">    </p:cNvPr>
          <p:cNvPicPr>
            <a:picLocks noChangeAspect="1"/>
          </p:cNvPicPr>
          <p:nvPr/>
        </p:nvPicPr>
        <p:blipFill>
          <a:blip r:embed="rId3"/>
          <a:srcRect l="0" r="0" t="0" b="0"/>
          <a:stretch/>
        </p:blipFill>
        <p:spPr>
          <a:xfrm>
            <a:off x="9207500" y="6299200"/>
            <a:ext cx="2171700" cy="1524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09 · CYCLE DE VIE DES APPLICATIONS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Suivre et piloter une mise à jour</a:t>
            </a:r>
            <a:endParaRPr lang="en-US" sz="2800" dirty="0"/>
          </a:p>
        </p:txBody>
      </p:sp>
      <p:sp>
        <p:nvSpPr>
          <p:cNvPr id="4" name="Text 2"/>
          <p:cNvSpPr/>
          <p:nvPr/>
        </p:nvSpPr>
        <p:spPr>
          <a:xfrm>
            <a:off x="812800" y="1544340"/>
            <a:ext cx="10566400" cy="2489200"/>
          </a:xfrm>
          <a:prstGeom prst="roundRect">
            <a:avLst>
              <a:gd name="adj" fmla="val 4082"/>
            </a:avLst>
          </a:prstGeom>
          <a:solidFill>
            <a:srgbClr val="0B0748"/>
          </a:solidFill>
          <a:ln/>
        </p:spPr>
        <p:txBody>
          <a:bodyPr wrap="none" lIns="173442" tIns="109942" rIns="0" bIns="84542" rtlCol="0" anchor="t">
            <a:normAutofit/>
          </a:bodyPr>
          <a:lstStyle/>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set image deployment/podinfo podinfo=ghcr.io/stefanprodan/podinfo:6.7.1</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annotate deployment/podinfo kubernetes.io/change-cause="passage en 6.7.1" --overwrite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rollout status deployment/podinfo                 </a:t>
            </a:r>
            <a:r>
              <a:rPr lang="en-US" sz="1200" dirty="0">
                <a:solidFill>
                  <a:srgbClr val="9A96D0"/>
                </a:solidFill>
                <a:latin typeface="JetBrains Mono" pitchFamily="49" charset="0"/>
                <a:ea typeface="JetBrains Mono" pitchFamily="49" charset="-122"/>
                <a:cs typeface="JetBrains Mono" pitchFamily="49" charset="-120"/>
              </a:rPr>
              <a:t># suit jusqu'au bout</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rollout history deployment/podinfo                </a:t>
            </a:r>
            <a:r>
              <a:rPr lang="en-US" sz="1200" dirty="0">
                <a:solidFill>
                  <a:srgbClr val="9A96D0"/>
                </a:solidFill>
                <a:latin typeface="JetBrains Mono" pitchFamily="49" charset="0"/>
                <a:ea typeface="JetBrains Mono" pitchFamily="49" charset="-122"/>
                <a:cs typeface="JetBrains Mono" pitchFamily="49" charset="-120"/>
              </a:rPr>
              <a:t># révisions et leur cause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rollout history deployment/podinfo --revision=2   </a:t>
            </a:r>
            <a:r>
              <a:rPr lang="en-US" sz="1200" dirty="0">
                <a:solidFill>
                  <a:srgbClr val="9A96D0"/>
                </a:solidFill>
                <a:latin typeface="JetBrains Mono" pitchFamily="49" charset="0"/>
                <a:ea typeface="JetBrains Mono" pitchFamily="49" charset="-122"/>
                <a:cs typeface="JetBrains Mono" pitchFamily="49" charset="-120"/>
              </a:rPr>
              <a:t># détail d'une révision</a:t>
            </a:r>
            <a:endParaRPr lang="en-US" sz="1200" dirty="0"/>
          </a:p>
          <a:p>
            <a:pPr algn="l" indent="0" marL="0">
              <a:lnSpc>
                <a:spcPts val="1740"/>
              </a:lnSpc>
              <a:buNone/>
            </a:pPr>
            <a:r>
              <a:rPr lang="en-US" sz="1200" dirty="0">
                <a:solidFill>
                  <a:srgbClr val="FFB08F"/>
                </a:solidFill>
                <a:latin typeface="JetBrains Mono" pitchFamily="49" charset="0"/>
                <a:ea typeface="JetBrains Mono" pitchFamily="49" charset="-122"/>
                <a:cs typeface="JetBrains Mono" pitchFamily="49" charset="-120"/>
              </a:rPr>
              <a:t>kubectl rollout undo deployment/podinfo</a:t>
            </a: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9A96D0"/>
                </a:solidFill>
                <a:latin typeface="JetBrains Mono" pitchFamily="49" charset="0"/>
                <a:ea typeface="JetBrains Mono" pitchFamily="49" charset="-122"/>
                <a:cs typeface="JetBrains Mono" pitchFamily="49" charset="-120"/>
              </a:rPr>
              <a:t># revenir à la précédente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rollout undo deployment/podinfo --to-revision=1</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rollout pause deployment/podinfo                  </a:t>
            </a:r>
            <a:r>
              <a:rPr lang="en-US" sz="1200" dirty="0">
                <a:solidFill>
                  <a:srgbClr val="9A96D0"/>
                </a:solidFill>
                <a:latin typeface="JetBrains Mono" pitchFamily="49" charset="0"/>
                <a:ea typeface="JetBrains Mono" pitchFamily="49" charset="-122"/>
                <a:cs typeface="JetBrains Mono" pitchFamily="49" charset="-120"/>
              </a:rPr>
              <a:t># grouper plusieurs changements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rollout resume deployment/podinfo</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rollout restart deployment/podinfo                </a:t>
            </a:r>
            <a:r>
              <a:rPr lang="en-US" sz="1200" dirty="0">
                <a:solidFill>
                  <a:srgbClr val="9A96D0"/>
                </a:solidFill>
                <a:latin typeface="JetBrains Mono" pitchFamily="49" charset="0"/>
                <a:ea typeface="JetBrains Mono" pitchFamily="49" charset="-122"/>
                <a:cs typeface="JetBrains Mono" pitchFamily="49" charset="-120"/>
              </a:rPr>
              <a:t># redémarrer progressivement</a:t>
            </a:r>
            <a:endParaRPr lang="en-US" sz="1200" dirty="0"/>
          </a:p>
        </p:txBody>
      </p:sp>
      <p:sp>
        <p:nvSpPr>
          <p:cNvPr id="5" name="Shape 3"/>
          <p:cNvSpPr/>
          <p:nvPr/>
        </p:nvSpPr>
        <p:spPr>
          <a:xfrm>
            <a:off x="815975" y="4240014"/>
            <a:ext cx="4568190" cy="1598930"/>
          </a:xfrm>
          <a:prstGeom prst="roundRect">
            <a:avLst>
              <a:gd name="adj" fmla="val 7744"/>
            </a:avLst>
          </a:prstGeom>
          <a:solidFill>
            <a:srgbClr val="FDFDFF"/>
          </a:solidFill>
          <a:ln w="6350">
            <a:solidFill>
              <a:srgbClr val="E1DFEE"/>
            </a:solidFill>
            <a:prstDash val="solid"/>
          </a:ln>
        </p:spPr>
      </p:sp>
      <p:sp>
        <p:nvSpPr>
          <p:cNvPr id="6" name="Text 4"/>
          <p:cNvSpPr/>
          <p:nvPr/>
        </p:nvSpPr>
        <p:spPr>
          <a:xfrm>
            <a:off x="1010391" y="4408934"/>
            <a:ext cx="430473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LES RÉVISIONS</a:t>
            </a:r>
            <a:endParaRPr lang="en-US" sz="1200" dirty="0"/>
          </a:p>
        </p:txBody>
      </p:sp>
      <p:sp>
        <p:nvSpPr>
          <p:cNvPr id="7" name="Text 5"/>
          <p:cNvSpPr/>
          <p:nvPr/>
        </p:nvSpPr>
        <p:spPr>
          <a:xfrm>
            <a:off x="1010391" y="4685754"/>
            <a:ext cx="4304739"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F3C6B"/>
                </a:solidFill>
                <a:latin typeface="IBM Plex Sans" pitchFamily="34" charset="0"/>
                <a:ea typeface="IBM Plex Sans" pitchFamily="34" charset="-122"/>
                <a:cs typeface="IBM Plex Sans" pitchFamily="34" charset="-120"/>
              </a:rPr>
              <a:t>Chaque révision = un ReplicaSet conservé (10 par défaut) : un retour arrière ne fait que réactiver l'ancien. change-cause s'affiche dans l'historique.</a:t>
            </a:r>
            <a:endParaRPr lang="en-US" sz="1300" dirty="0"/>
          </a:p>
        </p:txBody>
      </p:sp>
      <p:sp>
        <p:nvSpPr>
          <p:cNvPr id="8" name="Shape 6"/>
          <p:cNvSpPr/>
          <p:nvPr/>
        </p:nvSpPr>
        <p:spPr>
          <a:xfrm>
            <a:off x="5565140" y="4236839"/>
            <a:ext cx="5814060" cy="1605280"/>
          </a:xfrm>
          <a:prstGeom prst="roundRect">
            <a:avLst>
              <a:gd name="adj" fmla="val 7911"/>
            </a:avLst>
          </a:prstGeom>
          <a:solidFill>
            <a:srgbClr val="0B0748"/>
          </a:solidFill>
          <a:ln/>
        </p:spPr>
      </p:sp>
      <p:sp>
        <p:nvSpPr>
          <p:cNvPr id="9" name="Text 7"/>
          <p:cNvSpPr/>
          <p:nvPr/>
        </p:nvSpPr>
        <p:spPr>
          <a:xfrm>
            <a:off x="5755640" y="4401840"/>
            <a:ext cx="559605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MISE À JOUR BLOQUÉE</a:t>
            </a:r>
            <a:endParaRPr lang="en-US" sz="1200" dirty="0"/>
          </a:p>
        </p:txBody>
      </p:sp>
      <p:sp>
        <p:nvSpPr>
          <p:cNvPr id="10" name="Text 8"/>
          <p:cNvSpPr/>
          <p:nvPr/>
        </p:nvSpPr>
        <p:spPr>
          <a:xfrm>
            <a:off x="5755640" y="4678660"/>
            <a:ext cx="5596052"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CEAFF"/>
                </a:solidFill>
                <a:latin typeface="IBM Plex Sans" pitchFamily="34" charset="0"/>
                <a:ea typeface="IBM Plex Sans" pitchFamily="34" charset="-122"/>
                <a:cs typeface="IBM Plex Sans" pitchFamily="34" charset="-120"/>
              </a:rPr>
              <a:t>Les nouveaux pods ne sont jamais prêts ? Les anciens continuent de servir. Après 600 s : ProgressDeadlineExceeded. </a:t>
            </a:r>
            <a:r>
              <a:rPr lang="en-US" sz="1300" b="1" dirty="0">
                <a:solidFill>
                  <a:srgbClr val="ECEAFF"/>
                </a:solidFill>
                <a:latin typeface="IBM Plex Sans" pitchFamily="34" charset="0"/>
                <a:ea typeface="IBM Plex Sans" pitchFamily="34" charset="-122"/>
                <a:cs typeface="IBM Plex Sans" pitchFamily="34" charset="-120"/>
              </a:rPr>
              <a:t>Kubernetes ne revient pas en arrière tout seul.</a:t>
            </a:r>
            <a:endParaRPr lang="en-US" sz="1300" dirty="0"/>
          </a:p>
        </p:txBody>
      </p:sp>
      <p:pic>
        <p:nvPicPr>
          <p:cNvPr id="11"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2" name="Text 9"/>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3" name="Image 1" descr="Parcours : module 9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09 · CYCLE DE VIE DES APPLICATIONS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Trois probes, trois questions</a:t>
            </a:r>
            <a:endParaRPr lang="en-US" sz="2800" dirty="0"/>
          </a:p>
        </p:txBody>
      </p:sp>
      <p:sp>
        <p:nvSpPr>
          <p:cNvPr id="4" name="Text 2"/>
          <p:cNvSpPr/>
          <p:nvPr/>
        </p:nvSpPr>
        <p:spPr>
          <a:xfrm>
            <a:off x="812800" y="15951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Une probe est un test que le kubelet exécute régulièrement sur un conteneur.</a:t>
            </a:r>
            <a:endParaRPr lang="en-US" sz="1400" dirty="0"/>
          </a:p>
        </p:txBody>
      </p:sp>
      <p:sp>
        <p:nvSpPr>
          <p:cNvPr id="5" name="Shape 3"/>
          <p:cNvSpPr/>
          <p:nvPr/>
        </p:nvSpPr>
        <p:spPr>
          <a:xfrm>
            <a:off x="815975" y="2101205"/>
            <a:ext cx="3401907" cy="3168650"/>
          </a:xfrm>
          <a:prstGeom prst="roundRect">
            <a:avLst>
              <a:gd name="adj" fmla="val 3908"/>
            </a:avLst>
          </a:prstGeom>
          <a:solidFill>
            <a:srgbClr val="FDFDFF"/>
          </a:solidFill>
          <a:ln w="6350">
            <a:solidFill>
              <a:srgbClr val="E1DFEE"/>
            </a:solidFill>
            <a:prstDash val="solid"/>
          </a:ln>
        </p:spPr>
      </p:sp>
      <p:sp>
        <p:nvSpPr>
          <p:cNvPr id="6" name="Text 4"/>
          <p:cNvSpPr/>
          <p:nvPr/>
        </p:nvSpPr>
        <p:spPr>
          <a:xfrm>
            <a:off x="1023091" y="2308324"/>
            <a:ext cx="307730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JetBrains Mono" pitchFamily="49" charset="0"/>
                <a:ea typeface="JetBrains Mono" pitchFamily="49" charset="-122"/>
                <a:cs typeface="JetBrains Mono" pitchFamily="49" charset="-120"/>
              </a:rPr>
              <a:t>startupProbe</a:t>
            </a:r>
            <a:endParaRPr lang="en-US" sz="1400" dirty="0"/>
          </a:p>
        </p:txBody>
      </p:sp>
      <p:sp>
        <p:nvSpPr>
          <p:cNvPr id="7" name="Text 5"/>
          <p:cNvSpPr/>
          <p:nvPr/>
        </p:nvSpPr>
        <p:spPr>
          <a:xfrm>
            <a:off x="1023091" y="2658864"/>
            <a:ext cx="307730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A-t-elle fini de démarrer ?</a:t>
            </a:r>
            <a:endParaRPr lang="en-US" sz="1600" dirty="0"/>
          </a:p>
        </p:txBody>
      </p:sp>
      <p:sp>
        <p:nvSpPr>
          <p:cNvPr id="8" name="Text 6"/>
          <p:cNvSpPr/>
          <p:nvPr/>
        </p:nvSpPr>
        <p:spPr>
          <a:xfrm>
            <a:off x="1023091" y="4285506"/>
            <a:ext cx="307730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EN CAS D'ÉCHEC</a:t>
            </a:r>
            <a:endParaRPr lang="en-US" sz="1200" dirty="0"/>
          </a:p>
        </p:txBody>
      </p:sp>
      <p:sp>
        <p:nvSpPr>
          <p:cNvPr id="9" name="Text 7"/>
          <p:cNvSpPr/>
          <p:nvPr/>
        </p:nvSpPr>
        <p:spPr>
          <a:xfrm>
            <a:off x="1023091" y="4600476"/>
            <a:ext cx="307730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Les autres probes attendent ; au-delà du seuil, le conteneur est redémarré.</a:t>
            </a:r>
            <a:endParaRPr lang="en-US" sz="1300" dirty="0"/>
          </a:p>
        </p:txBody>
      </p:sp>
      <p:sp>
        <p:nvSpPr>
          <p:cNvPr id="10" name="Shape 8"/>
          <p:cNvSpPr/>
          <p:nvPr/>
        </p:nvSpPr>
        <p:spPr>
          <a:xfrm>
            <a:off x="4402032" y="2101205"/>
            <a:ext cx="3402013" cy="3168650"/>
          </a:xfrm>
          <a:prstGeom prst="roundRect">
            <a:avLst>
              <a:gd name="adj" fmla="val 3908"/>
            </a:avLst>
          </a:prstGeom>
          <a:solidFill>
            <a:srgbClr val="FDFDFF"/>
          </a:solidFill>
          <a:ln w="6350">
            <a:solidFill>
              <a:srgbClr val="E1DFEE"/>
            </a:solidFill>
            <a:prstDash val="solid"/>
          </a:ln>
        </p:spPr>
      </p:sp>
      <p:sp>
        <p:nvSpPr>
          <p:cNvPr id="11" name="Text 9"/>
          <p:cNvSpPr/>
          <p:nvPr/>
        </p:nvSpPr>
        <p:spPr>
          <a:xfrm>
            <a:off x="4609147" y="2308324"/>
            <a:ext cx="307741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JetBrains Mono" pitchFamily="49" charset="0"/>
                <a:ea typeface="JetBrains Mono" pitchFamily="49" charset="-122"/>
                <a:cs typeface="JetBrains Mono" pitchFamily="49" charset="-120"/>
              </a:rPr>
              <a:t>readinessProbe</a:t>
            </a:r>
            <a:endParaRPr lang="en-US" sz="1400" dirty="0"/>
          </a:p>
        </p:txBody>
      </p:sp>
      <p:sp>
        <p:nvSpPr>
          <p:cNvPr id="12" name="Text 10"/>
          <p:cNvSpPr/>
          <p:nvPr/>
        </p:nvSpPr>
        <p:spPr>
          <a:xfrm>
            <a:off x="4609147" y="2658864"/>
            <a:ext cx="3077414"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Peut-elle recevoir du trafic maintenant ?</a:t>
            </a:r>
            <a:endParaRPr lang="en-US" sz="1600" dirty="0"/>
          </a:p>
        </p:txBody>
      </p:sp>
      <p:sp>
        <p:nvSpPr>
          <p:cNvPr id="13" name="Text 11"/>
          <p:cNvSpPr/>
          <p:nvPr/>
        </p:nvSpPr>
        <p:spPr>
          <a:xfrm>
            <a:off x="4609147" y="4285506"/>
            <a:ext cx="307741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EN CAS D'ÉCHEC</a:t>
            </a:r>
            <a:endParaRPr lang="en-US" sz="1200" dirty="0"/>
          </a:p>
        </p:txBody>
      </p:sp>
      <p:sp>
        <p:nvSpPr>
          <p:cNvPr id="14" name="Text 12"/>
          <p:cNvSpPr/>
          <p:nvPr/>
        </p:nvSpPr>
        <p:spPr>
          <a:xfrm>
            <a:off x="4609147" y="4600476"/>
            <a:ext cx="307741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Le pod est retiré des Services, sans être redémarré.</a:t>
            </a:r>
            <a:endParaRPr lang="en-US" sz="1300" dirty="0"/>
          </a:p>
        </p:txBody>
      </p:sp>
      <p:sp>
        <p:nvSpPr>
          <p:cNvPr id="15" name="Shape 13"/>
          <p:cNvSpPr/>
          <p:nvPr/>
        </p:nvSpPr>
        <p:spPr>
          <a:xfrm>
            <a:off x="7985020" y="2098030"/>
            <a:ext cx="3394181" cy="3175000"/>
          </a:xfrm>
          <a:prstGeom prst="roundRect">
            <a:avLst>
              <a:gd name="adj" fmla="val 4000"/>
            </a:avLst>
          </a:prstGeom>
          <a:solidFill>
            <a:srgbClr val="0B0748"/>
          </a:solidFill>
          <a:ln/>
        </p:spPr>
      </p:sp>
      <p:sp>
        <p:nvSpPr>
          <p:cNvPr id="16" name="Text 14"/>
          <p:cNvSpPr/>
          <p:nvPr/>
        </p:nvSpPr>
        <p:spPr>
          <a:xfrm>
            <a:off x="8188220" y="2301230"/>
            <a:ext cx="307741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8F66"/>
                </a:solidFill>
                <a:latin typeface="JetBrains Mono" pitchFamily="49" charset="0"/>
                <a:ea typeface="JetBrains Mono" pitchFamily="49" charset="-122"/>
                <a:cs typeface="JetBrains Mono" pitchFamily="49" charset="-120"/>
              </a:rPr>
              <a:t>livenessProbe</a:t>
            </a:r>
            <a:endParaRPr lang="en-US" sz="1400" dirty="0"/>
          </a:p>
        </p:txBody>
      </p:sp>
      <p:sp>
        <p:nvSpPr>
          <p:cNvPr id="17" name="Text 15"/>
          <p:cNvSpPr/>
          <p:nvPr/>
        </p:nvSpPr>
        <p:spPr>
          <a:xfrm>
            <a:off x="8188220" y="2651770"/>
            <a:ext cx="3077414"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5F4F9"/>
                </a:solidFill>
                <a:latin typeface="Sora" pitchFamily="34" charset="0"/>
                <a:ea typeface="Sora" pitchFamily="34" charset="-122"/>
                <a:cs typeface="Sora" pitchFamily="34" charset="-120"/>
              </a:rPr>
              <a:t>Est-elle bloquée sans espoir de rétablissement ?</a:t>
            </a:r>
            <a:endParaRPr lang="en-US" sz="1600" dirty="0"/>
          </a:p>
        </p:txBody>
      </p:sp>
      <p:sp>
        <p:nvSpPr>
          <p:cNvPr id="18" name="Text 16"/>
          <p:cNvSpPr/>
          <p:nvPr/>
        </p:nvSpPr>
        <p:spPr>
          <a:xfrm>
            <a:off x="8188220" y="4523730"/>
            <a:ext cx="307741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EN CAS D'ÉCHEC</a:t>
            </a:r>
            <a:endParaRPr lang="en-US" sz="1200" dirty="0"/>
          </a:p>
        </p:txBody>
      </p:sp>
      <p:sp>
        <p:nvSpPr>
          <p:cNvPr id="19" name="Text 17"/>
          <p:cNvSpPr/>
          <p:nvPr/>
        </p:nvSpPr>
        <p:spPr>
          <a:xfrm>
            <a:off x="8188220" y="4838700"/>
            <a:ext cx="307741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Le conteneur est redémarré.</a:t>
            </a:r>
            <a:endParaRPr lang="en-US" sz="1300" dirty="0"/>
          </a:p>
        </p:txBody>
      </p:sp>
      <p:sp>
        <p:nvSpPr>
          <p:cNvPr id="20" name="Text 18"/>
          <p:cNvSpPr/>
          <p:nvPr/>
        </p:nvSpPr>
        <p:spPr>
          <a:xfrm>
            <a:off x="812800" y="5577830"/>
            <a:ext cx="12581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MÉCANISMES</a:t>
            </a:r>
            <a:endParaRPr lang="en-US" sz="1200" dirty="0"/>
          </a:p>
        </p:txBody>
      </p:sp>
      <p:sp>
        <p:nvSpPr>
          <p:cNvPr id="21" name="Text 19"/>
          <p:cNvSpPr/>
          <p:nvPr/>
        </p:nvSpPr>
        <p:spPr>
          <a:xfrm>
            <a:off x="2070947" y="5527030"/>
            <a:ext cx="1969241" cy="31496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httpGet</a:t>
            </a:r>
            <a:r>
              <a:rPr lang="en-US" sz="1200" dirty="0">
                <a:solidFill>
                  <a:srgbClr val="0B0748"/>
                </a:solidFill>
                <a:latin typeface="IBM Plex Sans" pitchFamily="34" charset="0"/>
                <a:ea typeface="IBM Plex Sans" pitchFamily="34" charset="-122"/>
                <a:cs typeface="IBM Plex Sans" pitchFamily="34" charset="-120"/>
              </a:rPr>
              <a:t> : code 200 à 399</a:t>
            </a:r>
            <a:endParaRPr lang="en-US" sz="1200" dirty="0"/>
          </a:p>
        </p:txBody>
      </p:sp>
      <p:sp>
        <p:nvSpPr>
          <p:cNvPr id="22" name="Text 20"/>
          <p:cNvSpPr/>
          <p:nvPr/>
        </p:nvSpPr>
        <p:spPr>
          <a:xfrm>
            <a:off x="4129088" y="5527030"/>
            <a:ext cx="2083541" cy="31496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tcpSocket</a:t>
            </a:r>
            <a:r>
              <a:rPr lang="en-US" sz="1200" dirty="0">
                <a:solidFill>
                  <a:srgbClr val="0B0748"/>
                </a:solidFill>
                <a:latin typeface="IBM Plex Sans" pitchFamily="34" charset="0"/>
                <a:ea typeface="IBM Plex Sans" pitchFamily="34" charset="-122"/>
                <a:cs typeface="IBM Plex Sans" pitchFamily="34" charset="-120"/>
              </a:rPr>
              <a:t> : le port accepte</a:t>
            </a:r>
            <a:endParaRPr lang="en-US" sz="1200" dirty="0"/>
          </a:p>
        </p:txBody>
      </p:sp>
      <p:sp>
        <p:nvSpPr>
          <p:cNvPr id="23" name="Text 21"/>
          <p:cNvSpPr/>
          <p:nvPr/>
        </p:nvSpPr>
        <p:spPr>
          <a:xfrm>
            <a:off x="6301529" y="5527030"/>
            <a:ext cx="2269913" cy="31496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exec</a:t>
            </a:r>
            <a:r>
              <a:rPr lang="en-US" sz="1200" dirty="0">
                <a:solidFill>
                  <a:srgbClr val="0B0748"/>
                </a:solidFill>
                <a:latin typeface="IBM Plex Sans" pitchFamily="34" charset="0"/>
                <a:ea typeface="IBM Plex Sans" pitchFamily="34" charset="-122"/>
                <a:cs typeface="IBM Plex Sans" pitchFamily="34" charset="-120"/>
              </a:rPr>
              <a:t> : la commande renvoie 0</a:t>
            </a:r>
            <a:endParaRPr lang="en-US" sz="1200" dirty="0"/>
          </a:p>
        </p:txBody>
      </p:sp>
      <p:sp>
        <p:nvSpPr>
          <p:cNvPr id="24" name="Text 22"/>
          <p:cNvSpPr/>
          <p:nvPr/>
        </p:nvSpPr>
        <p:spPr>
          <a:xfrm>
            <a:off x="8660342" y="5527030"/>
            <a:ext cx="545783" cy="31496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grpc</a:t>
            </a:r>
            <a:endParaRPr lang="en-US" sz="1200" dirty="0"/>
          </a:p>
        </p:txBody>
      </p:sp>
      <p:pic>
        <p:nvPicPr>
          <p:cNvPr id="25"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6" name="Text 23"/>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7" name="Image 1" descr="Parcours : module 9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09 · CYCLE DE VIE DES APPLICATIONS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Configurer les probes</a:t>
            </a:r>
            <a:endParaRPr lang="en-US" sz="2800" dirty="0"/>
          </a:p>
        </p:txBody>
      </p:sp>
      <p:sp>
        <p:nvSpPr>
          <p:cNvPr id="4" name="Text 2"/>
          <p:cNvSpPr/>
          <p:nvPr/>
        </p:nvSpPr>
        <p:spPr>
          <a:xfrm>
            <a:off x="812800" y="1595140"/>
            <a:ext cx="5461000" cy="4246880"/>
          </a:xfrm>
          <a:prstGeom prst="roundRect">
            <a:avLst>
              <a:gd name="adj" fmla="val 2392"/>
            </a:avLst>
          </a:prstGeom>
          <a:solidFill>
            <a:srgbClr val="0B0748"/>
          </a:solidFill>
          <a:ln/>
        </p:spPr>
        <p:txBody>
          <a:bodyPr wrap="none" lIns="160742" tIns="122642" rIns="8342" bIns="122642" rtlCol="0" anchor="ctr">
            <a:normAutofit/>
          </a:bodyPr>
          <a:lstStyle/>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containers:</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name: podinfo</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image: ghcr.io/stefanprodan/podinfo:6.7.1</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startupProbe:</a:t>
            </a: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9A96D0"/>
                </a:solidFill>
                <a:latin typeface="JetBrains Mono" pitchFamily="49" charset="0"/>
                <a:ea typeface="JetBrains Mono" pitchFamily="49" charset="-122"/>
                <a:cs typeface="JetBrains Mono" pitchFamily="49" charset="-120"/>
              </a:rPr>
              <a:t># jusqu'à 30 × 2 s = 60 s</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httpGet: {path: /healthz, port: 9898}</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periodSeconds: 2</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failureThreshold: 30</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readinessProbe:</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httpGet: {path: /readyz, port: 9898}</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periodSeconds: 5</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livenessProbe:</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httpGet: {path: /healthz, port: 9898}</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periodSeconds: 10</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failureThreshold: 3</a:t>
            </a:r>
            <a:endParaRPr lang="en-US" sz="1200" dirty="0"/>
          </a:p>
        </p:txBody>
      </p:sp>
      <p:sp>
        <p:nvSpPr>
          <p:cNvPr id="5" name="Text 3"/>
          <p:cNvSpPr/>
          <p:nvPr/>
        </p:nvSpPr>
        <p:spPr>
          <a:xfrm>
            <a:off x="6553200" y="2362002"/>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PARAMÈTRES ET VALEURS PAR DÉFAUT</a:t>
            </a:r>
            <a:endParaRPr lang="en-US" sz="1200" dirty="0"/>
          </a:p>
        </p:txBody>
      </p:sp>
      <p:sp>
        <p:nvSpPr>
          <p:cNvPr id="6" name="Shape 4"/>
          <p:cNvSpPr/>
          <p:nvPr/>
        </p:nvSpPr>
        <p:spPr>
          <a:xfrm>
            <a:off x="6553200" y="3006007"/>
            <a:ext cx="4826000" cy="0"/>
          </a:xfrm>
          <a:prstGeom prst="line">
            <a:avLst/>
          </a:prstGeom>
          <a:noFill/>
          <a:ln w="6350">
            <a:solidFill>
              <a:srgbClr val="E1DFEE"/>
            </a:solidFill>
            <a:prstDash val="solid"/>
          </a:ln>
        </p:spPr>
      </p:sp>
      <p:sp>
        <p:nvSpPr>
          <p:cNvPr id="7" name="Text 5"/>
          <p:cNvSpPr/>
          <p:nvPr/>
        </p:nvSpPr>
        <p:spPr>
          <a:xfrm>
            <a:off x="6553200" y="2710904"/>
            <a:ext cx="447370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initialDelaySeconds</a:t>
            </a:r>
            <a:endParaRPr lang="en-US" sz="1200" dirty="0"/>
          </a:p>
        </p:txBody>
      </p:sp>
      <p:sp>
        <p:nvSpPr>
          <p:cNvPr id="8" name="Text 6"/>
          <p:cNvSpPr/>
          <p:nvPr/>
        </p:nvSpPr>
        <p:spPr>
          <a:xfrm>
            <a:off x="10947400" y="2689671"/>
            <a:ext cx="43180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E25A2C"/>
                </a:solidFill>
                <a:latin typeface="Sora" pitchFamily="34" charset="0"/>
                <a:ea typeface="Sora" pitchFamily="34" charset="-122"/>
                <a:cs typeface="Sora" pitchFamily="34" charset="-120"/>
              </a:rPr>
              <a:t>0</a:t>
            </a:r>
            <a:endParaRPr lang="en-US" sz="1400" dirty="0"/>
          </a:p>
        </p:txBody>
      </p:sp>
      <p:sp>
        <p:nvSpPr>
          <p:cNvPr id="9" name="Shape 7"/>
          <p:cNvSpPr/>
          <p:nvPr/>
        </p:nvSpPr>
        <p:spPr>
          <a:xfrm>
            <a:off x="6553200" y="3401692"/>
            <a:ext cx="4826000" cy="0"/>
          </a:xfrm>
          <a:prstGeom prst="line">
            <a:avLst/>
          </a:prstGeom>
          <a:noFill/>
          <a:ln w="6350">
            <a:solidFill>
              <a:srgbClr val="E1DFEE"/>
            </a:solidFill>
            <a:prstDash val="solid"/>
          </a:ln>
        </p:spPr>
      </p:sp>
      <p:sp>
        <p:nvSpPr>
          <p:cNvPr id="10" name="Text 8"/>
          <p:cNvSpPr/>
          <p:nvPr/>
        </p:nvSpPr>
        <p:spPr>
          <a:xfrm>
            <a:off x="6553200" y="3106638"/>
            <a:ext cx="447370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periodSeconds</a:t>
            </a:r>
            <a:endParaRPr lang="en-US" sz="1200" dirty="0"/>
          </a:p>
        </p:txBody>
      </p:sp>
      <p:sp>
        <p:nvSpPr>
          <p:cNvPr id="11" name="Text 9"/>
          <p:cNvSpPr/>
          <p:nvPr/>
        </p:nvSpPr>
        <p:spPr>
          <a:xfrm>
            <a:off x="10947400" y="3085356"/>
            <a:ext cx="43180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E25A2C"/>
                </a:solidFill>
                <a:latin typeface="Sora" pitchFamily="34" charset="0"/>
                <a:ea typeface="Sora" pitchFamily="34" charset="-122"/>
                <a:cs typeface="Sora" pitchFamily="34" charset="-120"/>
              </a:rPr>
              <a:t>10</a:t>
            </a:r>
            <a:endParaRPr lang="en-US" sz="1400" dirty="0"/>
          </a:p>
        </p:txBody>
      </p:sp>
      <p:sp>
        <p:nvSpPr>
          <p:cNvPr id="12" name="Shape 10"/>
          <p:cNvSpPr/>
          <p:nvPr/>
        </p:nvSpPr>
        <p:spPr>
          <a:xfrm>
            <a:off x="6553200" y="3797426"/>
            <a:ext cx="4826000" cy="0"/>
          </a:xfrm>
          <a:prstGeom prst="line">
            <a:avLst/>
          </a:prstGeom>
          <a:noFill/>
          <a:ln w="6350">
            <a:solidFill>
              <a:srgbClr val="E1DFEE"/>
            </a:solidFill>
            <a:prstDash val="solid"/>
          </a:ln>
        </p:spPr>
      </p:sp>
      <p:sp>
        <p:nvSpPr>
          <p:cNvPr id="13" name="Text 11"/>
          <p:cNvSpPr/>
          <p:nvPr/>
        </p:nvSpPr>
        <p:spPr>
          <a:xfrm>
            <a:off x="6553200" y="3502323"/>
            <a:ext cx="447370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timeoutSeconds</a:t>
            </a:r>
            <a:endParaRPr lang="en-US" sz="1200" dirty="0"/>
          </a:p>
        </p:txBody>
      </p:sp>
      <p:sp>
        <p:nvSpPr>
          <p:cNvPr id="14" name="Text 12"/>
          <p:cNvSpPr/>
          <p:nvPr/>
        </p:nvSpPr>
        <p:spPr>
          <a:xfrm>
            <a:off x="10947400" y="3481090"/>
            <a:ext cx="43180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E25A2C"/>
                </a:solidFill>
                <a:latin typeface="Sora" pitchFamily="34" charset="0"/>
                <a:ea typeface="Sora" pitchFamily="34" charset="-122"/>
                <a:cs typeface="Sora" pitchFamily="34" charset="-120"/>
              </a:rPr>
              <a:t>1</a:t>
            </a:r>
            <a:endParaRPr lang="en-US" sz="1400" dirty="0"/>
          </a:p>
        </p:txBody>
      </p:sp>
      <p:sp>
        <p:nvSpPr>
          <p:cNvPr id="15" name="Shape 13"/>
          <p:cNvSpPr/>
          <p:nvPr/>
        </p:nvSpPr>
        <p:spPr>
          <a:xfrm>
            <a:off x="6553200" y="4193110"/>
            <a:ext cx="4826000" cy="0"/>
          </a:xfrm>
          <a:prstGeom prst="line">
            <a:avLst/>
          </a:prstGeom>
          <a:noFill/>
          <a:ln w="6350">
            <a:solidFill>
              <a:srgbClr val="E1DFEE"/>
            </a:solidFill>
            <a:prstDash val="solid"/>
          </a:ln>
        </p:spPr>
      </p:sp>
      <p:sp>
        <p:nvSpPr>
          <p:cNvPr id="16" name="Text 14"/>
          <p:cNvSpPr/>
          <p:nvPr/>
        </p:nvSpPr>
        <p:spPr>
          <a:xfrm>
            <a:off x="6553200" y="3898057"/>
            <a:ext cx="447370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failureThreshold</a:t>
            </a:r>
            <a:endParaRPr lang="en-US" sz="1200" dirty="0"/>
          </a:p>
        </p:txBody>
      </p:sp>
      <p:sp>
        <p:nvSpPr>
          <p:cNvPr id="17" name="Text 15"/>
          <p:cNvSpPr/>
          <p:nvPr/>
        </p:nvSpPr>
        <p:spPr>
          <a:xfrm>
            <a:off x="10947400" y="3876774"/>
            <a:ext cx="43180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E25A2C"/>
                </a:solidFill>
                <a:latin typeface="Sora" pitchFamily="34" charset="0"/>
                <a:ea typeface="Sora" pitchFamily="34" charset="-122"/>
                <a:cs typeface="Sora" pitchFamily="34" charset="-120"/>
              </a:rPr>
              <a:t>3</a:t>
            </a:r>
            <a:endParaRPr lang="en-US" sz="1400" dirty="0"/>
          </a:p>
        </p:txBody>
      </p:sp>
      <p:sp>
        <p:nvSpPr>
          <p:cNvPr id="18" name="Text 16"/>
          <p:cNvSpPr/>
          <p:nvPr/>
        </p:nvSpPr>
        <p:spPr>
          <a:xfrm>
            <a:off x="6553200" y="4293741"/>
            <a:ext cx="447370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successThreshold</a:t>
            </a:r>
            <a:endParaRPr lang="en-US" sz="1200" dirty="0"/>
          </a:p>
        </p:txBody>
      </p:sp>
      <p:sp>
        <p:nvSpPr>
          <p:cNvPr id="19" name="Text 17"/>
          <p:cNvSpPr/>
          <p:nvPr/>
        </p:nvSpPr>
        <p:spPr>
          <a:xfrm>
            <a:off x="10947400" y="4272508"/>
            <a:ext cx="43180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E25A2C"/>
                </a:solidFill>
                <a:latin typeface="Sora" pitchFamily="34" charset="0"/>
                <a:ea typeface="Sora" pitchFamily="34" charset="-122"/>
                <a:cs typeface="Sora" pitchFamily="34" charset="-120"/>
              </a:rPr>
              <a:t>1</a:t>
            </a:r>
            <a:endParaRPr lang="en-US" sz="1400" dirty="0"/>
          </a:p>
        </p:txBody>
      </p:sp>
      <p:sp>
        <p:nvSpPr>
          <p:cNvPr id="20" name="Text 18"/>
          <p:cNvSpPr/>
          <p:nvPr/>
        </p:nvSpPr>
        <p:spPr>
          <a:xfrm>
            <a:off x="6553200" y="4648398"/>
            <a:ext cx="49707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Attente avant le premier test, intervalle, délai de réponse, échecs ou succès consécutifs avant de conclure.</a:t>
            </a:r>
            <a:endParaRPr lang="en-US" sz="1200" dirty="0"/>
          </a:p>
        </p:txBody>
      </p:sp>
      <p:pic>
        <p:nvPicPr>
          <p:cNvPr id="21"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2" name="Text 19"/>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3" name="Image 1" descr="Parcours : module 9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30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09 · CYCLE DE VIE DES APPLICATIONS</a:t>
            </a:r>
            <a:endParaRPr lang="en-US" sz="1200" dirty="0"/>
          </a:p>
        </p:txBody>
      </p:sp>
      <p:sp>
        <p:nvSpPr>
          <p:cNvPr id="3" name="Text 1"/>
          <p:cNvSpPr/>
          <p:nvPr>
            <p:ph type="title"/>
          </p:nvPr>
        </p:nvSpPr>
        <p:spPr>
          <a:xfrm>
            <a:off x="812800" y="94987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Probes et mises à jour sans erreur</a:t>
            </a:r>
            <a:endParaRPr lang="en-US" sz="2800" dirty="0"/>
          </a:p>
        </p:txBody>
      </p:sp>
      <p:sp>
        <p:nvSpPr>
          <p:cNvPr id="4" name="Shape 2"/>
          <p:cNvSpPr/>
          <p:nvPr/>
        </p:nvSpPr>
        <p:spPr>
          <a:xfrm>
            <a:off x="812800" y="1531640"/>
            <a:ext cx="10566400" cy="935990"/>
          </a:xfrm>
          <a:prstGeom prst="roundRect">
            <a:avLst>
              <a:gd name="adj" fmla="val 13569"/>
            </a:avLst>
          </a:prstGeom>
          <a:solidFill>
            <a:srgbClr val="0B0748"/>
          </a:solidFill>
          <a:ln/>
        </p:spPr>
      </p:sp>
      <p:sp>
        <p:nvSpPr>
          <p:cNvPr id="5" name="Text 3"/>
          <p:cNvSpPr/>
          <p:nvPr/>
        </p:nvSpPr>
        <p:spPr>
          <a:xfrm>
            <a:off x="1041400" y="1709341"/>
            <a:ext cx="10412476"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F8F66"/>
                </a:solidFill>
                <a:latin typeface="Sora" pitchFamily="34" charset="0"/>
                <a:ea typeface="Sora" pitchFamily="34" charset="-122"/>
                <a:cs typeface="Sora" pitchFamily="34" charset="-120"/>
              </a:rPr>
              <a:t>Une liveness ne teste que le processus lui-même, jamais une dépendance.</a:t>
            </a:r>
            <a:endParaRPr lang="en-US" sz="1800" dirty="0"/>
          </a:p>
        </p:txBody>
      </p:sp>
      <p:sp>
        <p:nvSpPr>
          <p:cNvPr id="6" name="Text 4"/>
          <p:cNvSpPr/>
          <p:nvPr/>
        </p:nvSpPr>
        <p:spPr>
          <a:xfrm>
            <a:off x="1041400" y="2058591"/>
            <a:ext cx="1041247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Si elle vérifie la base de données, une panne de la base fait redémarrer tous les pods en boucle : l'incident s'aggrave.</a:t>
            </a:r>
            <a:endParaRPr lang="en-US" sz="1300" dirty="0"/>
          </a:p>
        </p:txBody>
      </p:sp>
      <p:sp>
        <p:nvSpPr>
          <p:cNvPr id="7" name="Text 5"/>
          <p:cNvSpPr/>
          <p:nvPr/>
        </p:nvSpPr>
        <p:spPr>
          <a:xfrm>
            <a:off x="815975" y="2661196"/>
            <a:ext cx="3414183" cy="953982"/>
          </a:xfrm>
          <a:prstGeom prst="roundRect">
            <a:avLst>
              <a:gd name="adj" fmla="val 11649"/>
            </a:avLst>
          </a:prstGeom>
          <a:solidFill>
            <a:srgbClr val="FDFDFF"/>
          </a:solidFill>
          <a:ln w="6350">
            <a:solidFill>
              <a:srgbClr val="E1DFEE"/>
            </a:solidFill>
            <a:prstDash val="solid"/>
          </a:ln>
        </p:spPr>
        <p:txBody>
          <a:bodyPr wrap="square" lIns="136468" tIns="111068" rIns="44184" bIns="85668"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La </a:t>
            </a:r>
            <a:r>
              <a:rPr lang="en-US" sz="1250" b="1" dirty="0">
                <a:solidFill>
                  <a:srgbClr val="3F3C6B"/>
                </a:solidFill>
                <a:latin typeface="IBM Plex Sans" pitchFamily="34" charset="0"/>
                <a:ea typeface="IBM Plex Sans" pitchFamily="34" charset="-122"/>
                <a:cs typeface="IBM Plex Sans" pitchFamily="34" charset="-120"/>
              </a:rPr>
              <a:t>readiness</a:t>
            </a:r>
            <a:r>
              <a:rPr lang="en-US" sz="1250" dirty="0">
                <a:solidFill>
                  <a:srgbClr val="3F3C6B"/>
                </a:solidFill>
                <a:latin typeface="IBM Plex Sans" pitchFamily="34" charset="0"/>
                <a:ea typeface="IBM Plex Sans" pitchFamily="34" charset="-122"/>
                <a:cs typeface="IBM Plex Sans" pitchFamily="34" charset="-120"/>
              </a:rPr>
              <a:t> peut, elle, tenir compte de ce dont l'application a besoin : cache chargé, connexion établie.</a:t>
            </a:r>
            <a:endParaRPr lang="en-US" sz="1250" dirty="0"/>
          </a:p>
        </p:txBody>
      </p:sp>
      <p:sp>
        <p:nvSpPr>
          <p:cNvPr id="8" name="Text 6"/>
          <p:cNvSpPr/>
          <p:nvPr/>
        </p:nvSpPr>
        <p:spPr>
          <a:xfrm>
            <a:off x="4388908" y="2661196"/>
            <a:ext cx="3414183" cy="953982"/>
          </a:xfrm>
          <a:prstGeom prst="roundRect">
            <a:avLst>
              <a:gd name="adj" fmla="val 11649"/>
            </a:avLst>
          </a:prstGeom>
          <a:solidFill>
            <a:srgbClr val="FDFDFF"/>
          </a:solidFill>
          <a:ln w="6350">
            <a:solidFill>
              <a:srgbClr val="E1DFEE"/>
            </a:solidFill>
            <a:prstDash val="solid"/>
          </a:ln>
        </p:spPr>
        <p:txBody>
          <a:bodyPr wrap="square" lIns="136468" tIns="111068" rIns="44184" bIns="85668"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Démarrage lent : une </a:t>
            </a:r>
            <a:r>
              <a:rPr lang="en-US" sz="1250" b="1" dirty="0">
                <a:solidFill>
                  <a:srgbClr val="3F3C6B"/>
                </a:solidFill>
                <a:latin typeface="IBM Plex Sans" pitchFamily="34" charset="0"/>
                <a:ea typeface="IBM Plex Sans" pitchFamily="34" charset="-122"/>
                <a:cs typeface="IBM Plex Sans" pitchFamily="34" charset="-120"/>
              </a:rPr>
              <a:t>startupProbe</a:t>
            </a:r>
            <a:r>
              <a:rPr lang="en-US" sz="1250" dirty="0">
                <a:solidFill>
                  <a:srgbClr val="3F3C6B"/>
                </a:solidFill>
                <a:latin typeface="IBM Plex Sans" pitchFamily="34" charset="0"/>
                <a:ea typeface="IBM Plex Sans" pitchFamily="34" charset="-122"/>
                <a:cs typeface="IBM Plex Sans" pitchFamily="34" charset="-120"/>
              </a:rPr>
              <a:t> plutôt qu'un long initialDelaySeconds sur la liveness.</a:t>
            </a:r>
            <a:endParaRPr lang="en-US" sz="1250" dirty="0"/>
          </a:p>
        </p:txBody>
      </p:sp>
      <p:sp>
        <p:nvSpPr>
          <p:cNvPr id="9" name="Text 7"/>
          <p:cNvSpPr/>
          <p:nvPr/>
        </p:nvSpPr>
        <p:spPr>
          <a:xfrm>
            <a:off x="7961842" y="2661196"/>
            <a:ext cx="3414183" cy="953982"/>
          </a:xfrm>
          <a:prstGeom prst="roundRect">
            <a:avLst>
              <a:gd name="adj" fmla="val 11649"/>
            </a:avLst>
          </a:prstGeom>
          <a:solidFill>
            <a:srgbClr val="FDFDFF"/>
          </a:solidFill>
          <a:ln w="6350">
            <a:solidFill>
              <a:srgbClr val="E1DFEE"/>
            </a:solidFill>
            <a:prstDash val="solid"/>
          </a:ln>
        </p:spPr>
        <p:txBody>
          <a:bodyPr wrap="square" lIns="136468" tIns="111068" rIns="44184" bIns="85668" rtlCol="0" anchor="t">
            <a:normAutofit/>
          </a:bodyPr>
          <a:lstStyle/>
          <a:p>
            <a:pPr algn="l" indent="0" marL="0">
              <a:lnSpc>
                <a:spcPts val="1750"/>
              </a:lnSpc>
              <a:buNone/>
            </a:pPr>
            <a:r>
              <a:rPr lang="en-US" sz="1250" b="1" dirty="0">
                <a:solidFill>
                  <a:srgbClr val="3F3C6B"/>
                </a:solidFill>
                <a:latin typeface="IBM Plex Sans" pitchFamily="34" charset="0"/>
                <a:ea typeface="IBM Plex Sans" pitchFamily="34" charset="-122"/>
                <a:cs typeface="IBM Plex Sans" pitchFamily="34" charset="-120"/>
              </a:rPr>
              <a:t>Sans readiness</a:t>
            </a:r>
            <a:r>
              <a:rPr lang="en-US" sz="1250" dirty="0">
                <a:solidFill>
                  <a:srgbClr val="3F3C6B"/>
                </a:solidFill>
                <a:latin typeface="IBM Plex Sans" pitchFamily="34" charset="0"/>
                <a:ea typeface="IBM Plex Sans" pitchFamily="34" charset="-122"/>
                <a:cs typeface="IBM Plex Sans" pitchFamily="34" charset="-120"/>
              </a:rPr>
              <a:t>, un pod reçoit du trafic avant d'être prêt : des erreurs à chaque mise à jour.</a:t>
            </a:r>
            <a:endParaRPr lang="en-US" sz="1250" dirty="0"/>
          </a:p>
        </p:txBody>
      </p:sp>
      <p:sp>
        <p:nvSpPr>
          <p:cNvPr id="10" name="Shape 8"/>
          <p:cNvSpPr/>
          <p:nvPr/>
        </p:nvSpPr>
        <p:spPr>
          <a:xfrm>
            <a:off x="812800" y="3818384"/>
            <a:ext cx="5207000" cy="0"/>
          </a:xfrm>
          <a:prstGeom prst="line">
            <a:avLst/>
          </a:prstGeom>
          <a:noFill/>
          <a:ln w="19050">
            <a:solidFill>
              <a:srgbClr val="0B0748"/>
            </a:solidFill>
            <a:prstDash val="solid"/>
          </a:ln>
        </p:spPr>
      </p:sp>
      <p:sp>
        <p:nvSpPr>
          <p:cNvPr id="11" name="Text 9"/>
          <p:cNvSpPr/>
          <p:nvPr/>
        </p:nvSpPr>
        <p:spPr>
          <a:xfrm>
            <a:off x="812800" y="3950047"/>
            <a:ext cx="53632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CRASHLOOPBACKOFF</a:t>
            </a:r>
            <a:endParaRPr lang="en-US" sz="1200" dirty="0"/>
          </a:p>
        </p:txBody>
      </p:sp>
      <p:sp>
        <p:nvSpPr>
          <p:cNvPr id="12" name="Text 10"/>
          <p:cNvSpPr/>
          <p:nvPr/>
        </p:nvSpPr>
        <p:spPr>
          <a:xfrm>
            <a:off x="812800" y="4214168"/>
            <a:ext cx="5363210"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Un conteneur en erreur est relancé avec un délai croissant : 10 s, 20 s, 40 s… plafonné à 5 min. RESTARTS compte les redémarrages.</a:t>
            </a:r>
            <a:endParaRPr lang="en-US" sz="1250" dirty="0"/>
          </a:p>
        </p:txBody>
      </p:sp>
      <p:sp>
        <p:nvSpPr>
          <p:cNvPr id="13" name="Shape 11"/>
          <p:cNvSpPr/>
          <p:nvPr/>
        </p:nvSpPr>
        <p:spPr>
          <a:xfrm>
            <a:off x="6172200" y="3818384"/>
            <a:ext cx="5207000" cy="0"/>
          </a:xfrm>
          <a:prstGeom prst="line">
            <a:avLst/>
          </a:prstGeom>
          <a:noFill/>
          <a:ln w="19050">
            <a:solidFill>
              <a:srgbClr val="E25A2C"/>
            </a:solidFill>
            <a:prstDash val="solid"/>
          </a:ln>
        </p:spPr>
      </p:sp>
      <p:sp>
        <p:nvSpPr>
          <p:cNvPr id="14" name="Text 12"/>
          <p:cNvSpPr/>
          <p:nvPr/>
        </p:nvSpPr>
        <p:spPr>
          <a:xfrm>
            <a:off x="6172200" y="3950047"/>
            <a:ext cx="53632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ZÉRO ERREUR PENDANT UN ROLLOUT</a:t>
            </a:r>
            <a:endParaRPr lang="en-US" sz="1200" dirty="0"/>
          </a:p>
        </p:txBody>
      </p:sp>
      <p:sp>
        <p:nvSpPr>
          <p:cNvPr id="15" name="Text 13"/>
          <p:cNvSpPr/>
          <p:nvPr/>
        </p:nvSpPr>
        <p:spPr>
          <a:xfrm>
            <a:off x="6172200" y="4214168"/>
            <a:ext cx="5363210"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À l'arrivée, la readiness retient le trafic. Au départ, une pause preStop laisse aux règles réseau le temps de suivre :</a:t>
            </a:r>
            <a:endParaRPr lang="en-US" sz="1250" dirty="0"/>
          </a:p>
        </p:txBody>
      </p:sp>
      <p:sp>
        <p:nvSpPr>
          <p:cNvPr id="16" name="Text 14"/>
          <p:cNvSpPr/>
          <p:nvPr/>
        </p:nvSpPr>
        <p:spPr>
          <a:xfrm>
            <a:off x="6172200" y="4709468"/>
            <a:ext cx="5207000" cy="314960"/>
          </a:xfrm>
          <a:prstGeom prst="roundRect">
            <a:avLst>
              <a:gd name="adj" fmla="val 20161"/>
            </a:avLst>
          </a:prstGeom>
          <a:solidFill>
            <a:srgbClr val="ECEAF6"/>
          </a:solidFill>
          <a:ln/>
        </p:spPr>
        <p:txBody>
          <a:bodyPr wrap="square" lIns="70301" tIns="32201" rIns="0" bIns="6801"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preStop: {exec: {command: ["sh", "-c", "sleep 5"]}}</a:t>
            </a:r>
            <a:endParaRPr lang="en-US" sz="1200" dirty="0"/>
          </a:p>
        </p:txBody>
      </p:sp>
      <p:pic>
        <p:nvPicPr>
          <p:cNvPr id="17" name="Image 0" descr="preencoded.png">    </p:cNvPr>
          <p:cNvPicPr>
            <a:picLocks noChangeAspect="1"/>
          </p:cNvPicPr>
          <p:nvPr/>
        </p:nvPicPr>
        <p:blipFill>
          <a:blip r:embed="rId1"/>
          <a:srcRect l="0" r="0" t="0" b="0"/>
          <a:stretch/>
        </p:blipFill>
        <p:spPr>
          <a:xfrm>
            <a:off x="812800" y="6299101"/>
            <a:ext cx="152400" cy="152400"/>
          </a:xfrm>
          <a:prstGeom prst="rect">
            <a:avLst/>
          </a:prstGeom>
        </p:spPr>
      </p:pic>
      <p:sp>
        <p:nvSpPr>
          <p:cNvPr id="18" name="Text 15"/>
          <p:cNvSpPr/>
          <p:nvPr/>
        </p:nvSpPr>
        <p:spPr>
          <a:xfrm>
            <a:off x="1066800" y="6299101"/>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9" name="Image 1" descr="Parcours : module 9 sur 16">    </p:cNvPr>
          <p:cNvPicPr>
            <a:picLocks noChangeAspect="1"/>
          </p:cNvPicPr>
          <p:nvPr/>
        </p:nvPicPr>
        <p:blipFill>
          <a:blip r:embed="rId2"/>
          <a:srcRect l="0" r="0" t="0" b="0"/>
          <a:stretch/>
        </p:blipFill>
        <p:spPr>
          <a:xfrm>
            <a:off x="9207500" y="6299101"/>
            <a:ext cx="2171700" cy="1524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09 · CYCLE DE VIE DES APPLICATIONS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Jobs</a:t>
            </a:r>
            <a:endParaRPr lang="en-US" sz="2800" dirty="0"/>
          </a:p>
        </p:txBody>
      </p:sp>
      <p:sp>
        <p:nvSpPr>
          <p:cNvPr id="4" name="Text 2"/>
          <p:cNvSpPr/>
          <p:nvPr/>
        </p:nvSpPr>
        <p:spPr>
          <a:xfrm>
            <a:off x="812800" y="1569740"/>
            <a:ext cx="6731000" cy="4272280"/>
          </a:xfrm>
          <a:prstGeom prst="roundRect">
            <a:avLst>
              <a:gd name="adj" fmla="val 2378"/>
            </a:avLst>
          </a:prstGeom>
          <a:solidFill>
            <a:srgbClr val="0B0748"/>
          </a:solidFill>
          <a:ln/>
        </p:spPr>
        <p:txBody>
          <a:bodyPr wrap="none" lIns="160742" tIns="97242" rIns="0" bIns="97242" rtlCol="0" anchor="ctr">
            <a:normAutofit/>
          </a:bodyPr>
          <a:lstStyle/>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apiVersion: batch/v1</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kind: </a:t>
            </a:r>
            <a:r>
              <a:rPr lang="en-US" sz="1200" dirty="0">
                <a:solidFill>
                  <a:srgbClr val="FFB08F"/>
                </a:solidFill>
                <a:latin typeface="JetBrains Mono" pitchFamily="49" charset="0"/>
                <a:ea typeface="JetBrains Mono" pitchFamily="49" charset="-122"/>
                <a:cs typeface="JetBrains Mono" pitchFamily="49" charset="-120"/>
              </a:rPr>
              <a:t>Job</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metadata:</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  name: calcul-indices</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spec:</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  completions: 5                 </a:t>
            </a:r>
            <a:r>
              <a:rPr lang="en-US" sz="1200" dirty="0">
                <a:solidFill>
                  <a:srgbClr val="9A96D0"/>
                </a:solidFill>
                <a:latin typeface="JetBrains Mono" pitchFamily="49" charset="0"/>
                <a:ea typeface="JetBrains Mono" pitchFamily="49" charset="-122"/>
                <a:cs typeface="JetBrains Mono" pitchFamily="49" charset="-120"/>
              </a:rPr>
              <a:t># 5 exécutions réussies au total</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  parallelism: 2                 </a:t>
            </a:r>
            <a:r>
              <a:rPr lang="en-US" sz="1200" dirty="0">
                <a:solidFill>
                  <a:srgbClr val="9A96D0"/>
                </a:solidFill>
                <a:latin typeface="JetBrains Mono" pitchFamily="49" charset="0"/>
                <a:ea typeface="JetBrains Mono" pitchFamily="49" charset="-122"/>
                <a:cs typeface="JetBrains Mono" pitchFamily="49" charset="-120"/>
              </a:rPr>
              <a:t># 2 pods en même temps</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  backoffLimit: 4                </a:t>
            </a:r>
            <a:r>
              <a:rPr lang="en-US" sz="1200" dirty="0">
                <a:solidFill>
                  <a:srgbClr val="9A96D0"/>
                </a:solidFill>
                <a:latin typeface="JetBrains Mono" pitchFamily="49" charset="0"/>
                <a:ea typeface="JetBrains Mono" pitchFamily="49" charset="-122"/>
                <a:cs typeface="JetBrains Mono" pitchFamily="49" charset="-120"/>
              </a:rPr>
              <a:t># échecs tolérés (6 par défaut)</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  activeDeadlineSeconds: 3600    </a:t>
            </a:r>
            <a:r>
              <a:rPr lang="en-US" sz="1200" dirty="0">
                <a:solidFill>
                  <a:srgbClr val="9A96D0"/>
                </a:solidFill>
                <a:latin typeface="JetBrains Mono" pitchFamily="49" charset="0"/>
                <a:ea typeface="JetBrains Mono" pitchFamily="49" charset="-122"/>
                <a:cs typeface="JetBrains Mono" pitchFamily="49" charset="-120"/>
              </a:rPr>
              <a:t># durée maximale du Job</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  ttlSecondsAfterFinished: 86400 </a:t>
            </a:r>
            <a:r>
              <a:rPr lang="en-US" sz="1200" dirty="0">
                <a:solidFill>
                  <a:srgbClr val="9A96D0"/>
                </a:solidFill>
                <a:latin typeface="JetBrains Mono" pitchFamily="49" charset="0"/>
                <a:ea typeface="JetBrains Mono" pitchFamily="49" charset="-122"/>
                <a:cs typeface="JetBrains Mono" pitchFamily="49" charset="-120"/>
              </a:rPr>
              <a:t># supprimé 24 h après la fin</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  template:</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    spec:</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restartPolicy: Never</a:t>
            </a: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9A96D0"/>
                </a:solidFill>
                <a:latin typeface="JetBrains Mono" pitchFamily="49" charset="0"/>
                <a:ea typeface="JetBrains Mono" pitchFamily="49" charset="-122"/>
                <a:cs typeface="JetBrains Mono" pitchFamily="49" charset="-120"/>
              </a:rPr>
              <a:t># ou OnFailure, jamais Always</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      containers:</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      - name: calcul</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        image: mirror.gcr.io/library/python:3.12-alpine</a:t>
            </a:r>
            <a:endParaRPr lang="en-US" sz="1200" dirty="0"/>
          </a:p>
          <a:p>
            <a:pPr algn="l" indent="0" marL="0">
              <a:lnSpc>
                <a:spcPts val="1656"/>
              </a:lnSpc>
              <a:buNone/>
            </a:pPr>
            <a:r>
              <a:rPr lang="en-US" sz="1200" dirty="0">
                <a:solidFill>
                  <a:srgbClr val="ECEAFF"/>
                </a:solidFill>
                <a:latin typeface="JetBrains Mono" pitchFamily="49" charset="0"/>
                <a:ea typeface="JetBrains Mono" pitchFamily="49" charset="-122"/>
                <a:cs typeface="JetBrains Mono" pitchFamily="49" charset="-120"/>
              </a:rPr>
              <a:t>        command: ["python", "-c", "print('calcul terminé')"]</a:t>
            </a:r>
            <a:endParaRPr lang="en-US" sz="1200" dirty="0"/>
          </a:p>
        </p:txBody>
      </p:sp>
      <p:sp>
        <p:nvSpPr>
          <p:cNvPr id="5" name="Text 3"/>
          <p:cNvSpPr/>
          <p:nvPr/>
        </p:nvSpPr>
        <p:spPr>
          <a:xfrm>
            <a:off x="7797800" y="1569740"/>
            <a:ext cx="3688842"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0B0748"/>
                </a:solidFill>
                <a:latin typeface="IBM Plex Sans" pitchFamily="34" charset="0"/>
                <a:ea typeface="IBM Plex Sans" pitchFamily="34" charset="-122"/>
                <a:cs typeface="IBM Plex Sans" pitchFamily="34" charset="-120"/>
              </a:rPr>
              <a:t>Un Job exécute un ou plusieurs pods </a:t>
            </a:r>
            <a:r>
              <a:rPr lang="en-US" sz="1400" b="1" dirty="0">
                <a:solidFill>
                  <a:srgbClr val="0B0748"/>
                </a:solidFill>
                <a:latin typeface="IBM Plex Sans" pitchFamily="34" charset="0"/>
                <a:ea typeface="IBM Plex Sans" pitchFamily="34" charset="-122"/>
                <a:cs typeface="IBM Plex Sans" pitchFamily="34" charset="-120"/>
              </a:rPr>
              <a:t>jusqu'à leur terme</a:t>
            </a:r>
            <a:r>
              <a:rPr lang="en-US" sz="1400" dirty="0">
                <a:solidFill>
                  <a:srgbClr val="0B0748"/>
                </a:solidFill>
                <a:latin typeface="IBM Plex Sans" pitchFamily="34" charset="0"/>
                <a:ea typeface="IBM Plex Sans" pitchFamily="34" charset="-122"/>
                <a:cs typeface="IBM Plex Sans" pitchFamily="34" charset="-120"/>
              </a:rPr>
              <a:t> : traitement par lots, calcul, migration, sauvegarde.</a:t>
            </a:r>
            <a:endParaRPr lang="en-US" sz="1400" dirty="0"/>
          </a:p>
        </p:txBody>
      </p:sp>
      <p:sp>
        <p:nvSpPr>
          <p:cNvPr id="6" name="Text 4"/>
          <p:cNvSpPr/>
          <p:nvPr/>
        </p:nvSpPr>
        <p:spPr>
          <a:xfrm>
            <a:off x="7797800" y="2470150"/>
            <a:ext cx="3688842" cy="26479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F3C6B"/>
                </a:solidFill>
                <a:latin typeface="IBM Plex Sans" pitchFamily="34" charset="0"/>
                <a:ea typeface="IBM Plex Sans" pitchFamily="34" charset="-122"/>
                <a:cs typeface="IBM Plex Sans" pitchFamily="34" charset="-120"/>
              </a:rPr>
              <a:t>Un Job réussi n'est pas relancé.</a:t>
            </a:r>
            <a:endParaRPr lang="en-US" sz="1300" dirty="0"/>
          </a:p>
        </p:txBody>
      </p:sp>
      <p:sp>
        <p:nvSpPr>
          <p:cNvPr id="7" name="Text 5"/>
          <p:cNvSpPr/>
          <p:nvPr/>
        </p:nvSpPr>
        <p:spPr>
          <a:xfrm>
            <a:off x="7797800" y="2836565"/>
            <a:ext cx="3581400" cy="690880"/>
          </a:xfrm>
          <a:prstGeom prst="roundRect">
            <a:avLst>
              <a:gd name="adj" fmla="val 12868"/>
            </a:avLst>
          </a:prstGeom>
          <a:solidFill>
            <a:srgbClr val="ECEAF6"/>
          </a:solidFill>
          <a:ln/>
        </p:spPr>
        <p:txBody>
          <a:bodyPr wrap="none" lIns="100962" tIns="75562" rIns="1140" bIns="50162" rtlCol="0" anchor="t">
            <a:normAutofit/>
          </a:bodyPr>
          <a:lstStyle/>
          <a:p>
            <a:pPr algn="l" indent="0" marL="0">
              <a:lnSpc>
                <a:spcPts val="1920"/>
              </a:lnSpc>
              <a:buNone/>
            </a:pPr>
            <a:r>
              <a:rPr lang="en-US" sz="1200" dirty="0">
                <a:solidFill>
                  <a:srgbClr val="0B0748"/>
                </a:solidFill>
                <a:latin typeface="JetBrains Mono" pitchFamily="49" charset="0"/>
                <a:ea typeface="JetBrains Mono" pitchFamily="49" charset="-122"/>
                <a:cs typeface="JetBrains Mono" pitchFamily="49" charset="-120"/>
              </a:rPr>
              <a:t>kubectl get jobs</a:t>
            </a:r>
            <a:endParaRPr lang="en-US" sz="1200" dirty="0"/>
          </a:p>
          <a:p>
            <a:pPr algn="l" indent="0" marL="0">
              <a:lnSpc>
                <a:spcPts val="1920"/>
              </a:lnSpc>
              <a:buNone/>
            </a:pPr>
            <a:r>
              <a:rPr lang="en-US" sz="1200" dirty="0">
                <a:solidFill>
                  <a:srgbClr val="0B0748"/>
                </a:solidFill>
                <a:latin typeface="JetBrains Mono" pitchFamily="49" charset="0"/>
                <a:ea typeface="JetBrains Mono" pitchFamily="49" charset="-122"/>
                <a:cs typeface="JetBrains Mono" pitchFamily="49" charset="-120"/>
              </a:rPr>
              <a:t>kubectl logs job/calcul-indices</a:t>
            </a:r>
            <a:endParaRPr lang="en-US" sz="1200" dirty="0"/>
          </a:p>
        </p:txBody>
      </p:sp>
      <p:sp>
        <p:nvSpPr>
          <p:cNvPr id="8" name="Text 6"/>
          <p:cNvSpPr/>
          <p:nvPr/>
        </p:nvSpPr>
        <p:spPr>
          <a:xfrm>
            <a:off x="7797800" y="5201940"/>
            <a:ext cx="368884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Pour découper un travail : un Job indexé (completionMode: Indexed) donne à chaque pod un numéro, JOB_COMPLETION_INDEX.</a:t>
            </a:r>
            <a:endParaRPr lang="en-US" sz="1200" dirty="0"/>
          </a:p>
        </p:txBody>
      </p:sp>
      <p:pic>
        <p:nvPicPr>
          <p:cNvPr id="9"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0" name="Text 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1" name="Image 1" descr="Parcours : module 9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09 · CYCLE DE VIE DES APPLICATIONS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CronJobs</a:t>
            </a:r>
            <a:endParaRPr lang="en-US" sz="2800" dirty="0"/>
          </a:p>
        </p:txBody>
      </p:sp>
      <p:sp>
        <p:nvSpPr>
          <p:cNvPr id="4" name="Shape 2"/>
          <p:cNvSpPr/>
          <p:nvPr/>
        </p:nvSpPr>
        <p:spPr>
          <a:xfrm>
            <a:off x="815975" y="1534815"/>
            <a:ext cx="10560050" cy="1023832"/>
          </a:xfrm>
          <a:prstGeom prst="roundRect">
            <a:avLst>
              <a:gd name="adj" fmla="val 12094"/>
            </a:avLst>
          </a:prstGeom>
          <a:solidFill>
            <a:srgbClr val="FDFDFF"/>
          </a:solidFill>
          <a:ln w="6350">
            <a:solidFill>
              <a:srgbClr val="E1DFEE"/>
            </a:solidFill>
            <a:prstDash val="solid"/>
          </a:ln>
        </p:spPr>
      </p:sp>
      <p:sp>
        <p:nvSpPr>
          <p:cNvPr id="5" name="Text 3"/>
          <p:cNvSpPr/>
          <p:nvPr/>
        </p:nvSpPr>
        <p:spPr>
          <a:xfrm>
            <a:off x="3122062" y="1678434"/>
            <a:ext cx="512064" cy="52324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0B0748"/>
                </a:solidFill>
                <a:latin typeface="JetBrains Mono" pitchFamily="49" charset="0"/>
                <a:ea typeface="JetBrains Mono" pitchFamily="49" charset="-122"/>
                <a:cs typeface="JetBrains Mono" pitchFamily="49" charset="-120"/>
              </a:rPr>
              <a:t>30</a:t>
            </a:r>
            <a:endParaRPr lang="en-US" sz="2800" dirty="0"/>
          </a:p>
        </p:txBody>
      </p:sp>
      <p:sp>
        <p:nvSpPr>
          <p:cNvPr id="6" name="Text 4"/>
          <p:cNvSpPr/>
          <p:nvPr/>
        </p:nvSpPr>
        <p:spPr>
          <a:xfrm>
            <a:off x="3137641" y="2201664"/>
            <a:ext cx="5770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21A"/>
                </a:solidFill>
                <a:latin typeface="IBM Plex Sans" pitchFamily="34" charset="0"/>
                <a:ea typeface="IBM Plex Sans" pitchFamily="34" charset="-122"/>
                <a:cs typeface="IBM Plex Sans" pitchFamily="34" charset="-120"/>
              </a:rPr>
              <a:t>minute</a:t>
            </a:r>
            <a:endParaRPr lang="en-US" sz="1200" dirty="0"/>
          </a:p>
        </p:txBody>
      </p:sp>
      <p:sp>
        <p:nvSpPr>
          <p:cNvPr id="7" name="Text 5"/>
          <p:cNvSpPr/>
          <p:nvPr/>
        </p:nvSpPr>
        <p:spPr>
          <a:xfrm>
            <a:off x="3989070" y="1678434"/>
            <a:ext cx="264160" cy="52324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0B0748"/>
                </a:solidFill>
                <a:latin typeface="JetBrains Mono" pitchFamily="49" charset="0"/>
                <a:ea typeface="JetBrains Mono" pitchFamily="49" charset="-122"/>
                <a:cs typeface="JetBrains Mono" pitchFamily="49" charset="-120"/>
              </a:rPr>
              <a:t>2</a:t>
            </a:r>
            <a:endParaRPr lang="en-US" sz="2800" dirty="0"/>
          </a:p>
        </p:txBody>
      </p:sp>
      <p:sp>
        <p:nvSpPr>
          <p:cNvPr id="8" name="Text 6"/>
          <p:cNvSpPr/>
          <p:nvPr/>
        </p:nvSpPr>
        <p:spPr>
          <a:xfrm>
            <a:off x="3923347" y="2201664"/>
            <a:ext cx="4748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21A"/>
                </a:solidFill>
                <a:latin typeface="IBM Plex Sans" pitchFamily="34" charset="0"/>
                <a:ea typeface="IBM Plex Sans" pitchFamily="34" charset="-122"/>
                <a:cs typeface="IBM Plex Sans" pitchFamily="34" charset="-120"/>
              </a:rPr>
              <a:t>heure</a:t>
            </a:r>
            <a:endParaRPr lang="en-US" sz="1200" dirty="0"/>
          </a:p>
        </p:txBody>
      </p:sp>
      <p:sp>
        <p:nvSpPr>
          <p:cNvPr id="9" name="Text 7"/>
          <p:cNvSpPr/>
          <p:nvPr/>
        </p:nvSpPr>
        <p:spPr>
          <a:xfrm>
            <a:off x="4913418" y="1678434"/>
            <a:ext cx="264160" cy="52324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6B6890"/>
                </a:solidFill>
                <a:latin typeface="JetBrains Mono" pitchFamily="49" charset="0"/>
                <a:ea typeface="JetBrains Mono" pitchFamily="49" charset="-122"/>
                <a:cs typeface="JetBrains Mono" pitchFamily="49" charset="-120"/>
              </a:rPr>
              <a:t>*</a:t>
            </a:r>
            <a:endParaRPr lang="en-US" sz="2800" dirty="0"/>
          </a:p>
        </p:txBody>
      </p:sp>
      <p:sp>
        <p:nvSpPr>
          <p:cNvPr id="10" name="Text 8"/>
          <p:cNvSpPr/>
          <p:nvPr/>
        </p:nvSpPr>
        <p:spPr>
          <a:xfrm>
            <a:off x="4623858" y="2201664"/>
            <a:ext cx="10120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21A"/>
                </a:solidFill>
                <a:latin typeface="IBM Plex Sans" pitchFamily="34" charset="0"/>
                <a:ea typeface="IBM Plex Sans" pitchFamily="34" charset="-122"/>
                <a:cs typeface="IBM Plex Sans" pitchFamily="34" charset="-120"/>
              </a:rPr>
              <a:t>jour du mois</a:t>
            </a:r>
            <a:endParaRPr lang="en-US" sz="1200" dirty="0"/>
          </a:p>
        </p:txBody>
      </p:sp>
      <p:sp>
        <p:nvSpPr>
          <p:cNvPr id="11" name="Text 9"/>
          <p:cNvSpPr/>
          <p:nvPr/>
        </p:nvSpPr>
        <p:spPr>
          <a:xfrm>
            <a:off x="5805276" y="1678434"/>
            <a:ext cx="264160" cy="52324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6B6890"/>
                </a:solidFill>
                <a:latin typeface="JetBrains Mono" pitchFamily="49" charset="0"/>
                <a:ea typeface="JetBrains Mono" pitchFamily="49" charset="-122"/>
                <a:cs typeface="JetBrains Mono" pitchFamily="49" charset="-120"/>
              </a:rPr>
              <a:t>*</a:t>
            </a:r>
            <a:endParaRPr lang="en-US" sz="2800" dirty="0"/>
          </a:p>
        </p:txBody>
      </p:sp>
      <p:sp>
        <p:nvSpPr>
          <p:cNvPr id="12" name="Text 10"/>
          <p:cNvSpPr/>
          <p:nvPr/>
        </p:nvSpPr>
        <p:spPr>
          <a:xfrm>
            <a:off x="5772044" y="2201664"/>
            <a:ext cx="3967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21A"/>
                </a:solidFill>
                <a:latin typeface="IBM Plex Sans" pitchFamily="34" charset="0"/>
                <a:ea typeface="IBM Plex Sans" pitchFamily="34" charset="-122"/>
                <a:cs typeface="IBM Plex Sans" pitchFamily="34" charset="-120"/>
              </a:rPr>
              <a:t>mois</a:t>
            </a:r>
            <a:endParaRPr lang="en-US" sz="1200" dirty="0"/>
          </a:p>
        </p:txBody>
      </p:sp>
      <p:sp>
        <p:nvSpPr>
          <p:cNvPr id="13" name="Text 11"/>
          <p:cNvSpPr/>
          <p:nvPr/>
        </p:nvSpPr>
        <p:spPr>
          <a:xfrm>
            <a:off x="6569520" y="1678434"/>
            <a:ext cx="768096" cy="52324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0B0748"/>
                </a:solidFill>
                <a:latin typeface="JetBrains Mono" pitchFamily="49" charset="0"/>
                <a:ea typeface="JetBrains Mono" pitchFamily="49" charset="-122"/>
                <a:cs typeface="JetBrains Mono" pitchFamily="49" charset="-120"/>
              </a:rPr>
              <a:t>1-5</a:t>
            </a:r>
            <a:endParaRPr lang="en-US" sz="2800" dirty="0"/>
          </a:p>
        </p:txBody>
      </p:sp>
      <p:sp>
        <p:nvSpPr>
          <p:cNvPr id="14" name="Text 12"/>
          <p:cNvSpPr/>
          <p:nvPr/>
        </p:nvSpPr>
        <p:spPr>
          <a:xfrm>
            <a:off x="6407467" y="2201664"/>
            <a:ext cx="1310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21A"/>
                </a:solidFill>
                <a:latin typeface="IBM Plex Sans" pitchFamily="34" charset="0"/>
                <a:ea typeface="IBM Plex Sans" pitchFamily="34" charset="-122"/>
                <a:cs typeface="IBM Plex Sans" pitchFamily="34" charset="-120"/>
              </a:rPr>
              <a:t>lundi à vendredi</a:t>
            </a:r>
            <a:endParaRPr lang="en-US" sz="1200" dirty="0"/>
          </a:p>
        </p:txBody>
      </p:sp>
      <p:sp>
        <p:nvSpPr>
          <p:cNvPr id="15" name="Text 13"/>
          <p:cNvSpPr/>
          <p:nvPr/>
        </p:nvSpPr>
        <p:spPr>
          <a:xfrm>
            <a:off x="7804468" y="1754634"/>
            <a:ext cx="130058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 à 2 h 30,</a:t>
            </a:r>
            <a:endParaRPr lang="en-US" sz="1400" dirty="0"/>
          </a:p>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les jours ouvrés</a:t>
            </a:r>
            <a:endParaRPr lang="en-US" sz="1400" dirty="0"/>
          </a:p>
        </p:txBody>
      </p:sp>
      <p:sp>
        <p:nvSpPr>
          <p:cNvPr id="16" name="Text 14"/>
          <p:cNvSpPr/>
          <p:nvPr/>
        </p:nvSpPr>
        <p:spPr>
          <a:xfrm>
            <a:off x="812800" y="2752279"/>
            <a:ext cx="6350000" cy="3089698"/>
          </a:xfrm>
          <a:prstGeom prst="roundRect">
            <a:avLst>
              <a:gd name="adj" fmla="val 3288"/>
            </a:avLst>
          </a:prstGeom>
          <a:solidFill>
            <a:srgbClr val="0B0748"/>
          </a:solidFill>
          <a:ln/>
        </p:spPr>
        <p:txBody>
          <a:bodyPr wrap="none" lIns="148042" tIns="97242" rIns="0" bIns="97242" rtlCol="0" anchor="ctr">
            <a:normAutofit/>
          </a:bodyPr>
          <a:lstStyle/>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kind: </a:t>
            </a:r>
            <a:r>
              <a:rPr lang="en-US" sz="1200" dirty="0">
                <a:solidFill>
                  <a:srgbClr val="FFB08F"/>
                </a:solidFill>
                <a:latin typeface="JetBrains Mono" pitchFamily="49" charset="0"/>
                <a:ea typeface="JetBrains Mono" pitchFamily="49" charset="-122"/>
                <a:cs typeface="JetBrains Mono" pitchFamily="49" charset="-120"/>
              </a:rPr>
              <a:t>CronJob</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metadata:</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name: export-nocturne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schedule: "30 2 * * 1-5"     </a:t>
            </a:r>
            <a:r>
              <a:rPr lang="en-US" sz="1200" dirty="0">
                <a:solidFill>
                  <a:srgbClr val="9A96D0"/>
                </a:solidFill>
                <a:latin typeface="JetBrains Mono" pitchFamily="49" charset="0"/>
                <a:ea typeface="JetBrains Mono" pitchFamily="49" charset="-122"/>
                <a:cs typeface="JetBrains Mono" pitchFamily="49" charset="-120"/>
              </a:rPr>
              <a:t># guillemets indispensables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timeZone: "Europe/Paris"     </a:t>
            </a:r>
            <a:r>
              <a:rPr lang="en-US" sz="1200" dirty="0">
                <a:solidFill>
                  <a:srgbClr val="9A96D0"/>
                </a:solidFill>
                <a:latin typeface="JetBrains Mono" pitchFamily="49" charset="0"/>
                <a:ea typeface="JetBrains Mono" pitchFamily="49" charset="-122"/>
                <a:cs typeface="JetBrains Mono" pitchFamily="49" charset="-120"/>
              </a:rPr>
              <a:t># sinon le fuseau du control plane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concurrencyPolicy: Forbid    </a:t>
            </a:r>
            <a:r>
              <a:rPr lang="en-US" sz="1200" dirty="0">
                <a:solidFill>
                  <a:srgbClr val="9A96D0"/>
                </a:solidFill>
                <a:latin typeface="JetBrains Mono" pitchFamily="49" charset="0"/>
                <a:ea typeface="JetBrains Mono" pitchFamily="49" charset="-122"/>
                <a:cs typeface="JetBrains Mono" pitchFamily="49" charset="-120"/>
              </a:rPr>
              <a:t># Allow, Forbid ou Replace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successfulJobsHistoryLimit: 3</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failedJobsHistoryLimit: 1</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  jobTemplate: …               </a:t>
            </a:r>
            <a:r>
              <a:rPr lang="en-US" sz="1200" dirty="0">
                <a:solidFill>
                  <a:srgbClr val="9A96D0"/>
                </a:solidFill>
                <a:latin typeface="JetBrains Mono" pitchFamily="49" charset="0"/>
                <a:ea typeface="JetBrains Mono" pitchFamily="49" charset="-122"/>
                <a:cs typeface="JetBrains Mono" pitchFamily="49" charset="-120"/>
              </a:rPr>
              <a:t># le modèle de Job</a:t>
            </a:r>
            <a:endParaRPr lang="en-US" sz="1200" dirty="0"/>
          </a:p>
        </p:txBody>
      </p:sp>
      <p:sp>
        <p:nvSpPr>
          <p:cNvPr id="17" name="Text 15"/>
          <p:cNvSpPr/>
          <p:nvPr/>
        </p:nvSpPr>
        <p:spPr>
          <a:xfrm>
            <a:off x="7391400" y="2752279"/>
            <a:ext cx="3987800" cy="3089698"/>
          </a:xfrm>
          <a:prstGeom prst="roundRect">
            <a:avLst>
              <a:gd name="adj" fmla="val 3288"/>
            </a:avLst>
          </a:prstGeom>
          <a:solidFill>
            <a:srgbClr val="ECEAF6"/>
          </a:solidFill>
          <a:ln/>
        </p:spPr>
        <p:txBody>
          <a:bodyPr wrap="none" lIns="122642" tIns="97242" rIns="12152" bIns="97242" rtlCol="0" anchor="ctr">
            <a:normAutofit/>
          </a:bodyPr>
          <a:lstStyle/>
          <a:p>
            <a:pPr algn="l" indent="0" marL="0">
              <a:lnSpc>
                <a:spcPts val="1740"/>
              </a:lnSpc>
              <a:buNone/>
            </a:pPr>
            <a:r>
              <a:rPr lang="en-US" sz="1200" dirty="0">
                <a:solidFill>
                  <a:srgbClr val="0B0748"/>
                </a:solidFill>
                <a:latin typeface="JetBrains Mono" pitchFamily="49" charset="0"/>
                <a:ea typeface="JetBrains Mono" pitchFamily="49" charset="-122"/>
                <a:cs typeface="JetBrains Mono" pitchFamily="49" charset="-120"/>
              </a:rPr>
              <a:t>kubectl get cronjobs</a:t>
            </a:r>
            <a:endParaRPr lang="en-US" sz="1200" dirty="0"/>
          </a:p>
          <a:p>
            <a:pPr algn="l" indent="0" marL="0">
              <a:lnSpc>
                <a:spcPts val="1740"/>
              </a:lnSpc>
              <a:buNone/>
            </a:pPr>
            <a:r>
              <a:rPr lang="en-US" sz="1200" dirty="0">
                <a:solidFill>
                  <a:srgbClr val="6B6890"/>
                </a:solidFill>
                <a:latin typeface="JetBrains Mono" pitchFamily="49" charset="0"/>
                <a:ea typeface="JetBrains Mono" pitchFamily="49" charset="-122"/>
                <a:cs typeface="JetBrains Mono" pitchFamily="49" charset="-120"/>
              </a:rPr>
              <a:t># déclencher tout de suite :</a:t>
            </a:r>
            <a:endParaRPr lang="en-US" sz="1200" dirty="0"/>
          </a:p>
          <a:p>
            <a:pPr algn="l" indent="0" marL="0">
              <a:lnSpc>
                <a:spcPts val="1740"/>
              </a:lnSpc>
              <a:buNone/>
            </a:pPr>
            <a:r>
              <a:rPr lang="en-US" sz="1200" dirty="0">
                <a:solidFill>
                  <a:srgbClr val="0B0748"/>
                </a:solidFill>
                <a:latin typeface="JetBrains Mono" pitchFamily="49" charset="0"/>
                <a:ea typeface="JetBrains Mono" pitchFamily="49" charset="-122"/>
                <a:cs typeface="JetBrains Mono" pitchFamily="49" charset="-120"/>
              </a:rPr>
              <a:t>kubectl create job test \</a:t>
            </a:r>
            <a:endParaRPr lang="en-US" sz="1200" dirty="0"/>
          </a:p>
          <a:p>
            <a:pPr algn="l" indent="0" marL="0">
              <a:lnSpc>
                <a:spcPts val="1740"/>
              </a:lnSpc>
              <a:buNone/>
            </a:pPr>
            <a:r>
              <a:rPr lang="en-US" sz="1200" dirty="0">
                <a:solidFill>
                  <a:srgbClr val="0B0748"/>
                </a:solidFill>
                <a:latin typeface="JetBrains Mono" pitchFamily="49" charset="0"/>
                <a:ea typeface="JetBrains Mono" pitchFamily="49" charset="-122"/>
                <a:cs typeface="JetBrains Mono" pitchFamily="49" charset="-120"/>
              </a:rPr>
              <a:t>  --from=cronjob/export-nocturne</a:t>
            </a:r>
            <a:endParaRPr lang="en-US" sz="1200" dirty="0"/>
          </a:p>
          <a:p>
            <a:pPr algn="l" indent="0" marL="0">
              <a:lnSpc>
                <a:spcPts val="1740"/>
              </a:lnSpc>
              <a:buNone/>
            </a:pPr>
            <a:r>
              <a:rPr lang="en-US" sz="1200" dirty="0">
                <a:solidFill>
                  <a:srgbClr val="6B6890"/>
                </a:solidFill>
                <a:latin typeface="JetBrains Mono" pitchFamily="49" charset="0"/>
                <a:ea typeface="JetBrains Mono" pitchFamily="49" charset="-122"/>
                <a:cs typeface="JetBrains Mono" pitchFamily="49" charset="-120"/>
              </a:rPr>
              <a:t># suspendre :</a:t>
            </a:r>
            <a:endParaRPr lang="en-US" sz="1200" dirty="0"/>
          </a:p>
          <a:p>
            <a:pPr algn="l" indent="0" marL="0">
              <a:lnSpc>
                <a:spcPts val="1740"/>
              </a:lnSpc>
              <a:buNone/>
            </a:pPr>
            <a:r>
              <a:rPr lang="en-US" sz="1200" dirty="0">
                <a:solidFill>
                  <a:srgbClr val="0B0748"/>
                </a:solidFill>
                <a:latin typeface="JetBrains Mono" pitchFamily="49" charset="0"/>
                <a:ea typeface="JetBrains Mono" pitchFamily="49" charset="-122"/>
                <a:cs typeface="JetBrains Mono" pitchFamily="49" charset="-120"/>
              </a:rPr>
              <a:t>kubectl patch cronjob \</a:t>
            </a:r>
            <a:endParaRPr lang="en-US" sz="1200" dirty="0"/>
          </a:p>
          <a:p>
            <a:pPr algn="l" indent="0" marL="0">
              <a:lnSpc>
                <a:spcPts val="1740"/>
              </a:lnSpc>
              <a:buNone/>
            </a:pPr>
            <a:r>
              <a:rPr lang="en-US" sz="1200" dirty="0">
                <a:solidFill>
                  <a:srgbClr val="0B0748"/>
                </a:solidFill>
                <a:latin typeface="JetBrains Mono" pitchFamily="49" charset="0"/>
                <a:ea typeface="JetBrains Mono" pitchFamily="49" charset="-122"/>
                <a:cs typeface="JetBrains Mono" pitchFamily="49" charset="-120"/>
              </a:rPr>
              <a:t>  export-nocturne -p \</a:t>
            </a:r>
            <a:endParaRPr lang="en-US" sz="1200" dirty="0"/>
          </a:p>
          <a:p>
            <a:pPr algn="l" indent="0" marL="0">
              <a:lnSpc>
                <a:spcPts val="1740"/>
              </a:lnSpc>
              <a:buNone/>
            </a:pPr>
            <a:r>
              <a:rPr lang="en-US" sz="1200" dirty="0">
                <a:solidFill>
                  <a:srgbClr val="0B0748"/>
                </a:solidFill>
                <a:latin typeface="JetBrains Mono" pitchFamily="49" charset="0"/>
                <a:ea typeface="JetBrains Mono" pitchFamily="49" charset="-122"/>
                <a:cs typeface="JetBrains Mono" pitchFamily="49" charset="-120"/>
              </a:rPr>
              <a:t>  '{"spec":{"suspend":true}}'</a:t>
            </a:r>
            <a:endParaRPr lang="en-US" sz="1200" dirty="0"/>
          </a:p>
        </p:txBody>
      </p:sp>
      <p:pic>
        <p:nvPicPr>
          <p:cNvPr id="18"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9" name="Text 1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0" name="Image 1" descr="Parcours : module 9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09 · CYCLE DE VIE DES APPLICATIONS</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Quel contrôleur pour quel besoin</a:t>
            </a:r>
            <a:endParaRPr lang="en-US" sz="2800" dirty="0"/>
          </a:p>
        </p:txBody>
      </p:sp>
      <p:sp>
        <p:nvSpPr>
          <p:cNvPr id="4" name="Text 2"/>
          <p:cNvSpPr/>
          <p:nvPr/>
        </p:nvSpPr>
        <p:spPr>
          <a:xfrm>
            <a:off x="812800" y="1595140"/>
            <a:ext cx="633120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BESOIN</a:t>
            </a:r>
            <a:endParaRPr lang="en-US" sz="1200" dirty="0"/>
          </a:p>
        </p:txBody>
      </p:sp>
      <p:sp>
        <p:nvSpPr>
          <p:cNvPr id="5" name="Shape 3"/>
          <p:cNvSpPr/>
          <p:nvPr/>
        </p:nvSpPr>
        <p:spPr>
          <a:xfrm>
            <a:off x="812800" y="2333076"/>
            <a:ext cx="6146800" cy="0"/>
          </a:xfrm>
          <a:prstGeom prst="line">
            <a:avLst/>
          </a:prstGeom>
          <a:noFill/>
          <a:ln w="6350">
            <a:solidFill>
              <a:srgbClr val="E1DFEE"/>
            </a:solidFill>
            <a:prstDash val="solid"/>
          </a:ln>
        </p:spPr>
      </p:sp>
      <p:sp>
        <p:nvSpPr>
          <p:cNvPr id="6" name="Text 4"/>
          <p:cNvSpPr/>
          <p:nvPr/>
        </p:nvSpPr>
        <p:spPr>
          <a:xfrm>
            <a:off x="812800" y="1961505"/>
            <a:ext cx="3715004"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Application web ou API sans état</a:t>
            </a:r>
            <a:endParaRPr lang="en-US" sz="1400" dirty="0"/>
          </a:p>
        </p:txBody>
      </p:sp>
      <p:pic>
        <p:nvPicPr>
          <p:cNvPr id="7" name="Image 0" descr="arrow-right">    </p:cNvPr>
          <p:cNvPicPr>
            <a:picLocks noChangeAspect="1"/>
          </p:cNvPicPr>
          <p:nvPr/>
        </p:nvPicPr>
        <p:blipFill>
          <a:blip r:embed="rId1"/>
          <a:srcRect l="0" r="0" t="0" b="0"/>
          <a:stretch/>
        </p:blipFill>
        <p:spPr>
          <a:xfrm>
            <a:off x="4597400" y="2011660"/>
            <a:ext cx="279400" cy="139700"/>
          </a:xfrm>
          <a:prstGeom prst="rect">
            <a:avLst/>
          </a:prstGeom>
        </p:spPr>
      </p:pic>
      <p:sp>
        <p:nvSpPr>
          <p:cNvPr id="8" name="Text 5"/>
          <p:cNvSpPr/>
          <p:nvPr/>
        </p:nvSpPr>
        <p:spPr>
          <a:xfrm>
            <a:off x="5054600" y="1948160"/>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Sora" pitchFamily="34" charset="0"/>
                <a:ea typeface="Sora" pitchFamily="34" charset="-122"/>
                <a:cs typeface="Sora" pitchFamily="34" charset="-120"/>
              </a:rPr>
              <a:t>Deployment</a:t>
            </a:r>
            <a:endParaRPr lang="en-US" sz="1500" dirty="0"/>
          </a:p>
        </p:txBody>
      </p:sp>
      <p:sp>
        <p:nvSpPr>
          <p:cNvPr id="9" name="Shape 6"/>
          <p:cNvSpPr/>
          <p:nvPr/>
        </p:nvSpPr>
        <p:spPr>
          <a:xfrm>
            <a:off x="812800" y="3048830"/>
            <a:ext cx="6146800" cy="0"/>
          </a:xfrm>
          <a:prstGeom prst="line">
            <a:avLst/>
          </a:prstGeom>
          <a:noFill/>
          <a:ln w="6350">
            <a:solidFill>
              <a:srgbClr val="E1DFEE"/>
            </a:solidFill>
            <a:prstDash val="solid"/>
          </a:ln>
        </p:spPr>
      </p:sp>
      <p:sp>
        <p:nvSpPr>
          <p:cNvPr id="10" name="Text 7"/>
          <p:cNvSpPr/>
          <p:nvPr/>
        </p:nvSpPr>
        <p:spPr>
          <a:xfrm>
            <a:off x="812800" y="2450554"/>
            <a:ext cx="3715004"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Base de données, service qui a besoin d'une identité et d'un stockage stables</a:t>
            </a:r>
            <a:endParaRPr lang="en-US" sz="1400" dirty="0"/>
          </a:p>
        </p:txBody>
      </p:sp>
      <p:pic>
        <p:nvPicPr>
          <p:cNvPr id="11" name="Image 1" descr="arrow-right">    </p:cNvPr>
          <p:cNvPicPr>
            <a:picLocks noChangeAspect="1"/>
          </p:cNvPicPr>
          <p:nvPr/>
        </p:nvPicPr>
        <p:blipFill>
          <a:blip r:embed="rId2"/>
          <a:srcRect l="0" r="0" t="0" b="0"/>
          <a:stretch/>
        </p:blipFill>
        <p:spPr>
          <a:xfrm>
            <a:off x="4597400" y="2620764"/>
            <a:ext cx="279400" cy="139700"/>
          </a:xfrm>
          <a:prstGeom prst="rect">
            <a:avLst/>
          </a:prstGeom>
        </p:spPr>
      </p:pic>
      <p:sp>
        <p:nvSpPr>
          <p:cNvPr id="12" name="Text 8"/>
          <p:cNvSpPr/>
          <p:nvPr/>
        </p:nvSpPr>
        <p:spPr>
          <a:xfrm>
            <a:off x="5054600" y="2453134"/>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Sora" pitchFamily="34" charset="0"/>
                <a:ea typeface="Sora" pitchFamily="34" charset="-122"/>
                <a:cs typeface="Sora" pitchFamily="34" charset="-120"/>
              </a:rPr>
              <a:t>StatefulSet</a:t>
            </a:r>
            <a:endParaRPr lang="en-US" sz="1500" dirty="0"/>
          </a:p>
        </p:txBody>
      </p:sp>
      <p:sp>
        <p:nvSpPr>
          <p:cNvPr id="13" name="Text 9"/>
          <p:cNvSpPr/>
          <p:nvPr/>
        </p:nvSpPr>
        <p:spPr>
          <a:xfrm>
            <a:off x="5054600" y="2732534"/>
            <a:ext cx="196215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module 16</a:t>
            </a:r>
            <a:endParaRPr lang="en-US" sz="1100" dirty="0"/>
          </a:p>
        </p:txBody>
      </p:sp>
      <p:sp>
        <p:nvSpPr>
          <p:cNvPr id="14" name="Shape 10"/>
          <p:cNvSpPr/>
          <p:nvPr/>
        </p:nvSpPr>
        <p:spPr>
          <a:xfrm>
            <a:off x="812800" y="3551234"/>
            <a:ext cx="6146800" cy="0"/>
          </a:xfrm>
          <a:prstGeom prst="line">
            <a:avLst/>
          </a:prstGeom>
          <a:noFill/>
          <a:ln w="6350">
            <a:solidFill>
              <a:srgbClr val="E1DFEE"/>
            </a:solidFill>
            <a:prstDash val="solid"/>
          </a:ln>
        </p:spPr>
      </p:sp>
      <p:sp>
        <p:nvSpPr>
          <p:cNvPr id="15" name="Text 11"/>
          <p:cNvSpPr/>
          <p:nvPr/>
        </p:nvSpPr>
        <p:spPr>
          <a:xfrm>
            <a:off x="812800" y="3179663"/>
            <a:ext cx="3715004"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Un pod sur chaque nœud</a:t>
            </a:r>
            <a:endParaRPr lang="en-US" sz="1400" dirty="0"/>
          </a:p>
        </p:txBody>
      </p:sp>
      <p:pic>
        <p:nvPicPr>
          <p:cNvPr id="16" name="Image 2" descr="arrow-right">    </p:cNvPr>
          <p:cNvPicPr>
            <a:picLocks noChangeAspect="1"/>
          </p:cNvPicPr>
          <p:nvPr/>
        </p:nvPicPr>
        <p:blipFill>
          <a:blip r:embed="rId3"/>
          <a:srcRect l="0" r="0" t="0" b="0"/>
          <a:stretch/>
        </p:blipFill>
        <p:spPr>
          <a:xfrm>
            <a:off x="4597400" y="3229818"/>
            <a:ext cx="279400" cy="139700"/>
          </a:xfrm>
          <a:prstGeom prst="rect">
            <a:avLst/>
          </a:prstGeom>
        </p:spPr>
      </p:pic>
      <p:sp>
        <p:nvSpPr>
          <p:cNvPr id="17" name="Text 12"/>
          <p:cNvSpPr/>
          <p:nvPr/>
        </p:nvSpPr>
        <p:spPr>
          <a:xfrm>
            <a:off x="5054600" y="3166318"/>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Sora" pitchFamily="34" charset="0"/>
                <a:ea typeface="Sora" pitchFamily="34" charset="-122"/>
                <a:cs typeface="Sora" pitchFamily="34" charset="-120"/>
              </a:rPr>
              <a:t>DaemonSet</a:t>
            </a:r>
            <a:endParaRPr lang="en-US" sz="1500" dirty="0"/>
          </a:p>
        </p:txBody>
      </p:sp>
      <p:sp>
        <p:nvSpPr>
          <p:cNvPr id="18" name="Shape 13"/>
          <p:cNvSpPr/>
          <p:nvPr/>
        </p:nvSpPr>
        <p:spPr>
          <a:xfrm>
            <a:off x="812800" y="4053628"/>
            <a:ext cx="6146800" cy="0"/>
          </a:xfrm>
          <a:prstGeom prst="line">
            <a:avLst/>
          </a:prstGeom>
          <a:noFill/>
          <a:ln w="6350">
            <a:solidFill>
              <a:srgbClr val="E1DFEE"/>
            </a:solidFill>
            <a:prstDash val="solid"/>
          </a:ln>
        </p:spPr>
      </p:sp>
      <p:sp>
        <p:nvSpPr>
          <p:cNvPr id="19" name="Text 14"/>
          <p:cNvSpPr/>
          <p:nvPr/>
        </p:nvSpPr>
        <p:spPr>
          <a:xfrm>
            <a:off x="812800" y="3682057"/>
            <a:ext cx="3715004"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Tâche qui se termine</a:t>
            </a:r>
            <a:endParaRPr lang="en-US" sz="1400" dirty="0"/>
          </a:p>
        </p:txBody>
      </p:sp>
      <p:pic>
        <p:nvPicPr>
          <p:cNvPr id="20" name="Image 3" descr="arrow-right">    </p:cNvPr>
          <p:cNvPicPr>
            <a:picLocks noChangeAspect="1"/>
          </p:cNvPicPr>
          <p:nvPr/>
        </p:nvPicPr>
        <p:blipFill>
          <a:blip r:embed="rId4"/>
          <a:srcRect l="0" r="0" t="0" b="0"/>
          <a:stretch/>
        </p:blipFill>
        <p:spPr>
          <a:xfrm>
            <a:off x="4597400" y="3732213"/>
            <a:ext cx="279400" cy="139700"/>
          </a:xfrm>
          <a:prstGeom prst="rect">
            <a:avLst/>
          </a:prstGeom>
        </p:spPr>
      </p:pic>
      <p:sp>
        <p:nvSpPr>
          <p:cNvPr id="21" name="Text 15"/>
          <p:cNvSpPr/>
          <p:nvPr/>
        </p:nvSpPr>
        <p:spPr>
          <a:xfrm>
            <a:off x="5054600" y="3668713"/>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Sora" pitchFamily="34" charset="0"/>
                <a:ea typeface="Sora" pitchFamily="34" charset="-122"/>
                <a:cs typeface="Sora" pitchFamily="34" charset="-120"/>
              </a:rPr>
              <a:t>Job</a:t>
            </a:r>
            <a:endParaRPr lang="en-US" sz="1500" dirty="0"/>
          </a:p>
        </p:txBody>
      </p:sp>
      <p:sp>
        <p:nvSpPr>
          <p:cNvPr id="22" name="Text 16"/>
          <p:cNvSpPr/>
          <p:nvPr/>
        </p:nvSpPr>
        <p:spPr>
          <a:xfrm>
            <a:off x="812800" y="4184452"/>
            <a:ext cx="3715004"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Tâche planifiée</a:t>
            </a:r>
            <a:endParaRPr lang="en-US" sz="1400" dirty="0"/>
          </a:p>
        </p:txBody>
      </p:sp>
      <p:pic>
        <p:nvPicPr>
          <p:cNvPr id="23" name="Image 4" descr="arrow-right">    </p:cNvPr>
          <p:cNvPicPr>
            <a:picLocks noChangeAspect="1"/>
          </p:cNvPicPr>
          <p:nvPr/>
        </p:nvPicPr>
        <p:blipFill>
          <a:blip r:embed="rId5"/>
          <a:srcRect l="0" r="0" t="0" b="0"/>
          <a:stretch/>
        </p:blipFill>
        <p:spPr>
          <a:xfrm>
            <a:off x="4597400" y="4234607"/>
            <a:ext cx="279400" cy="139700"/>
          </a:xfrm>
          <a:prstGeom prst="rect">
            <a:avLst/>
          </a:prstGeom>
        </p:spPr>
      </p:pic>
      <p:sp>
        <p:nvSpPr>
          <p:cNvPr id="24" name="Text 17"/>
          <p:cNvSpPr/>
          <p:nvPr/>
        </p:nvSpPr>
        <p:spPr>
          <a:xfrm>
            <a:off x="5054600" y="4171107"/>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Sora" pitchFamily="34" charset="0"/>
                <a:ea typeface="Sora" pitchFamily="34" charset="-122"/>
                <a:cs typeface="Sora" pitchFamily="34" charset="-120"/>
              </a:rPr>
              <a:t>CronJob</a:t>
            </a:r>
            <a:endParaRPr lang="en-US" sz="1500" dirty="0"/>
          </a:p>
        </p:txBody>
      </p:sp>
      <p:sp>
        <p:nvSpPr>
          <p:cNvPr id="25" name="Shape 18"/>
          <p:cNvSpPr/>
          <p:nvPr/>
        </p:nvSpPr>
        <p:spPr>
          <a:xfrm>
            <a:off x="7315200" y="1595140"/>
            <a:ext cx="4064000" cy="4246880"/>
          </a:xfrm>
          <a:prstGeom prst="roundRect">
            <a:avLst>
              <a:gd name="adj" fmla="val 3125"/>
            </a:avLst>
          </a:prstGeom>
          <a:solidFill>
            <a:srgbClr val="0B0748"/>
          </a:solidFill>
          <a:ln/>
        </p:spPr>
      </p:sp>
      <p:sp>
        <p:nvSpPr>
          <p:cNvPr id="26" name="Text 19"/>
          <p:cNvSpPr/>
          <p:nvPr/>
        </p:nvSpPr>
        <p:spPr>
          <a:xfrm>
            <a:off x="7569200" y="1823740"/>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LE DAEMONSET</a:t>
            </a:r>
            <a:endParaRPr lang="en-US" sz="1200" dirty="0"/>
          </a:p>
        </p:txBody>
      </p:sp>
      <p:sp>
        <p:nvSpPr>
          <p:cNvPr id="27" name="Text 20"/>
          <p:cNvSpPr/>
          <p:nvPr/>
        </p:nvSpPr>
        <p:spPr>
          <a:xfrm>
            <a:off x="7569200" y="2151360"/>
            <a:ext cx="3662680" cy="565150"/>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F5F4F9"/>
                </a:solidFill>
                <a:latin typeface="Sora" pitchFamily="34" charset="0"/>
                <a:ea typeface="Sora" pitchFamily="34" charset="-122"/>
                <a:cs typeface="Sora" pitchFamily="34" charset="-120"/>
              </a:rPr>
              <a:t>Un pod sur chaque nœud, ou sur chaque nœud sélectionné</a:t>
            </a:r>
            <a:endParaRPr lang="en-US" sz="1700" dirty="0"/>
          </a:p>
        </p:txBody>
      </p:sp>
      <p:sp>
        <p:nvSpPr>
          <p:cNvPr id="28" name="Text 21"/>
          <p:cNvSpPr/>
          <p:nvPr/>
        </p:nvSpPr>
        <p:spPr>
          <a:xfrm>
            <a:off x="7569200" y="2805410"/>
            <a:ext cx="36626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Un nœud qui rejoint le cluster reçoit automatiquement son pod.</a:t>
            </a:r>
            <a:endParaRPr lang="en-US" sz="1300" dirty="0"/>
          </a:p>
        </p:txBody>
      </p:sp>
      <p:sp>
        <p:nvSpPr>
          <p:cNvPr id="29" name="Text 22"/>
          <p:cNvSpPr/>
          <p:nvPr/>
        </p:nvSpPr>
        <p:spPr>
          <a:xfrm>
            <a:off x="7569200" y="3382020"/>
            <a:ext cx="366268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6E8"/>
                </a:solidFill>
                <a:latin typeface="IBM Plex Sans" pitchFamily="34" charset="0"/>
                <a:ea typeface="IBM Plex Sans" pitchFamily="34" charset="-122"/>
                <a:cs typeface="IBM Plex Sans" pitchFamily="34" charset="-120"/>
              </a:rPr>
              <a:t>Usages : plugin réseau (calico-node), kube-proxy, agent de collecte de logs, exportateur de métriques système.</a:t>
            </a:r>
            <a:endParaRPr lang="en-US" sz="1300" dirty="0"/>
          </a:p>
        </p:txBody>
      </p:sp>
      <p:sp>
        <p:nvSpPr>
          <p:cNvPr id="30" name="Text 23"/>
          <p:cNvSpPr/>
          <p:nvPr/>
        </p:nvSpPr>
        <p:spPr>
          <a:xfrm>
            <a:off x="7569200" y="5207000"/>
            <a:ext cx="3556000" cy="406400"/>
          </a:xfrm>
          <a:prstGeom prst="roundRect">
            <a:avLst>
              <a:gd name="adj" fmla="val 18750"/>
            </a:avLst>
          </a:prstGeom>
          <a:solidFill>
            <a:srgbClr val="1D1870"/>
          </a:solidFill>
          <a:ln/>
        </p:spPr>
        <p:txBody>
          <a:bodyPr wrap="none" lIns="104682" tIns="66582" rIns="5622" bIns="41182" rtlCol="0" anchor="t">
            <a:normAutofit/>
          </a:bodyPr>
          <a:lstStyle/>
          <a:p>
            <a:pPr algn="l" indent="0" marL="0">
              <a:lnSpc>
                <a:spcPts val="1800"/>
              </a:lnSpc>
              <a:buNone/>
            </a:pPr>
            <a:r>
              <a:rPr lang="en-US" sz="1200" dirty="0">
                <a:solidFill>
                  <a:srgbClr val="FFB08F"/>
                </a:solidFill>
                <a:latin typeface="JetBrains Mono" pitchFamily="49" charset="0"/>
                <a:ea typeface="JetBrains Mono" pitchFamily="49" charset="-122"/>
                <a:cs typeface="JetBrains Mono" pitchFamily="49" charset="-120"/>
              </a:rPr>
              <a:t>kubectl get daemonsets -A</a:t>
            </a:r>
            <a:endParaRPr lang="en-US" sz="1200" dirty="0"/>
          </a:p>
        </p:txBody>
      </p:sp>
      <p:pic>
        <p:nvPicPr>
          <p:cNvPr id="31" name="Image 5" descr="preencoded.png">    </p:cNvPr>
          <p:cNvPicPr>
            <a:picLocks noChangeAspect="1"/>
          </p:cNvPicPr>
          <p:nvPr/>
        </p:nvPicPr>
        <p:blipFill>
          <a:blip r:embed="rId6"/>
          <a:srcRect l="0" r="0" t="0" b="0"/>
          <a:stretch/>
        </p:blipFill>
        <p:spPr>
          <a:xfrm>
            <a:off x="812800" y="6299200"/>
            <a:ext cx="152400" cy="152400"/>
          </a:xfrm>
          <a:prstGeom prst="rect">
            <a:avLst/>
          </a:prstGeom>
        </p:spPr>
      </p:pic>
      <p:sp>
        <p:nvSpPr>
          <p:cNvPr id="32" name="Text 24"/>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3" name="Image 6" descr="Parcours : module 9 sur 16">    </p:cNvPr>
          <p:cNvPicPr>
            <a:picLocks noChangeAspect="1"/>
          </p:cNvPicPr>
          <p:nvPr/>
        </p:nvPicPr>
        <p:blipFill>
          <a:blip r:embed="rId7"/>
          <a:srcRect l="0" r="0" t="0" b="0"/>
          <a:stretch/>
        </p:blipFill>
        <p:spPr>
          <a:xfrm>
            <a:off x="9207500" y="6299200"/>
            <a:ext cx="2171700" cy="15240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BF0E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TRAVAUX PRATIQUES · À FAIRE MAINTENANT</a:t>
            </a:r>
            <a:endParaRPr lang="en-US" sz="1200" dirty="0"/>
          </a:p>
        </p:txBody>
      </p:sp>
      <p:sp>
        <p:nvSpPr>
          <p:cNvPr id="3" name="Text 1"/>
          <p:cNvSpPr/>
          <p:nvPr/>
        </p:nvSpPr>
        <p:spPr>
          <a:xfrm>
            <a:off x="812800" y="1127770"/>
            <a:ext cx="3008630" cy="1054100"/>
          </a:xfrm>
          <a:prstGeom prst="rect">
            <a:avLst/>
          </a:prstGeom>
          <a:noFill/>
          <a:ln/>
        </p:spPr>
        <p:txBody>
          <a:bodyPr wrap="square" lIns="0" tIns="0" rIns="0" bIns="0" rtlCol="0" anchor="t">
            <a:normAutofit/>
          </a:bodyPr>
          <a:lstStyle/>
          <a:p>
            <a:pPr algn="l" indent="0" marL="0">
              <a:lnSpc>
                <a:spcPts val="8100"/>
              </a:lnSpc>
              <a:buNone/>
            </a:pPr>
            <a:r>
              <a:rPr lang="en-US" sz="9000" b="1" spc="-300" kern="0" dirty="0">
                <a:solidFill>
                  <a:srgbClr val="E25A2C"/>
                </a:solidFill>
                <a:latin typeface="Sora" pitchFamily="34" charset="0"/>
                <a:ea typeface="Sora" pitchFamily="34" charset="-122"/>
                <a:cs typeface="Sora" pitchFamily="34" charset="-120"/>
              </a:rPr>
              <a:t>TP6</a:t>
            </a:r>
            <a:endParaRPr lang="en-US" sz="9000" dirty="0"/>
          </a:p>
        </p:txBody>
      </p:sp>
      <p:pic>
        <p:nvPicPr>
          <p:cNvPr id="4" name="Image 0" descr="Clock">    </p:cNvPr>
          <p:cNvPicPr>
            <a:picLocks noChangeAspect="1"/>
          </p:cNvPicPr>
          <p:nvPr/>
        </p:nvPicPr>
        <p:blipFill>
          <a:blip r:embed="rId1"/>
          <a:srcRect l="0" r="0" t="0" b="0"/>
          <a:stretch/>
        </p:blipFill>
        <p:spPr>
          <a:xfrm>
            <a:off x="812800" y="2467620"/>
            <a:ext cx="254000" cy="254000"/>
          </a:xfrm>
          <a:prstGeom prst="rect">
            <a:avLst/>
          </a:prstGeom>
        </p:spPr>
      </p:pic>
      <p:sp>
        <p:nvSpPr>
          <p:cNvPr id="5" name="Text 2"/>
          <p:cNvSpPr/>
          <p:nvPr/>
        </p:nvSpPr>
        <p:spPr>
          <a:xfrm>
            <a:off x="1181100" y="2461270"/>
            <a:ext cx="1477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Jour 2 · 13:00</a:t>
            </a:r>
            <a:endParaRPr lang="en-US" sz="1500" dirty="0"/>
          </a:p>
        </p:txBody>
      </p:sp>
      <p:pic>
        <p:nvPicPr>
          <p:cNvPr id="6" name="Image 1" descr="Activity">    </p:cNvPr>
          <p:cNvPicPr>
            <a:picLocks noChangeAspect="1"/>
          </p:cNvPicPr>
          <p:nvPr/>
        </p:nvPicPr>
        <p:blipFill>
          <a:blip r:embed="rId2"/>
          <a:srcRect l="0" r="0" t="0" b="0"/>
          <a:stretch/>
        </p:blipFill>
        <p:spPr>
          <a:xfrm>
            <a:off x="812800" y="2835920"/>
            <a:ext cx="254000" cy="254000"/>
          </a:xfrm>
          <a:prstGeom prst="rect">
            <a:avLst/>
          </a:prstGeom>
        </p:spPr>
      </p:pic>
      <p:sp>
        <p:nvSpPr>
          <p:cNvPr id="7" name="Text 3"/>
          <p:cNvSpPr/>
          <p:nvPr/>
        </p:nvSpPr>
        <p:spPr>
          <a:xfrm>
            <a:off x="1181100" y="2829570"/>
            <a:ext cx="11889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70 minutes</a:t>
            </a:r>
            <a:endParaRPr lang="en-US" sz="1500" dirty="0"/>
          </a:p>
        </p:txBody>
      </p:sp>
      <p:pic>
        <p:nvPicPr>
          <p:cNvPr id="8" name="Image 2" descr="Book">    </p:cNvPr>
          <p:cNvPicPr>
            <a:picLocks noChangeAspect="1"/>
          </p:cNvPicPr>
          <p:nvPr/>
        </p:nvPicPr>
        <p:blipFill>
          <a:blip r:embed="rId3"/>
          <a:srcRect l="0" r="0" t="0" b="0"/>
          <a:stretch/>
        </p:blipFill>
        <p:spPr>
          <a:xfrm>
            <a:off x="812800" y="3197870"/>
            <a:ext cx="254000" cy="254000"/>
          </a:xfrm>
          <a:prstGeom prst="rect">
            <a:avLst/>
          </a:prstGeom>
        </p:spPr>
      </p:pic>
      <p:sp>
        <p:nvSpPr>
          <p:cNvPr id="9" name="Text 4"/>
          <p:cNvSpPr/>
          <p:nvPr/>
        </p:nvSpPr>
        <p:spPr>
          <a:xfrm>
            <a:off x="1181100" y="3200499"/>
            <a:ext cx="171411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Sections 9.1 à 9.4</a:t>
            </a:r>
            <a:endParaRPr lang="en-US" sz="1400" dirty="0"/>
          </a:p>
        </p:txBody>
      </p:sp>
      <p:sp>
        <p:nvSpPr>
          <p:cNvPr id="10" name="Text 5"/>
          <p:cNvSpPr/>
          <p:nvPr>
            <p:ph type="title"/>
          </p:nvPr>
        </p:nvSpPr>
        <p:spPr>
          <a:xfrm>
            <a:off x="4191000" y="1127770"/>
            <a:ext cx="7403846"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Mises à jour et probes</a:t>
            </a:r>
            <a:endParaRPr lang="en-US" sz="2800" dirty="0"/>
          </a:p>
        </p:txBody>
      </p:sp>
      <p:sp>
        <p:nvSpPr>
          <p:cNvPr id="11" name="Text 6"/>
          <p:cNvSpPr/>
          <p:nvPr/>
        </p:nvSpPr>
        <p:spPr>
          <a:xfrm>
            <a:off x="4191000" y="1722140"/>
            <a:ext cx="7403846"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F3C6B"/>
                </a:solidFill>
                <a:latin typeface="IBM Plex Sans" pitchFamily="34" charset="0"/>
                <a:ea typeface="IBM Plex Sans" pitchFamily="34" charset="-122"/>
                <a:cs typeface="IBM Plex Sans" pitchFamily="34" charset="-120"/>
              </a:rPr>
              <a:t>Mettre à jour podinfo en 6.7.1, provoquer une mise à jour ratée et revenir en arrière, puis ajouter readiness et liveness probes.</a:t>
            </a:r>
            <a:endParaRPr lang="en-US" sz="1600" dirty="0"/>
          </a:p>
        </p:txBody>
      </p:sp>
      <p:sp>
        <p:nvSpPr>
          <p:cNvPr id="12" name="Shape 7"/>
          <p:cNvSpPr/>
          <p:nvPr/>
        </p:nvSpPr>
        <p:spPr>
          <a:xfrm>
            <a:off x="4194175" y="4893717"/>
            <a:ext cx="7181850" cy="945092"/>
          </a:xfrm>
          <a:prstGeom prst="roundRect">
            <a:avLst>
              <a:gd name="adj" fmla="val 13102"/>
            </a:avLst>
          </a:prstGeom>
          <a:solidFill>
            <a:srgbClr val="FDFDFF"/>
          </a:solidFill>
          <a:ln w="6350">
            <a:solidFill>
              <a:srgbClr val="EBDDD2"/>
            </a:solidFill>
            <a:prstDash val="solid"/>
          </a:ln>
        </p:spPr>
      </p:sp>
      <p:pic>
        <p:nvPicPr>
          <p:cNvPr id="13" name="Image 3" descr="CheckCircle">    </p:cNvPr>
          <p:cNvPicPr>
            <a:picLocks noChangeAspect="1"/>
          </p:cNvPicPr>
          <p:nvPr/>
        </p:nvPicPr>
        <p:blipFill>
          <a:blip r:embed="rId4"/>
          <a:srcRect l="0" r="0" t="0" b="0"/>
          <a:stretch/>
        </p:blipFill>
        <p:spPr>
          <a:xfrm>
            <a:off x="4452091" y="5100836"/>
            <a:ext cx="355600" cy="355600"/>
          </a:xfrm>
          <a:prstGeom prst="rect">
            <a:avLst/>
          </a:prstGeom>
        </p:spPr>
      </p:pic>
      <p:sp>
        <p:nvSpPr>
          <p:cNvPr id="14" name="Text 8"/>
          <p:cNvSpPr/>
          <p:nvPr/>
        </p:nvSpPr>
        <p:spPr>
          <a:xfrm>
            <a:off x="4985491" y="5100836"/>
            <a:ext cx="63165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POINT DE CONTRÔLE</a:t>
            </a:r>
            <a:endParaRPr lang="en-US" sz="1200" dirty="0"/>
          </a:p>
        </p:txBody>
      </p:sp>
      <p:sp>
        <p:nvSpPr>
          <p:cNvPr id="15" name="Text 9"/>
          <p:cNvSpPr/>
          <p:nvPr/>
        </p:nvSpPr>
        <p:spPr>
          <a:xfrm>
            <a:off x="4985491" y="5365006"/>
            <a:ext cx="63873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podinfo en 6.7.1, 3/3 READY, au moins 3 révisions dans rollout history.</a:t>
            </a:r>
            <a:endParaRPr lang="en-US" sz="1500" dirty="0"/>
          </a:p>
        </p:txBody>
      </p:sp>
      <p:pic>
        <p:nvPicPr>
          <p:cNvPr id="16"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17" name="Text 1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5" descr="Parcours : module 9 sur 16">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09 · BILAN</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40"/>
            <a:ext cx="5225309"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40"/>
            <a:ext cx="228600" cy="228600"/>
          </a:xfrm>
          <a:prstGeom prst="rect">
            <a:avLst/>
          </a:prstGeom>
        </p:spPr>
      </p:pic>
      <p:sp>
        <p:nvSpPr>
          <p:cNvPr id="6" name="Text 3"/>
          <p:cNvSpPr/>
          <p:nvPr/>
        </p:nvSpPr>
        <p:spPr>
          <a:xfrm>
            <a:off x="1511300" y="1874540"/>
            <a:ext cx="4322507"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Toute modification du modèle de pod déclenche un rollout ; kubectl rollout undo réactive l'ancien ReplicaSet.</a:t>
            </a:r>
            <a:endParaRPr lang="en-US" sz="1350" dirty="0"/>
          </a:p>
        </p:txBody>
      </p:sp>
      <p:pic>
        <p:nvPicPr>
          <p:cNvPr id="7" name="Image 1" descr="Check">    </p:cNvPr>
          <p:cNvPicPr>
            <a:picLocks noChangeAspect="1"/>
          </p:cNvPicPr>
          <p:nvPr/>
        </p:nvPicPr>
        <p:blipFill>
          <a:blip r:embed="rId2"/>
          <a:srcRect l="0" r="0" t="0" b="0"/>
          <a:stretch/>
        </p:blipFill>
        <p:spPr>
          <a:xfrm>
            <a:off x="1143000" y="2734320"/>
            <a:ext cx="228600" cy="228600"/>
          </a:xfrm>
          <a:prstGeom prst="rect">
            <a:avLst/>
          </a:prstGeom>
        </p:spPr>
      </p:pic>
      <p:sp>
        <p:nvSpPr>
          <p:cNvPr id="8" name="Text 4"/>
          <p:cNvSpPr/>
          <p:nvPr/>
        </p:nvSpPr>
        <p:spPr>
          <a:xfrm>
            <a:off x="1511300" y="2734320"/>
            <a:ext cx="4322507"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maxSurge et maxUnavailable règlent le compromis entre vitesse, capacité et ressources.</a:t>
            </a:r>
            <a:endParaRPr lang="en-US" sz="1350" dirty="0"/>
          </a:p>
        </p:txBody>
      </p:sp>
      <p:pic>
        <p:nvPicPr>
          <p:cNvPr id="9" name="Image 2" descr="Check">    </p:cNvPr>
          <p:cNvPicPr>
            <a:picLocks noChangeAspect="1"/>
          </p:cNvPicPr>
          <p:nvPr/>
        </p:nvPicPr>
        <p:blipFill>
          <a:blip r:embed="rId3"/>
          <a:srcRect l="0" r="0" t="0" b="0"/>
          <a:stretch/>
        </p:blipFill>
        <p:spPr>
          <a:xfrm>
            <a:off x="1143000" y="3354090"/>
            <a:ext cx="228600" cy="228600"/>
          </a:xfrm>
          <a:prstGeom prst="rect">
            <a:avLst/>
          </a:prstGeom>
        </p:spPr>
      </p:pic>
      <p:sp>
        <p:nvSpPr>
          <p:cNvPr id="10" name="Text 5"/>
          <p:cNvSpPr/>
          <p:nvPr/>
        </p:nvSpPr>
        <p:spPr>
          <a:xfrm>
            <a:off x="1511300" y="3354090"/>
            <a:ext cx="4322507"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Readiness retire du trafic, liveness redémarre, startup protège les démarrages lents. Une liveness ne teste jamais une dépendance.</a:t>
            </a:r>
            <a:endParaRPr lang="en-US" sz="1350" dirty="0"/>
          </a:p>
        </p:txBody>
      </p:sp>
      <p:pic>
        <p:nvPicPr>
          <p:cNvPr id="11" name="Image 3" descr="Check">    </p:cNvPr>
          <p:cNvPicPr>
            <a:picLocks noChangeAspect="1"/>
          </p:cNvPicPr>
          <p:nvPr/>
        </p:nvPicPr>
        <p:blipFill>
          <a:blip r:embed="rId4"/>
          <a:srcRect l="0" r="0" t="0" b="0"/>
          <a:stretch/>
        </p:blipFill>
        <p:spPr>
          <a:xfrm>
            <a:off x="1143000" y="4213870"/>
            <a:ext cx="228600" cy="228600"/>
          </a:xfrm>
          <a:prstGeom prst="rect">
            <a:avLst/>
          </a:prstGeom>
        </p:spPr>
      </p:pic>
      <p:sp>
        <p:nvSpPr>
          <p:cNvPr id="12" name="Text 6"/>
          <p:cNvSpPr/>
          <p:nvPr/>
        </p:nvSpPr>
        <p:spPr>
          <a:xfrm>
            <a:off x="1511300" y="4213870"/>
            <a:ext cx="4322507"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Kubernetes ne revient pas en arrière tout seul après une mise à jour ratée.</a:t>
            </a:r>
            <a:endParaRPr lang="en-US" sz="1350" dirty="0"/>
          </a:p>
        </p:txBody>
      </p:sp>
      <p:pic>
        <p:nvPicPr>
          <p:cNvPr id="13" name="Image 4" descr="Check">    </p:cNvPr>
          <p:cNvPicPr>
            <a:picLocks noChangeAspect="1"/>
          </p:cNvPicPr>
          <p:nvPr/>
        </p:nvPicPr>
        <p:blipFill>
          <a:blip r:embed="rId5"/>
          <a:srcRect l="0" r="0" t="0" b="0"/>
          <a:stretch/>
        </p:blipFill>
        <p:spPr>
          <a:xfrm>
            <a:off x="1143000" y="4833640"/>
            <a:ext cx="228600" cy="228600"/>
          </a:xfrm>
          <a:prstGeom prst="rect">
            <a:avLst/>
          </a:prstGeom>
        </p:spPr>
      </p:pic>
      <p:sp>
        <p:nvSpPr>
          <p:cNvPr id="14" name="Text 7"/>
          <p:cNvSpPr/>
          <p:nvPr/>
        </p:nvSpPr>
        <p:spPr>
          <a:xfrm>
            <a:off x="1511300" y="4833640"/>
            <a:ext cx="4322507"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Job pour une tâche finie, CronJob pour une tâche planifiée (schéma entre guillemets), DaemonSet pour un pod par nœud.</a:t>
            </a:r>
            <a:endParaRPr lang="en-US" sz="1350" dirty="0"/>
          </a:p>
        </p:txBody>
      </p:sp>
      <p:sp>
        <p:nvSpPr>
          <p:cNvPr id="15" name="Shape 8"/>
          <p:cNvSpPr/>
          <p:nvPr/>
        </p:nvSpPr>
        <p:spPr>
          <a:xfrm>
            <a:off x="6244484" y="1598315"/>
            <a:ext cx="5131541" cy="4240530"/>
          </a:xfrm>
          <a:prstGeom prst="roundRect">
            <a:avLst>
              <a:gd name="adj" fmla="val 3519"/>
            </a:avLst>
          </a:prstGeom>
          <a:solidFill>
            <a:srgbClr val="FDFDFF"/>
          </a:solidFill>
          <a:ln w="6350">
            <a:solidFill>
              <a:srgbClr val="E1DFEE"/>
            </a:solidFill>
            <a:prstDash val="solid"/>
          </a:ln>
        </p:spPr>
      </p:sp>
      <p:sp>
        <p:nvSpPr>
          <p:cNvPr id="16" name="Text 9"/>
          <p:cNvSpPr/>
          <p:nvPr/>
        </p:nvSpPr>
        <p:spPr>
          <a:xfrm>
            <a:off x="6527800" y="1856234"/>
            <a:ext cx="470185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7" name="Text 10"/>
          <p:cNvSpPr/>
          <p:nvPr/>
        </p:nvSpPr>
        <p:spPr>
          <a:xfrm>
            <a:off x="6527800" y="2196554"/>
            <a:ext cx="228600" cy="6921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1</a:t>
            </a:r>
            <a:endParaRPr lang="en-US" sz="1250" dirty="0"/>
          </a:p>
        </p:txBody>
      </p:sp>
      <p:sp>
        <p:nvSpPr>
          <p:cNvPr id="18" name="Text 11"/>
          <p:cNvSpPr/>
          <p:nvPr/>
        </p:nvSpPr>
        <p:spPr>
          <a:xfrm>
            <a:off x="6807200" y="2196554"/>
            <a:ext cx="4414074"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Avec 10 réplicas et les valeurs par défaut, combien de pods au maximum pendant un rollout ? Combien disponibles au minimum ?</a:t>
            </a:r>
            <a:endParaRPr lang="en-US" sz="1250" dirty="0"/>
          </a:p>
        </p:txBody>
      </p:sp>
      <p:sp>
        <p:nvSpPr>
          <p:cNvPr id="19" name="Text 12"/>
          <p:cNvSpPr/>
          <p:nvPr/>
        </p:nvSpPr>
        <p:spPr>
          <a:xfrm>
            <a:off x="6527800" y="2990304"/>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2</a:t>
            </a:r>
            <a:endParaRPr lang="en-US" sz="1250" dirty="0"/>
          </a:p>
        </p:txBody>
      </p:sp>
      <p:sp>
        <p:nvSpPr>
          <p:cNvPr id="20" name="Text 13"/>
          <p:cNvSpPr/>
          <p:nvPr/>
        </p:nvSpPr>
        <p:spPr>
          <a:xfrm>
            <a:off x="6807200" y="2990304"/>
            <a:ext cx="441407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Pourquoi l'application répond-elle toujours pendant un rollout vers une image introuvable ?</a:t>
            </a:r>
            <a:endParaRPr lang="en-US" sz="1250" dirty="0"/>
          </a:p>
        </p:txBody>
      </p:sp>
      <p:sp>
        <p:nvSpPr>
          <p:cNvPr id="21" name="Text 14"/>
          <p:cNvSpPr/>
          <p:nvPr/>
        </p:nvSpPr>
        <p:spPr>
          <a:xfrm>
            <a:off x="6527800" y="3561804"/>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3</a:t>
            </a:r>
            <a:endParaRPr lang="en-US" sz="1250" dirty="0"/>
          </a:p>
        </p:txBody>
      </p:sp>
      <p:sp>
        <p:nvSpPr>
          <p:cNvPr id="22" name="Text 15"/>
          <p:cNvSpPr/>
          <p:nvPr/>
        </p:nvSpPr>
        <p:spPr>
          <a:xfrm>
            <a:off x="6807200" y="3561804"/>
            <a:ext cx="441407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Votre liveness interroge la base de données. Que se passe-t-il si la base tombe ?</a:t>
            </a:r>
            <a:endParaRPr lang="en-US" sz="1250" dirty="0"/>
          </a:p>
        </p:txBody>
      </p:sp>
      <p:sp>
        <p:nvSpPr>
          <p:cNvPr id="23" name="Text 16"/>
          <p:cNvSpPr/>
          <p:nvPr/>
        </p:nvSpPr>
        <p:spPr>
          <a:xfrm>
            <a:off x="6527800" y="4133304"/>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4</a:t>
            </a:r>
            <a:endParaRPr lang="en-US" sz="1250" dirty="0"/>
          </a:p>
        </p:txBody>
      </p:sp>
      <p:sp>
        <p:nvSpPr>
          <p:cNvPr id="24" name="Text 17"/>
          <p:cNvSpPr/>
          <p:nvPr/>
        </p:nvSpPr>
        <p:spPr>
          <a:xfrm>
            <a:off x="6807200" y="4133304"/>
            <a:ext cx="441407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Comment exécuter immédiatement un CronJob pour le tester ?</a:t>
            </a:r>
            <a:endParaRPr lang="en-US" sz="1250" dirty="0"/>
          </a:p>
        </p:txBody>
      </p:sp>
      <p:pic>
        <p:nvPicPr>
          <p:cNvPr id="25" name="Image 5" descr="preencoded.png">    </p:cNvPr>
          <p:cNvPicPr>
            <a:picLocks noChangeAspect="1"/>
          </p:cNvPicPr>
          <p:nvPr/>
        </p:nvPicPr>
        <p:blipFill>
          <a:blip r:embed="rId6"/>
          <a:srcRect l="0" r="0" t="0" b="0"/>
          <a:stretch/>
        </p:blipFill>
        <p:spPr>
          <a:xfrm>
            <a:off x="812800" y="6299200"/>
            <a:ext cx="152400" cy="152400"/>
          </a:xfrm>
          <a:prstGeom prst="rect">
            <a:avLst/>
          </a:prstGeom>
        </p:spPr>
      </p:pic>
      <p:sp>
        <p:nvSpPr>
          <p:cNvPr id="26" name="Text 1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7" name="Image 6" descr="Parcours : module 9 sur 16">    </p:cNvPr>
          <p:cNvPicPr>
            <a:picLocks noChangeAspect="1"/>
          </p:cNvPicPr>
          <p:nvPr/>
        </p:nvPicPr>
        <p:blipFill>
          <a:blip r:embed="rId7"/>
          <a:srcRect l="0" r="0" t="0" b="0"/>
          <a:stretch/>
        </p:blipFill>
        <p:spPr>
          <a:xfrm>
            <a:off x="9207500" y="6299200"/>
            <a:ext cx="2171700" cy="15240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2 · DÉCRIRE ET EXPLOITER</a:t>
            </a:r>
            <a:endParaRPr lang="en-US" sz="1200" dirty="0"/>
          </a:p>
        </p:txBody>
      </p:sp>
      <p:sp>
        <p:nvSpPr>
          <p:cNvPr id="3" name="Text 1"/>
          <p:cNvSpPr/>
          <p:nvPr/>
        </p:nvSpPr>
        <p:spPr>
          <a:xfrm>
            <a:off x="812800" y="1076970"/>
            <a:ext cx="1693164"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10</a:t>
            </a:r>
            <a:endParaRPr lang="en-US" sz="10000" dirty="0"/>
          </a:p>
        </p:txBody>
      </p:sp>
      <p:sp>
        <p:nvSpPr>
          <p:cNvPr id="4" name="Text 2"/>
          <p:cNvSpPr/>
          <p:nvPr>
            <p:ph type="title"/>
          </p:nvPr>
        </p:nvSpPr>
        <p:spPr>
          <a:xfrm>
            <a:off x="2579370" y="1127770"/>
            <a:ext cx="9063825" cy="5588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Surveiller et diagnostiquer</a:t>
            </a:r>
            <a:endParaRPr lang="en-US" sz="4000" dirty="0"/>
          </a:p>
        </p:txBody>
      </p:sp>
      <p:sp>
        <p:nvSpPr>
          <p:cNvPr id="5" name="Text 3"/>
          <p:cNvSpPr/>
          <p:nvPr/>
        </p:nvSpPr>
        <p:spPr>
          <a:xfrm>
            <a:off x="2579370" y="1813570"/>
            <a:ext cx="906382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Presque toutes les pannes se résolvent avec quatre commandes, dans cet ordre : get, describe, logs, events. La méthode, le sens de chaque état, et les outils pour aller plus loin.</a:t>
            </a:r>
            <a:endParaRPr lang="en-US" sz="1500" dirty="0"/>
          </a:p>
        </p:txBody>
      </p:sp>
      <p:sp>
        <p:nvSpPr>
          <p:cNvPr id="6" name="Text 4"/>
          <p:cNvSpPr/>
          <p:nvPr/>
        </p:nvSpPr>
        <p:spPr>
          <a:xfrm>
            <a:off x="2579370" y="2499370"/>
            <a:ext cx="2787756"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TP7 · Chasse aux pannes · J2 14:30</a:t>
            </a:r>
            <a:endParaRPr lang="en-US" sz="1200" dirty="0"/>
          </a:p>
        </p:txBody>
      </p:sp>
      <p:pic>
        <p:nvPicPr>
          <p:cNvPr id="7" name="Image 0" descr="Parcours de la formation : module 10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6C4"/>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10 · SURVEILLER ET DIAGNOSTIQUER</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La méthode : quatre commandes, dans l'ordre</a:t>
            </a:r>
            <a:endParaRPr lang="en-US" sz="2800" dirty="0"/>
          </a:p>
        </p:txBody>
      </p:sp>
      <p:sp>
        <p:nvSpPr>
          <p:cNvPr id="4" name="Shape 2"/>
          <p:cNvSpPr/>
          <p:nvPr/>
        </p:nvSpPr>
        <p:spPr>
          <a:xfrm>
            <a:off x="815975" y="1534815"/>
            <a:ext cx="2311400" cy="2256790"/>
          </a:xfrm>
          <a:prstGeom prst="roundRect">
            <a:avLst>
              <a:gd name="adj" fmla="val 5487"/>
            </a:avLst>
          </a:prstGeom>
          <a:solidFill>
            <a:srgbClr val="FDFDFF"/>
          </a:solidFill>
          <a:ln w="6350">
            <a:solidFill>
              <a:srgbClr val="E1DFEE"/>
            </a:solidFill>
            <a:prstDash val="solid"/>
          </a:ln>
        </p:spPr>
      </p:sp>
      <p:sp>
        <p:nvSpPr>
          <p:cNvPr id="5" name="Text 3"/>
          <p:cNvSpPr/>
          <p:nvPr/>
        </p:nvSpPr>
        <p:spPr>
          <a:xfrm>
            <a:off x="1010391" y="1716534"/>
            <a:ext cx="198024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25A2C"/>
                </a:solidFill>
                <a:latin typeface="Sora" pitchFamily="34" charset="0"/>
                <a:ea typeface="Sora" pitchFamily="34" charset="-122"/>
                <a:cs typeface="Sora" pitchFamily="34" charset="-120"/>
              </a:rPr>
              <a:t>1</a:t>
            </a:r>
            <a:endParaRPr lang="en-US" sz="3200" dirty="0"/>
          </a:p>
        </p:txBody>
      </p:sp>
      <p:sp>
        <p:nvSpPr>
          <p:cNvPr id="6" name="Text 4"/>
          <p:cNvSpPr/>
          <p:nvPr/>
        </p:nvSpPr>
        <p:spPr>
          <a:xfrm>
            <a:off x="1010391" y="2211834"/>
            <a:ext cx="1980245"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0B0748"/>
                </a:solidFill>
                <a:latin typeface="JetBrains Mono" pitchFamily="49" charset="0"/>
                <a:ea typeface="JetBrains Mono" pitchFamily="49" charset="-122"/>
                <a:cs typeface="JetBrains Mono" pitchFamily="49" charset="-120"/>
              </a:rPr>
              <a:t>kubectl get</a:t>
            </a:r>
            <a:endParaRPr lang="en-US" sz="1400" dirty="0"/>
          </a:p>
        </p:txBody>
      </p:sp>
      <p:sp>
        <p:nvSpPr>
          <p:cNvPr id="7" name="Text 5"/>
          <p:cNvSpPr/>
          <p:nvPr/>
        </p:nvSpPr>
        <p:spPr>
          <a:xfrm>
            <a:off x="1010391" y="2549624"/>
            <a:ext cx="1980245"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Quel objet est en anomalie ? Lisez READY, STATUS et RESTARTS.</a:t>
            </a:r>
            <a:endParaRPr lang="en-US" sz="1250" dirty="0"/>
          </a:p>
        </p:txBody>
      </p:sp>
      <p:pic>
        <p:nvPicPr>
          <p:cNvPr id="8" name="Image 0" descr="arrow-right">    </p:cNvPr>
          <p:cNvPicPr>
            <a:picLocks noChangeAspect="1"/>
          </p:cNvPicPr>
          <p:nvPr/>
        </p:nvPicPr>
        <p:blipFill>
          <a:blip r:embed="rId1"/>
          <a:srcRect l="0" r="0" t="0" b="0"/>
          <a:stretch/>
        </p:blipFill>
        <p:spPr>
          <a:xfrm>
            <a:off x="3232150" y="2593330"/>
            <a:ext cx="228600" cy="139700"/>
          </a:xfrm>
          <a:prstGeom prst="rect">
            <a:avLst/>
          </a:prstGeom>
        </p:spPr>
      </p:pic>
      <p:sp>
        <p:nvSpPr>
          <p:cNvPr id="9" name="Shape 6"/>
          <p:cNvSpPr/>
          <p:nvPr/>
        </p:nvSpPr>
        <p:spPr>
          <a:xfrm>
            <a:off x="3565525" y="1534815"/>
            <a:ext cx="2311400" cy="2256790"/>
          </a:xfrm>
          <a:prstGeom prst="roundRect">
            <a:avLst>
              <a:gd name="adj" fmla="val 5487"/>
            </a:avLst>
          </a:prstGeom>
          <a:solidFill>
            <a:srgbClr val="FDFDFF"/>
          </a:solidFill>
          <a:ln w="6350">
            <a:solidFill>
              <a:srgbClr val="E1DFEE"/>
            </a:solidFill>
            <a:prstDash val="solid"/>
          </a:ln>
        </p:spPr>
      </p:sp>
      <p:sp>
        <p:nvSpPr>
          <p:cNvPr id="10" name="Text 7"/>
          <p:cNvSpPr/>
          <p:nvPr/>
        </p:nvSpPr>
        <p:spPr>
          <a:xfrm>
            <a:off x="3759941" y="1716534"/>
            <a:ext cx="198024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25A2C"/>
                </a:solidFill>
                <a:latin typeface="Sora" pitchFamily="34" charset="0"/>
                <a:ea typeface="Sora" pitchFamily="34" charset="-122"/>
                <a:cs typeface="Sora" pitchFamily="34" charset="-120"/>
              </a:rPr>
              <a:t>2</a:t>
            </a:r>
            <a:endParaRPr lang="en-US" sz="3200" dirty="0"/>
          </a:p>
        </p:txBody>
      </p:sp>
      <p:sp>
        <p:nvSpPr>
          <p:cNvPr id="11" name="Text 8"/>
          <p:cNvSpPr/>
          <p:nvPr/>
        </p:nvSpPr>
        <p:spPr>
          <a:xfrm>
            <a:off x="3759941" y="2211834"/>
            <a:ext cx="1980245"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0B0748"/>
                </a:solidFill>
                <a:latin typeface="JetBrains Mono" pitchFamily="49" charset="0"/>
                <a:ea typeface="JetBrains Mono" pitchFamily="49" charset="-122"/>
                <a:cs typeface="JetBrains Mono" pitchFamily="49" charset="-120"/>
              </a:rPr>
              <a:t>kubectl describe</a:t>
            </a:r>
            <a:endParaRPr lang="en-US" sz="1400" dirty="0"/>
          </a:p>
        </p:txBody>
      </p:sp>
      <p:sp>
        <p:nvSpPr>
          <p:cNvPr id="12" name="Text 9"/>
          <p:cNvSpPr/>
          <p:nvPr/>
        </p:nvSpPr>
        <p:spPr>
          <a:xfrm>
            <a:off x="3759941" y="2549624"/>
            <a:ext cx="1980245"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Lisez la section </a:t>
            </a:r>
            <a:r>
              <a:rPr lang="en-US" sz="1250" b="1" dirty="0">
                <a:solidFill>
                  <a:srgbClr val="3F3C6B"/>
                </a:solidFill>
                <a:latin typeface="IBM Plex Sans" pitchFamily="34" charset="0"/>
                <a:ea typeface="IBM Plex Sans" pitchFamily="34" charset="-122"/>
                <a:cs typeface="IBM Plex Sans" pitchFamily="34" charset="-120"/>
              </a:rPr>
              <a:t>Events</a:t>
            </a:r>
            <a:r>
              <a:rPr lang="en-US" sz="1250" dirty="0">
                <a:solidFill>
                  <a:srgbClr val="3F3C6B"/>
                </a:solidFill>
                <a:latin typeface="IBM Plex Sans" pitchFamily="34" charset="0"/>
                <a:ea typeface="IBM Plex Sans" pitchFamily="34" charset="-122"/>
                <a:cs typeface="IBM Plex Sans" pitchFamily="34" charset="-120"/>
              </a:rPr>
              <a:t>, en bas : elle donne la cause dans la majorité des cas.</a:t>
            </a:r>
            <a:endParaRPr lang="en-US" sz="1250" dirty="0"/>
          </a:p>
        </p:txBody>
      </p:sp>
      <p:pic>
        <p:nvPicPr>
          <p:cNvPr id="13" name="Image 1" descr="arrow-right">    </p:cNvPr>
          <p:cNvPicPr>
            <a:picLocks noChangeAspect="1"/>
          </p:cNvPicPr>
          <p:nvPr/>
        </p:nvPicPr>
        <p:blipFill>
          <a:blip r:embed="rId2"/>
          <a:srcRect l="0" r="0" t="0" b="0"/>
          <a:stretch/>
        </p:blipFill>
        <p:spPr>
          <a:xfrm>
            <a:off x="5981700" y="2593330"/>
            <a:ext cx="228600" cy="139700"/>
          </a:xfrm>
          <a:prstGeom prst="rect">
            <a:avLst/>
          </a:prstGeom>
        </p:spPr>
      </p:pic>
      <p:sp>
        <p:nvSpPr>
          <p:cNvPr id="14" name="Shape 10"/>
          <p:cNvSpPr/>
          <p:nvPr/>
        </p:nvSpPr>
        <p:spPr>
          <a:xfrm>
            <a:off x="6315075" y="1534815"/>
            <a:ext cx="2311400" cy="2256790"/>
          </a:xfrm>
          <a:prstGeom prst="roundRect">
            <a:avLst>
              <a:gd name="adj" fmla="val 5487"/>
            </a:avLst>
          </a:prstGeom>
          <a:solidFill>
            <a:srgbClr val="FDFDFF"/>
          </a:solidFill>
          <a:ln w="6350">
            <a:solidFill>
              <a:srgbClr val="E1DFEE"/>
            </a:solidFill>
            <a:prstDash val="solid"/>
          </a:ln>
        </p:spPr>
      </p:sp>
      <p:sp>
        <p:nvSpPr>
          <p:cNvPr id="15" name="Text 11"/>
          <p:cNvSpPr/>
          <p:nvPr/>
        </p:nvSpPr>
        <p:spPr>
          <a:xfrm>
            <a:off x="6509491" y="1716534"/>
            <a:ext cx="198024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25A2C"/>
                </a:solidFill>
                <a:latin typeface="Sora" pitchFamily="34" charset="0"/>
                <a:ea typeface="Sora" pitchFamily="34" charset="-122"/>
                <a:cs typeface="Sora" pitchFamily="34" charset="-120"/>
              </a:rPr>
              <a:t>3</a:t>
            </a:r>
            <a:endParaRPr lang="en-US" sz="3200" dirty="0"/>
          </a:p>
        </p:txBody>
      </p:sp>
      <p:sp>
        <p:nvSpPr>
          <p:cNvPr id="16" name="Text 12"/>
          <p:cNvSpPr/>
          <p:nvPr/>
        </p:nvSpPr>
        <p:spPr>
          <a:xfrm>
            <a:off x="6509491" y="2211834"/>
            <a:ext cx="1980245"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0B0748"/>
                </a:solidFill>
                <a:latin typeface="JetBrains Mono" pitchFamily="49" charset="0"/>
                <a:ea typeface="JetBrains Mono" pitchFamily="49" charset="-122"/>
                <a:cs typeface="JetBrains Mono" pitchFamily="49" charset="-120"/>
              </a:rPr>
              <a:t>kubectl logs</a:t>
            </a:r>
            <a:endParaRPr lang="en-US" sz="1400" dirty="0"/>
          </a:p>
        </p:txBody>
      </p:sp>
      <p:sp>
        <p:nvSpPr>
          <p:cNvPr id="17" name="Text 13"/>
          <p:cNvSpPr/>
          <p:nvPr/>
        </p:nvSpPr>
        <p:spPr>
          <a:xfrm>
            <a:off x="6509491" y="2549624"/>
            <a:ext cx="1980245" cy="9144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Ce que l'application a écrit, y compris avant son dernier plantage (--previous).</a:t>
            </a:r>
            <a:endParaRPr lang="en-US" sz="1250" dirty="0"/>
          </a:p>
        </p:txBody>
      </p:sp>
      <p:pic>
        <p:nvPicPr>
          <p:cNvPr id="18" name="Image 2" descr="arrow-right">    </p:cNvPr>
          <p:cNvPicPr>
            <a:picLocks noChangeAspect="1"/>
          </p:cNvPicPr>
          <p:nvPr/>
        </p:nvPicPr>
        <p:blipFill>
          <a:blip r:embed="rId3"/>
          <a:srcRect l="0" r="0" t="0" b="0"/>
          <a:stretch/>
        </p:blipFill>
        <p:spPr>
          <a:xfrm>
            <a:off x="8731250" y="2593330"/>
            <a:ext cx="228600" cy="139700"/>
          </a:xfrm>
          <a:prstGeom prst="rect">
            <a:avLst/>
          </a:prstGeom>
        </p:spPr>
      </p:pic>
      <p:sp>
        <p:nvSpPr>
          <p:cNvPr id="19" name="Shape 14"/>
          <p:cNvSpPr/>
          <p:nvPr/>
        </p:nvSpPr>
        <p:spPr>
          <a:xfrm>
            <a:off x="9064625" y="1534815"/>
            <a:ext cx="2311400" cy="2256790"/>
          </a:xfrm>
          <a:prstGeom prst="roundRect">
            <a:avLst>
              <a:gd name="adj" fmla="val 5487"/>
            </a:avLst>
          </a:prstGeom>
          <a:solidFill>
            <a:srgbClr val="FDFDFF"/>
          </a:solidFill>
          <a:ln w="6350">
            <a:solidFill>
              <a:srgbClr val="E1DFEE"/>
            </a:solidFill>
            <a:prstDash val="solid"/>
          </a:ln>
        </p:spPr>
      </p:sp>
      <p:sp>
        <p:nvSpPr>
          <p:cNvPr id="20" name="Text 15"/>
          <p:cNvSpPr/>
          <p:nvPr/>
        </p:nvSpPr>
        <p:spPr>
          <a:xfrm>
            <a:off x="9259041" y="1716534"/>
            <a:ext cx="198024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25A2C"/>
                </a:solidFill>
                <a:latin typeface="Sora" pitchFamily="34" charset="0"/>
                <a:ea typeface="Sora" pitchFamily="34" charset="-122"/>
                <a:cs typeface="Sora" pitchFamily="34" charset="-120"/>
              </a:rPr>
              <a:t>4</a:t>
            </a:r>
            <a:endParaRPr lang="en-US" sz="3200" dirty="0"/>
          </a:p>
        </p:txBody>
      </p:sp>
      <p:sp>
        <p:nvSpPr>
          <p:cNvPr id="21" name="Text 16"/>
          <p:cNvSpPr/>
          <p:nvPr/>
        </p:nvSpPr>
        <p:spPr>
          <a:xfrm>
            <a:off x="9259041" y="2211834"/>
            <a:ext cx="1980245"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0B0748"/>
                </a:solidFill>
                <a:latin typeface="JetBrains Mono" pitchFamily="49" charset="0"/>
                <a:ea typeface="JetBrains Mono" pitchFamily="49" charset="-122"/>
                <a:cs typeface="JetBrains Mono" pitchFamily="49" charset="-120"/>
              </a:rPr>
              <a:t>kubectl events</a:t>
            </a:r>
            <a:endParaRPr lang="en-US" sz="1400" dirty="0"/>
          </a:p>
        </p:txBody>
      </p:sp>
      <p:sp>
        <p:nvSpPr>
          <p:cNvPr id="22" name="Text 17"/>
          <p:cNvSpPr/>
          <p:nvPr/>
        </p:nvSpPr>
        <p:spPr>
          <a:xfrm>
            <a:off x="9259041" y="2549624"/>
            <a:ext cx="1980245" cy="9144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La chronologie du namespace, pour les problèmes qui touchent plusieurs objets.</a:t>
            </a:r>
            <a:endParaRPr lang="en-US" sz="1250" dirty="0"/>
          </a:p>
        </p:txBody>
      </p:sp>
      <p:sp>
        <p:nvSpPr>
          <p:cNvPr id="23" name="Text 18"/>
          <p:cNvSpPr/>
          <p:nvPr/>
        </p:nvSpPr>
        <p:spPr>
          <a:xfrm>
            <a:off x="812800" y="398527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F3C6B"/>
                </a:solidFill>
                <a:latin typeface="IBM Plex Sans" pitchFamily="34" charset="0"/>
                <a:ea typeface="IBM Plex Sans" pitchFamily="34" charset="-122"/>
                <a:cs typeface="IBM Plex Sans" pitchFamily="34" charset="-120"/>
              </a:rPr>
              <a:t>5.</a:t>
            </a:r>
            <a:r>
              <a:rPr lang="en-US" sz="1300" dirty="0">
                <a:solidFill>
                  <a:srgbClr val="3F3C6B"/>
                </a:solidFill>
                <a:latin typeface="IBM Plex Sans" pitchFamily="34" charset="0"/>
                <a:ea typeface="IBM Plex Sans" pitchFamily="34" charset="-122"/>
                <a:cs typeface="IBM Plex Sans" pitchFamily="34" charset="-120"/>
              </a:rPr>
              <a:t> Si besoin : exec, port-forward ou debug pour observer de l'intérieur.</a:t>
            </a:r>
            <a:endParaRPr lang="en-US" sz="1300" dirty="0"/>
          </a:p>
        </p:txBody>
      </p:sp>
      <p:sp>
        <p:nvSpPr>
          <p:cNvPr id="24" name="Shape 19"/>
          <p:cNvSpPr/>
          <p:nvPr/>
        </p:nvSpPr>
        <p:spPr>
          <a:xfrm>
            <a:off x="812800" y="4406900"/>
            <a:ext cx="10566400" cy="1435100"/>
          </a:xfrm>
          <a:prstGeom prst="roundRect">
            <a:avLst>
              <a:gd name="adj" fmla="val 8850"/>
            </a:avLst>
          </a:prstGeom>
          <a:solidFill>
            <a:srgbClr val="0B0748"/>
          </a:solidFill>
          <a:ln/>
        </p:spPr>
      </p:sp>
      <p:sp>
        <p:nvSpPr>
          <p:cNvPr id="25" name="Text 20"/>
          <p:cNvSpPr/>
          <p:nvPr/>
        </p:nvSpPr>
        <p:spPr>
          <a:xfrm>
            <a:off x="1041400" y="4559300"/>
            <a:ext cx="1041247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PROBLÈME D'ACCÈS : DESCENDEZ LA CHAÎNE</a:t>
            </a:r>
            <a:endParaRPr lang="en-US" sz="1200" dirty="0"/>
          </a:p>
        </p:txBody>
      </p:sp>
      <p:sp>
        <p:nvSpPr>
          <p:cNvPr id="26" name="Text 21"/>
          <p:cNvSpPr/>
          <p:nvPr/>
        </p:nvSpPr>
        <p:spPr>
          <a:xfrm>
            <a:off x="1393507" y="4874270"/>
            <a:ext cx="992399" cy="35052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960"/>
              </a:lnSpc>
              <a:buNone/>
            </a:pPr>
            <a:r>
              <a:rPr lang="en-US" sz="1400" b="1" dirty="0">
                <a:solidFill>
                  <a:srgbClr val="F5F4F9"/>
                </a:solidFill>
                <a:latin typeface="Sora" pitchFamily="34" charset="0"/>
                <a:ea typeface="Sora" pitchFamily="34" charset="-122"/>
                <a:cs typeface="Sora" pitchFamily="34" charset="-120"/>
              </a:rPr>
              <a:t>Service</a:t>
            </a:r>
            <a:endParaRPr lang="en-US" sz="1400" dirty="0"/>
          </a:p>
        </p:txBody>
      </p:sp>
      <p:pic>
        <p:nvPicPr>
          <p:cNvPr id="27" name="Image 3" descr="arrow-right">    </p:cNvPr>
          <p:cNvPicPr>
            <a:picLocks noChangeAspect="1"/>
          </p:cNvPicPr>
          <p:nvPr/>
        </p:nvPicPr>
        <p:blipFill>
          <a:blip r:embed="rId4"/>
          <a:srcRect l="0" r="0" t="0" b="0"/>
          <a:stretch/>
        </p:blipFill>
        <p:spPr>
          <a:xfrm>
            <a:off x="2814320" y="4988570"/>
            <a:ext cx="254000" cy="127000"/>
          </a:xfrm>
          <a:prstGeom prst="rect">
            <a:avLst/>
          </a:prstGeom>
        </p:spPr>
      </p:pic>
      <p:sp>
        <p:nvSpPr>
          <p:cNvPr id="28" name="Text 22"/>
          <p:cNvSpPr/>
          <p:nvPr/>
        </p:nvSpPr>
        <p:spPr>
          <a:xfrm>
            <a:off x="3195108" y="4874270"/>
            <a:ext cx="1595438" cy="35052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960"/>
              </a:lnSpc>
              <a:buNone/>
            </a:pPr>
            <a:r>
              <a:rPr lang="en-US" sz="1400" b="1" dirty="0">
                <a:solidFill>
                  <a:srgbClr val="F5F4F9"/>
                </a:solidFill>
                <a:latin typeface="Sora" pitchFamily="34" charset="0"/>
                <a:ea typeface="Sora" pitchFamily="34" charset="-122"/>
                <a:cs typeface="Sora" pitchFamily="34" charset="-120"/>
              </a:rPr>
              <a:t>EndpointSlice</a:t>
            </a:r>
            <a:endParaRPr lang="en-US" sz="1400" dirty="0"/>
          </a:p>
        </p:txBody>
      </p:sp>
      <p:sp>
        <p:nvSpPr>
          <p:cNvPr id="29" name="Text 23"/>
          <p:cNvSpPr/>
          <p:nvPr/>
        </p:nvSpPr>
        <p:spPr>
          <a:xfrm>
            <a:off x="3335528" y="5262860"/>
            <a:ext cx="131470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9B6E8"/>
                </a:solidFill>
                <a:latin typeface="IBM Plex Sans" pitchFamily="34" charset="0"/>
                <a:ea typeface="IBM Plex Sans" pitchFamily="34" charset="-122"/>
                <a:cs typeface="IBM Plex Sans" pitchFamily="34" charset="-120"/>
              </a:rPr>
              <a:t>a-t-il des pods ?</a:t>
            </a:r>
            <a:endParaRPr lang="en-US" sz="1200" dirty="0"/>
          </a:p>
        </p:txBody>
      </p:sp>
      <p:pic>
        <p:nvPicPr>
          <p:cNvPr id="30" name="Image 4" descr="arrow-right">    </p:cNvPr>
          <p:cNvPicPr>
            <a:picLocks noChangeAspect="1"/>
          </p:cNvPicPr>
          <p:nvPr/>
        </p:nvPicPr>
        <p:blipFill>
          <a:blip r:embed="rId5"/>
          <a:srcRect l="0" r="0" t="0" b="0"/>
          <a:stretch/>
        </p:blipFill>
        <p:spPr>
          <a:xfrm>
            <a:off x="4917440" y="4988570"/>
            <a:ext cx="254000" cy="127000"/>
          </a:xfrm>
          <a:prstGeom prst="rect">
            <a:avLst/>
          </a:prstGeom>
        </p:spPr>
      </p:pic>
      <p:sp>
        <p:nvSpPr>
          <p:cNvPr id="31" name="Text 24"/>
          <p:cNvSpPr/>
          <p:nvPr/>
        </p:nvSpPr>
        <p:spPr>
          <a:xfrm>
            <a:off x="5714471" y="4874270"/>
            <a:ext cx="762952" cy="35052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960"/>
              </a:lnSpc>
              <a:buNone/>
            </a:pPr>
            <a:r>
              <a:rPr lang="en-US" sz="1400" b="1" dirty="0">
                <a:solidFill>
                  <a:srgbClr val="F5F4F9"/>
                </a:solidFill>
                <a:latin typeface="Sora" pitchFamily="34" charset="0"/>
                <a:ea typeface="Sora" pitchFamily="34" charset="-122"/>
                <a:cs typeface="Sora" pitchFamily="34" charset="-120"/>
              </a:rPr>
              <a:t>Pods</a:t>
            </a:r>
            <a:endParaRPr lang="en-US" sz="1400" dirty="0"/>
          </a:p>
        </p:txBody>
      </p:sp>
      <p:sp>
        <p:nvSpPr>
          <p:cNvPr id="32" name="Text 25"/>
          <p:cNvSpPr/>
          <p:nvPr/>
        </p:nvSpPr>
        <p:spPr>
          <a:xfrm>
            <a:off x="5489575" y="5262860"/>
            <a:ext cx="121285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9B6E8"/>
                </a:solidFill>
                <a:latin typeface="IBM Plex Sans" pitchFamily="34" charset="0"/>
                <a:ea typeface="IBM Plex Sans" pitchFamily="34" charset="-122"/>
                <a:cs typeface="IBM Plex Sans" pitchFamily="34" charset="-120"/>
              </a:rPr>
              <a:t>sont-ils prêts ?</a:t>
            </a:r>
            <a:endParaRPr lang="en-US" sz="1200" dirty="0"/>
          </a:p>
        </p:txBody>
      </p:sp>
      <p:pic>
        <p:nvPicPr>
          <p:cNvPr id="33" name="Image 5" descr="arrow-right">    </p:cNvPr>
          <p:cNvPicPr>
            <a:picLocks noChangeAspect="1"/>
          </p:cNvPicPr>
          <p:nvPr/>
        </p:nvPicPr>
        <p:blipFill>
          <a:blip r:embed="rId6"/>
          <a:srcRect l="0" r="0" t="0" b="0"/>
          <a:stretch/>
        </p:blipFill>
        <p:spPr>
          <a:xfrm>
            <a:off x="7020560" y="4988570"/>
            <a:ext cx="254000" cy="127000"/>
          </a:xfrm>
          <a:prstGeom prst="rect">
            <a:avLst/>
          </a:prstGeom>
        </p:spPr>
      </p:pic>
      <p:sp>
        <p:nvSpPr>
          <p:cNvPr id="34" name="Text 26"/>
          <p:cNvSpPr/>
          <p:nvPr/>
        </p:nvSpPr>
        <p:spPr>
          <a:xfrm>
            <a:off x="7557770" y="4874270"/>
            <a:ext cx="1282594" cy="35052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960"/>
              </a:lnSpc>
              <a:buNone/>
            </a:pPr>
            <a:r>
              <a:rPr lang="en-US" sz="1400" b="1" dirty="0">
                <a:solidFill>
                  <a:srgbClr val="F5F4F9"/>
                </a:solidFill>
                <a:latin typeface="Sora" pitchFamily="34" charset="0"/>
                <a:ea typeface="Sora" pitchFamily="34" charset="-122"/>
                <a:cs typeface="Sora" pitchFamily="34" charset="-120"/>
              </a:rPr>
              <a:t>Conteneur</a:t>
            </a:r>
            <a:endParaRPr lang="en-US" sz="1400" dirty="0"/>
          </a:p>
        </p:txBody>
      </p:sp>
      <p:sp>
        <p:nvSpPr>
          <p:cNvPr id="35" name="Text 27"/>
          <p:cNvSpPr/>
          <p:nvPr/>
        </p:nvSpPr>
        <p:spPr>
          <a:xfrm>
            <a:off x="7325309" y="5262860"/>
            <a:ext cx="1747622"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9B6E8"/>
                </a:solidFill>
                <a:latin typeface="IBM Plex Sans" pitchFamily="34" charset="0"/>
                <a:ea typeface="IBM Plex Sans" pitchFamily="34" charset="-122"/>
                <a:cs typeface="IBM Plex Sans" pitchFamily="34" charset="-120"/>
              </a:rPr>
              <a:t>répond-il sur le bon port ?</a:t>
            </a:r>
            <a:endParaRPr lang="en-US" sz="1200" dirty="0"/>
          </a:p>
        </p:txBody>
      </p:sp>
      <p:pic>
        <p:nvPicPr>
          <p:cNvPr id="36" name="Image 6" descr="arrow-right">    </p:cNvPr>
          <p:cNvPicPr>
            <a:picLocks noChangeAspect="1"/>
          </p:cNvPicPr>
          <p:nvPr/>
        </p:nvPicPr>
        <p:blipFill>
          <a:blip r:embed="rId7"/>
          <a:srcRect l="0" r="0" t="0" b="0"/>
          <a:stretch/>
        </p:blipFill>
        <p:spPr>
          <a:xfrm>
            <a:off x="9123680" y="4988570"/>
            <a:ext cx="254000" cy="127000"/>
          </a:xfrm>
          <a:prstGeom prst="rect">
            <a:avLst/>
          </a:prstGeom>
        </p:spPr>
      </p:pic>
      <p:sp>
        <p:nvSpPr>
          <p:cNvPr id="37" name="Text 28"/>
          <p:cNvSpPr/>
          <p:nvPr/>
        </p:nvSpPr>
        <p:spPr>
          <a:xfrm>
            <a:off x="9858480" y="4874270"/>
            <a:ext cx="887518" cy="35052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960"/>
              </a:lnSpc>
              <a:buNone/>
            </a:pPr>
            <a:r>
              <a:rPr lang="en-US" sz="1400" b="1" dirty="0">
                <a:solidFill>
                  <a:srgbClr val="F5F4F9"/>
                </a:solidFill>
                <a:latin typeface="Sora" pitchFamily="34" charset="0"/>
                <a:ea typeface="Sora" pitchFamily="34" charset="-122"/>
                <a:cs typeface="Sora" pitchFamily="34" charset="-120"/>
              </a:rPr>
              <a:t>Nœud</a:t>
            </a:r>
            <a:endParaRPr lang="en-US" sz="1400" dirty="0"/>
          </a:p>
        </p:txBody>
      </p:sp>
      <p:pic>
        <p:nvPicPr>
          <p:cNvPr id="38" name="Image 7" descr="preencoded.png">    </p:cNvPr>
          <p:cNvPicPr>
            <a:picLocks noChangeAspect="1"/>
          </p:cNvPicPr>
          <p:nvPr/>
        </p:nvPicPr>
        <p:blipFill>
          <a:blip r:embed="rId8"/>
          <a:srcRect l="0" r="0" t="0" b="0"/>
          <a:stretch/>
        </p:blipFill>
        <p:spPr>
          <a:xfrm>
            <a:off x="812800" y="6299200"/>
            <a:ext cx="152400" cy="152400"/>
          </a:xfrm>
          <a:prstGeom prst="rect">
            <a:avLst/>
          </a:prstGeom>
        </p:spPr>
      </p:pic>
      <p:sp>
        <p:nvSpPr>
          <p:cNvPr id="39" name="Text 29"/>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40" name="Image 8" descr="Parcours : module 10 sur 16">    </p:cNvPr>
          <p:cNvPicPr>
            <a:picLocks noChangeAspect="1"/>
          </p:cNvPicPr>
          <p:nvPr/>
        </p:nvPicPr>
        <p:blipFill>
          <a:blip r:embed="rId9"/>
          <a:srcRect l="0" r="0" t="0" b="0"/>
          <a:stretch/>
        </p:blipFill>
        <p:spPr>
          <a:xfrm>
            <a:off x="9207500" y="6299200"/>
            <a:ext cx="2171700" cy="15240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10 · SURVEILLER ET DIAGNOSTIQUER</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Lire l'état d'un pod</a:t>
            </a:r>
            <a:endParaRPr lang="en-US" sz="2800" dirty="0"/>
          </a:p>
        </p:txBody>
      </p:sp>
      <p:sp>
        <p:nvSpPr>
          <p:cNvPr id="4" name="Text 2"/>
          <p:cNvSpPr/>
          <p:nvPr/>
        </p:nvSpPr>
        <p:spPr>
          <a:xfrm>
            <a:off x="812800" y="1531640"/>
            <a:ext cx="6985000" cy="1137920"/>
          </a:xfrm>
          <a:prstGeom prst="roundRect">
            <a:avLst>
              <a:gd name="adj" fmla="val 8929"/>
            </a:avLst>
          </a:prstGeom>
          <a:solidFill>
            <a:srgbClr val="0B0748"/>
          </a:solidFill>
          <a:ln/>
        </p:spPr>
        <p:txBody>
          <a:bodyPr wrap="none" lIns="160742" tIns="84542" rIns="0" bIns="84542" rtlCol="0" anchor="ctr">
            <a:normAutofit/>
          </a:bodyPr>
          <a:lstStyle/>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NAME                        READY   STATUS             RESTARTS     AGE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podinfo-6c9f8d7b5-4kx2p     1/1     Running            0            2h</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podinfo-6c9f8d7b5-9mz7q     </a:t>
            </a:r>
            <a:r>
              <a:rPr lang="en-US" sz="1200" dirty="0">
                <a:solidFill>
                  <a:srgbClr val="FFB08F"/>
                </a:solidFill>
                <a:latin typeface="JetBrains Mono" pitchFamily="49" charset="0"/>
                <a:ea typeface="JetBrains Mono" pitchFamily="49" charset="-122"/>
                <a:cs typeface="JetBrains Mono" pitchFamily="49" charset="-120"/>
              </a:rPr>
              <a:t>0/1</a:t>
            </a:r>
            <a:r>
              <a:rPr lang="en-US" sz="1200" dirty="0">
                <a:solidFill>
                  <a:srgbClr val="ECEAFF"/>
                </a:solidFill>
                <a:latin typeface="JetBrains Mono" pitchFamily="49" charset="0"/>
                <a:ea typeface="JetBrains Mono" pitchFamily="49" charset="-122"/>
                <a:cs typeface="JetBrains Mono" pitchFamily="49" charset="-120"/>
              </a:rPr>
              <a:t>     Running            0            5m</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panne-7f8b9c6d4-l2k8w       0/1     </a:t>
            </a:r>
            <a:r>
              <a:rPr lang="en-US" sz="1200" dirty="0">
                <a:solidFill>
                  <a:srgbClr val="FFB08F"/>
                </a:solidFill>
                <a:latin typeface="JetBrains Mono" pitchFamily="49" charset="0"/>
                <a:ea typeface="JetBrains Mono" pitchFamily="49" charset="-122"/>
                <a:cs typeface="JetBrains Mono" pitchFamily="49" charset="-120"/>
              </a:rPr>
              <a:t>CrashLoopBackOff</a:t>
            </a:r>
            <a:r>
              <a:rPr lang="en-US" sz="1200" dirty="0">
                <a:solidFill>
                  <a:srgbClr val="ECEAFF"/>
                </a:solidFill>
                <a:latin typeface="JetBrains Mono" pitchFamily="49" charset="0"/>
                <a:ea typeface="JetBrains Mono" pitchFamily="49" charset="-122"/>
                <a:cs typeface="JetBrains Mono" pitchFamily="49" charset="-120"/>
              </a:rPr>
              <a:t>   6 (2m ago)   10m</a:t>
            </a:r>
            <a:endParaRPr lang="en-US" sz="1200" dirty="0"/>
          </a:p>
        </p:txBody>
      </p:sp>
      <p:sp>
        <p:nvSpPr>
          <p:cNvPr id="5" name="Text 3"/>
          <p:cNvSpPr/>
          <p:nvPr/>
        </p:nvSpPr>
        <p:spPr>
          <a:xfrm>
            <a:off x="8051800" y="1706860"/>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COLONNE READY</a:t>
            </a:r>
            <a:endParaRPr lang="en-US" sz="1200" dirty="0"/>
          </a:p>
        </p:txBody>
      </p:sp>
      <p:sp>
        <p:nvSpPr>
          <p:cNvPr id="6" name="Text 4"/>
          <p:cNvSpPr/>
          <p:nvPr/>
        </p:nvSpPr>
        <p:spPr>
          <a:xfrm>
            <a:off x="8051800" y="1996430"/>
            <a:ext cx="34272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Conteneurs prêts sur le total. Un pod </a:t>
            </a:r>
            <a:r>
              <a:rPr lang="en-US" sz="1400" b="1" dirty="0">
                <a:solidFill>
                  <a:srgbClr val="0B0748"/>
                </a:solidFill>
                <a:latin typeface="IBM Plex Sans" pitchFamily="34" charset="0"/>
                <a:ea typeface="IBM Plex Sans" pitchFamily="34" charset="-122"/>
                <a:cs typeface="IBM Plex Sans" pitchFamily="34" charset="-120"/>
              </a:rPr>
              <a:t>Running mais 0/1</a:t>
            </a:r>
            <a:r>
              <a:rPr lang="en-US" sz="1400" dirty="0">
                <a:solidFill>
                  <a:srgbClr val="0B0748"/>
                </a:solidFill>
                <a:latin typeface="IBM Plex Sans" pitchFamily="34" charset="0"/>
                <a:ea typeface="IBM Plex Sans" pitchFamily="34" charset="-122"/>
                <a:cs typeface="IBM Plex Sans" pitchFamily="34" charset="-120"/>
              </a:rPr>
              <a:t> ne reçoit pas de trafic.</a:t>
            </a:r>
            <a:endParaRPr lang="en-US" sz="1400" dirty="0"/>
          </a:p>
        </p:txBody>
      </p:sp>
      <p:sp>
        <p:nvSpPr>
          <p:cNvPr id="7" name="Shape 5"/>
          <p:cNvSpPr/>
          <p:nvPr/>
        </p:nvSpPr>
        <p:spPr>
          <a:xfrm>
            <a:off x="812800" y="2860030"/>
            <a:ext cx="10566400" cy="2700655"/>
          </a:xfrm>
          <a:prstGeom prst="rect">
            <a:avLst/>
          </a:prstGeom>
          <a:solidFill>
            <a:srgbClr val="FDFDFF"/>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19891" y="2867121"/>
          <a:ext cx="10559309" cy="2693564"/>
        </p:xfrm>
        <a:graphic>
          <a:graphicData uri="http://schemas.openxmlformats.org/drawingml/2006/table">
            <a:tbl>
              <a:tblPr/>
              <a:tblGrid>
                <a:gridCol w="2323048"/>
                <a:gridCol w="2323048"/>
                <a:gridCol w="3801351"/>
                <a:gridCol w="2111862"/>
              </a:tblGrid>
              <a:tr h="353801">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État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Signification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Causes fréquentes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Première commande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58494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Pending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Pas encore placé sur un nœud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Ressources insuffisantes, taint non tolérée, nodeSelector impossible, volume non lié, quota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describe pod : FailedScheduling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8494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ContainerCreating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Placé, conteneur en préparation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Téléchargement d'image long, volume impossible à monter, problème CNI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describe pod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58494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ErrImagePull, ImagePullBackOff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Image impossible à télécharger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Tag inexistant, registre privé sans identifiants, limite de téléchargement, pas d'accès Internet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describe pod : message du registre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8494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CrashLoopBackOff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Démarre puis s'arrête en boucle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Erreur applicative, configuration manquante, liveness trop stricte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logs --previous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pic>
        <p:nvPicPr>
          <p:cNvPr id="9"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0" name="Text 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1" name="Image 1" descr="Parcours : module 10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10 · SURVEILLER ET DIAGNOSTIQUER</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autres états à reconnaître</a:t>
            </a:r>
            <a:endParaRPr lang="en-US" sz="2800" dirty="0"/>
          </a:p>
        </p:txBody>
      </p:sp>
      <p:sp>
        <p:nvSpPr>
          <p:cNvPr id="4" name="Shape 2"/>
          <p:cNvSpPr/>
          <p:nvPr/>
        </p:nvSpPr>
        <p:spPr>
          <a:xfrm>
            <a:off x="812800" y="1569740"/>
            <a:ext cx="10566400" cy="4272280"/>
          </a:xfrm>
          <a:prstGeom prst="rect">
            <a:avLst/>
          </a:prstGeom>
          <a:solidFill>
            <a:srgbClr val="FDFD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9891" y="1576831"/>
          <a:ext cx="10559309" cy="4265189"/>
        </p:xfrm>
        <a:graphic>
          <a:graphicData uri="http://schemas.openxmlformats.org/drawingml/2006/table">
            <a:tbl>
              <a:tblPr/>
              <a:tblGrid>
                <a:gridCol w="2851013"/>
                <a:gridCol w="2745420"/>
                <a:gridCol w="2851013"/>
                <a:gridCol w="2111862"/>
              </a:tblGrid>
              <a:tr h="358140">
                <a:tc>
                  <a:txBody>
                    <a:bodyPr/>
                    <a:lstStyle/>
                    <a:p>
                      <a:pPr indent="0" marL="0">
                        <a:lnSpc>
                          <a:spcPts val="1843"/>
                        </a:lnSpc>
                        <a:buNone/>
                      </a:pPr>
                      <a:r>
                        <a:rPr lang="en-US" sz="1316" b="1" dirty="0">
                          <a:solidFill>
                            <a:srgbClr val="F5F4F9"/>
                          </a:solidFill>
                          <a:latin typeface="IBM Plex Sans" pitchFamily="34" charset="0"/>
                          <a:ea typeface="IBM Plex Sans" pitchFamily="34" charset="-122"/>
                          <a:cs typeface="IBM Plex Sans" pitchFamily="34" charset="-120"/>
                        </a:rPr>
                        <a:t>État</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43"/>
                        </a:lnSpc>
                        <a:buNone/>
                      </a:pPr>
                      <a:r>
                        <a:rPr lang="en-US" sz="1316" b="1" dirty="0">
                          <a:solidFill>
                            <a:srgbClr val="F5F4F9"/>
                          </a:solidFill>
                          <a:latin typeface="IBM Plex Sans" pitchFamily="34" charset="0"/>
                          <a:ea typeface="IBM Plex Sans" pitchFamily="34" charset="-122"/>
                          <a:cs typeface="IBM Plex Sans" pitchFamily="34" charset="-120"/>
                        </a:rPr>
                        <a:t>Signification</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43"/>
                        </a:lnSpc>
                        <a:buNone/>
                      </a:pPr>
                      <a:r>
                        <a:rPr lang="en-US" sz="1316" b="1" dirty="0">
                          <a:solidFill>
                            <a:srgbClr val="F5F4F9"/>
                          </a:solidFill>
                          <a:latin typeface="IBM Plex Sans" pitchFamily="34" charset="0"/>
                          <a:ea typeface="IBM Plex Sans" pitchFamily="34" charset="-122"/>
                          <a:cs typeface="IBM Plex Sans" pitchFamily="34" charset="-120"/>
                        </a:rPr>
                        <a:t>Causes fréquentes</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43"/>
                        </a:lnSpc>
                        <a:buNone/>
                      </a:pPr>
                      <a:r>
                        <a:rPr lang="en-US" sz="1316" b="1" dirty="0">
                          <a:solidFill>
                            <a:srgbClr val="F5F4F9"/>
                          </a:solidFill>
                          <a:latin typeface="IBM Plex Sans" pitchFamily="34" charset="0"/>
                          <a:ea typeface="IBM Plex Sans" pitchFamily="34" charset="-122"/>
                          <a:cs typeface="IBM Plex Sans" pitchFamily="34" charset="-120"/>
                        </a:rPr>
                        <a:t>Première commande</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591503">
                <a:tc>
                  <a:txBody>
                    <a:bodyPr/>
                    <a:lstStyle/>
                    <a:p>
                      <a:pPr indent="0" marL="0">
                        <a:lnSpc>
                          <a:spcPts val="1843"/>
                        </a:lnSpc>
                        <a:buNone/>
                      </a:pPr>
                      <a:r>
                        <a:rPr lang="en-US" sz="1316" dirty="0">
                          <a:solidFill>
                            <a:srgbClr val="0B0748"/>
                          </a:solidFill>
                          <a:latin typeface="IBM Plex Sans" pitchFamily="34" charset="0"/>
                          <a:ea typeface="IBM Plex Sans" pitchFamily="34" charset="-122"/>
                          <a:cs typeface="IBM Plex Sans" pitchFamily="34" charset="-120"/>
                        </a:rPr>
                        <a:t>CreateContainerConfigError</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Configuration du conteneur impossible à construire</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ConfigMap ou Secret référencé inexistant</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describe pod</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91502">
                <a:tc>
                  <a:txBody>
                    <a:bodyPr/>
                    <a:lstStyle/>
                    <a:p>
                      <a:pPr indent="0" marL="0">
                        <a:lnSpc>
                          <a:spcPts val="1843"/>
                        </a:lnSpc>
                        <a:buNone/>
                      </a:pPr>
                      <a:r>
                        <a:rPr lang="en-US" sz="1316" dirty="0">
                          <a:solidFill>
                            <a:srgbClr val="0B0748"/>
                          </a:solidFill>
                          <a:latin typeface="IBM Plex Sans" pitchFamily="34" charset="0"/>
                          <a:ea typeface="IBM Plex Sans" pitchFamily="34" charset="-122"/>
                          <a:cs typeface="IBM Plex Sans" pitchFamily="34" charset="-120"/>
                        </a:rPr>
                        <a:t>RunContainerError, StartError</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Le runtime n'a pas pu lancer la commande</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Exécutable introuvable, droits</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describe pod</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591503">
                <a:tc>
                  <a:txBody>
                    <a:bodyPr/>
                    <a:lstStyle/>
                    <a:p>
                      <a:pPr indent="0" marL="0">
                        <a:lnSpc>
                          <a:spcPts val="1843"/>
                        </a:lnSpc>
                        <a:buNone/>
                      </a:pPr>
                      <a:r>
                        <a:rPr lang="en-US" sz="1316" dirty="0">
                          <a:solidFill>
                            <a:srgbClr val="0B0748"/>
                          </a:solidFill>
                          <a:latin typeface="IBM Plex Sans" pitchFamily="34" charset="0"/>
                          <a:ea typeface="IBM Plex Sans" pitchFamily="34" charset="-122"/>
                          <a:cs typeface="IBM Plex Sans" pitchFamily="34" charset="-120"/>
                        </a:rPr>
                        <a:t>OOMKilled (dans Last State)</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Tué pour dépassement de sa limite mémoire</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Limite trop basse ou fuite mémoire</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describe pod, top pod</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91502">
                <a:tc>
                  <a:txBody>
                    <a:bodyPr/>
                    <a:lstStyle/>
                    <a:p>
                      <a:pPr indent="0" marL="0">
                        <a:lnSpc>
                          <a:spcPts val="1843"/>
                        </a:lnSpc>
                        <a:buNone/>
                      </a:pPr>
                      <a:r>
                        <a:rPr lang="en-US" sz="1316" dirty="0">
                          <a:solidFill>
                            <a:srgbClr val="0B0748"/>
                          </a:solidFill>
                          <a:latin typeface="IBM Plex Sans" pitchFamily="34" charset="0"/>
                          <a:ea typeface="IBM Plex Sans" pitchFamily="34" charset="-122"/>
                          <a:cs typeface="IBM Plex Sans" pitchFamily="34" charset="-120"/>
                        </a:rPr>
                        <a:t>Running mais 0/1</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Readiness en échec</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Application pas prête, mauvais chemin ou port de probe</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describe pod : Readiness probe failed</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591502">
                <a:tc>
                  <a:txBody>
                    <a:bodyPr/>
                    <a:lstStyle/>
                    <a:p>
                      <a:pPr indent="0" marL="0">
                        <a:lnSpc>
                          <a:spcPts val="1843"/>
                        </a:lnSpc>
                        <a:buNone/>
                      </a:pPr>
                      <a:r>
                        <a:rPr lang="en-US" sz="1316" dirty="0">
                          <a:solidFill>
                            <a:srgbClr val="0B0748"/>
                          </a:solidFill>
                          <a:latin typeface="IBM Plex Sans" pitchFamily="34" charset="0"/>
                          <a:ea typeface="IBM Plex Sans" pitchFamily="34" charset="-122"/>
                          <a:cs typeface="IBM Plex Sans" pitchFamily="34" charset="-120"/>
                        </a:rPr>
                        <a:t>Terminating qui dure</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Suppression bloquée</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Nœud injoignable, finalizer non levé</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describe pod, état du nœud</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91397">
                <a:tc>
                  <a:txBody>
                    <a:bodyPr/>
                    <a:lstStyle/>
                    <a:p>
                      <a:pPr indent="0" marL="0">
                        <a:lnSpc>
                          <a:spcPts val="1843"/>
                        </a:lnSpc>
                        <a:buNone/>
                      </a:pPr>
                      <a:r>
                        <a:rPr lang="en-US" sz="1316" dirty="0">
                          <a:solidFill>
                            <a:srgbClr val="0B0748"/>
                          </a:solidFill>
                          <a:latin typeface="IBM Plex Sans" pitchFamily="34" charset="0"/>
                          <a:ea typeface="IBM Plex Sans" pitchFamily="34" charset="-122"/>
                          <a:cs typeface="IBM Plex Sans" pitchFamily="34" charset="-120"/>
                        </a:rPr>
                        <a:t>Evicted</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Expulsé par le kubelet</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Pression mémoire ou disque sur le nœud</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describe node</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58140">
                <a:tc>
                  <a:txBody>
                    <a:bodyPr/>
                    <a:lstStyle/>
                    <a:p>
                      <a:pPr indent="0" marL="0">
                        <a:lnSpc>
                          <a:spcPts val="1843"/>
                        </a:lnSpc>
                        <a:buNone/>
                      </a:pPr>
                      <a:r>
                        <a:rPr lang="en-US" sz="1316" dirty="0">
                          <a:solidFill>
                            <a:srgbClr val="0B0748"/>
                          </a:solidFill>
                          <a:latin typeface="IBM Plex Sans" pitchFamily="34" charset="0"/>
                          <a:ea typeface="IBM Plex Sans" pitchFamily="34" charset="-122"/>
                          <a:cs typeface="IBM Plex Sans" pitchFamily="34" charset="-120"/>
                        </a:rPr>
                        <a:t>Completed</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Terminé avec succès</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Normal pour un Job</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43"/>
                        </a:lnSpc>
                        <a:buNone/>
                      </a:pPr>
                      <a:r>
                        <a:rPr lang="en-US" sz="1316" dirty="0">
                          <a:solidFill>
                            <a:srgbClr val="3F3C6B"/>
                          </a:solidFill>
                          <a:latin typeface="IBM Plex Sans" pitchFamily="34" charset="0"/>
                          <a:ea typeface="IBM Plex Sans" pitchFamily="34" charset="-122"/>
                          <a:cs typeface="IBM Plex Sans" pitchFamily="34" charset="-120"/>
                        </a:rPr>
                        <a:t>—</a:t>
                      </a:r>
                      <a:endParaRPr lang="en-US" sz="1316" dirty="0">
                        <a:latin typeface="IBM Plex Sans" charset="0"/>
                        <a:ea typeface="IBM Plex Sans" charset="0"/>
                        <a:cs typeface="IBM Plex Sans" charset="0"/>
                      </a:endParaRPr>
                    </a:p>
                  </a:txBody>
                  <a:tcPr marL="58507" marR="58507" marT="58507" marB="58507"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bl>
          </a:graphicData>
        </a:graphic>
      </p:graphicFrame>
      <p:pic>
        <p:nvPicPr>
          <p:cNvPr id="6"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7" name="Text 3"/>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8" name="Image 1" descr="Parcours : module 10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10 · SURVEILLER ET DIAGNOSTIQUER</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Logs et événements</a:t>
            </a:r>
            <a:endParaRPr lang="en-US" sz="2800" dirty="0"/>
          </a:p>
        </p:txBody>
      </p:sp>
      <p:sp>
        <p:nvSpPr>
          <p:cNvPr id="4" name="Text 2"/>
          <p:cNvSpPr/>
          <p:nvPr/>
        </p:nvSpPr>
        <p:spPr>
          <a:xfrm>
            <a:off x="812800" y="1544340"/>
            <a:ext cx="7937500" cy="2321560"/>
          </a:xfrm>
          <a:prstGeom prst="roundRect">
            <a:avLst>
              <a:gd name="adj" fmla="val 4376"/>
            </a:avLst>
          </a:prstGeom>
          <a:solidFill>
            <a:srgbClr val="0B0748"/>
          </a:solidFill>
          <a:ln/>
        </p:spPr>
        <p:txBody>
          <a:bodyPr wrap="none" lIns="160742" tIns="97242" rIns="0" bIns="97242" rtlCol="0" anchor="ctr">
            <a:normAutofit/>
          </a:bodyPr>
          <a:lstStyle/>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logs podinfo-6c9f8d7b5-4kx2p    </a:t>
            </a:r>
            <a:r>
              <a:rPr lang="en-US" sz="1200" dirty="0">
                <a:solidFill>
                  <a:srgbClr val="9A96D0"/>
                </a:solidFill>
                <a:latin typeface="JetBrains Mono" pitchFamily="49" charset="0"/>
                <a:ea typeface="JetBrains Mono" pitchFamily="49" charset="-122"/>
                <a:cs typeface="JetBrains Mono" pitchFamily="49" charset="-120"/>
              </a:rPr>
              <a:t># logs d'un pod</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logs -f deploy/podinfo          </a:t>
            </a:r>
            <a:r>
              <a:rPr lang="en-US" sz="1200" dirty="0">
                <a:solidFill>
                  <a:srgbClr val="9A96D0"/>
                </a:solidFill>
                <a:latin typeface="JetBrains Mono" pitchFamily="49" charset="0"/>
                <a:ea typeface="JetBrains Mono" pitchFamily="49" charset="-122"/>
                <a:cs typeface="JetBrains Mono" pitchFamily="49" charset="-120"/>
              </a:rPr>
              <a:t># en direct, un pod du Deployment</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logs -l app=podinfo --prefix    </a:t>
            </a:r>
            <a:r>
              <a:rPr lang="en-US" sz="1200" dirty="0">
                <a:solidFill>
                  <a:srgbClr val="9A96D0"/>
                </a:solidFill>
                <a:latin typeface="JetBrains Mono" pitchFamily="49" charset="0"/>
                <a:ea typeface="JetBrains Mono" pitchFamily="49" charset="-122"/>
                <a:cs typeface="JetBrains Mono" pitchFamily="49" charset="-120"/>
              </a:rPr>
              <a:t># tous les pods d'un label, avec leur nom</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logs &lt;pod&gt; --previous           </a:t>
            </a:r>
            <a:r>
              <a:rPr lang="en-US" sz="1200" dirty="0">
                <a:solidFill>
                  <a:srgbClr val="9A96D0"/>
                </a:solidFill>
                <a:latin typeface="JetBrains Mono" pitchFamily="49" charset="0"/>
                <a:ea typeface="JetBrains Mono" pitchFamily="49" charset="-122"/>
                <a:cs typeface="JetBrains Mono" pitchFamily="49" charset="-120"/>
              </a:rPr>
              <a:t># instance précédente, avant le plantage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logs &lt;pod&gt; -c &lt;conteneur&gt;       </a:t>
            </a:r>
            <a:r>
              <a:rPr lang="en-US" sz="1200" dirty="0">
                <a:solidFill>
                  <a:srgbClr val="9A96D0"/>
                </a:solidFill>
                <a:latin typeface="JetBrains Mono" pitchFamily="49" charset="0"/>
                <a:ea typeface="JetBrains Mono" pitchFamily="49" charset="-122"/>
                <a:cs typeface="JetBrains Mono" pitchFamily="49" charset="-120"/>
              </a:rPr>
              <a:t># pod à plusieurs conteneurs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logs &lt;pod&gt; --since=15m --tail=100 --timestamps</a:t>
            </a:r>
            <a:endParaRPr lang="en-US" sz="1200" dirty="0"/>
          </a:p>
        </p:txBody>
      </p:sp>
      <p:sp>
        <p:nvSpPr>
          <p:cNvPr id="5" name="Text 3"/>
          <p:cNvSpPr/>
          <p:nvPr/>
        </p:nvSpPr>
        <p:spPr>
          <a:xfrm>
            <a:off x="8978900" y="1544340"/>
            <a:ext cx="247230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LES LOGS</a:t>
            </a:r>
            <a:endParaRPr lang="en-US" sz="1200" dirty="0"/>
          </a:p>
        </p:txBody>
      </p:sp>
      <p:sp>
        <p:nvSpPr>
          <p:cNvPr id="6" name="Text 4"/>
          <p:cNvSpPr/>
          <p:nvPr/>
        </p:nvSpPr>
        <p:spPr>
          <a:xfrm>
            <a:off x="8978900" y="1833860"/>
            <a:ext cx="2472309" cy="9144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0B0748"/>
                </a:solidFill>
                <a:latin typeface="IBM Plex Sans" pitchFamily="34" charset="0"/>
                <a:ea typeface="IBM Plex Sans" pitchFamily="34" charset="-122"/>
                <a:cs typeface="IBM Plex Sans" pitchFamily="34" charset="-120"/>
              </a:rPr>
              <a:t>Sortie standard et sortie d'erreur : une application conteneurisée journalise sur la console, pas dans un fichier.</a:t>
            </a:r>
            <a:endParaRPr lang="en-US" sz="1250" dirty="0"/>
          </a:p>
        </p:txBody>
      </p:sp>
      <p:sp>
        <p:nvSpPr>
          <p:cNvPr id="7" name="Text 5"/>
          <p:cNvSpPr/>
          <p:nvPr/>
        </p:nvSpPr>
        <p:spPr>
          <a:xfrm>
            <a:off x="8978900" y="2799060"/>
            <a:ext cx="2472309"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Stockés sur le nœud, ils disparaissent avec le pod. En production, un agent (Fluent Bit) les envoie vers Loki ou Elasticsearch.</a:t>
            </a:r>
            <a:endParaRPr lang="en-US" sz="1200" dirty="0"/>
          </a:p>
        </p:txBody>
      </p:sp>
      <p:sp>
        <p:nvSpPr>
          <p:cNvPr id="8" name="Text 6"/>
          <p:cNvSpPr/>
          <p:nvPr/>
        </p:nvSpPr>
        <p:spPr>
          <a:xfrm>
            <a:off x="812800" y="4069060"/>
            <a:ext cx="7937500" cy="1468120"/>
          </a:xfrm>
          <a:prstGeom prst="roundRect">
            <a:avLst>
              <a:gd name="adj" fmla="val 6920"/>
            </a:avLst>
          </a:prstGeom>
          <a:solidFill>
            <a:srgbClr val="0B0748"/>
          </a:solidFill>
          <a:ln/>
        </p:spPr>
        <p:txBody>
          <a:bodyPr wrap="none" lIns="160742" tIns="97242" rIns="0" bIns="97242" rtlCol="0" anchor="ctr">
            <a:normAutofit/>
          </a:bodyPr>
          <a:lstStyle/>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events                               </a:t>
            </a:r>
            <a:r>
              <a:rPr lang="en-US" sz="1200" dirty="0">
                <a:solidFill>
                  <a:srgbClr val="9A96D0"/>
                </a:solidFill>
                <a:latin typeface="JetBrains Mono" pitchFamily="49" charset="0"/>
                <a:ea typeface="JetBrains Mono" pitchFamily="49" charset="-122"/>
                <a:cs typeface="JetBrains Mono" pitchFamily="49" charset="-120"/>
              </a:rPr>
              <a:t># namespace courant, chronologique</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events --types=Warning               </a:t>
            </a:r>
            <a:r>
              <a:rPr lang="en-US" sz="1200" dirty="0">
                <a:solidFill>
                  <a:srgbClr val="9A96D0"/>
                </a:solidFill>
                <a:latin typeface="JetBrains Mono" pitchFamily="49" charset="0"/>
                <a:ea typeface="JetBrains Mono" pitchFamily="49" charset="-122"/>
                <a:cs typeface="JetBrains Mono" pitchFamily="49" charset="-120"/>
              </a:rPr>
              <a:t># seulement les avertissements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events --for=pod/&lt;pod&gt;               </a:t>
            </a:r>
            <a:r>
              <a:rPr lang="en-US" sz="1200" dirty="0">
                <a:solidFill>
                  <a:srgbClr val="9A96D0"/>
                </a:solidFill>
                <a:latin typeface="JetBrains Mono" pitchFamily="49" charset="0"/>
                <a:ea typeface="JetBrains Mono" pitchFamily="49" charset="-122"/>
                <a:cs typeface="JetBrains Mono" pitchFamily="49" charset="-120"/>
              </a:rPr>
              <a:t># un objet précis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events -A -w                         </a:t>
            </a:r>
            <a:r>
              <a:rPr lang="en-US" sz="1200" dirty="0">
                <a:solidFill>
                  <a:srgbClr val="9A96D0"/>
                </a:solidFill>
                <a:latin typeface="JetBrains Mono" pitchFamily="49" charset="0"/>
                <a:ea typeface="JetBrains Mono" pitchFamily="49" charset="-122"/>
                <a:cs typeface="JetBrains Mono" pitchFamily="49" charset="-120"/>
              </a:rPr>
              <a:t># tout le cluster, en direct</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get events --sort-by=.lastTimestamp  </a:t>
            </a:r>
            <a:r>
              <a:rPr lang="en-US" sz="1200" dirty="0">
                <a:solidFill>
                  <a:srgbClr val="9A96D0"/>
                </a:solidFill>
                <a:latin typeface="JetBrains Mono" pitchFamily="49" charset="0"/>
                <a:ea typeface="JetBrains Mono" pitchFamily="49" charset="-122"/>
                <a:cs typeface="JetBrains Mono" pitchFamily="49" charset="-120"/>
              </a:rPr>
              <a:t># forme ancienne, équivalente</a:t>
            </a:r>
            <a:endParaRPr lang="en-US" sz="1200" dirty="0"/>
          </a:p>
        </p:txBody>
      </p:sp>
      <p:sp>
        <p:nvSpPr>
          <p:cNvPr id="9" name="Text 7"/>
          <p:cNvSpPr/>
          <p:nvPr/>
        </p:nvSpPr>
        <p:spPr>
          <a:xfrm>
            <a:off x="8978900" y="4069060"/>
            <a:ext cx="247230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LES ÉVÉNEMENTS</a:t>
            </a:r>
            <a:endParaRPr lang="en-US" sz="1200" dirty="0"/>
          </a:p>
        </p:txBody>
      </p:sp>
      <p:sp>
        <p:nvSpPr>
          <p:cNvPr id="10" name="Text 8"/>
          <p:cNvSpPr/>
          <p:nvPr/>
        </p:nvSpPr>
        <p:spPr>
          <a:xfrm>
            <a:off x="8978900" y="4358630"/>
            <a:ext cx="2472309" cy="9144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0B0748"/>
                </a:solidFill>
                <a:latin typeface="IBM Plex Sans" pitchFamily="34" charset="0"/>
                <a:ea typeface="IBM Plex Sans" pitchFamily="34" charset="-122"/>
                <a:cs typeface="IBM Plex Sans" pitchFamily="34" charset="-120"/>
              </a:rPr>
              <a:t>Placement, téléchargement, démarrage, échec de probe, éviction : ce que les composants ont fait.</a:t>
            </a:r>
            <a:endParaRPr lang="en-US" sz="1250" dirty="0"/>
          </a:p>
        </p:txBody>
      </p:sp>
      <p:sp>
        <p:nvSpPr>
          <p:cNvPr id="11" name="Text 9"/>
          <p:cNvSpPr/>
          <p:nvPr/>
        </p:nvSpPr>
        <p:spPr>
          <a:xfrm>
            <a:off x="8978900" y="5323830"/>
            <a:ext cx="247230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Conservés une heure par défaut.</a:t>
            </a:r>
            <a:endParaRPr lang="en-US" sz="1200" dirty="0"/>
          </a:p>
        </p:txBody>
      </p:sp>
      <p:pic>
        <p:nvPicPr>
          <p:cNvPr id="12" name="Image 0" descr="preencoded.png">    </p:cNvPr>
          <p:cNvPicPr>
            <a:picLocks noChangeAspect="1"/>
          </p:cNvPicPr>
          <p:nvPr/>
        </p:nvPicPr>
        <p:blipFill>
          <a:blip r:embed="rId1"/>
          <a:srcRect l="0" r="0" t="0" b="0"/>
          <a:stretch/>
        </p:blipFill>
        <p:spPr>
          <a:xfrm>
            <a:off x="812800" y="6299299"/>
            <a:ext cx="152400" cy="152400"/>
          </a:xfrm>
          <a:prstGeom prst="rect">
            <a:avLst/>
          </a:prstGeom>
        </p:spPr>
      </p:pic>
      <p:sp>
        <p:nvSpPr>
          <p:cNvPr id="13" name="Text 10"/>
          <p:cNvSpPr/>
          <p:nvPr/>
        </p:nvSpPr>
        <p:spPr>
          <a:xfrm>
            <a:off x="1066800" y="6299299"/>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4" name="Image 1" descr="Parcours : module 10 sur 16">    </p:cNvPr>
          <p:cNvPicPr>
            <a:picLocks noChangeAspect="1"/>
          </p:cNvPicPr>
          <p:nvPr/>
        </p:nvPicPr>
        <p:blipFill>
          <a:blip r:embed="rId2"/>
          <a:srcRect l="0" r="0" t="0" b="0"/>
          <a:stretch/>
        </p:blipFill>
        <p:spPr>
          <a:xfrm>
            <a:off x="9207500" y="6299299"/>
            <a:ext cx="2171700" cy="15240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10 · SURVEILLER ET DIAGNOSTIQUER</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Observer de l'intérieur</a:t>
            </a:r>
            <a:endParaRPr lang="en-US" sz="2800" dirty="0"/>
          </a:p>
        </p:txBody>
      </p:sp>
      <p:sp>
        <p:nvSpPr>
          <p:cNvPr id="4" name="Text 2"/>
          <p:cNvSpPr/>
          <p:nvPr/>
        </p:nvSpPr>
        <p:spPr>
          <a:xfrm>
            <a:off x="812800" y="1544340"/>
            <a:ext cx="10566400" cy="1137920"/>
          </a:xfrm>
          <a:prstGeom prst="roundRect">
            <a:avLst>
              <a:gd name="adj" fmla="val 8929"/>
            </a:avLst>
          </a:prstGeom>
          <a:solidFill>
            <a:srgbClr val="0B0748"/>
          </a:solidFill>
          <a:ln/>
        </p:spPr>
        <p:txBody>
          <a:bodyPr wrap="none" lIns="160742" tIns="84542" rIns="0" bIns="84542" rtlCol="0" anchor="ctr">
            <a:normAutofit/>
          </a:bodyPr>
          <a:lstStyle/>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exec -it &lt;pod&gt; -- sh                      </a:t>
            </a:r>
            <a:r>
              <a:rPr lang="en-US" sz="1200" dirty="0">
                <a:solidFill>
                  <a:srgbClr val="9A96D0"/>
                </a:solidFill>
                <a:latin typeface="JetBrains Mono" pitchFamily="49" charset="0"/>
                <a:ea typeface="JetBrains Mono" pitchFamily="49" charset="-122"/>
                <a:cs typeface="JetBrains Mono" pitchFamily="49" charset="-120"/>
              </a:rPr>
              <a:t># shell dans le conteneur</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exec &lt;pod&gt; -- env                         </a:t>
            </a:r>
            <a:r>
              <a:rPr lang="en-US" sz="1200" dirty="0">
                <a:solidFill>
                  <a:srgbClr val="9A96D0"/>
                </a:solidFill>
                <a:latin typeface="JetBrains Mono" pitchFamily="49" charset="0"/>
                <a:ea typeface="JetBrains Mono" pitchFamily="49" charset="-122"/>
                <a:cs typeface="JetBrains Mono" pitchFamily="49" charset="-120"/>
              </a:rPr>
              <a:t># variables réellement reçues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cp &lt;pod&gt;:/etc/config/app.yaml ./app.yaml  </a:t>
            </a:r>
            <a:r>
              <a:rPr lang="en-US" sz="1200" dirty="0">
                <a:solidFill>
                  <a:srgbClr val="9A96D0"/>
                </a:solidFill>
                <a:latin typeface="JetBrains Mono" pitchFamily="49" charset="0"/>
                <a:ea typeface="JetBrains Mono" pitchFamily="49" charset="-122"/>
                <a:cs typeface="JetBrains Mono" pitchFamily="49" charset="-120"/>
              </a:rPr>
              <a:t># copier un fichier</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port-forward pod/&lt;pod&gt; 9898:9898          </a:t>
            </a:r>
            <a:r>
              <a:rPr lang="en-US" sz="1200" dirty="0">
                <a:solidFill>
                  <a:srgbClr val="9A96D0"/>
                </a:solidFill>
                <a:latin typeface="JetBrains Mono" pitchFamily="49" charset="0"/>
                <a:ea typeface="JetBrains Mono" pitchFamily="49" charset="-122"/>
                <a:cs typeface="JetBrains Mono" pitchFamily="49" charset="-120"/>
              </a:rPr>
              <a:t># joindre le pod depuis votre machine</a:t>
            </a:r>
            <a:endParaRPr lang="en-US" sz="1200" dirty="0"/>
          </a:p>
        </p:txBody>
      </p:sp>
      <p:sp>
        <p:nvSpPr>
          <p:cNvPr id="5" name="Shape 3"/>
          <p:cNvSpPr/>
          <p:nvPr/>
        </p:nvSpPr>
        <p:spPr>
          <a:xfrm>
            <a:off x="819150" y="2891780"/>
            <a:ext cx="2400300" cy="2943860"/>
          </a:xfrm>
          <a:prstGeom prst="roundRect">
            <a:avLst>
              <a:gd name="adj" fmla="val 5026"/>
            </a:avLst>
          </a:prstGeom>
          <a:solidFill>
            <a:srgbClr val="FDFDFF"/>
          </a:solidFill>
          <a:ln w="12700">
            <a:solidFill>
              <a:srgbClr val="0B0748"/>
            </a:solidFill>
            <a:prstDash val="solid"/>
          </a:ln>
        </p:spPr>
      </p:sp>
      <p:sp>
        <p:nvSpPr>
          <p:cNvPr id="6" name="Text 4"/>
          <p:cNvSpPr/>
          <p:nvPr/>
        </p:nvSpPr>
        <p:spPr>
          <a:xfrm>
            <a:off x="959591" y="3019524"/>
            <a:ext cx="218300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0B0748"/>
                </a:solidFill>
                <a:latin typeface="IBM Plex Sans" pitchFamily="34" charset="0"/>
                <a:ea typeface="IBM Plex Sans" pitchFamily="34" charset="-122"/>
                <a:cs typeface="IBM Plex Sans" pitchFamily="34" charset="-120"/>
              </a:rPr>
              <a:t>POD</a:t>
            </a:r>
            <a:endParaRPr lang="en-US" sz="1100" dirty="0"/>
          </a:p>
        </p:txBody>
      </p:sp>
      <p:sp>
        <p:nvSpPr>
          <p:cNvPr id="7" name="Shape 5"/>
          <p:cNvSpPr/>
          <p:nvPr/>
        </p:nvSpPr>
        <p:spPr>
          <a:xfrm>
            <a:off x="959591" y="3304034"/>
            <a:ext cx="2119418" cy="807720"/>
          </a:xfrm>
          <a:prstGeom prst="roundRect">
            <a:avLst>
              <a:gd name="adj" fmla="val 9434"/>
            </a:avLst>
          </a:prstGeom>
          <a:solidFill>
            <a:srgbClr val="ECEAF6"/>
          </a:solidFill>
          <a:ln/>
        </p:spPr>
      </p:sp>
      <p:sp>
        <p:nvSpPr>
          <p:cNvPr id="8" name="Text 6"/>
          <p:cNvSpPr/>
          <p:nvPr/>
        </p:nvSpPr>
        <p:spPr>
          <a:xfrm>
            <a:off x="1061191" y="3392934"/>
            <a:ext cx="19737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podinfo</a:t>
            </a:r>
            <a:endParaRPr lang="en-US" sz="1200" dirty="0"/>
          </a:p>
        </p:txBody>
      </p:sp>
      <p:sp>
        <p:nvSpPr>
          <p:cNvPr id="9" name="Text 7"/>
          <p:cNvSpPr/>
          <p:nvPr/>
        </p:nvSpPr>
        <p:spPr>
          <a:xfrm>
            <a:off x="1061191" y="3631654"/>
            <a:ext cx="1973705" cy="4165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image distroless : ni shell ni outils</a:t>
            </a:r>
            <a:endParaRPr lang="en-US" sz="1100" dirty="0"/>
          </a:p>
        </p:txBody>
      </p:sp>
      <p:sp>
        <p:nvSpPr>
          <p:cNvPr id="10" name="Shape 8"/>
          <p:cNvSpPr/>
          <p:nvPr/>
        </p:nvSpPr>
        <p:spPr>
          <a:xfrm>
            <a:off x="965941" y="4206974"/>
            <a:ext cx="2106718" cy="613622"/>
          </a:xfrm>
          <a:prstGeom prst="roundRect">
            <a:avLst>
              <a:gd name="adj" fmla="val 11383"/>
            </a:avLst>
          </a:prstGeom>
          <a:noFill/>
          <a:ln w="12700">
            <a:solidFill>
              <a:srgbClr val="E25A2C"/>
            </a:solidFill>
            <a:prstDash val="dash"/>
          </a:ln>
        </p:spPr>
      </p:sp>
      <p:sp>
        <p:nvSpPr>
          <p:cNvPr id="11" name="Text 9"/>
          <p:cNvSpPr/>
          <p:nvPr/>
        </p:nvSpPr>
        <p:spPr>
          <a:xfrm>
            <a:off x="1068282" y="4296618"/>
            <a:ext cx="195909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debug · busybox</a:t>
            </a:r>
            <a:endParaRPr lang="en-US" sz="1200" dirty="0"/>
          </a:p>
        </p:txBody>
      </p:sp>
      <p:sp>
        <p:nvSpPr>
          <p:cNvPr id="12" name="Text 10"/>
          <p:cNvSpPr/>
          <p:nvPr/>
        </p:nvSpPr>
        <p:spPr>
          <a:xfrm>
            <a:off x="1068282" y="4535388"/>
            <a:ext cx="195909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conteneur éphémère, équipé</a:t>
            </a:r>
            <a:endParaRPr lang="en-US" sz="1100" dirty="0"/>
          </a:p>
        </p:txBody>
      </p:sp>
      <p:sp>
        <p:nvSpPr>
          <p:cNvPr id="13" name="Text 11"/>
          <p:cNvSpPr/>
          <p:nvPr/>
        </p:nvSpPr>
        <p:spPr>
          <a:xfrm>
            <a:off x="927800" y="4915843"/>
            <a:ext cx="2183001" cy="388620"/>
          </a:xfrm>
          <a:prstGeom prst="rect">
            <a:avLst/>
          </a:prstGeom>
          <a:noFill/>
          <a:ln/>
        </p:spPr>
        <p:txBody>
          <a:bodyPr wrap="square" lIns="0" tIns="0" rIns="0" bIns="0" rtlCol="0" anchor="t">
            <a:normAutofit/>
          </a:bodyPr>
          <a:lstStyle/>
          <a:p>
            <a:pPr algn="ctr" indent="0" marL="0">
              <a:lnSpc>
                <a:spcPts val="1430"/>
              </a:lnSpc>
              <a:buNone/>
            </a:pPr>
            <a:r>
              <a:rPr lang="en-US" sz="1100" dirty="0">
                <a:solidFill>
                  <a:srgbClr val="0B0748"/>
                </a:solidFill>
                <a:latin typeface="IBM Plex Sans" pitchFamily="34" charset="0"/>
                <a:ea typeface="IBM Plex Sans" pitchFamily="34" charset="-122"/>
                <a:cs typeface="IBM Plex Sans" pitchFamily="34" charset="-120"/>
              </a:rPr>
              <a:t>réseau partagé · processus visibles</a:t>
            </a:r>
            <a:endParaRPr lang="en-US" sz="1100" dirty="0"/>
          </a:p>
        </p:txBody>
      </p:sp>
      <p:sp>
        <p:nvSpPr>
          <p:cNvPr id="14" name="Text 12"/>
          <p:cNvSpPr/>
          <p:nvPr/>
        </p:nvSpPr>
        <p:spPr>
          <a:xfrm>
            <a:off x="3454400" y="2885430"/>
            <a:ext cx="8162544"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B0748"/>
                </a:solidFill>
                <a:latin typeface="IBM Plex Sans" pitchFamily="34" charset="0"/>
                <a:ea typeface="IBM Plex Sans" pitchFamily="34" charset="-122"/>
                <a:cs typeface="IBM Plex Sans" pitchFamily="34" charset="-120"/>
              </a:rPr>
              <a:t>Beaucoup d'images de production ne contiennent ni shell ni outils. </a:t>
            </a:r>
            <a:r>
              <a:rPr lang="en-US" sz="1350" b="1" dirty="0">
                <a:solidFill>
                  <a:srgbClr val="0B0748"/>
                </a:solidFill>
                <a:latin typeface="IBM Plex Sans" pitchFamily="34" charset="0"/>
                <a:ea typeface="IBM Plex Sans" pitchFamily="34" charset="-122"/>
                <a:cs typeface="IBM Plex Sans" pitchFamily="34" charset="-120"/>
              </a:rPr>
              <a:t>kubectl debug</a:t>
            </a:r>
            <a:r>
              <a:rPr lang="en-US" sz="1350" dirty="0">
                <a:solidFill>
                  <a:srgbClr val="0B0748"/>
                </a:solidFill>
                <a:latin typeface="IBM Plex Sans" pitchFamily="34" charset="0"/>
                <a:ea typeface="IBM Plex Sans" pitchFamily="34" charset="-122"/>
                <a:cs typeface="IBM Plex Sans" pitchFamily="34" charset="-120"/>
              </a:rPr>
              <a:t> ajoute alors un conteneur éphémère équipé dans le pod.</a:t>
            </a:r>
            <a:endParaRPr lang="en-US" sz="1350" dirty="0"/>
          </a:p>
        </p:txBody>
      </p:sp>
      <p:sp>
        <p:nvSpPr>
          <p:cNvPr id="15" name="Text 13"/>
          <p:cNvSpPr/>
          <p:nvPr/>
        </p:nvSpPr>
        <p:spPr>
          <a:xfrm>
            <a:off x="3454400" y="3479800"/>
            <a:ext cx="7924800" cy="1443990"/>
          </a:xfrm>
          <a:prstGeom prst="roundRect">
            <a:avLst>
              <a:gd name="adj" fmla="val 7036"/>
            </a:avLst>
          </a:prstGeom>
          <a:solidFill>
            <a:srgbClr val="0B0748"/>
          </a:solidFill>
          <a:ln/>
        </p:spPr>
        <p:txBody>
          <a:bodyPr wrap="none" lIns="135342" tIns="71842" rIns="0" bIns="71842" rtlCol="0" anchor="ctr">
            <a:normAutofit/>
          </a:bodyPr>
          <a:lstStyle/>
          <a:p>
            <a:pPr algn="l" indent="0" marL="0">
              <a:lnSpc>
                <a:spcPts val="1595"/>
              </a:lnSpc>
              <a:buNone/>
            </a:pPr>
            <a:r>
              <a:rPr lang="en-US" sz="1100" dirty="0">
                <a:solidFill>
                  <a:srgbClr val="9A96D0"/>
                </a:solidFill>
                <a:latin typeface="JetBrains Mono" pitchFamily="49" charset="0"/>
                <a:ea typeface="JetBrains Mono" pitchFamily="49" charset="-122"/>
                <a:cs typeface="JetBrains Mono" pitchFamily="49" charset="-120"/>
              </a:rPr>
              <a:t># conteneur éphémère dans le pod</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kubectl debug -it &lt;pod&gt; --image=mirror.gcr.io/library/busybox:1.36 --target=podinfo</a:t>
            </a:r>
            <a:endParaRPr lang="en-US" sz="1100" dirty="0"/>
          </a:p>
          <a:p>
            <a:pPr algn="l" indent="0" marL="0">
              <a:lnSpc>
                <a:spcPts val="1595"/>
              </a:lnSpc>
              <a:buNone/>
            </a:pPr>
            <a:r>
              <a:rPr lang="en-US" sz="1100" dirty="0">
                <a:solidFill>
                  <a:srgbClr val="9A96D0"/>
                </a:solidFill>
                <a:latin typeface="JetBrains Mono" pitchFamily="49" charset="0"/>
                <a:ea typeface="JetBrains Mono" pitchFamily="49" charset="-122"/>
                <a:cs typeface="JetBrains Mono" pitchFamily="49" charset="-120"/>
              </a:rPr>
              <a:t># shell sur le nœud, son disque sous /host</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kubectl debug node/k8s-w1 -it --image=mirror.gcr.io/library/busybox:1.36</a:t>
            </a:r>
            <a:endParaRPr lang="en-US" sz="1100" dirty="0"/>
          </a:p>
          <a:p>
            <a:pPr algn="l" indent="0" marL="0">
              <a:lnSpc>
                <a:spcPts val="1595"/>
              </a:lnSpc>
              <a:buNone/>
            </a:pPr>
            <a:r>
              <a:rPr lang="en-US" sz="1100" dirty="0">
                <a:solidFill>
                  <a:srgbClr val="9A96D0"/>
                </a:solidFill>
                <a:latin typeface="JetBrains Mono" pitchFamily="49" charset="0"/>
                <a:ea typeface="JetBrains Mono" pitchFamily="49" charset="-122"/>
                <a:cs typeface="JetBrains Mono" pitchFamily="49" charset="-120"/>
              </a:rPr>
              <a:t># copie du pod avec une autre commande</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kubectl debug &lt;pod&gt; -it --copy-to=copie --container=podinfo -- sh</a:t>
            </a:r>
            <a:endParaRPr lang="en-US" sz="1100" dirty="0"/>
          </a:p>
        </p:txBody>
      </p:sp>
      <p:pic>
        <p:nvPicPr>
          <p:cNvPr id="16"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7" name="Text 14"/>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1" descr="Parcours : module 10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10 · SURVEILLER ET DIAGNOSTIQUER</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metrics-server : la consommation du moment</a:t>
            </a:r>
            <a:endParaRPr lang="en-US" sz="2800" dirty="0"/>
          </a:p>
        </p:txBody>
      </p:sp>
      <p:sp>
        <p:nvSpPr>
          <p:cNvPr id="4" name="Shape 2"/>
          <p:cNvSpPr/>
          <p:nvPr/>
        </p:nvSpPr>
        <p:spPr>
          <a:xfrm>
            <a:off x="815975" y="1534815"/>
            <a:ext cx="3414183" cy="1580092"/>
          </a:xfrm>
          <a:prstGeom prst="roundRect">
            <a:avLst>
              <a:gd name="adj" fmla="val 7837"/>
            </a:avLst>
          </a:prstGeom>
          <a:solidFill>
            <a:srgbClr val="FDFDFF"/>
          </a:solidFill>
          <a:ln w="6350">
            <a:solidFill>
              <a:srgbClr val="E1DFEE"/>
            </a:solidFill>
            <a:prstDash val="solid"/>
          </a:ln>
        </p:spPr>
      </p:sp>
      <p:sp>
        <p:nvSpPr>
          <p:cNvPr id="5" name="Text 3"/>
          <p:cNvSpPr/>
          <p:nvPr/>
        </p:nvSpPr>
        <p:spPr>
          <a:xfrm>
            <a:off x="1035791" y="1741934"/>
            <a:ext cx="3063788"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25A2C"/>
                </a:solidFill>
                <a:latin typeface="Sora" pitchFamily="34" charset="0"/>
                <a:ea typeface="Sora" pitchFamily="34" charset="-122"/>
                <a:cs typeface="Sora" pitchFamily="34" charset="-120"/>
              </a:rPr>
              <a:t>Collecte</a:t>
            </a:r>
            <a:endParaRPr lang="en-US" sz="1700" dirty="0"/>
          </a:p>
        </p:txBody>
      </p:sp>
      <p:sp>
        <p:nvSpPr>
          <p:cNvPr id="6" name="Text 4"/>
          <p:cNvSpPr/>
          <p:nvPr/>
        </p:nvSpPr>
        <p:spPr>
          <a:xfrm>
            <a:off x="1035791" y="2107654"/>
            <a:ext cx="306378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CPU et mémoire auprès des kubelets, toutes les quinze secondes environ.</a:t>
            </a:r>
            <a:endParaRPr lang="en-US" sz="1500" dirty="0"/>
          </a:p>
        </p:txBody>
      </p:sp>
      <p:sp>
        <p:nvSpPr>
          <p:cNvPr id="7" name="Shape 5"/>
          <p:cNvSpPr/>
          <p:nvPr/>
        </p:nvSpPr>
        <p:spPr>
          <a:xfrm>
            <a:off x="4388908" y="1534815"/>
            <a:ext cx="3414183" cy="1580092"/>
          </a:xfrm>
          <a:prstGeom prst="roundRect">
            <a:avLst>
              <a:gd name="adj" fmla="val 7837"/>
            </a:avLst>
          </a:prstGeom>
          <a:solidFill>
            <a:srgbClr val="FDFDFF"/>
          </a:solidFill>
          <a:ln w="6350">
            <a:solidFill>
              <a:srgbClr val="E1DFEE"/>
            </a:solidFill>
            <a:prstDash val="solid"/>
          </a:ln>
        </p:spPr>
      </p:sp>
      <p:sp>
        <p:nvSpPr>
          <p:cNvPr id="8" name="Text 6"/>
          <p:cNvSpPr/>
          <p:nvPr/>
        </p:nvSpPr>
        <p:spPr>
          <a:xfrm>
            <a:off x="4608724" y="1741934"/>
            <a:ext cx="3063788"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25A2C"/>
                </a:solidFill>
                <a:latin typeface="Sora" pitchFamily="34" charset="0"/>
                <a:ea typeface="Sora" pitchFamily="34" charset="-122"/>
                <a:cs typeface="Sora" pitchFamily="34" charset="-120"/>
              </a:rPr>
              <a:t>Alimente</a:t>
            </a:r>
            <a:endParaRPr lang="en-US" sz="1700" dirty="0"/>
          </a:p>
        </p:txBody>
      </p:sp>
      <p:sp>
        <p:nvSpPr>
          <p:cNvPr id="9" name="Text 7"/>
          <p:cNvSpPr/>
          <p:nvPr/>
        </p:nvSpPr>
        <p:spPr>
          <a:xfrm>
            <a:off x="4608724" y="2107654"/>
            <a:ext cx="306378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kubectl top et l'autoscaling (module 14).</a:t>
            </a:r>
            <a:endParaRPr lang="en-US" sz="1500" dirty="0"/>
          </a:p>
        </p:txBody>
      </p:sp>
      <p:sp>
        <p:nvSpPr>
          <p:cNvPr id="10" name="Shape 8"/>
          <p:cNvSpPr/>
          <p:nvPr/>
        </p:nvSpPr>
        <p:spPr>
          <a:xfrm>
            <a:off x="7961842" y="1534815"/>
            <a:ext cx="3414183" cy="1580092"/>
          </a:xfrm>
          <a:prstGeom prst="roundRect">
            <a:avLst>
              <a:gd name="adj" fmla="val 7837"/>
            </a:avLst>
          </a:prstGeom>
          <a:solidFill>
            <a:srgbClr val="FDFDFF"/>
          </a:solidFill>
          <a:ln w="6350">
            <a:solidFill>
              <a:srgbClr val="E1DFEE"/>
            </a:solidFill>
            <a:prstDash val="solid"/>
          </a:ln>
        </p:spPr>
      </p:sp>
      <p:sp>
        <p:nvSpPr>
          <p:cNvPr id="11" name="Text 9"/>
          <p:cNvSpPr/>
          <p:nvPr/>
        </p:nvSpPr>
        <p:spPr>
          <a:xfrm>
            <a:off x="8181657" y="1741934"/>
            <a:ext cx="3063788"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25A2C"/>
                </a:solidFill>
                <a:latin typeface="Sora" pitchFamily="34" charset="0"/>
                <a:ea typeface="Sora" pitchFamily="34" charset="-122"/>
                <a:cs typeface="Sora" pitchFamily="34" charset="-120"/>
              </a:rPr>
              <a:t>Ne garde</a:t>
            </a:r>
            <a:endParaRPr lang="en-US" sz="1700" dirty="0"/>
          </a:p>
        </p:txBody>
      </p:sp>
      <p:sp>
        <p:nvSpPr>
          <p:cNvPr id="12" name="Text 10"/>
          <p:cNvSpPr/>
          <p:nvPr/>
        </p:nvSpPr>
        <p:spPr>
          <a:xfrm>
            <a:off x="8181657" y="2107654"/>
            <a:ext cx="306378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aucun historique : c'est l'instant présent.</a:t>
            </a:r>
            <a:endParaRPr lang="en-US" sz="1500" dirty="0"/>
          </a:p>
        </p:txBody>
      </p:sp>
      <p:sp>
        <p:nvSpPr>
          <p:cNvPr id="13" name="Text 11"/>
          <p:cNvSpPr/>
          <p:nvPr/>
        </p:nvSpPr>
        <p:spPr>
          <a:xfrm>
            <a:off x="863600" y="3333948"/>
            <a:ext cx="100584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0B0748"/>
                </a:solidFill>
                <a:latin typeface="JetBrains Mono" pitchFamily="49" charset="0"/>
                <a:ea typeface="JetBrains Mono" pitchFamily="49" charset="-122"/>
                <a:cs typeface="JetBrains Mono" pitchFamily="49" charset="-120"/>
              </a:rPr>
              <a:t>250m</a:t>
            </a:r>
            <a:endParaRPr lang="en-US" sz="2800" dirty="0"/>
          </a:p>
        </p:txBody>
      </p:sp>
      <p:sp>
        <p:nvSpPr>
          <p:cNvPr id="14" name="Text 12"/>
          <p:cNvSpPr/>
          <p:nvPr/>
        </p:nvSpPr>
        <p:spPr>
          <a:xfrm>
            <a:off x="1869440" y="3359993"/>
            <a:ext cx="143584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CPU en millicores :</a:t>
            </a:r>
            <a:endParaRPr lang="en-US" sz="1300" dirty="0"/>
          </a:p>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un quart de cœur</a:t>
            </a:r>
            <a:endParaRPr lang="en-US" sz="1300" dirty="0"/>
          </a:p>
        </p:txBody>
      </p:sp>
      <p:sp>
        <p:nvSpPr>
          <p:cNvPr id="15" name="Text 13"/>
          <p:cNvSpPr/>
          <p:nvPr/>
        </p:nvSpPr>
        <p:spPr>
          <a:xfrm>
            <a:off x="6223000" y="3333948"/>
            <a:ext cx="12192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0B0748"/>
                </a:solidFill>
                <a:latin typeface="JetBrains Mono" pitchFamily="49" charset="0"/>
                <a:ea typeface="JetBrains Mono" pitchFamily="49" charset="-122"/>
                <a:cs typeface="JetBrains Mono" pitchFamily="49" charset="-120"/>
              </a:rPr>
              <a:t>512Mi</a:t>
            </a:r>
            <a:endParaRPr lang="en-US" sz="2800" dirty="0"/>
          </a:p>
        </p:txBody>
      </p:sp>
      <p:sp>
        <p:nvSpPr>
          <p:cNvPr id="16" name="Text 14"/>
          <p:cNvSpPr/>
          <p:nvPr/>
        </p:nvSpPr>
        <p:spPr>
          <a:xfrm>
            <a:off x="7442200" y="3359993"/>
            <a:ext cx="169481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mémoire en Mi ou Gi :</a:t>
            </a:r>
            <a:endParaRPr lang="en-US" sz="1300" dirty="0"/>
          </a:p>
          <a:p>
            <a:pPr algn="l" indent="0" marL="0">
              <a:lnSpc>
                <a:spcPts val="1755"/>
              </a:lnSpc>
              <a:buNone/>
            </a:pPr>
            <a:r>
              <a:rPr lang="en-US" sz="1300" dirty="0">
                <a:solidFill>
                  <a:srgbClr val="3F3C6B"/>
                </a:solidFill>
                <a:latin typeface="IBM Plex Sans" pitchFamily="34" charset="0"/>
                <a:ea typeface="IBM Plex Sans" pitchFamily="34" charset="-122"/>
                <a:cs typeface="IBM Plex Sans" pitchFamily="34" charset="-120"/>
              </a:rPr>
              <a:t>mebioctets, gibioctets</a:t>
            </a:r>
            <a:endParaRPr lang="en-US" sz="1300" dirty="0"/>
          </a:p>
        </p:txBody>
      </p:sp>
      <p:sp>
        <p:nvSpPr>
          <p:cNvPr id="17" name="Text 15"/>
          <p:cNvSpPr/>
          <p:nvPr/>
        </p:nvSpPr>
        <p:spPr>
          <a:xfrm>
            <a:off x="812800" y="4575175"/>
            <a:ext cx="10566400" cy="1266825"/>
          </a:xfrm>
          <a:prstGeom prst="roundRect">
            <a:avLst>
              <a:gd name="adj" fmla="val 8020"/>
            </a:avLst>
          </a:prstGeom>
          <a:solidFill>
            <a:srgbClr val="0B0748"/>
          </a:solidFill>
          <a:ln/>
        </p:spPr>
        <p:txBody>
          <a:bodyPr wrap="none" lIns="160742" tIns="84542" rIns="0" bIns="84542" rtlCol="0" anchor="ctr">
            <a:normAutofit/>
          </a:bodyPr>
          <a:lstStyle/>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kubectl apply -f https://github.com/kubernetes-sigs/metrics-server/releases/latest/download/components.yaml</a:t>
            </a:r>
            <a:endParaRPr lang="en-US" sz="1100" dirty="0"/>
          </a:p>
          <a:p>
            <a:pPr algn="l" indent="0" marL="0">
              <a:lnSpc>
                <a:spcPts val="1595"/>
              </a:lnSpc>
              <a:buNone/>
            </a:pPr>
            <a:r>
              <a:rPr lang="en-US" sz="1100" dirty="0">
                <a:solidFill>
                  <a:srgbClr val="9A96D0"/>
                </a:solidFill>
                <a:latin typeface="JetBrains Mono" pitchFamily="49" charset="0"/>
                <a:ea typeface="JetBrains Mono" pitchFamily="49" charset="-122"/>
                <a:cs typeface="JetBrains Mono" pitchFamily="49" charset="-120"/>
              </a:rPr>
              <a:t># sur kubeadm, les certificats des kubelets sont auto-signés : ajouter --kubelet-insecure-tls (TP7)</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kubectl top nodes</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kubectl top pods -A --sort-by=memory</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kubectl top pod &lt;pod&gt; --containers</a:t>
            </a:r>
            <a:endParaRPr lang="en-US" sz="1100" dirty="0"/>
          </a:p>
        </p:txBody>
      </p:sp>
      <p:pic>
        <p:nvPicPr>
          <p:cNvPr id="18"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9" name="Text 1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0" name="Image 1" descr="Parcours : module 10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10 · SURVEILLER ET DIAGNOSTIQUER</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En production : une chaîne de supervision</a:t>
            </a:r>
            <a:endParaRPr lang="en-US" sz="2800" dirty="0"/>
          </a:p>
        </p:txBody>
      </p:sp>
      <p:sp>
        <p:nvSpPr>
          <p:cNvPr id="4" name="Text 2"/>
          <p:cNvSpPr/>
          <p:nvPr/>
        </p:nvSpPr>
        <p:spPr>
          <a:xfrm>
            <a:off x="812800" y="14808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En production, une chaîne complète, souvent installée avec le chart Helm </a:t>
            </a:r>
            <a:r>
              <a:rPr lang="en-US" sz="1400" b="1" dirty="0">
                <a:solidFill>
                  <a:srgbClr val="3F3C6B"/>
                </a:solidFill>
                <a:latin typeface="IBM Plex Sans" pitchFamily="34" charset="0"/>
                <a:ea typeface="IBM Plex Sans" pitchFamily="34" charset="-122"/>
                <a:cs typeface="IBM Plex Sans" pitchFamily="34" charset="-120"/>
              </a:rPr>
              <a:t>kube-prometheus-stack</a:t>
            </a:r>
            <a:r>
              <a:rPr lang="en-US" sz="1400" dirty="0">
                <a:solidFill>
                  <a:srgbClr val="3F3C6B"/>
                </a:solidFill>
                <a:latin typeface="IBM Plex Sans" pitchFamily="34" charset="0"/>
                <a:ea typeface="IBM Plex Sans" pitchFamily="34" charset="-122"/>
                <a:cs typeface="IBM Plex Sans" pitchFamily="34" charset="-120"/>
              </a:rPr>
              <a:t> :</a:t>
            </a:r>
            <a:endParaRPr lang="en-US" sz="1400" dirty="0"/>
          </a:p>
        </p:txBody>
      </p:sp>
      <p:sp>
        <p:nvSpPr>
          <p:cNvPr id="5" name="Text 3"/>
          <p:cNvSpPr/>
          <p:nvPr/>
        </p:nvSpPr>
        <p:spPr>
          <a:xfrm>
            <a:off x="812800" y="1869430"/>
            <a:ext cx="3662680"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6890"/>
                </a:solidFill>
                <a:latin typeface="IBM Plex Sans" pitchFamily="34" charset="0"/>
                <a:ea typeface="IBM Plex Sans" pitchFamily="34" charset="-122"/>
                <a:cs typeface="IBM Plex Sans" pitchFamily="34" charset="-120"/>
              </a:rPr>
              <a:t>SOURCES</a:t>
            </a:r>
            <a:endParaRPr lang="en-US" sz="1100" dirty="0"/>
          </a:p>
        </p:txBody>
      </p:sp>
      <p:sp>
        <p:nvSpPr>
          <p:cNvPr id="6" name="Shape 4"/>
          <p:cNvSpPr/>
          <p:nvPr/>
        </p:nvSpPr>
        <p:spPr>
          <a:xfrm>
            <a:off x="815975" y="2157115"/>
            <a:ext cx="3549650" cy="836507"/>
          </a:xfrm>
          <a:prstGeom prst="roundRect">
            <a:avLst>
              <a:gd name="adj" fmla="val 13284"/>
            </a:avLst>
          </a:prstGeom>
          <a:solidFill>
            <a:srgbClr val="FDFDFF"/>
          </a:solidFill>
          <a:ln w="6350">
            <a:solidFill>
              <a:srgbClr val="E1DFEE"/>
            </a:solidFill>
            <a:prstDash val="solid"/>
          </a:ln>
        </p:spPr>
      </p:sp>
      <p:sp>
        <p:nvSpPr>
          <p:cNvPr id="7" name="Text 5"/>
          <p:cNvSpPr/>
          <p:nvPr/>
        </p:nvSpPr>
        <p:spPr>
          <a:xfrm>
            <a:off x="959591" y="2249934"/>
            <a:ext cx="336029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node-exporter</a:t>
            </a:r>
            <a:endParaRPr lang="en-US" sz="1300" dirty="0"/>
          </a:p>
        </p:txBody>
      </p:sp>
      <p:sp>
        <p:nvSpPr>
          <p:cNvPr id="8" name="Text 6"/>
          <p:cNvSpPr/>
          <p:nvPr/>
        </p:nvSpPr>
        <p:spPr>
          <a:xfrm>
            <a:off x="959591" y="2506464"/>
            <a:ext cx="3360291" cy="419735"/>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3F3C6B"/>
                </a:solidFill>
                <a:latin typeface="IBM Plex Sans" pitchFamily="34" charset="0"/>
                <a:ea typeface="IBM Plex Sans" pitchFamily="34" charset="-122"/>
                <a:cs typeface="IBM Plex Sans" pitchFamily="34" charset="-120"/>
              </a:rPr>
              <a:t>Métriques système de chaque nœud (DaemonSet)</a:t>
            </a:r>
            <a:endParaRPr lang="en-US" sz="1150" dirty="0"/>
          </a:p>
        </p:txBody>
      </p:sp>
      <p:sp>
        <p:nvSpPr>
          <p:cNvPr id="9" name="Shape 7"/>
          <p:cNvSpPr/>
          <p:nvPr/>
        </p:nvSpPr>
        <p:spPr>
          <a:xfrm>
            <a:off x="815975" y="3088829"/>
            <a:ext cx="3549650" cy="836507"/>
          </a:xfrm>
          <a:prstGeom prst="roundRect">
            <a:avLst>
              <a:gd name="adj" fmla="val 13284"/>
            </a:avLst>
          </a:prstGeom>
          <a:solidFill>
            <a:srgbClr val="FDFDFF"/>
          </a:solidFill>
          <a:ln w="6350">
            <a:solidFill>
              <a:srgbClr val="E1DFEE"/>
            </a:solidFill>
            <a:prstDash val="solid"/>
          </a:ln>
        </p:spPr>
      </p:sp>
      <p:sp>
        <p:nvSpPr>
          <p:cNvPr id="10" name="Text 8"/>
          <p:cNvSpPr/>
          <p:nvPr/>
        </p:nvSpPr>
        <p:spPr>
          <a:xfrm>
            <a:off x="959591" y="3181648"/>
            <a:ext cx="336029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kube-state-metrics</a:t>
            </a:r>
            <a:endParaRPr lang="en-US" sz="1300" dirty="0"/>
          </a:p>
        </p:txBody>
      </p:sp>
      <p:sp>
        <p:nvSpPr>
          <p:cNvPr id="11" name="Text 9"/>
          <p:cNvSpPr/>
          <p:nvPr/>
        </p:nvSpPr>
        <p:spPr>
          <a:xfrm>
            <a:off x="959591" y="3438227"/>
            <a:ext cx="3360291" cy="419735"/>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3F3C6B"/>
                </a:solidFill>
                <a:latin typeface="IBM Plex Sans" pitchFamily="34" charset="0"/>
                <a:ea typeface="IBM Plex Sans" pitchFamily="34" charset="-122"/>
                <a:cs typeface="IBM Plex Sans" pitchFamily="34" charset="-120"/>
              </a:rPr>
              <a:t>État des objets : réplicas voulus et disponibles, pods en erreur</a:t>
            </a:r>
            <a:endParaRPr lang="en-US" sz="1150" dirty="0"/>
          </a:p>
        </p:txBody>
      </p:sp>
      <p:sp>
        <p:nvSpPr>
          <p:cNvPr id="12" name="Shape 10"/>
          <p:cNvSpPr/>
          <p:nvPr/>
        </p:nvSpPr>
        <p:spPr>
          <a:xfrm>
            <a:off x="815975" y="4020592"/>
            <a:ext cx="3549650" cy="836507"/>
          </a:xfrm>
          <a:prstGeom prst="roundRect">
            <a:avLst>
              <a:gd name="adj" fmla="val 13284"/>
            </a:avLst>
          </a:prstGeom>
          <a:solidFill>
            <a:srgbClr val="FDFDFF"/>
          </a:solidFill>
          <a:ln w="6350">
            <a:solidFill>
              <a:srgbClr val="E1DFEE"/>
            </a:solidFill>
            <a:prstDash val="solid"/>
          </a:ln>
        </p:spPr>
      </p:sp>
      <p:sp>
        <p:nvSpPr>
          <p:cNvPr id="13" name="Text 11"/>
          <p:cNvSpPr/>
          <p:nvPr/>
        </p:nvSpPr>
        <p:spPr>
          <a:xfrm>
            <a:off x="959591" y="4113411"/>
            <a:ext cx="336029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applications</a:t>
            </a:r>
            <a:endParaRPr lang="en-US" sz="1300" dirty="0"/>
          </a:p>
        </p:txBody>
      </p:sp>
      <p:sp>
        <p:nvSpPr>
          <p:cNvPr id="14" name="Text 12"/>
          <p:cNvSpPr/>
          <p:nvPr/>
        </p:nvSpPr>
        <p:spPr>
          <a:xfrm>
            <a:off x="959591" y="4369941"/>
            <a:ext cx="3360291" cy="419735"/>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3F3C6B"/>
                </a:solidFill>
                <a:latin typeface="IBM Plex Sans" pitchFamily="34" charset="0"/>
                <a:ea typeface="IBM Plex Sans" pitchFamily="34" charset="-122"/>
                <a:cs typeface="IBM Plex Sans" pitchFamily="34" charset="-120"/>
              </a:rPr>
              <a:t>Métriques exposées par les applications et les composants</a:t>
            </a:r>
            <a:endParaRPr lang="en-US" sz="1150" dirty="0"/>
          </a:p>
        </p:txBody>
      </p:sp>
      <p:pic>
        <p:nvPicPr>
          <p:cNvPr id="15" name="Image 0" descr="arrow-right">    </p:cNvPr>
          <p:cNvPicPr>
            <a:picLocks noChangeAspect="1"/>
          </p:cNvPicPr>
          <p:nvPr/>
        </p:nvPicPr>
        <p:blipFill>
          <a:blip r:embed="rId1"/>
          <a:srcRect l="0" r="0" t="0" b="0"/>
          <a:stretch/>
        </p:blipFill>
        <p:spPr>
          <a:xfrm>
            <a:off x="4495800" y="3372495"/>
            <a:ext cx="279400" cy="152400"/>
          </a:xfrm>
          <a:prstGeom prst="rect">
            <a:avLst/>
          </a:prstGeom>
        </p:spPr>
      </p:pic>
      <p:sp>
        <p:nvSpPr>
          <p:cNvPr id="16" name="Shape 13"/>
          <p:cNvSpPr/>
          <p:nvPr/>
        </p:nvSpPr>
        <p:spPr>
          <a:xfrm>
            <a:off x="4902200" y="3044825"/>
            <a:ext cx="2895600" cy="807720"/>
          </a:xfrm>
          <a:prstGeom prst="roundRect">
            <a:avLst>
              <a:gd name="adj" fmla="val 14151"/>
            </a:avLst>
          </a:prstGeom>
          <a:solidFill>
            <a:srgbClr val="0B0748"/>
          </a:solidFill>
          <a:ln/>
        </p:spPr>
      </p:sp>
      <p:sp>
        <p:nvSpPr>
          <p:cNvPr id="17" name="Text 14"/>
          <p:cNvSpPr/>
          <p:nvPr/>
        </p:nvSpPr>
        <p:spPr>
          <a:xfrm>
            <a:off x="5067300" y="3184525"/>
            <a:ext cx="264236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8F66"/>
                </a:solidFill>
                <a:latin typeface="Sora" pitchFamily="34" charset="0"/>
                <a:ea typeface="Sora" pitchFamily="34" charset="-122"/>
                <a:cs typeface="Sora" pitchFamily="34" charset="-120"/>
              </a:rPr>
              <a:t>Prometheus</a:t>
            </a:r>
            <a:endParaRPr lang="en-US" sz="1600" dirty="0"/>
          </a:p>
        </p:txBody>
      </p:sp>
      <p:sp>
        <p:nvSpPr>
          <p:cNvPr id="18" name="Text 15"/>
          <p:cNvSpPr/>
          <p:nvPr/>
        </p:nvSpPr>
        <p:spPr>
          <a:xfrm>
            <a:off x="5067300" y="3507085"/>
            <a:ext cx="2642362"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CEAFF"/>
                </a:solidFill>
                <a:latin typeface="IBM Plex Sans" pitchFamily="34" charset="0"/>
                <a:ea typeface="IBM Plex Sans" pitchFamily="34" charset="-122"/>
                <a:cs typeface="IBM Plex Sans" pitchFamily="34" charset="-120"/>
              </a:rPr>
              <a:t>Collecte et stocke les métriques</a:t>
            </a:r>
            <a:endParaRPr lang="en-US" sz="1200" dirty="0"/>
          </a:p>
        </p:txBody>
      </p:sp>
      <p:pic>
        <p:nvPicPr>
          <p:cNvPr id="19" name="Image 1" descr="arrow-right">    </p:cNvPr>
          <p:cNvPicPr>
            <a:picLocks noChangeAspect="1"/>
          </p:cNvPicPr>
          <p:nvPr/>
        </p:nvPicPr>
        <p:blipFill>
          <a:blip r:embed="rId2"/>
          <a:srcRect l="0" r="0" t="0" b="0"/>
          <a:stretch/>
        </p:blipFill>
        <p:spPr>
          <a:xfrm>
            <a:off x="7924800" y="3372495"/>
            <a:ext cx="279400" cy="152400"/>
          </a:xfrm>
          <a:prstGeom prst="rect">
            <a:avLst/>
          </a:prstGeom>
        </p:spPr>
      </p:pic>
      <p:sp>
        <p:nvSpPr>
          <p:cNvPr id="20" name="Text 16"/>
          <p:cNvSpPr/>
          <p:nvPr/>
        </p:nvSpPr>
        <p:spPr>
          <a:xfrm>
            <a:off x="8331200" y="2616299"/>
            <a:ext cx="3139440"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6890"/>
                </a:solidFill>
                <a:latin typeface="IBM Plex Sans" pitchFamily="34" charset="0"/>
                <a:ea typeface="IBM Plex Sans" pitchFamily="34" charset="-122"/>
                <a:cs typeface="IBM Plex Sans" pitchFamily="34" charset="-120"/>
              </a:rPr>
              <a:t>USAGES</a:t>
            </a:r>
            <a:endParaRPr lang="en-US" sz="1100" dirty="0"/>
          </a:p>
        </p:txBody>
      </p:sp>
      <p:sp>
        <p:nvSpPr>
          <p:cNvPr id="21" name="Shape 17"/>
          <p:cNvSpPr/>
          <p:nvPr/>
        </p:nvSpPr>
        <p:spPr>
          <a:xfrm>
            <a:off x="8334375" y="2903984"/>
            <a:ext cx="3041650" cy="639339"/>
          </a:xfrm>
          <a:prstGeom prst="roundRect">
            <a:avLst>
              <a:gd name="adj" fmla="val 17381"/>
            </a:avLst>
          </a:prstGeom>
          <a:solidFill>
            <a:srgbClr val="FDFDFF"/>
          </a:solidFill>
          <a:ln w="6350">
            <a:solidFill>
              <a:srgbClr val="E1DFEE"/>
            </a:solidFill>
            <a:prstDash val="solid"/>
          </a:ln>
        </p:spPr>
      </p:sp>
      <p:sp>
        <p:nvSpPr>
          <p:cNvPr id="22" name="Text 18"/>
          <p:cNvSpPr/>
          <p:nvPr/>
        </p:nvSpPr>
        <p:spPr>
          <a:xfrm>
            <a:off x="8477991" y="2996754"/>
            <a:ext cx="283705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Grafana</a:t>
            </a:r>
            <a:endParaRPr lang="en-US" sz="1300" dirty="0"/>
          </a:p>
        </p:txBody>
      </p:sp>
      <p:sp>
        <p:nvSpPr>
          <p:cNvPr id="23" name="Text 19"/>
          <p:cNvSpPr/>
          <p:nvPr/>
        </p:nvSpPr>
        <p:spPr>
          <a:xfrm>
            <a:off x="8477991" y="3253333"/>
            <a:ext cx="2837051" cy="222568"/>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3F3C6B"/>
                </a:solidFill>
                <a:latin typeface="IBM Plex Sans" pitchFamily="34" charset="0"/>
                <a:ea typeface="IBM Plex Sans" pitchFamily="34" charset="-122"/>
                <a:cs typeface="IBM Plex Sans" pitchFamily="34" charset="-120"/>
              </a:rPr>
              <a:t>Tableaux de bord</a:t>
            </a:r>
            <a:endParaRPr lang="en-US" sz="1150" dirty="0"/>
          </a:p>
        </p:txBody>
      </p:sp>
      <p:sp>
        <p:nvSpPr>
          <p:cNvPr id="24" name="Shape 20"/>
          <p:cNvSpPr/>
          <p:nvPr/>
        </p:nvSpPr>
        <p:spPr>
          <a:xfrm>
            <a:off x="8334375" y="3638550"/>
            <a:ext cx="3041650" cy="639339"/>
          </a:xfrm>
          <a:prstGeom prst="roundRect">
            <a:avLst>
              <a:gd name="adj" fmla="val 17381"/>
            </a:avLst>
          </a:prstGeom>
          <a:solidFill>
            <a:srgbClr val="FDFDFF"/>
          </a:solidFill>
          <a:ln w="6350">
            <a:solidFill>
              <a:srgbClr val="E1DFEE"/>
            </a:solidFill>
            <a:prstDash val="solid"/>
          </a:ln>
        </p:spPr>
      </p:sp>
      <p:sp>
        <p:nvSpPr>
          <p:cNvPr id="25" name="Text 21"/>
          <p:cNvSpPr/>
          <p:nvPr/>
        </p:nvSpPr>
        <p:spPr>
          <a:xfrm>
            <a:off x="8477991" y="3731369"/>
            <a:ext cx="283705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Alertmanager</a:t>
            </a:r>
            <a:endParaRPr lang="en-US" sz="1300" dirty="0"/>
          </a:p>
        </p:txBody>
      </p:sp>
      <p:sp>
        <p:nvSpPr>
          <p:cNvPr id="26" name="Text 22"/>
          <p:cNvSpPr/>
          <p:nvPr/>
        </p:nvSpPr>
        <p:spPr>
          <a:xfrm>
            <a:off x="8477991" y="3987899"/>
            <a:ext cx="2837051" cy="222568"/>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3F3C6B"/>
                </a:solidFill>
                <a:latin typeface="IBM Plex Sans" pitchFamily="34" charset="0"/>
                <a:ea typeface="IBM Plex Sans" pitchFamily="34" charset="-122"/>
                <a:cs typeface="IBM Plex Sans" pitchFamily="34" charset="-120"/>
              </a:rPr>
              <a:t>Envoi des alertes : messagerie, astreinte</a:t>
            </a:r>
            <a:endParaRPr lang="en-US" sz="1150" dirty="0"/>
          </a:p>
        </p:txBody>
      </p:sp>
      <p:sp>
        <p:nvSpPr>
          <p:cNvPr id="27" name="Shape 23"/>
          <p:cNvSpPr/>
          <p:nvPr/>
        </p:nvSpPr>
        <p:spPr>
          <a:xfrm>
            <a:off x="812800" y="5167610"/>
            <a:ext cx="5207000" cy="674370"/>
          </a:xfrm>
          <a:prstGeom prst="roundRect">
            <a:avLst>
              <a:gd name="adj" fmla="val 15066"/>
            </a:avLst>
          </a:prstGeom>
          <a:solidFill>
            <a:srgbClr val="ECEAF6"/>
          </a:solidFill>
          <a:ln/>
        </p:spPr>
      </p:sp>
      <p:sp>
        <p:nvSpPr>
          <p:cNvPr id="28" name="Text 24"/>
          <p:cNvSpPr/>
          <p:nvPr/>
        </p:nvSpPr>
        <p:spPr>
          <a:xfrm>
            <a:off x="977900" y="5407025"/>
            <a:ext cx="1320800"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APPLICATION</a:t>
            </a:r>
            <a:endParaRPr lang="en-US" sz="1100" dirty="0"/>
          </a:p>
        </p:txBody>
      </p:sp>
      <p:sp>
        <p:nvSpPr>
          <p:cNvPr id="29" name="Text 25"/>
          <p:cNvSpPr/>
          <p:nvPr/>
        </p:nvSpPr>
        <p:spPr>
          <a:xfrm>
            <a:off x="2374900" y="5281910"/>
            <a:ext cx="358419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0748"/>
                </a:solidFill>
                <a:latin typeface="IBM Plex Sans" pitchFamily="34" charset="0"/>
                <a:ea typeface="IBM Plex Sans" pitchFamily="34" charset="-122"/>
                <a:cs typeface="IBM Plex Sans" pitchFamily="34" charset="-120"/>
              </a:rPr>
              <a:t>Combien de requêtes, combien d'erreurs, quel temps de réponse ?</a:t>
            </a:r>
            <a:endParaRPr lang="en-US" sz="1300" dirty="0"/>
          </a:p>
        </p:txBody>
      </p:sp>
      <p:sp>
        <p:nvSpPr>
          <p:cNvPr id="30" name="Shape 26"/>
          <p:cNvSpPr/>
          <p:nvPr/>
        </p:nvSpPr>
        <p:spPr>
          <a:xfrm>
            <a:off x="6172200" y="5167610"/>
            <a:ext cx="5207000" cy="674370"/>
          </a:xfrm>
          <a:prstGeom prst="roundRect">
            <a:avLst>
              <a:gd name="adj" fmla="val 15066"/>
            </a:avLst>
          </a:prstGeom>
          <a:solidFill>
            <a:srgbClr val="ECEAF6"/>
          </a:solidFill>
          <a:ln/>
        </p:spPr>
      </p:sp>
      <p:sp>
        <p:nvSpPr>
          <p:cNvPr id="31" name="Text 27"/>
          <p:cNvSpPr/>
          <p:nvPr/>
        </p:nvSpPr>
        <p:spPr>
          <a:xfrm>
            <a:off x="6337300" y="5407025"/>
            <a:ext cx="1638300"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INFRASTRUCTURE</a:t>
            </a:r>
            <a:endParaRPr lang="en-US" sz="1100" dirty="0"/>
          </a:p>
        </p:txBody>
      </p:sp>
      <p:sp>
        <p:nvSpPr>
          <p:cNvPr id="32" name="Text 28"/>
          <p:cNvSpPr/>
          <p:nvPr/>
        </p:nvSpPr>
        <p:spPr>
          <a:xfrm>
            <a:off x="8051800" y="5281910"/>
            <a:ext cx="3257169"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0748"/>
                </a:solidFill>
                <a:latin typeface="IBM Plex Sans" pitchFamily="34" charset="0"/>
                <a:ea typeface="IBM Plex Sans" pitchFamily="34" charset="-122"/>
                <a:cs typeface="IBM Plex Sans" pitchFamily="34" charset="-120"/>
              </a:rPr>
              <a:t>Utilisation, saturation et erreurs de chaque ressource.</a:t>
            </a:r>
            <a:endParaRPr lang="en-US" sz="1300" dirty="0"/>
          </a:p>
        </p:txBody>
      </p:sp>
      <p:pic>
        <p:nvPicPr>
          <p:cNvPr id="33" name="Image 2" descr="preencoded.png">    </p:cNvPr>
          <p:cNvPicPr>
            <a:picLocks noChangeAspect="1"/>
          </p:cNvPicPr>
          <p:nvPr/>
        </p:nvPicPr>
        <p:blipFill>
          <a:blip r:embed="rId3"/>
          <a:srcRect l="0" r="0" t="0" b="0"/>
          <a:stretch/>
        </p:blipFill>
        <p:spPr>
          <a:xfrm>
            <a:off x="812800" y="6299200"/>
            <a:ext cx="152400" cy="152400"/>
          </a:xfrm>
          <a:prstGeom prst="rect">
            <a:avLst/>
          </a:prstGeom>
        </p:spPr>
      </p:pic>
      <p:sp>
        <p:nvSpPr>
          <p:cNvPr id="34" name="Text 29"/>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5" name="Image 3" descr="Parcours : module 10 sur 16">    </p:cNvPr>
          <p:cNvPicPr>
            <a:picLocks noChangeAspect="1"/>
          </p:cNvPicPr>
          <p:nvPr/>
        </p:nvPicPr>
        <p:blipFill>
          <a:blip r:embed="rId4"/>
          <a:srcRect l="0" r="0" t="0" b="0"/>
          <a:stretch/>
        </p:blipFill>
        <p:spPr>
          <a:xfrm>
            <a:off x="9207500" y="6299200"/>
            <a:ext cx="2171700" cy="15240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10 · SURVEILLER ET DIAGNOSTIQUER</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Diagnostiquer le réseau</a:t>
            </a:r>
            <a:endParaRPr lang="en-US" sz="2800" dirty="0"/>
          </a:p>
        </p:txBody>
      </p:sp>
      <p:sp>
        <p:nvSpPr>
          <p:cNvPr id="4" name="Text 2"/>
          <p:cNvSpPr/>
          <p:nvPr/>
        </p:nvSpPr>
        <p:spPr>
          <a:xfrm>
            <a:off x="812800" y="1544340"/>
            <a:ext cx="10566400" cy="1800860"/>
          </a:xfrm>
          <a:prstGeom prst="roundRect">
            <a:avLst>
              <a:gd name="adj" fmla="val 5642"/>
            </a:avLst>
          </a:prstGeom>
          <a:solidFill>
            <a:srgbClr val="0B0748"/>
          </a:solidFill>
          <a:ln/>
        </p:spPr>
        <p:txBody>
          <a:bodyPr wrap="none" lIns="160742" tIns="84542" rIns="0" bIns="84542" rtlCol="0" anchor="ctr">
            <a:normAutofit/>
          </a:bodyPr>
          <a:lstStyle/>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get endpointslices -l kubernetes.io/service-name=podinfo   </a:t>
            </a:r>
            <a:r>
              <a:rPr lang="en-US" sz="1200" dirty="0">
                <a:solidFill>
                  <a:srgbClr val="9A96D0"/>
                </a:solidFill>
                <a:latin typeface="JetBrains Mono" pitchFamily="49" charset="0"/>
                <a:ea typeface="JetBrains Mono" pitchFamily="49" charset="-122"/>
                <a:cs typeface="JetBrains Mono" pitchFamily="49" charset="-120"/>
              </a:rPr>
              <a:t># le Service a-t-il des pods ?</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get pods -l app=podinfo --show-labels                      </a:t>
            </a:r>
            <a:r>
              <a:rPr lang="en-US" sz="1200" dirty="0">
                <a:solidFill>
                  <a:srgbClr val="9A96D0"/>
                </a:solidFill>
                <a:latin typeface="JetBrains Mono" pitchFamily="49" charset="0"/>
                <a:ea typeface="JetBrains Mono" pitchFamily="49" charset="-122"/>
                <a:cs typeface="JetBrains Mono" pitchFamily="49" charset="-120"/>
              </a:rPr>
              <a:t># les labels correspondent-ils ?</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run test --image=mirror.gcr.io/library/busybox:1.36 --rm -it --restart=Never -- sh</a:t>
            </a:r>
            <a:endParaRPr lang="en-US" sz="1200" dirty="0"/>
          </a:p>
          <a:p>
            <a:pPr algn="l" indent="0" marL="0">
              <a:lnSpc>
                <a:spcPts val="1740"/>
              </a:lnSpc>
              <a:buNone/>
            </a:pPr>
            <a:r>
              <a:rPr lang="en-US" sz="1200" dirty="0">
                <a:solidFill>
                  <a:srgbClr val="9A96D0"/>
                </a:solidFill>
                <a:latin typeface="JetBrains Mono" pitchFamily="49" charset="0"/>
                <a:ea typeface="JetBrains Mono" pitchFamily="49" charset="-122"/>
                <a:cs typeface="JetBrains Mono" pitchFamily="49" charset="-120"/>
              </a:rPr>
              <a:t># dans le pod de test :</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nslookup podinfo                                                   </a:t>
            </a:r>
            <a:r>
              <a:rPr lang="en-US" sz="1200" dirty="0">
                <a:solidFill>
                  <a:srgbClr val="9A96D0"/>
                </a:solidFill>
                <a:latin typeface="JetBrains Mono" pitchFamily="49" charset="0"/>
                <a:ea typeface="JetBrains Mono" pitchFamily="49" charset="-122"/>
                <a:cs typeface="JetBrains Mono" pitchFamily="49" charset="-120"/>
              </a:rPr>
              <a:t># le DNS répond-il ?</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wget -qO- --timeout=3 http://podinfo:9898                          </a:t>
            </a:r>
            <a:r>
              <a:rPr lang="en-US" sz="1200" dirty="0">
                <a:solidFill>
                  <a:srgbClr val="9A96D0"/>
                </a:solidFill>
                <a:latin typeface="JetBrains Mono" pitchFamily="49" charset="0"/>
                <a:ea typeface="JetBrains Mono" pitchFamily="49" charset="-122"/>
                <a:cs typeface="JetBrains Mono" pitchFamily="49" charset="-120"/>
              </a:rPr>
              <a:t># le Service répond-il ?</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nc -zv -w 3 &lt;IP-du-pod&gt; 9898                                       </a:t>
            </a:r>
            <a:r>
              <a:rPr lang="en-US" sz="1200" dirty="0">
                <a:solidFill>
                  <a:srgbClr val="9A96D0"/>
                </a:solidFill>
                <a:latin typeface="JetBrains Mono" pitchFamily="49" charset="0"/>
                <a:ea typeface="JetBrains Mono" pitchFamily="49" charset="-122"/>
                <a:cs typeface="JetBrains Mono" pitchFamily="49" charset="-120"/>
              </a:rPr>
              <a:t># le pod répond-il directement ?</a:t>
            </a:r>
            <a:endParaRPr lang="en-US" sz="1200" dirty="0"/>
          </a:p>
        </p:txBody>
      </p:sp>
      <p:sp>
        <p:nvSpPr>
          <p:cNvPr id="5" name="Shape 3"/>
          <p:cNvSpPr/>
          <p:nvPr/>
        </p:nvSpPr>
        <p:spPr>
          <a:xfrm>
            <a:off x="815975" y="3551535"/>
            <a:ext cx="3414183" cy="2287270"/>
          </a:xfrm>
          <a:prstGeom prst="roundRect">
            <a:avLst>
              <a:gd name="adj" fmla="val 5414"/>
            </a:avLst>
          </a:prstGeom>
          <a:solidFill>
            <a:srgbClr val="FDFDFF"/>
          </a:solidFill>
          <a:ln w="6350">
            <a:solidFill>
              <a:srgbClr val="E1DFEE"/>
            </a:solidFill>
            <a:prstDash val="solid"/>
          </a:ln>
        </p:spPr>
      </p:sp>
      <p:sp>
        <p:nvSpPr>
          <p:cNvPr id="6" name="Text 4"/>
          <p:cNvSpPr/>
          <p:nvPr/>
        </p:nvSpPr>
        <p:spPr>
          <a:xfrm>
            <a:off x="1023091" y="3733254"/>
            <a:ext cx="3089950"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B0748"/>
                </a:solidFill>
                <a:latin typeface="IBM Plex Sans" pitchFamily="34" charset="0"/>
                <a:ea typeface="IBM Plex Sans" pitchFamily="34" charset="-122"/>
                <a:cs typeface="IBM Plex Sans" pitchFamily="34" charset="-120"/>
              </a:rPr>
              <a:t>Le pod répond en direct, pas via le Service</a:t>
            </a:r>
            <a:endParaRPr lang="en-US" sz="1500" dirty="0"/>
          </a:p>
        </p:txBody>
      </p:sp>
      <p:pic>
        <p:nvPicPr>
          <p:cNvPr id="7" name="Image 0" descr="arrow-right">    </p:cNvPr>
          <p:cNvPicPr>
            <a:picLocks noChangeAspect="1"/>
          </p:cNvPicPr>
          <p:nvPr/>
        </p:nvPicPr>
        <p:blipFill>
          <a:blip r:embed="rId1"/>
          <a:srcRect l="0" r="0" t="0" b="0"/>
          <a:stretch/>
        </p:blipFill>
        <p:spPr>
          <a:xfrm>
            <a:off x="1023091" y="5366296"/>
            <a:ext cx="177800" cy="101600"/>
          </a:xfrm>
          <a:prstGeom prst="rect">
            <a:avLst/>
          </a:prstGeom>
        </p:spPr>
      </p:pic>
      <p:sp>
        <p:nvSpPr>
          <p:cNvPr id="8" name="Text 5"/>
          <p:cNvSpPr/>
          <p:nvPr/>
        </p:nvSpPr>
        <p:spPr>
          <a:xfrm>
            <a:off x="1277091" y="5177036"/>
            <a:ext cx="28283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Vérifier le selector ou le targetPort.</a:t>
            </a:r>
            <a:endParaRPr lang="en-US" sz="1400" dirty="0"/>
          </a:p>
        </p:txBody>
      </p:sp>
      <p:sp>
        <p:nvSpPr>
          <p:cNvPr id="9" name="Shape 6"/>
          <p:cNvSpPr/>
          <p:nvPr/>
        </p:nvSpPr>
        <p:spPr>
          <a:xfrm>
            <a:off x="4388908" y="3551535"/>
            <a:ext cx="3414183" cy="2287270"/>
          </a:xfrm>
          <a:prstGeom prst="roundRect">
            <a:avLst>
              <a:gd name="adj" fmla="val 5414"/>
            </a:avLst>
          </a:prstGeom>
          <a:solidFill>
            <a:srgbClr val="FDFDFF"/>
          </a:solidFill>
          <a:ln w="6350">
            <a:solidFill>
              <a:srgbClr val="E1DFEE"/>
            </a:solidFill>
            <a:prstDash val="solid"/>
          </a:ln>
        </p:spPr>
      </p:sp>
      <p:sp>
        <p:nvSpPr>
          <p:cNvPr id="10" name="Text 7"/>
          <p:cNvSpPr/>
          <p:nvPr/>
        </p:nvSpPr>
        <p:spPr>
          <a:xfrm>
            <a:off x="4596024" y="3733254"/>
            <a:ext cx="3089950"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B0748"/>
                </a:solidFill>
                <a:latin typeface="IBM Plex Sans" pitchFamily="34" charset="0"/>
                <a:ea typeface="IBM Plex Sans" pitchFamily="34" charset="-122"/>
                <a:cs typeface="IBM Plex Sans" pitchFamily="34" charset="-120"/>
              </a:rPr>
              <a:t>Rien ne répond depuis un autre namespace</a:t>
            </a:r>
            <a:endParaRPr lang="en-US" sz="1500" dirty="0"/>
          </a:p>
        </p:txBody>
      </p:sp>
      <p:pic>
        <p:nvPicPr>
          <p:cNvPr id="11" name="Image 1" descr="arrow-right">    </p:cNvPr>
          <p:cNvPicPr>
            <a:picLocks noChangeAspect="1"/>
          </p:cNvPicPr>
          <p:nvPr/>
        </p:nvPicPr>
        <p:blipFill>
          <a:blip r:embed="rId2"/>
          <a:srcRect l="0" r="0" t="0" b="0"/>
          <a:stretch/>
        </p:blipFill>
        <p:spPr>
          <a:xfrm>
            <a:off x="4596024" y="5366296"/>
            <a:ext cx="177800" cy="101600"/>
          </a:xfrm>
          <a:prstGeom prst="rect">
            <a:avLst/>
          </a:prstGeom>
        </p:spPr>
      </p:pic>
      <p:sp>
        <p:nvSpPr>
          <p:cNvPr id="12" name="Text 8"/>
          <p:cNvSpPr/>
          <p:nvPr/>
        </p:nvSpPr>
        <p:spPr>
          <a:xfrm>
            <a:off x="4850024" y="5177036"/>
            <a:ext cx="28283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Chercher une NetworkPolicy (module 15).</a:t>
            </a:r>
            <a:endParaRPr lang="en-US" sz="1400" dirty="0"/>
          </a:p>
        </p:txBody>
      </p:sp>
      <p:sp>
        <p:nvSpPr>
          <p:cNvPr id="13" name="Shape 9"/>
          <p:cNvSpPr/>
          <p:nvPr/>
        </p:nvSpPr>
        <p:spPr>
          <a:xfrm>
            <a:off x="7961842" y="3551535"/>
            <a:ext cx="3414183" cy="2287270"/>
          </a:xfrm>
          <a:prstGeom prst="roundRect">
            <a:avLst>
              <a:gd name="adj" fmla="val 5414"/>
            </a:avLst>
          </a:prstGeom>
          <a:solidFill>
            <a:srgbClr val="FDFDFF"/>
          </a:solidFill>
          <a:ln w="6350">
            <a:solidFill>
              <a:srgbClr val="E1DFEE"/>
            </a:solidFill>
            <a:prstDash val="solid"/>
          </a:ln>
        </p:spPr>
      </p:sp>
      <p:sp>
        <p:nvSpPr>
          <p:cNvPr id="14" name="Text 10"/>
          <p:cNvSpPr/>
          <p:nvPr/>
        </p:nvSpPr>
        <p:spPr>
          <a:xfrm>
            <a:off x="8168957" y="3733254"/>
            <a:ext cx="308995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B0748"/>
                </a:solidFill>
                <a:latin typeface="IBM Plex Sans" pitchFamily="34" charset="0"/>
                <a:ea typeface="IBM Plex Sans" pitchFamily="34" charset="-122"/>
                <a:cs typeface="IBM Plex Sans" pitchFamily="34" charset="-120"/>
              </a:rPr>
              <a:t>Le DNS échoue</a:t>
            </a:r>
            <a:endParaRPr lang="en-US" sz="1500" dirty="0"/>
          </a:p>
        </p:txBody>
      </p:sp>
      <p:pic>
        <p:nvPicPr>
          <p:cNvPr id="15" name="Image 2" descr="arrow-right">    </p:cNvPr>
          <p:cNvPicPr>
            <a:picLocks noChangeAspect="1"/>
          </p:cNvPicPr>
          <p:nvPr/>
        </p:nvPicPr>
        <p:blipFill>
          <a:blip r:embed="rId3"/>
          <a:srcRect l="0" r="0" t="0" b="0"/>
          <a:stretch/>
        </p:blipFill>
        <p:spPr>
          <a:xfrm>
            <a:off x="8168957" y="5366296"/>
            <a:ext cx="177800" cy="101600"/>
          </a:xfrm>
          <a:prstGeom prst="rect">
            <a:avLst/>
          </a:prstGeom>
        </p:spPr>
      </p:pic>
      <p:sp>
        <p:nvSpPr>
          <p:cNvPr id="16" name="Text 11"/>
          <p:cNvSpPr/>
          <p:nvPr/>
        </p:nvSpPr>
        <p:spPr>
          <a:xfrm>
            <a:off x="8422957" y="5177036"/>
            <a:ext cx="28283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Regarder l'état des pods CoreDNS dans kube-system.</a:t>
            </a:r>
            <a:endParaRPr lang="en-US" sz="1400" dirty="0"/>
          </a:p>
        </p:txBody>
      </p:sp>
      <p:pic>
        <p:nvPicPr>
          <p:cNvPr id="17" name="Image 3" descr="preencoded.png">    </p:cNvPr>
          <p:cNvPicPr>
            <a:picLocks noChangeAspect="1"/>
          </p:cNvPicPr>
          <p:nvPr/>
        </p:nvPicPr>
        <p:blipFill>
          <a:blip r:embed="rId4"/>
          <a:srcRect l="0" r="0" t="0" b="0"/>
          <a:stretch/>
        </p:blipFill>
        <p:spPr>
          <a:xfrm>
            <a:off x="812800" y="6299200"/>
            <a:ext cx="152400" cy="152400"/>
          </a:xfrm>
          <a:prstGeom prst="rect">
            <a:avLst/>
          </a:prstGeom>
        </p:spPr>
      </p:pic>
      <p:sp>
        <p:nvSpPr>
          <p:cNvPr id="18" name="Text 12"/>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9" name="Image 4" descr="Parcours : module 10 sur 16">    </p:cNvPr>
          <p:cNvPicPr>
            <a:picLocks noChangeAspect="1"/>
          </p:cNvPicPr>
          <p:nvPr/>
        </p:nvPicPr>
        <p:blipFill>
          <a:blip r:embed="rId5"/>
          <a:srcRect l="0" r="0" t="0" b="0"/>
          <a:stretch/>
        </p:blipFill>
        <p:spPr>
          <a:xfrm>
            <a:off x="9207500" y="6299200"/>
            <a:ext cx="2171700" cy="15240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10 · SURVEILLER ET DIAGNOSTIQUER</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Diagnostiquer un nœud</a:t>
            </a:r>
            <a:endParaRPr lang="en-US" sz="2800" dirty="0"/>
          </a:p>
        </p:txBody>
      </p:sp>
      <p:sp>
        <p:nvSpPr>
          <p:cNvPr id="4" name="Text 2"/>
          <p:cNvSpPr/>
          <p:nvPr/>
        </p:nvSpPr>
        <p:spPr>
          <a:xfrm>
            <a:off x="812800" y="1569740"/>
            <a:ext cx="40551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DEPUIS KUBECTL</a:t>
            </a:r>
            <a:endParaRPr lang="en-US" sz="1200" dirty="0"/>
          </a:p>
        </p:txBody>
      </p:sp>
      <p:sp>
        <p:nvSpPr>
          <p:cNvPr id="5" name="Text 3"/>
          <p:cNvSpPr/>
          <p:nvPr/>
        </p:nvSpPr>
        <p:spPr>
          <a:xfrm>
            <a:off x="812800" y="1897360"/>
            <a:ext cx="3937000" cy="518795"/>
          </a:xfrm>
          <a:prstGeom prst="roundRect">
            <a:avLst>
              <a:gd name="adj" fmla="val 19584"/>
            </a:avLst>
          </a:prstGeom>
          <a:solidFill>
            <a:srgbClr val="0B0748"/>
          </a:solidFill>
          <a:ln/>
        </p:spPr>
        <p:txBody>
          <a:bodyPr wrap="none" lIns="160742" tIns="97242" rIns="54062" bIns="97242" rtlCol="0" anchor="ctr">
            <a:normAutofit/>
          </a:bodyPr>
          <a:lstStyle/>
          <a:p>
            <a:pPr algn="l" indent="0" marL="0">
              <a:lnSpc>
                <a:spcPts val="1885"/>
              </a:lnSpc>
              <a:buNone/>
            </a:pPr>
            <a:r>
              <a:rPr lang="en-US" sz="1300" dirty="0">
                <a:solidFill>
                  <a:srgbClr val="ECEAFF"/>
                </a:solidFill>
                <a:latin typeface="JetBrains Mono" pitchFamily="49" charset="0"/>
                <a:ea typeface="JetBrains Mono" pitchFamily="49" charset="-122"/>
                <a:cs typeface="JetBrains Mono" pitchFamily="49" charset="-120"/>
              </a:rPr>
              <a:t>kubectl describe node k8s-w1</a:t>
            </a:r>
            <a:endParaRPr lang="en-US" sz="1300" dirty="0"/>
          </a:p>
        </p:txBody>
      </p:sp>
      <p:sp>
        <p:nvSpPr>
          <p:cNvPr id="6" name="Text 4"/>
          <p:cNvSpPr/>
          <p:nvPr/>
        </p:nvSpPr>
        <p:spPr>
          <a:xfrm>
            <a:off x="812800" y="2530475"/>
            <a:ext cx="4055110"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B0748"/>
                </a:solidFill>
                <a:latin typeface="IBM Plex Sans" pitchFamily="34" charset="0"/>
                <a:ea typeface="IBM Plex Sans" pitchFamily="34" charset="-122"/>
                <a:cs typeface="IBM Plex Sans" pitchFamily="34" charset="-120"/>
              </a:rPr>
              <a:t>Conditions (MemoryPressure, DiskPressure, Ready), capacité, pods placés et événements du nœud.</a:t>
            </a:r>
            <a:endParaRPr lang="en-US" sz="1350" dirty="0"/>
          </a:p>
        </p:txBody>
      </p:sp>
      <p:sp>
        <p:nvSpPr>
          <p:cNvPr id="7" name="Text 5"/>
          <p:cNvSpPr/>
          <p:nvPr/>
        </p:nvSpPr>
        <p:spPr>
          <a:xfrm>
            <a:off x="812800" y="5125740"/>
            <a:ext cx="3937000" cy="716280"/>
          </a:xfrm>
          <a:prstGeom prst="roundRect">
            <a:avLst>
              <a:gd name="adj" fmla="val 14184"/>
            </a:avLst>
          </a:prstGeom>
          <a:solidFill>
            <a:srgbClr val="ECEAF6"/>
          </a:solidFill>
          <a:ln/>
        </p:spPr>
        <p:txBody>
          <a:bodyPr wrap="square" lIns="135342" tIns="97242" rIns="27138" bIns="71842"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Un nœud NotReady : regardez d'abord le kubelet, puis containerd.</a:t>
            </a:r>
            <a:endParaRPr lang="en-US" sz="1300" dirty="0"/>
          </a:p>
        </p:txBody>
      </p:sp>
      <p:sp>
        <p:nvSpPr>
          <p:cNvPr id="8" name="Text 6"/>
          <p:cNvSpPr/>
          <p:nvPr/>
        </p:nvSpPr>
        <p:spPr>
          <a:xfrm>
            <a:off x="5054600" y="1569740"/>
            <a:ext cx="651433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SUR LE NŒUD, EN SSH</a:t>
            </a:r>
            <a:endParaRPr lang="en-US" sz="1200" dirty="0"/>
          </a:p>
        </p:txBody>
      </p:sp>
      <p:sp>
        <p:nvSpPr>
          <p:cNvPr id="9" name="Text 7"/>
          <p:cNvSpPr/>
          <p:nvPr/>
        </p:nvSpPr>
        <p:spPr>
          <a:xfrm>
            <a:off x="5054600" y="1897360"/>
            <a:ext cx="6324600" cy="3944620"/>
          </a:xfrm>
          <a:prstGeom prst="roundRect">
            <a:avLst>
              <a:gd name="adj" fmla="val 2576"/>
            </a:avLst>
          </a:prstGeom>
          <a:solidFill>
            <a:srgbClr val="0B0748"/>
          </a:solidFill>
          <a:ln/>
        </p:spPr>
        <p:txBody>
          <a:bodyPr wrap="none" lIns="160742" tIns="122642" rIns="0" bIns="122642" rtlCol="0" anchor="ctr">
            <a:normAutofit/>
          </a:bodyPr>
          <a:lstStyle/>
          <a:p>
            <a:pPr algn="l" indent="0" marL="0">
              <a:lnSpc>
                <a:spcPts val="2470"/>
              </a:lnSpc>
              <a:buNone/>
            </a:pPr>
            <a:r>
              <a:rPr lang="en-US" sz="1300" dirty="0">
                <a:solidFill>
                  <a:srgbClr val="ECEAFF"/>
                </a:solidFill>
                <a:latin typeface="JetBrains Mono" pitchFamily="49" charset="0"/>
                <a:ea typeface="JetBrains Mono" pitchFamily="49" charset="-122"/>
                <a:cs typeface="JetBrains Mono" pitchFamily="49" charset="-120"/>
              </a:rPr>
              <a:t>systemctl status kubelet   </a:t>
            </a:r>
            <a:r>
              <a:rPr lang="en-US" sz="1300" dirty="0">
                <a:solidFill>
                  <a:srgbClr val="9A96D0"/>
                </a:solidFill>
                <a:latin typeface="JetBrains Mono" pitchFamily="49" charset="0"/>
                <a:ea typeface="JetBrains Mono" pitchFamily="49" charset="-122"/>
                <a:cs typeface="JetBrains Mono" pitchFamily="49" charset="-120"/>
              </a:rPr>
              <a:t># le kubelet tourne-t-il ?</a:t>
            </a:r>
            <a:endParaRPr lang="en-US" sz="1300" dirty="0"/>
          </a:p>
          <a:p>
            <a:pPr algn="l" indent="0" marL="0">
              <a:lnSpc>
                <a:spcPts val="2470"/>
              </a:lnSpc>
              <a:buNone/>
            </a:pPr>
            <a:r>
              <a:rPr lang="en-US" sz="1300" dirty="0">
                <a:solidFill>
                  <a:srgbClr val="ECEAFF"/>
                </a:solidFill>
                <a:latin typeface="JetBrains Mono" pitchFamily="49" charset="0"/>
                <a:ea typeface="JetBrains Mono" pitchFamily="49" charset="-122"/>
                <a:cs typeface="JetBrains Mono" pitchFamily="49" charset="-120"/>
              </a:rPr>
              <a:t>journalctl -u kubelet -f   </a:t>
            </a:r>
            <a:r>
              <a:rPr lang="en-US" sz="1300" dirty="0">
                <a:solidFill>
                  <a:srgbClr val="9A96D0"/>
                </a:solidFill>
                <a:latin typeface="JetBrains Mono" pitchFamily="49" charset="0"/>
                <a:ea typeface="JetBrains Mono" pitchFamily="49" charset="-122"/>
                <a:cs typeface="JetBrains Mono" pitchFamily="49" charset="-120"/>
              </a:rPr>
              <a:t># ses messages</a:t>
            </a:r>
            <a:endParaRPr lang="en-US" sz="1300" dirty="0"/>
          </a:p>
          <a:p>
            <a:pPr algn="l" indent="0" marL="0">
              <a:lnSpc>
                <a:spcPts val="2470"/>
              </a:lnSpc>
              <a:buNone/>
            </a:pPr>
            <a:r>
              <a:rPr lang="en-US" sz="1300" dirty="0">
                <a:solidFill>
                  <a:srgbClr val="ECEAFF"/>
                </a:solidFill>
                <a:latin typeface="JetBrains Mono" pitchFamily="49" charset="0"/>
                <a:ea typeface="JetBrains Mono" pitchFamily="49" charset="-122"/>
                <a:cs typeface="JetBrains Mono" pitchFamily="49" charset="-120"/>
              </a:rPr>
              <a:t>journalctl -u containerd --since "10 min ago"</a:t>
            </a:r>
            <a:endParaRPr lang="en-US" sz="1300" dirty="0"/>
          </a:p>
          <a:p>
            <a:pPr algn="l" indent="0" marL="0">
              <a:lnSpc>
                <a:spcPts val="2470"/>
              </a:lnSpc>
              <a:buNone/>
            </a:pPr>
            <a:r>
              <a:rPr lang="en-US" sz="1300" dirty="0">
                <a:solidFill>
                  <a:srgbClr val="ECEAFF"/>
                </a:solidFill>
                <a:latin typeface="JetBrains Mono" pitchFamily="49" charset="0"/>
                <a:ea typeface="JetBrains Mono" pitchFamily="49" charset="-122"/>
                <a:cs typeface="JetBrains Mono" pitchFamily="49" charset="-120"/>
              </a:rPr>
              <a:t>sudo crictl ps -a          </a:t>
            </a:r>
            <a:r>
              <a:rPr lang="en-US" sz="1300" dirty="0">
                <a:solidFill>
                  <a:srgbClr val="9A96D0"/>
                </a:solidFill>
                <a:latin typeface="JetBrains Mono" pitchFamily="49" charset="0"/>
                <a:ea typeface="JetBrains Mono" pitchFamily="49" charset="-122"/>
                <a:cs typeface="JetBrains Mono" pitchFamily="49" charset="-120"/>
              </a:rPr>
              <a:t># conteneurs, y compris arrêtés</a:t>
            </a:r>
            <a:endParaRPr lang="en-US" sz="1300" dirty="0"/>
          </a:p>
          <a:p>
            <a:pPr algn="l" indent="0" marL="0">
              <a:lnSpc>
                <a:spcPts val="2470"/>
              </a:lnSpc>
              <a:buNone/>
            </a:pPr>
            <a:r>
              <a:rPr lang="en-US" sz="1300" dirty="0">
                <a:solidFill>
                  <a:srgbClr val="ECEAFF"/>
                </a:solidFill>
                <a:latin typeface="JetBrains Mono" pitchFamily="49" charset="0"/>
                <a:ea typeface="JetBrains Mono" pitchFamily="49" charset="-122"/>
                <a:cs typeface="JetBrains Mono" pitchFamily="49" charset="-120"/>
              </a:rPr>
              <a:t>df -h /var/lib/containerd  </a:t>
            </a:r>
            <a:r>
              <a:rPr lang="en-US" sz="1300" dirty="0">
                <a:solidFill>
                  <a:srgbClr val="9A96D0"/>
                </a:solidFill>
                <a:latin typeface="JetBrains Mono" pitchFamily="49" charset="0"/>
                <a:ea typeface="JetBrains Mono" pitchFamily="49" charset="-122"/>
                <a:cs typeface="JetBrains Mono" pitchFamily="49" charset="-120"/>
              </a:rPr>
              <a:t># espace disque des images</a:t>
            </a:r>
            <a:endParaRPr lang="en-US" sz="1300" dirty="0"/>
          </a:p>
        </p:txBody>
      </p:sp>
      <p:pic>
        <p:nvPicPr>
          <p:cNvPr id="10"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1" name="Text 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2" name="Image 1" descr="Parcours : module 10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BF0E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TRAVAUX PRATIQUES · À FAIRE MAINTENANT</a:t>
            </a:r>
            <a:endParaRPr lang="en-US" sz="1200" dirty="0"/>
          </a:p>
        </p:txBody>
      </p:sp>
      <p:sp>
        <p:nvSpPr>
          <p:cNvPr id="3" name="Text 1"/>
          <p:cNvSpPr/>
          <p:nvPr/>
        </p:nvSpPr>
        <p:spPr>
          <a:xfrm>
            <a:off x="812800" y="1127770"/>
            <a:ext cx="3008630" cy="1054100"/>
          </a:xfrm>
          <a:prstGeom prst="rect">
            <a:avLst/>
          </a:prstGeom>
          <a:noFill/>
          <a:ln/>
        </p:spPr>
        <p:txBody>
          <a:bodyPr wrap="square" lIns="0" tIns="0" rIns="0" bIns="0" rtlCol="0" anchor="t">
            <a:normAutofit/>
          </a:bodyPr>
          <a:lstStyle/>
          <a:p>
            <a:pPr algn="l" indent="0" marL="0">
              <a:lnSpc>
                <a:spcPts val="8100"/>
              </a:lnSpc>
              <a:buNone/>
            </a:pPr>
            <a:r>
              <a:rPr lang="en-US" sz="9000" b="1" spc="-300" kern="0" dirty="0">
                <a:solidFill>
                  <a:srgbClr val="E25A2C"/>
                </a:solidFill>
                <a:latin typeface="Sora" pitchFamily="34" charset="0"/>
                <a:ea typeface="Sora" pitchFamily="34" charset="-122"/>
                <a:cs typeface="Sora" pitchFamily="34" charset="-120"/>
              </a:rPr>
              <a:t>TP7</a:t>
            </a:r>
            <a:endParaRPr lang="en-US" sz="9000" dirty="0"/>
          </a:p>
        </p:txBody>
      </p:sp>
      <p:pic>
        <p:nvPicPr>
          <p:cNvPr id="4" name="Image 0" descr="Clock">    </p:cNvPr>
          <p:cNvPicPr>
            <a:picLocks noChangeAspect="1"/>
          </p:cNvPicPr>
          <p:nvPr/>
        </p:nvPicPr>
        <p:blipFill>
          <a:blip r:embed="rId1"/>
          <a:srcRect l="0" r="0" t="0" b="0"/>
          <a:stretch/>
        </p:blipFill>
        <p:spPr>
          <a:xfrm>
            <a:off x="812800" y="2467620"/>
            <a:ext cx="254000" cy="254000"/>
          </a:xfrm>
          <a:prstGeom prst="rect">
            <a:avLst/>
          </a:prstGeom>
        </p:spPr>
      </p:pic>
      <p:sp>
        <p:nvSpPr>
          <p:cNvPr id="5" name="Text 2"/>
          <p:cNvSpPr/>
          <p:nvPr/>
        </p:nvSpPr>
        <p:spPr>
          <a:xfrm>
            <a:off x="1181100" y="2461270"/>
            <a:ext cx="1477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Jour 2 · 14:30</a:t>
            </a:r>
            <a:endParaRPr lang="en-US" sz="1500" dirty="0"/>
          </a:p>
        </p:txBody>
      </p:sp>
      <p:pic>
        <p:nvPicPr>
          <p:cNvPr id="6" name="Image 1" descr="Activity">    </p:cNvPr>
          <p:cNvPicPr>
            <a:picLocks noChangeAspect="1"/>
          </p:cNvPicPr>
          <p:nvPr/>
        </p:nvPicPr>
        <p:blipFill>
          <a:blip r:embed="rId2"/>
          <a:srcRect l="0" r="0" t="0" b="0"/>
          <a:stretch/>
        </p:blipFill>
        <p:spPr>
          <a:xfrm>
            <a:off x="812800" y="2835920"/>
            <a:ext cx="254000" cy="254000"/>
          </a:xfrm>
          <a:prstGeom prst="rect">
            <a:avLst/>
          </a:prstGeom>
        </p:spPr>
      </p:pic>
      <p:sp>
        <p:nvSpPr>
          <p:cNvPr id="7" name="Text 3"/>
          <p:cNvSpPr/>
          <p:nvPr/>
        </p:nvSpPr>
        <p:spPr>
          <a:xfrm>
            <a:off x="1181100" y="2829570"/>
            <a:ext cx="11889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60 minutes</a:t>
            </a:r>
            <a:endParaRPr lang="en-US" sz="1500" dirty="0"/>
          </a:p>
        </p:txBody>
      </p:sp>
      <p:pic>
        <p:nvPicPr>
          <p:cNvPr id="8" name="Image 2" descr="Book">    </p:cNvPr>
          <p:cNvPicPr>
            <a:picLocks noChangeAspect="1"/>
          </p:cNvPicPr>
          <p:nvPr/>
        </p:nvPicPr>
        <p:blipFill>
          <a:blip r:embed="rId3"/>
          <a:srcRect l="0" r="0" t="0" b="0"/>
          <a:stretch/>
        </p:blipFill>
        <p:spPr>
          <a:xfrm>
            <a:off x="812800" y="3197870"/>
            <a:ext cx="254000" cy="254000"/>
          </a:xfrm>
          <a:prstGeom prst="rect">
            <a:avLst/>
          </a:prstGeom>
        </p:spPr>
      </p:pic>
      <p:sp>
        <p:nvSpPr>
          <p:cNvPr id="9" name="Text 4"/>
          <p:cNvSpPr/>
          <p:nvPr/>
        </p:nvSpPr>
        <p:spPr>
          <a:xfrm>
            <a:off x="1181100" y="3200400"/>
            <a:ext cx="259994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Méthode de la section 10.1</a:t>
            </a:r>
            <a:endParaRPr lang="en-US" sz="1400" dirty="0"/>
          </a:p>
        </p:txBody>
      </p:sp>
      <p:sp>
        <p:nvSpPr>
          <p:cNvPr id="10" name="Shape 5"/>
          <p:cNvSpPr/>
          <p:nvPr/>
        </p:nvSpPr>
        <p:spPr>
          <a:xfrm>
            <a:off x="812800" y="4841230"/>
            <a:ext cx="2921000" cy="1000760"/>
          </a:xfrm>
          <a:prstGeom prst="roundRect">
            <a:avLst>
              <a:gd name="adj" fmla="val 12690"/>
            </a:avLst>
          </a:prstGeom>
          <a:solidFill>
            <a:srgbClr val="0B0748"/>
          </a:solidFill>
          <a:ln/>
        </p:spPr>
      </p:sp>
      <p:sp>
        <p:nvSpPr>
          <p:cNvPr id="11" name="Text 6"/>
          <p:cNvSpPr/>
          <p:nvPr/>
        </p:nvSpPr>
        <p:spPr>
          <a:xfrm>
            <a:off x="990600" y="4993630"/>
            <a:ext cx="2642362"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FF8F66"/>
                </a:solidFill>
                <a:latin typeface="IBM Plex Sans" pitchFamily="34" charset="0"/>
                <a:ea typeface="IBM Plex Sans" pitchFamily="34" charset="-122"/>
                <a:cs typeface="IBM Plex Sans" pitchFamily="34" charset="-120"/>
              </a:rPr>
              <a:t>FIN DU JOUR 2</a:t>
            </a:r>
            <a:endParaRPr lang="en-US" sz="1100" dirty="0"/>
          </a:p>
        </p:txBody>
      </p:sp>
      <p:sp>
        <p:nvSpPr>
          <p:cNvPr id="12" name="Text 7"/>
          <p:cNvSpPr/>
          <p:nvPr/>
        </p:nvSpPr>
        <p:spPr>
          <a:xfrm>
            <a:off x="990600" y="5227340"/>
            <a:ext cx="26423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15:30 rattrapage, puis quiz à 15:45</a:t>
            </a:r>
            <a:endParaRPr lang="en-US" sz="1300" dirty="0"/>
          </a:p>
        </p:txBody>
      </p:sp>
      <p:sp>
        <p:nvSpPr>
          <p:cNvPr id="13" name="Text 8"/>
          <p:cNvSpPr/>
          <p:nvPr>
            <p:ph type="title"/>
          </p:nvPr>
        </p:nvSpPr>
        <p:spPr>
          <a:xfrm>
            <a:off x="4191000" y="1127770"/>
            <a:ext cx="7403846"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Chasse aux pannes</a:t>
            </a:r>
            <a:endParaRPr lang="en-US" sz="2800" dirty="0"/>
          </a:p>
        </p:txBody>
      </p:sp>
      <p:sp>
        <p:nvSpPr>
          <p:cNvPr id="14" name="Text 9"/>
          <p:cNvSpPr/>
          <p:nvPr/>
        </p:nvSpPr>
        <p:spPr>
          <a:xfrm>
            <a:off x="4191000" y="1722140"/>
            <a:ext cx="7403846"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F3C6B"/>
                </a:solidFill>
                <a:latin typeface="IBM Plex Sans" pitchFamily="34" charset="0"/>
                <a:ea typeface="IBM Plex Sans" pitchFamily="34" charset="-122"/>
                <a:cs typeface="IBM Plex Sans" pitchFamily="34" charset="-120"/>
              </a:rPr>
              <a:t>Installer metrics-server, puis diagnostiquer en binômes les pannes déployées par le formateur : les 4 premières pour tous, les 2 dernières en bonus. Le tableau des pannes sert de corrigé : ne le lisez qu'après.</a:t>
            </a:r>
            <a:endParaRPr lang="en-US" sz="1500" dirty="0"/>
          </a:p>
        </p:txBody>
      </p:sp>
      <p:sp>
        <p:nvSpPr>
          <p:cNvPr id="15" name="Shape 10"/>
          <p:cNvSpPr/>
          <p:nvPr/>
        </p:nvSpPr>
        <p:spPr>
          <a:xfrm>
            <a:off x="4194175" y="4627017"/>
            <a:ext cx="7181850" cy="1211792"/>
          </a:xfrm>
          <a:prstGeom prst="roundRect">
            <a:avLst>
              <a:gd name="adj" fmla="val 10218"/>
            </a:avLst>
          </a:prstGeom>
          <a:solidFill>
            <a:srgbClr val="FDFDFF"/>
          </a:solidFill>
          <a:ln w="6350">
            <a:solidFill>
              <a:srgbClr val="EBDDD2"/>
            </a:solidFill>
            <a:prstDash val="solid"/>
          </a:ln>
        </p:spPr>
      </p:sp>
      <p:pic>
        <p:nvPicPr>
          <p:cNvPr id="16" name="Image 3" descr="CheckCircle">    </p:cNvPr>
          <p:cNvPicPr>
            <a:picLocks noChangeAspect="1"/>
          </p:cNvPicPr>
          <p:nvPr/>
        </p:nvPicPr>
        <p:blipFill>
          <a:blip r:embed="rId4"/>
          <a:srcRect l="0" r="0" t="0" b="0"/>
          <a:stretch/>
        </p:blipFill>
        <p:spPr>
          <a:xfrm>
            <a:off x="4452091" y="4834136"/>
            <a:ext cx="355600" cy="355600"/>
          </a:xfrm>
          <a:prstGeom prst="rect">
            <a:avLst/>
          </a:prstGeom>
        </p:spPr>
      </p:pic>
      <p:sp>
        <p:nvSpPr>
          <p:cNvPr id="17" name="Text 11"/>
          <p:cNvSpPr/>
          <p:nvPr/>
        </p:nvSpPr>
        <p:spPr>
          <a:xfrm>
            <a:off x="4985491" y="4834136"/>
            <a:ext cx="63165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POINT DE CONTRÔLE</a:t>
            </a:r>
            <a:endParaRPr lang="en-US" sz="1200" dirty="0"/>
          </a:p>
        </p:txBody>
      </p:sp>
      <p:sp>
        <p:nvSpPr>
          <p:cNvPr id="18" name="Text 12"/>
          <p:cNvSpPr/>
          <p:nvPr/>
        </p:nvSpPr>
        <p:spPr>
          <a:xfrm>
            <a:off x="4985491" y="5098306"/>
            <a:ext cx="631659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kubectl top nodes répond, ce qui est indispensable à l'autoscaling du jour 3.</a:t>
            </a:r>
            <a:endParaRPr lang="en-US" sz="1500" dirty="0"/>
          </a:p>
        </p:txBody>
      </p:sp>
      <p:pic>
        <p:nvPicPr>
          <p:cNvPr id="19" name="Image 4" descr="preencoded.png">    </p:cNvPr>
          <p:cNvPicPr>
            <a:picLocks noChangeAspect="1"/>
          </p:cNvPicPr>
          <p:nvPr/>
        </p:nvPicPr>
        <p:blipFill>
          <a:blip r:embed="rId5"/>
          <a:srcRect l="0" r="0" t="0" b="0"/>
          <a:stretch/>
        </p:blipFill>
        <p:spPr>
          <a:xfrm>
            <a:off x="812800" y="6299200"/>
            <a:ext cx="152400" cy="152400"/>
          </a:xfrm>
          <a:prstGeom prst="rect">
            <a:avLst/>
          </a:prstGeom>
        </p:spPr>
      </p:pic>
      <p:sp>
        <p:nvSpPr>
          <p:cNvPr id="20" name="Text 13"/>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1" name="Image 5" descr="Parcours : module 10 sur 16">    </p:cNvPr>
          <p:cNvPicPr>
            <a:picLocks noChangeAspect="1"/>
          </p:cNvPicPr>
          <p:nvPr/>
        </p:nvPicPr>
        <p:blipFill>
          <a:blip r:embed="rId6"/>
          <a:srcRect l="0" r="0" t="0" b="0"/>
          <a:stretch/>
        </p:blipFill>
        <p:spPr>
          <a:xfrm>
            <a:off x="9207500" y="6299200"/>
            <a:ext cx="2171700" cy="15240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10 · SURVEILLER ET DIAGNOSTIQUER</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pannes du TP7 : le corrigé</a:t>
            </a:r>
            <a:endParaRPr lang="en-US" sz="2800" dirty="0"/>
          </a:p>
        </p:txBody>
      </p:sp>
      <p:sp>
        <p:nvSpPr>
          <p:cNvPr id="4" name="Text 2"/>
          <p:cNvSpPr/>
          <p:nvPr/>
        </p:nvSpPr>
        <p:spPr>
          <a:xfrm>
            <a:off x="812800" y="1519039"/>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À lire après le TP7. Les quatre premières pour tous, les deux dernières en bonus.</a:t>
            </a:r>
            <a:endParaRPr lang="en-US" sz="1300" dirty="0"/>
          </a:p>
        </p:txBody>
      </p:sp>
      <p:sp>
        <p:nvSpPr>
          <p:cNvPr id="5" name="Shape 3"/>
          <p:cNvSpPr/>
          <p:nvPr/>
        </p:nvSpPr>
        <p:spPr>
          <a:xfrm>
            <a:off x="812800" y="1927870"/>
            <a:ext cx="10566400" cy="3666067"/>
          </a:xfrm>
          <a:prstGeom prst="rect">
            <a:avLst/>
          </a:prstGeom>
          <a:solidFill>
            <a:srgbClr val="FDFD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9891" y="1934961"/>
          <a:ext cx="10559309" cy="3658976"/>
        </p:xfrm>
        <a:graphic>
          <a:graphicData uri="http://schemas.openxmlformats.org/drawingml/2006/table">
            <a:tbl>
              <a:tblPr/>
              <a:tblGrid>
                <a:gridCol w="2745420"/>
                <a:gridCol w="2534234"/>
                <a:gridCol w="2745420"/>
                <a:gridCol w="2534234"/>
              </a:tblGrid>
              <a:tr h="380471">
                <a:tc>
                  <a:txBody>
                    <a:bodyPr/>
                    <a:lstStyle/>
                    <a:p>
                      <a:pPr indent="0" marL="0">
                        <a:lnSpc>
                          <a:spcPts val="1960"/>
                        </a:lnSpc>
                        <a:buNone/>
                      </a:pPr>
                      <a:r>
                        <a:rPr lang="en-US" sz="1400" b="1" dirty="0">
                          <a:solidFill>
                            <a:srgbClr val="F5F4F9"/>
                          </a:solidFill>
                          <a:latin typeface="IBM Plex Sans" pitchFamily="34" charset="0"/>
                          <a:ea typeface="IBM Plex Sans" pitchFamily="34" charset="-122"/>
                          <a:cs typeface="IBM Plex Sans" pitchFamily="34" charset="-120"/>
                        </a:rPr>
                        <a:t>Panne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960"/>
                        </a:lnSpc>
                        <a:buNone/>
                      </a:pPr>
                      <a:r>
                        <a:rPr lang="en-US" sz="1400" b="1" dirty="0">
                          <a:solidFill>
                            <a:srgbClr val="F5F4F9"/>
                          </a:solidFill>
                          <a:latin typeface="IBM Plex Sans" pitchFamily="34" charset="0"/>
                          <a:ea typeface="IBM Plex Sans" pitchFamily="34" charset="-122"/>
                          <a:cs typeface="IBM Plex Sans" pitchFamily="34" charset="-120"/>
                        </a:rPr>
                        <a:t>Symptôme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960"/>
                        </a:lnSpc>
                        <a:buNone/>
                      </a:pPr>
                      <a:r>
                        <a:rPr lang="en-US" sz="1400" b="1" dirty="0">
                          <a:solidFill>
                            <a:srgbClr val="F5F4F9"/>
                          </a:solidFill>
                          <a:latin typeface="IBM Plex Sans" pitchFamily="34" charset="0"/>
                          <a:ea typeface="IBM Plex Sans" pitchFamily="34" charset="-122"/>
                          <a:cs typeface="IBM Plex Sans" pitchFamily="34" charset="-120"/>
                        </a:rPr>
                        <a:t>Ce qui la révèle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960"/>
                        </a:lnSpc>
                        <a:buNone/>
                      </a:pPr>
                      <a:r>
                        <a:rPr lang="en-US" sz="1400" b="1" dirty="0">
                          <a:solidFill>
                            <a:srgbClr val="F5F4F9"/>
                          </a:solidFill>
                          <a:latin typeface="IBM Plex Sans" pitchFamily="34" charset="0"/>
                          <a:ea typeface="IBM Plex Sans" pitchFamily="34" charset="-122"/>
                          <a:cs typeface="IBM Plex Sans" pitchFamily="34" charset="-120"/>
                        </a:rPr>
                        <a:t>Correction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Tag d'image inexistant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ImagePullBackOff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describe pod : image not found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Corriger le tag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62939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Labels du Service et des pods différents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Le Service ne répond pas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EndpointSlice vide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Aligner selector et labels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Demande de 8 CPU</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Pending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describe pod : Insufficient cpu</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Réduire la demande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62939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Commande erronée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CrashLoopBackOff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describe pod : executable file not found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Corriger la commande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62939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ConfigMap absente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CreateContainerConfigError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describe pod : configmap not found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Créer la ConfigMap ou corriger la référence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62939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Readiness sur le mauvais port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Running, 0/1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describe pod : connection refused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Corriger le port de la probe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pic>
        <p:nvPicPr>
          <p:cNvPr id="7"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8" name="Text 4"/>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9" name="Image 1" descr="Parcours : module 10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10 · BILAN</a:t>
            </a:r>
            <a:endParaRPr lang="en-US" sz="1200" dirty="0"/>
          </a:p>
        </p:txBody>
      </p:sp>
      <p:sp>
        <p:nvSpPr>
          <p:cNvPr id="3" name="Text 1"/>
          <p:cNvSpPr/>
          <p:nvPr>
            <p:ph type="title"/>
          </p:nvPr>
        </p:nvSpPr>
        <p:spPr>
          <a:xfrm>
            <a:off x="812800" y="9499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40"/>
            <a:ext cx="5225309"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40"/>
            <a:ext cx="228600" cy="228600"/>
          </a:xfrm>
          <a:prstGeom prst="rect">
            <a:avLst/>
          </a:prstGeom>
        </p:spPr>
      </p:pic>
      <p:sp>
        <p:nvSpPr>
          <p:cNvPr id="6" name="Text 3"/>
          <p:cNvSpPr/>
          <p:nvPr/>
        </p:nvSpPr>
        <p:spPr>
          <a:xfrm>
            <a:off x="1511300" y="1874540"/>
            <a:ext cx="4322507"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get, describe (section Events), logs --previous, events : dans cet ordre.</a:t>
            </a:r>
            <a:endParaRPr lang="en-US" sz="1350" dirty="0"/>
          </a:p>
        </p:txBody>
      </p:sp>
      <p:pic>
        <p:nvPicPr>
          <p:cNvPr id="7" name="Image 1" descr="Check">    </p:cNvPr>
          <p:cNvPicPr>
            <a:picLocks noChangeAspect="1"/>
          </p:cNvPicPr>
          <p:nvPr/>
        </p:nvPicPr>
        <p:blipFill>
          <a:blip r:embed="rId2"/>
          <a:srcRect l="0" r="0" t="0" b="0"/>
          <a:stretch/>
        </p:blipFill>
        <p:spPr>
          <a:xfrm>
            <a:off x="1143000" y="2494260"/>
            <a:ext cx="228600" cy="228600"/>
          </a:xfrm>
          <a:prstGeom prst="rect">
            <a:avLst/>
          </a:prstGeom>
        </p:spPr>
      </p:pic>
      <p:sp>
        <p:nvSpPr>
          <p:cNvPr id="8" name="Text 4"/>
          <p:cNvSpPr/>
          <p:nvPr/>
        </p:nvSpPr>
        <p:spPr>
          <a:xfrm>
            <a:off x="1511300" y="2494260"/>
            <a:ext cx="4322507"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Chaque état de pod oriente vers une famille de causes ; Pending concerne le placement, CrashLoopBackOff l'application.</a:t>
            </a:r>
            <a:endParaRPr lang="en-US" sz="1350" dirty="0"/>
          </a:p>
        </p:txBody>
      </p:sp>
      <p:pic>
        <p:nvPicPr>
          <p:cNvPr id="9" name="Image 2" descr="Check">    </p:cNvPr>
          <p:cNvPicPr>
            <a:picLocks noChangeAspect="1"/>
          </p:cNvPicPr>
          <p:nvPr/>
        </p:nvPicPr>
        <p:blipFill>
          <a:blip r:embed="rId3"/>
          <a:srcRect l="0" r="0" t="0" b="0"/>
          <a:stretch/>
        </p:blipFill>
        <p:spPr>
          <a:xfrm>
            <a:off x="1143000" y="3354090"/>
            <a:ext cx="228600" cy="228600"/>
          </a:xfrm>
          <a:prstGeom prst="rect">
            <a:avLst/>
          </a:prstGeom>
        </p:spPr>
      </p:pic>
      <p:sp>
        <p:nvSpPr>
          <p:cNvPr id="10" name="Text 5"/>
          <p:cNvSpPr/>
          <p:nvPr/>
        </p:nvSpPr>
        <p:spPr>
          <a:xfrm>
            <a:off x="1511300" y="3354090"/>
            <a:ext cx="4322507"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Les logs disparaissent avec le pod : centralisez-les en production.</a:t>
            </a:r>
            <a:endParaRPr lang="en-US" sz="1350" dirty="0"/>
          </a:p>
        </p:txBody>
      </p:sp>
      <p:pic>
        <p:nvPicPr>
          <p:cNvPr id="11" name="Image 3" descr="Check">    </p:cNvPr>
          <p:cNvPicPr>
            <a:picLocks noChangeAspect="1"/>
          </p:cNvPicPr>
          <p:nvPr/>
        </p:nvPicPr>
        <p:blipFill>
          <a:blip r:embed="rId4"/>
          <a:srcRect l="0" r="0" t="0" b="0"/>
          <a:stretch/>
        </p:blipFill>
        <p:spPr>
          <a:xfrm>
            <a:off x="1143000" y="3973810"/>
            <a:ext cx="228600" cy="228600"/>
          </a:xfrm>
          <a:prstGeom prst="rect">
            <a:avLst/>
          </a:prstGeom>
        </p:spPr>
      </p:pic>
      <p:sp>
        <p:nvSpPr>
          <p:cNvPr id="12" name="Text 6"/>
          <p:cNvSpPr/>
          <p:nvPr/>
        </p:nvSpPr>
        <p:spPr>
          <a:xfrm>
            <a:off x="1511300" y="3973810"/>
            <a:ext cx="4322507"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kubectl debug ajoute des outils à un pod qui n'en a pas.</a:t>
            </a:r>
            <a:endParaRPr lang="en-US" sz="1350" dirty="0"/>
          </a:p>
        </p:txBody>
      </p:sp>
      <p:pic>
        <p:nvPicPr>
          <p:cNvPr id="13" name="Image 4" descr="Check">    </p:cNvPr>
          <p:cNvPicPr>
            <a:picLocks noChangeAspect="1"/>
          </p:cNvPicPr>
          <p:nvPr/>
        </p:nvPicPr>
        <p:blipFill>
          <a:blip r:embed="rId5"/>
          <a:srcRect l="0" r="0" t="0" b="0"/>
          <a:stretch/>
        </p:blipFill>
        <p:spPr>
          <a:xfrm>
            <a:off x="1143000" y="4593580"/>
            <a:ext cx="228600" cy="228600"/>
          </a:xfrm>
          <a:prstGeom prst="rect">
            <a:avLst/>
          </a:prstGeom>
        </p:spPr>
      </p:pic>
      <p:sp>
        <p:nvSpPr>
          <p:cNvPr id="14" name="Text 7"/>
          <p:cNvSpPr/>
          <p:nvPr/>
        </p:nvSpPr>
        <p:spPr>
          <a:xfrm>
            <a:off x="1511300" y="4593580"/>
            <a:ext cx="4322507"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metrics-server donne l'instant présent ; Prometheus et Grafana donnent l'historique et les alertes.</a:t>
            </a:r>
            <a:endParaRPr lang="en-US" sz="1350" dirty="0"/>
          </a:p>
        </p:txBody>
      </p:sp>
      <p:sp>
        <p:nvSpPr>
          <p:cNvPr id="15" name="Shape 8"/>
          <p:cNvSpPr/>
          <p:nvPr/>
        </p:nvSpPr>
        <p:spPr>
          <a:xfrm>
            <a:off x="6244484" y="1598315"/>
            <a:ext cx="5131541" cy="4240530"/>
          </a:xfrm>
          <a:prstGeom prst="roundRect">
            <a:avLst>
              <a:gd name="adj" fmla="val 3519"/>
            </a:avLst>
          </a:prstGeom>
          <a:solidFill>
            <a:srgbClr val="FDFDFF"/>
          </a:solidFill>
          <a:ln w="6350">
            <a:solidFill>
              <a:srgbClr val="E1DFEE"/>
            </a:solidFill>
            <a:prstDash val="solid"/>
          </a:ln>
        </p:spPr>
      </p:sp>
      <p:sp>
        <p:nvSpPr>
          <p:cNvPr id="16" name="Text 9"/>
          <p:cNvSpPr/>
          <p:nvPr/>
        </p:nvSpPr>
        <p:spPr>
          <a:xfrm>
            <a:off x="6527800" y="1856234"/>
            <a:ext cx="470185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7" name="Text 10"/>
          <p:cNvSpPr/>
          <p:nvPr/>
        </p:nvSpPr>
        <p:spPr>
          <a:xfrm>
            <a:off x="6527800" y="2196554"/>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1</a:t>
            </a:r>
            <a:endParaRPr lang="en-US" sz="1250" dirty="0"/>
          </a:p>
        </p:txBody>
      </p:sp>
      <p:sp>
        <p:nvSpPr>
          <p:cNvPr id="18" name="Text 11"/>
          <p:cNvSpPr/>
          <p:nvPr/>
        </p:nvSpPr>
        <p:spPr>
          <a:xfrm>
            <a:off x="6807200" y="2196554"/>
            <a:ext cx="441407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Un pod est en CrashLoopBackOff. Pourquoi kubectl logs peut-il ne rien montrer, et quelle option utiliser ?</a:t>
            </a:r>
            <a:endParaRPr lang="en-US" sz="1250" dirty="0"/>
          </a:p>
        </p:txBody>
      </p:sp>
      <p:sp>
        <p:nvSpPr>
          <p:cNvPr id="19" name="Text 12"/>
          <p:cNvSpPr/>
          <p:nvPr/>
        </p:nvSpPr>
        <p:spPr>
          <a:xfrm>
            <a:off x="6527800" y="2768054"/>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2</a:t>
            </a:r>
            <a:endParaRPr lang="en-US" sz="1250" dirty="0"/>
          </a:p>
        </p:txBody>
      </p:sp>
      <p:sp>
        <p:nvSpPr>
          <p:cNvPr id="20" name="Text 13"/>
          <p:cNvSpPr/>
          <p:nvPr/>
        </p:nvSpPr>
        <p:spPr>
          <a:xfrm>
            <a:off x="6807200" y="2768054"/>
            <a:ext cx="441407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Un pod reste Pending. Citez trois causes possibles et la commande qui les distingue.</a:t>
            </a:r>
            <a:endParaRPr lang="en-US" sz="1250" dirty="0"/>
          </a:p>
        </p:txBody>
      </p:sp>
      <p:sp>
        <p:nvSpPr>
          <p:cNvPr id="21" name="Text 14"/>
          <p:cNvSpPr/>
          <p:nvPr/>
        </p:nvSpPr>
        <p:spPr>
          <a:xfrm>
            <a:off x="6527800" y="3339554"/>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3</a:t>
            </a:r>
            <a:endParaRPr lang="en-US" sz="1250" dirty="0"/>
          </a:p>
        </p:txBody>
      </p:sp>
      <p:sp>
        <p:nvSpPr>
          <p:cNvPr id="22" name="Text 15"/>
          <p:cNvSpPr/>
          <p:nvPr/>
        </p:nvSpPr>
        <p:spPr>
          <a:xfrm>
            <a:off x="6807200" y="3339554"/>
            <a:ext cx="441407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Le Service podinfo ne répond pas, mais curl sur l'IP d'un pod fonctionne. Où chercher ?</a:t>
            </a:r>
            <a:endParaRPr lang="en-US" sz="1250" dirty="0"/>
          </a:p>
        </p:txBody>
      </p:sp>
      <p:sp>
        <p:nvSpPr>
          <p:cNvPr id="23" name="Text 16"/>
          <p:cNvSpPr/>
          <p:nvPr/>
        </p:nvSpPr>
        <p:spPr>
          <a:xfrm>
            <a:off x="6527800" y="3911054"/>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4</a:t>
            </a:r>
            <a:endParaRPr lang="en-US" sz="1250" dirty="0"/>
          </a:p>
        </p:txBody>
      </p:sp>
      <p:sp>
        <p:nvSpPr>
          <p:cNvPr id="24" name="Text 17"/>
          <p:cNvSpPr/>
          <p:nvPr/>
        </p:nvSpPr>
        <p:spPr>
          <a:xfrm>
            <a:off x="6807200" y="3911054"/>
            <a:ext cx="441407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Comment ouvrir un shell dans un pod dont l'image ne contient pas de shell ?</a:t>
            </a:r>
            <a:endParaRPr lang="en-US" sz="1250" dirty="0"/>
          </a:p>
        </p:txBody>
      </p:sp>
      <p:pic>
        <p:nvPicPr>
          <p:cNvPr id="25" name="Image 5" descr="preencoded.png">    </p:cNvPr>
          <p:cNvPicPr>
            <a:picLocks noChangeAspect="1"/>
          </p:cNvPicPr>
          <p:nvPr/>
        </p:nvPicPr>
        <p:blipFill>
          <a:blip r:embed="rId6"/>
          <a:srcRect l="0" r="0" t="0" b="0"/>
          <a:stretch/>
        </p:blipFill>
        <p:spPr>
          <a:xfrm>
            <a:off x="812800" y="6299200"/>
            <a:ext cx="152400" cy="152400"/>
          </a:xfrm>
          <a:prstGeom prst="rect">
            <a:avLst/>
          </a:prstGeom>
        </p:spPr>
      </p:pic>
      <p:sp>
        <p:nvSpPr>
          <p:cNvPr id="26" name="Text 1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7" name="Image 6" descr="Parcours : module 10 sur 16">    </p:cNvPr>
          <p:cNvPicPr>
            <a:picLocks noChangeAspect="1"/>
          </p:cNvPicPr>
          <p:nvPr/>
        </p:nvPicPr>
        <p:blipFill>
          <a:blip r:embed="rId7"/>
          <a:srcRect l="0" r="0" t="0" b="0"/>
          <a:stretch/>
        </p:blipFill>
        <p:spPr>
          <a:xfrm>
            <a:off x="9207500" y="6299200"/>
            <a:ext cx="2171700" cy="1524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39243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VENDREDI 16 OCTOBRE</a:t>
            </a:r>
            <a:endParaRPr lang="en-US" sz="1200" dirty="0"/>
          </a:p>
        </p:txBody>
      </p:sp>
      <p:sp>
        <p:nvSpPr>
          <p:cNvPr id="3" name="Text 1"/>
          <p:cNvSpPr/>
          <p:nvPr/>
        </p:nvSpPr>
        <p:spPr>
          <a:xfrm>
            <a:off x="812800" y="1000770"/>
            <a:ext cx="3924300" cy="930275"/>
          </a:xfrm>
          <a:prstGeom prst="rect">
            <a:avLst/>
          </a:prstGeom>
          <a:noFill/>
          <a:ln/>
        </p:spPr>
        <p:txBody>
          <a:bodyPr wrap="square" lIns="0" tIns="0" rIns="0" bIns="0" rtlCol="0" anchor="t">
            <a:normAutofit/>
          </a:bodyPr>
          <a:lstStyle/>
          <a:p>
            <a:pPr algn="l" indent="0" marL="0">
              <a:lnSpc>
                <a:spcPts val="7125"/>
              </a:lnSpc>
              <a:buNone/>
            </a:pPr>
            <a:r>
              <a:rPr lang="en-US" sz="7500" b="1" spc="-300" kern="0" dirty="0">
                <a:solidFill>
                  <a:srgbClr val="0B0748"/>
                </a:solidFill>
                <a:latin typeface="Sora" pitchFamily="34" charset="0"/>
                <a:ea typeface="Sora" pitchFamily="34" charset="-122"/>
                <a:cs typeface="Sora" pitchFamily="34" charset="-120"/>
              </a:rPr>
              <a:t>Jour 3</a:t>
            </a:r>
            <a:endParaRPr lang="en-US" sz="7500" dirty="0"/>
          </a:p>
        </p:txBody>
      </p:sp>
      <p:sp>
        <p:nvSpPr>
          <p:cNvPr id="4" name="Text 2"/>
          <p:cNvSpPr/>
          <p:nvPr>
            <p:ph type="title"/>
          </p:nvPr>
        </p:nvSpPr>
        <p:spPr>
          <a:xfrm>
            <a:off x="812800" y="2032645"/>
            <a:ext cx="3924300" cy="8077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E25A2C"/>
                </a:solidFill>
                <a:latin typeface="Sora" pitchFamily="34" charset="0"/>
                <a:ea typeface="Sora" pitchFamily="34" charset="-122"/>
                <a:cs typeface="Sora" pitchFamily="34" charset="-120"/>
              </a:rPr>
              <a:t>Encadrer, sécuriser, faire grandir</a:t>
            </a:r>
            <a:endParaRPr lang="en-US" sz="2800" dirty="0"/>
          </a:p>
        </p:txBody>
      </p:sp>
      <p:sp>
        <p:nvSpPr>
          <p:cNvPr id="5" name="Text 3"/>
          <p:cNvSpPr/>
          <p:nvPr/>
        </p:nvSpPr>
        <p:spPr>
          <a:xfrm>
            <a:off x="812800" y="2941935"/>
            <a:ext cx="392430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Ressources, extensions, autoscaling, sécurité et persistance, puis la migration de vos propres applications.</a:t>
            </a:r>
            <a:endParaRPr lang="en-US" sz="1500" dirty="0"/>
          </a:p>
        </p:txBody>
      </p:sp>
      <p:sp>
        <p:nvSpPr>
          <p:cNvPr id="6" name="Shape 4"/>
          <p:cNvSpPr/>
          <p:nvPr/>
        </p:nvSpPr>
        <p:spPr>
          <a:xfrm>
            <a:off x="812800" y="4986040"/>
            <a:ext cx="3810000" cy="855980"/>
          </a:xfrm>
          <a:prstGeom prst="roundRect">
            <a:avLst>
              <a:gd name="adj" fmla="val 14837"/>
            </a:avLst>
          </a:prstGeom>
          <a:solidFill>
            <a:srgbClr val="0B0748"/>
          </a:solidFill>
          <a:ln/>
        </p:spPr>
      </p:sp>
      <p:sp>
        <p:nvSpPr>
          <p:cNvPr id="7" name="Text 5"/>
          <p:cNvSpPr/>
          <p:nvPr/>
        </p:nvSpPr>
        <p:spPr>
          <a:xfrm>
            <a:off x="1016000" y="5163840"/>
            <a:ext cx="35057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FIN DE LA FORMATION · 15:30</a:t>
            </a:r>
            <a:endParaRPr lang="en-US" sz="1200" dirty="0"/>
          </a:p>
        </p:txBody>
      </p:sp>
      <p:sp>
        <p:nvSpPr>
          <p:cNvPr id="8" name="Text 6"/>
          <p:cNvSpPr/>
          <p:nvPr/>
        </p:nvSpPr>
        <p:spPr>
          <a:xfrm>
            <a:off x="1016000" y="5415260"/>
            <a:ext cx="350570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QCM final, bilan et évaluation à chaud</a:t>
            </a:r>
            <a:endParaRPr lang="en-US" sz="1400" dirty="0"/>
          </a:p>
        </p:txBody>
      </p:sp>
      <p:sp>
        <p:nvSpPr>
          <p:cNvPr id="9" name="Shape 7"/>
          <p:cNvSpPr/>
          <p:nvPr/>
        </p:nvSpPr>
        <p:spPr>
          <a:xfrm>
            <a:off x="5181600" y="1596803"/>
            <a:ext cx="6197600" cy="0"/>
          </a:xfrm>
          <a:prstGeom prst="line">
            <a:avLst/>
          </a:prstGeom>
          <a:noFill/>
          <a:ln w="6350">
            <a:solidFill>
              <a:srgbClr val="E1DFEE"/>
            </a:solidFill>
            <a:prstDash val="solid"/>
          </a:ln>
        </p:spPr>
      </p:sp>
      <p:sp>
        <p:nvSpPr>
          <p:cNvPr id="10" name="Text 8"/>
          <p:cNvSpPr/>
          <p:nvPr/>
        </p:nvSpPr>
        <p:spPr>
          <a:xfrm>
            <a:off x="5232400" y="1255068"/>
            <a:ext cx="20298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11</a:t>
            </a:r>
            <a:endParaRPr lang="en-US" sz="1400" dirty="0"/>
          </a:p>
        </p:txBody>
      </p:sp>
      <p:sp>
        <p:nvSpPr>
          <p:cNvPr id="11" name="Text 9"/>
          <p:cNvSpPr/>
          <p:nvPr/>
        </p:nvSpPr>
        <p:spPr>
          <a:xfrm>
            <a:off x="5765800" y="1268512"/>
            <a:ext cx="5729478"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0B0748"/>
                </a:solidFill>
                <a:latin typeface="IBM Plex Sans" pitchFamily="34" charset="0"/>
                <a:ea typeface="IBM Plex Sans" pitchFamily="34" charset="-122"/>
                <a:cs typeface="IBM Plex Sans" pitchFamily="34" charset="-120"/>
              </a:rPr>
              <a:t>Gérer les ressources</a:t>
            </a:r>
            <a:endParaRPr lang="en-US" sz="1400" dirty="0"/>
          </a:p>
        </p:txBody>
      </p:sp>
      <p:sp>
        <p:nvSpPr>
          <p:cNvPr id="12" name="Shape 10"/>
          <p:cNvSpPr/>
          <p:nvPr/>
        </p:nvSpPr>
        <p:spPr>
          <a:xfrm>
            <a:off x="5181600" y="2226217"/>
            <a:ext cx="6197600" cy="0"/>
          </a:xfrm>
          <a:prstGeom prst="line">
            <a:avLst/>
          </a:prstGeom>
          <a:noFill/>
          <a:ln w="6350">
            <a:solidFill>
              <a:srgbClr val="E1DFEE"/>
            </a:solidFill>
            <a:prstDash val="solid"/>
          </a:ln>
        </p:spPr>
      </p:sp>
      <p:sp>
        <p:nvSpPr>
          <p:cNvPr id="13" name="Text 11"/>
          <p:cNvSpPr/>
          <p:nvPr/>
        </p:nvSpPr>
        <p:spPr>
          <a:xfrm>
            <a:off x="5232400" y="1786682"/>
            <a:ext cx="23928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12</a:t>
            </a:r>
            <a:endParaRPr lang="en-US" sz="1400" dirty="0"/>
          </a:p>
        </p:txBody>
      </p:sp>
      <p:sp>
        <p:nvSpPr>
          <p:cNvPr id="14" name="Text 12"/>
          <p:cNvSpPr/>
          <p:nvPr/>
        </p:nvSpPr>
        <p:spPr>
          <a:xfrm>
            <a:off x="5765800" y="1688902"/>
            <a:ext cx="2066798"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0B0748"/>
                </a:solidFill>
                <a:latin typeface="IBM Plex Sans" pitchFamily="34" charset="0"/>
                <a:ea typeface="IBM Plex Sans" pitchFamily="34" charset="-122"/>
                <a:cs typeface="IBM Plex Sans" pitchFamily="34" charset="-120"/>
              </a:rPr>
              <a:t>Labels et stratégies de déploiement</a:t>
            </a:r>
            <a:endParaRPr lang="en-US" sz="1400" dirty="0"/>
          </a:p>
        </p:txBody>
      </p:sp>
      <p:sp>
        <p:nvSpPr>
          <p:cNvPr id="15" name="Shape 13"/>
          <p:cNvSpPr/>
          <p:nvPr/>
        </p:nvSpPr>
        <p:spPr>
          <a:xfrm>
            <a:off x="7899400" y="1719362"/>
            <a:ext cx="3429000" cy="383540"/>
          </a:xfrm>
          <a:prstGeom prst="roundRect">
            <a:avLst>
              <a:gd name="adj" fmla="val 23179"/>
            </a:avLst>
          </a:prstGeom>
          <a:solidFill>
            <a:srgbClr val="FBF0E8"/>
          </a:solidFill>
          <a:ln/>
        </p:spPr>
      </p:sp>
      <p:sp>
        <p:nvSpPr>
          <p:cNvPr id="16" name="Text 14"/>
          <p:cNvSpPr/>
          <p:nvPr/>
        </p:nvSpPr>
        <p:spPr>
          <a:xfrm>
            <a:off x="8026400" y="1804442"/>
            <a:ext cx="558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09:25</a:t>
            </a:r>
            <a:endParaRPr lang="en-US" sz="1200" dirty="0"/>
          </a:p>
        </p:txBody>
      </p:sp>
      <p:sp>
        <p:nvSpPr>
          <p:cNvPr id="17" name="Text 15"/>
          <p:cNvSpPr/>
          <p:nvPr/>
        </p:nvSpPr>
        <p:spPr>
          <a:xfrm>
            <a:off x="8636000" y="1795562"/>
            <a:ext cx="508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TP8</a:t>
            </a:r>
            <a:endParaRPr lang="en-US" sz="1300" dirty="0"/>
          </a:p>
        </p:txBody>
      </p:sp>
      <p:sp>
        <p:nvSpPr>
          <p:cNvPr id="18" name="Text 16"/>
          <p:cNvSpPr/>
          <p:nvPr/>
        </p:nvSpPr>
        <p:spPr>
          <a:xfrm>
            <a:off x="9194800" y="1815902"/>
            <a:ext cx="151892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B0748"/>
                </a:solidFill>
                <a:latin typeface="IBM Plex Sans" pitchFamily="34" charset="0"/>
                <a:ea typeface="IBM Plex Sans" pitchFamily="34" charset="-122"/>
                <a:cs typeface="IBM Plex Sans" pitchFamily="34" charset="-120"/>
              </a:rPr>
              <a:t>Quotas et labels</a:t>
            </a:r>
            <a:endParaRPr lang="en-US" sz="1200" dirty="0"/>
          </a:p>
        </p:txBody>
      </p:sp>
      <p:sp>
        <p:nvSpPr>
          <p:cNvPr id="19" name="Text 17"/>
          <p:cNvSpPr/>
          <p:nvPr/>
        </p:nvSpPr>
        <p:spPr>
          <a:xfrm>
            <a:off x="10764520" y="1813371"/>
            <a:ext cx="524256"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45 min</a:t>
            </a:r>
            <a:endParaRPr lang="en-US" sz="1100" dirty="0"/>
          </a:p>
        </p:txBody>
      </p:sp>
      <p:sp>
        <p:nvSpPr>
          <p:cNvPr id="20" name="Shape 18"/>
          <p:cNvSpPr/>
          <p:nvPr/>
        </p:nvSpPr>
        <p:spPr>
          <a:xfrm>
            <a:off x="5181600" y="2944512"/>
            <a:ext cx="6197600" cy="0"/>
          </a:xfrm>
          <a:prstGeom prst="line">
            <a:avLst/>
          </a:prstGeom>
          <a:noFill/>
          <a:ln w="6350">
            <a:solidFill>
              <a:srgbClr val="E1DFEE"/>
            </a:solidFill>
            <a:prstDash val="solid"/>
          </a:ln>
        </p:spPr>
      </p:sp>
      <p:sp>
        <p:nvSpPr>
          <p:cNvPr id="21" name="Text 19"/>
          <p:cNvSpPr/>
          <p:nvPr/>
        </p:nvSpPr>
        <p:spPr>
          <a:xfrm>
            <a:off x="5232400" y="2460526"/>
            <a:ext cx="23928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13</a:t>
            </a:r>
            <a:endParaRPr lang="en-US" sz="1400" dirty="0"/>
          </a:p>
        </p:txBody>
      </p:sp>
      <p:sp>
        <p:nvSpPr>
          <p:cNvPr id="22" name="Text 20"/>
          <p:cNvSpPr/>
          <p:nvPr/>
        </p:nvSpPr>
        <p:spPr>
          <a:xfrm>
            <a:off x="5765800" y="2362746"/>
            <a:ext cx="2066798"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0B0748"/>
                </a:solidFill>
                <a:latin typeface="IBM Plex Sans" pitchFamily="34" charset="0"/>
                <a:ea typeface="IBM Plex Sans" pitchFamily="34" charset="-122"/>
                <a:cs typeface="IBM Plex Sans" pitchFamily="34" charset="-120"/>
              </a:rPr>
              <a:t>Contrôleurs, opérateurs et Helm</a:t>
            </a:r>
            <a:endParaRPr lang="en-US" sz="1400" dirty="0"/>
          </a:p>
        </p:txBody>
      </p:sp>
      <p:sp>
        <p:nvSpPr>
          <p:cNvPr id="23" name="Shape 21"/>
          <p:cNvSpPr/>
          <p:nvPr/>
        </p:nvSpPr>
        <p:spPr>
          <a:xfrm>
            <a:off x="7899400" y="2318296"/>
            <a:ext cx="3429000" cy="533400"/>
          </a:xfrm>
          <a:prstGeom prst="roundRect">
            <a:avLst>
              <a:gd name="adj" fmla="val 16667"/>
            </a:avLst>
          </a:prstGeom>
          <a:solidFill>
            <a:srgbClr val="FBF0E8"/>
          </a:solidFill>
          <a:ln/>
        </p:spPr>
      </p:sp>
      <p:sp>
        <p:nvSpPr>
          <p:cNvPr id="24" name="Text 22"/>
          <p:cNvSpPr/>
          <p:nvPr/>
        </p:nvSpPr>
        <p:spPr>
          <a:xfrm>
            <a:off x="8026400" y="2478286"/>
            <a:ext cx="558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10:25</a:t>
            </a:r>
            <a:endParaRPr lang="en-US" sz="1200" dirty="0"/>
          </a:p>
        </p:txBody>
      </p:sp>
      <p:sp>
        <p:nvSpPr>
          <p:cNvPr id="25" name="Text 23"/>
          <p:cNvSpPr/>
          <p:nvPr/>
        </p:nvSpPr>
        <p:spPr>
          <a:xfrm>
            <a:off x="8636000" y="2469406"/>
            <a:ext cx="508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TP9</a:t>
            </a:r>
            <a:endParaRPr lang="en-US" sz="1300" dirty="0"/>
          </a:p>
        </p:txBody>
      </p:sp>
      <p:sp>
        <p:nvSpPr>
          <p:cNvPr id="26" name="Text 24"/>
          <p:cNvSpPr/>
          <p:nvPr/>
        </p:nvSpPr>
        <p:spPr>
          <a:xfrm>
            <a:off x="9194800" y="2394496"/>
            <a:ext cx="151892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B0748"/>
                </a:solidFill>
                <a:latin typeface="IBM Plex Sans" pitchFamily="34" charset="0"/>
                <a:ea typeface="IBM Plex Sans" pitchFamily="34" charset="-122"/>
                <a:cs typeface="IBM Plex Sans" pitchFamily="34" charset="-120"/>
              </a:rPr>
              <a:t>Helm et cert-manager</a:t>
            </a:r>
            <a:endParaRPr lang="en-US" sz="1200" dirty="0"/>
          </a:p>
        </p:txBody>
      </p:sp>
      <p:sp>
        <p:nvSpPr>
          <p:cNvPr id="27" name="Text 25"/>
          <p:cNvSpPr/>
          <p:nvPr/>
        </p:nvSpPr>
        <p:spPr>
          <a:xfrm>
            <a:off x="10764520" y="2487166"/>
            <a:ext cx="524256"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30 min</a:t>
            </a:r>
            <a:endParaRPr lang="en-US" sz="1100" dirty="0"/>
          </a:p>
        </p:txBody>
      </p:sp>
      <p:sp>
        <p:nvSpPr>
          <p:cNvPr id="28" name="Shape 26"/>
          <p:cNvSpPr/>
          <p:nvPr/>
        </p:nvSpPr>
        <p:spPr>
          <a:xfrm>
            <a:off x="5181600" y="3573906"/>
            <a:ext cx="6197600" cy="0"/>
          </a:xfrm>
          <a:prstGeom prst="line">
            <a:avLst/>
          </a:prstGeom>
          <a:noFill/>
          <a:ln w="6350">
            <a:solidFill>
              <a:srgbClr val="E1DFEE"/>
            </a:solidFill>
            <a:prstDash val="solid"/>
          </a:ln>
        </p:spPr>
      </p:sp>
      <p:sp>
        <p:nvSpPr>
          <p:cNvPr id="29" name="Text 27"/>
          <p:cNvSpPr/>
          <p:nvPr/>
        </p:nvSpPr>
        <p:spPr>
          <a:xfrm>
            <a:off x="5232400" y="3134370"/>
            <a:ext cx="2463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14</a:t>
            </a:r>
            <a:endParaRPr lang="en-US" sz="1400" dirty="0"/>
          </a:p>
        </p:txBody>
      </p:sp>
      <p:sp>
        <p:nvSpPr>
          <p:cNvPr id="30" name="Text 28"/>
          <p:cNvSpPr/>
          <p:nvPr/>
        </p:nvSpPr>
        <p:spPr>
          <a:xfrm>
            <a:off x="5765800" y="3036590"/>
            <a:ext cx="2066798"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0B0748"/>
                </a:solidFill>
                <a:latin typeface="IBM Plex Sans" pitchFamily="34" charset="0"/>
                <a:ea typeface="IBM Plex Sans" pitchFamily="34" charset="-122"/>
                <a:cs typeface="IBM Plex Sans" pitchFamily="34" charset="-120"/>
              </a:rPr>
              <a:t>Autoscaling des pods et des nœuds</a:t>
            </a:r>
            <a:endParaRPr lang="en-US" sz="1400" dirty="0"/>
          </a:p>
        </p:txBody>
      </p:sp>
      <p:sp>
        <p:nvSpPr>
          <p:cNvPr id="31" name="Shape 29"/>
          <p:cNvSpPr/>
          <p:nvPr/>
        </p:nvSpPr>
        <p:spPr>
          <a:xfrm>
            <a:off x="7899400" y="3067050"/>
            <a:ext cx="3429000" cy="383540"/>
          </a:xfrm>
          <a:prstGeom prst="roundRect">
            <a:avLst>
              <a:gd name="adj" fmla="val 23179"/>
            </a:avLst>
          </a:prstGeom>
          <a:solidFill>
            <a:srgbClr val="FBF0E8"/>
          </a:solidFill>
          <a:ln/>
        </p:spPr>
      </p:sp>
      <p:sp>
        <p:nvSpPr>
          <p:cNvPr id="32" name="Text 30"/>
          <p:cNvSpPr/>
          <p:nvPr/>
        </p:nvSpPr>
        <p:spPr>
          <a:xfrm>
            <a:off x="8026400" y="3152130"/>
            <a:ext cx="558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11:15</a:t>
            </a:r>
            <a:endParaRPr lang="en-US" sz="1200" dirty="0"/>
          </a:p>
        </p:txBody>
      </p:sp>
      <p:sp>
        <p:nvSpPr>
          <p:cNvPr id="33" name="Text 31"/>
          <p:cNvSpPr/>
          <p:nvPr/>
        </p:nvSpPr>
        <p:spPr>
          <a:xfrm>
            <a:off x="8636000" y="3143250"/>
            <a:ext cx="508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TP10</a:t>
            </a:r>
            <a:endParaRPr lang="en-US" sz="1300" dirty="0"/>
          </a:p>
        </p:txBody>
      </p:sp>
      <p:sp>
        <p:nvSpPr>
          <p:cNvPr id="34" name="Text 32"/>
          <p:cNvSpPr/>
          <p:nvPr/>
        </p:nvSpPr>
        <p:spPr>
          <a:xfrm>
            <a:off x="9194800" y="3163590"/>
            <a:ext cx="151892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B0748"/>
                </a:solidFill>
                <a:latin typeface="IBM Plex Sans" pitchFamily="34" charset="0"/>
                <a:ea typeface="IBM Plex Sans" pitchFamily="34" charset="-122"/>
                <a:cs typeface="IBM Plex Sans" pitchFamily="34" charset="-120"/>
              </a:rPr>
              <a:t>HPA</a:t>
            </a:r>
            <a:endParaRPr lang="en-US" sz="1200" dirty="0"/>
          </a:p>
        </p:txBody>
      </p:sp>
      <p:sp>
        <p:nvSpPr>
          <p:cNvPr id="35" name="Text 33"/>
          <p:cNvSpPr/>
          <p:nvPr/>
        </p:nvSpPr>
        <p:spPr>
          <a:xfrm>
            <a:off x="10764520" y="3161010"/>
            <a:ext cx="524256"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30 min</a:t>
            </a:r>
            <a:endParaRPr lang="en-US" sz="1100" dirty="0"/>
          </a:p>
        </p:txBody>
      </p:sp>
      <p:sp>
        <p:nvSpPr>
          <p:cNvPr id="36" name="Shape 34"/>
          <p:cNvSpPr/>
          <p:nvPr/>
        </p:nvSpPr>
        <p:spPr>
          <a:xfrm>
            <a:off x="5181600" y="4142340"/>
            <a:ext cx="6197600" cy="0"/>
          </a:xfrm>
          <a:prstGeom prst="line">
            <a:avLst/>
          </a:prstGeom>
          <a:noFill/>
          <a:ln w="6350">
            <a:solidFill>
              <a:srgbClr val="E1DFEE"/>
            </a:solidFill>
            <a:prstDash val="solid"/>
          </a:ln>
        </p:spPr>
      </p:sp>
      <p:sp>
        <p:nvSpPr>
          <p:cNvPr id="37" name="Text 35"/>
          <p:cNvSpPr/>
          <p:nvPr/>
        </p:nvSpPr>
        <p:spPr>
          <a:xfrm>
            <a:off x="5232400" y="3733254"/>
            <a:ext cx="24140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15</a:t>
            </a:r>
            <a:endParaRPr lang="en-US" sz="1400" dirty="0"/>
          </a:p>
        </p:txBody>
      </p:sp>
      <p:sp>
        <p:nvSpPr>
          <p:cNvPr id="38" name="Text 36"/>
          <p:cNvSpPr/>
          <p:nvPr/>
        </p:nvSpPr>
        <p:spPr>
          <a:xfrm>
            <a:off x="5765800" y="3746599"/>
            <a:ext cx="2066798"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0B0748"/>
                </a:solidFill>
                <a:latin typeface="IBM Plex Sans" pitchFamily="34" charset="0"/>
                <a:ea typeface="IBM Plex Sans" pitchFamily="34" charset="-122"/>
                <a:cs typeface="IBM Plex Sans" pitchFamily="34" charset="-120"/>
              </a:rPr>
              <a:t>Sécurité</a:t>
            </a:r>
            <a:endParaRPr lang="en-US" sz="1400" dirty="0"/>
          </a:p>
        </p:txBody>
      </p:sp>
      <p:sp>
        <p:nvSpPr>
          <p:cNvPr id="39" name="Shape 37"/>
          <p:cNvSpPr/>
          <p:nvPr/>
        </p:nvSpPr>
        <p:spPr>
          <a:xfrm>
            <a:off x="7899400" y="3665984"/>
            <a:ext cx="3429000" cy="383540"/>
          </a:xfrm>
          <a:prstGeom prst="roundRect">
            <a:avLst>
              <a:gd name="adj" fmla="val 23179"/>
            </a:avLst>
          </a:prstGeom>
          <a:solidFill>
            <a:srgbClr val="FBF0E8"/>
          </a:solidFill>
          <a:ln/>
        </p:spPr>
      </p:sp>
      <p:sp>
        <p:nvSpPr>
          <p:cNvPr id="40" name="Text 38"/>
          <p:cNvSpPr/>
          <p:nvPr/>
        </p:nvSpPr>
        <p:spPr>
          <a:xfrm>
            <a:off x="8026400" y="3751064"/>
            <a:ext cx="558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13:20</a:t>
            </a:r>
            <a:endParaRPr lang="en-US" sz="1200" dirty="0"/>
          </a:p>
        </p:txBody>
      </p:sp>
      <p:sp>
        <p:nvSpPr>
          <p:cNvPr id="41" name="Text 39"/>
          <p:cNvSpPr/>
          <p:nvPr/>
        </p:nvSpPr>
        <p:spPr>
          <a:xfrm>
            <a:off x="8636000" y="3742184"/>
            <a:ext cx="508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TP11</a:t>
            </a:r>
            <a:endParaRPr lang="en-US" sz="1300" dirty="0"/>
          </a:p>
        </p:txBody>
      </p:sp>
      <p:sp>
        <p:nvSpPr>
          <p:cNvPr id="42" name="Text 40"/>
          <p:cNvSpPr/>
          <p:nvPr/>
        </p:nvSpPr>
        <p:spPr>
          <a:xfrm>
            <a:off x="9194800" y="3762474"/>
            <a:ext cx="151892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B0748"/>
                </a:solidFill>
                <a:latin typeface="IBM Plex Sans" pitchFamily="34" charset="0"/>
                <a:ea typeface="IBM Plex Sans" pitchFamily="34" charset="-122"/>
                <a:cs typeface="IBM Plex Sans" pitchFamily="34" charset="-120"/>
              </a:rPr>
              <a:t>Sécurité</a:t>
            </a:r>
            <a:endParaRPr lang="en-US" sz="1200" dirty="0"/>
          </a:p>
        </p:txBody>
      </p:sp>
      <p:sp>
        <p:nvSpPr>
          <p:cNvPr id="43" name="Text 41"/>
          <p:cNvSpPr/>
          <p:nvPr/>
        </p:nvSpPr>
        <p:spPr>
          <a:xfrm>
            <a:off x="10764520" y="3759944"/>
            <a:ext cx="524256"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50 min</a:t>
            </a:r>
            <a:endParaRPr lang="en-US" sz="1100" dirty="0"/>
          </a:p>
        </p:txBody>
      </p:sp>
      <p:sp>
        <p:nvSpPr>
          <p:cNvPr id="44" name="Shape 42"/>
          <p:cNvSpPr/>
          <p:nvPr/>
        </p:nvSpPr>
        <p:spPr>
          <a:xfrm>
            <a:off x="5181600" y="4771724"/>
            <a:ext cx="6197600" cy="0"/>
          </a:xfrm>
          <a:prstGeom prst="line">
            <a:avLst/>
          </a:prstGeom>
          <a:noFill/>
          <a:ln w="6350">
            <a:solidFill>
              <a:srgbClr val="E1DFEE"/>
            </a:solidFill>
            <a:prstDash val="solid"/>
          </a:ln>
        </p:spPr>
      </p:sp>
      <p:sp>
        <p:nvSpPr>
          <p:cNvPr id="45" name="Text 43"/>
          <p:cNvSpPr/>
          <p:nvPr/>
        </p:nvSpPr>
        <p:spPr>
          <a:xfrm>
            <a:off x="5232400" y="4332188"/>
            <a:ext cx="2490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16</a:t>
            </a:r>
            <a:endParaRPr lang="en-US" sz="1400" dirty="0"/>
          </a:p>
        </p:txBody>
      </p:sp>
      <p:sp>
        <p:nvSpPr>
          <p:cNvPr id="46" name="Text 44"/>
          <p:cNvSpPr/>
          <p:nvPr/>
        </p:nvSpPr>
        <p:spPr>
          <a:xfrm>
            <a:off x="5765800" y="4234408"/>
            <a:ext cx="2066798"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0B0748"/>
                </a:solidFill>
                <a:latin typeface="IBM Plex Sans" pitchFamily="34" charset="0"/>
                <a:ea typeface="IBM Plex Sans" pitchFamily="34" charset="-122"/>
                <a:cs typeface="IBM Plex Sans" pitchFamily="34" charset="-120"/>
              </a:rPr>
              <a:t>Volumes et données persistantes</a:t>
            </a:r>
            <a:endParaRPr lang="en-US" sz="1400" dirty="0"/>
          </a:p>
        </p:txBody>
      </p:sp>
      <p:sp>
        <p:nvSpPr>
          <p:cNvPr id="47" name="Shape 45"/>
          <p:cNvSpPr/>
          <p:nvPr/>
        </p:nvSpPr>
        <p:spPr>
          <a:xfrm>
            <a:off x="7899400" y="4264868"/>
            <a:ext cx="3429000" cy="383540"/>
          </a:xfrm>
          <a:prstGeom prst="roundRect">
            <a:avLst>
              <a:gd name="adj" fmla="val 23179"/>
            </a:avLst>
          </a:prstGeom>
          <a:solidFill>
            <a:srgbClr val="FBF0E8"/>
          </a:solidFill>
          <a:ln/>
        </p:spPr>
      </p:sp>
      <p:sp>
        <p:nvSpPr>
          <p:cNvPr id="48" name="Text 46"/>
          <p:cNvSpPr/>
          <p:nvPr/>
        </p:nvSpPr>
        <p:spPr>
          <a:xfrm>
            <a:off x="8026400" y="4349948"/>
            <a:ext cx="558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14:15</a:t>
            </a:r>
            <a:endParaRPr lang="en-US" sz="1200" dirty="0"/>
          </a:p>
        </p:txBody>
      </p:sp>
      <p:sp>
        <p:nvSpPr>
          <p:cNvPr id="49" name="Text 47"/>
          <p:cNvSpPr/>
          <p:nvPr/>
        </p:nvSpPr>
        <p:spPr>
          <a:xfrm>
            <a:off x="8636000" y="4341068"/>
            <a:ext cx="508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TP12</a:t>
            </a:r>
            <a:endParaRPr lang="en-US" sz="1300" dirty="0"/>
          </a:p>
        </p:txBody>
      </p:sp>
      <p:sp>
        <p:nvSpPr>
          <p:cNvPr id="50" name="Text 48"/>
          <p:cNvSpPr/>
          <p:nvPr/>
        </p:nvSpPr>
        <p:spPr>
          <a:xfrm>
            <a:off x="9194800" y="4361408"/>
            <a:ext cx="151892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B0748"/>
                </a:solidFill>
                <a:latin typeface="IBM Plex Sans" pitchFamily="34" charset="0"/>
                <a:ea typeface="IBM Plex Sans" pitchFamily="34" charset="-122"/>
                <a:cs typeface="IBM Plex Sans" pitchFamily="34" charset="-120"/>
              </a:rPr>
              <a:t>Persistance</a:t>
            </a:r>
            <a:endParaRPr lang="en-US" sz="1200" dirty="0"/>
          </a:p>
        </p:txBody>
      </p:sp>
      <p:sp>
        <p:nvSpPr>
          <p:cNvPr id="51" name="Text 49"/>
          <p:cNvSpPr/>
          <p:nvPr/>
        </p:nvSpPr>
        <p:spPr>
          <a:xfrm>
            <a:off x="10764520" y="4358829"/>
            <a:ext cx="524256"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45 min</a:t>
            </a:r>
            <a:endParaRPr lang="en-US" sz="1100" dirty="0"/>
          </a:p>
        </p:txBody>
      </p:sp>
      <p:pic>
        <p:nvPicPr>
          <p:cNvPr id="52" name="Image 0" descr="Star">    </p:cNvPr>
          <p:cNvPicPr>
            <a:picLocks noChangeAspect="1"/>
          </p:cNvPicPr>
          <p:nvPr/>
        </p:nvPicPr>
        <p:blipFill>
          <a:blip r:embed="rId1"/>
          <a:srcRect l="0" r="0" t="0" b="0"/>
          <a:stretch/>
        </p:blipFill>
        <p:spPr>
          <a:xfrm>
            <a:off x="5232400" y="4960293"/>
            <a:ext cx="190500" cy="190500"/>
          </a:xfrm>
          <a:prstGeom prst="rect">
            <a:avLst/>
          </a:prstGeom>
        </p:spPr>
      </p:pic>
      <p:sp>
        <p:nvSpPr>
          <p:cNvPr id="53" name="Text 50"/>
          <p:cNvSpPr/>
          <p:nvPr/>
        </p:nvSpPr>
        <p:spPr>
          <a:xfrm>
            <a:off x="5765800" y="4944418"/>
            <a:ext cx="2066798"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0B0748"/>
                </a:solidFill>
                <a:latin typeface="IBM Plex Sans" pitchFamily="34" charset="0"/>
                <a:ea typeface="IBM Plex Sans" pitchFamily="34" charset="-122"/>
                <a:cs typeface="IBM Plex Sans" pitchFamily="34" charset="-120"/>
              </a:rPr>
              <a:t>Atelier de synthèse</a:t>
            </a:r>
            <a:endParaRPr lang="en-US" sz="1400" dirty="0"/>
          </a:p>
        </p:txBody>
      </p:sp>
      <p:sp>
        <p:nvSpPr>
          <p:cNvPr id="54" name="Shape 51"/>
          <p:cNvSpPr/>
          <p:nvPr/>
        </p:nvSpPr>
        <p:spPr>
          <a:xfrm>
            <a:off x="7899400" y="4863802"/>
            <a:ext cx="3429000" cy="383540"/>
          </a:xfrm>
          <a:prstGeom prst="roundRect">
            <a:avLst>
              <a:gd name="adj" fmla="val 23179"/>
            </a:avLst>
          </a:prstGeom>
          <a:solidFill>
            <a:srgbClr val="FBF0E8"/>
          </a:solidFill>
          <a:ln/>
        </p:spPr>
      </p:sp>
      <p:sp>
        <p:nvSpPr>
          <p:cNvPr id="55" name="Text 52"/>
          <p:cNvSpPr/>
          <p:nvPr/>
        </p:nvSpPr>
        <p:spPr>
          <a:xfrm>
            <a:off x="8026400" y="4948882"/>
            <a:ext cx="558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15:00</a:t>
            </a:r>
            <a:endParaRPr lang="en-US" sz="1200" dirty="0"/>
          </a:p>
        </p:txBody>
      </p:sp>
      <p:sp>
        <p:nvSpPr>
          <p:cNvPr id="56" name="Text 53"/>
          <p:cNvSpPr/>
          <p:nvPr/>
        </p:nvSpPr>
        <p:spPr>
          <a:xfrm>
            <a:off x="8636000" y="4940002"/>
            <a:ext cx="508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TP13</a:t>
            </a:r>
            <a:endParaRPr lang="en-US" sz="1300" dirty="0"/>
          </a:p>
        </p:txBody>
      </p:sp>
      <p:sp>
        <p:nvSpPr>
          <p:cNvPr id="57" name="Text 54"/>
          <p:cNvSpPr/>
          <p:nvPr/>
        </p:nvSpPr>
        <p:spPr>
          <a:xfrm>
            <a:off x="9194800" y="4960293"/>
            <a:ext cx="151892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B0748"/>
                </a:solidFill>
                <a:latin typeface="IBM Plex Sans" pitchFamily="34" charset="0"/>
                <a:ea typeface="IBM Plex Sans" pitchFamily="34" charset="-122"/>
                <a:cs typeface="IBM Plex Sans" pitchFamily="34" charset="-120"/>
              </a:rPr>
              <a:t>Atelier de migration</a:t>
            </a:r>
            <a:endParaRPr lang="en-US" sz="1200" dirty="0"/>
          </a:p>
        </p:txBody>
      </p:sp>
      <p:sp>
        <p:nvSpPr>
          <p:cNvPr id="58" name="Text 55"/>
          <p:cNvSpPr/>
          <p:nvPr/>
        </p:nvSpPr>
        <p:spPr>
          <a:xfrm>
            <a:off x="10764520" y="4957763"/>
            <a:ext cx="524256"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30 min</a:t>
            </a:r>
            <a:endParaRPr lang="en-US" sz="1100" dirty="0"/>
          </a:p>
        </p:txBody>
      </p:sp>
      <p:pic>
        <p:nvPicPr>
          <p:cNvPr id="59" name="Image 1" descr="preencoded.png">    </p:cNvPr>
          <p:cNvPicPr>
            <a:picLocks noChangeAspect="1"/>
          </p:cNvPicPr>
          <p:nvPr/>
        </p:nvPicPr>
        <p:blipFill>
          <a:blip r:embed="rId2"/>
          <a:srcRect l="0" r="0" t="0" b="0"/>
          <a:stretch/>
        </p:blipFill>
        <p:spPr>
          <a:xfrm>
            <a:off x="812800" y="6299200"/>
            <a:ext cx="152400" cy="152400"/>
          </a:xfrm>
          <a:prstGeom prst="rect">
            <a:avLst/>
          </a:prstGeom>
        </p:spPr>
      </p:pic>
      <p:sp>
        <p:nvSpPr>
          <p:cNvPr id="60" name="Text 5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61" name="Image 2" descr="Parcours : début du jour 3, dix modules vus">    </p:cNvPr>
          <p:cNvPicPr>
            <a:picLocks noChangeAspect="1"/>
          </p:cNvPicPr>
          <p:nvPr/>
        </p:nvPicPr>
        <p:blipFill>
          <a:blip r:embed="rId3"/>
          <a:srcRect l="0" r="0" t="0" b="0"/>
          <a:stretch/>
        </p:blipFill>
        <p:spPr>
          <a:xfrm>
            <a:off x="9207500" y="6299200"/>
            <a:ext cx="2171700" cy="1524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3 · ENCADRER, SÉCURISER, FAIRE GRANDIR</a:t>
            </a:r>
            <a:endParaRPr lang="en-US" sz="1200" dirty="0"/>
          </a:p>
        </p:txBody>
      </p:sp>
      <p:sp>
        <p:nvSpPr>
          <p:cNvPr id="3" name="Text 1"/>
          <p:cNvSpPr/>
          <p:nvPr/>
        </p:nvSpPr>
        <p:spPr>
          <a:xfrm>
            <a:off x="812800" y="1076970"/>
            <a:ext cx="1182624"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11</a:t>
            </a:r>
            <a:endParaRPr lang="en-US" sz="10000" dirty="0"/>
          </a:p>
        </p:txBody>
      </p:sp>
      <p:sp>
        <p:nvSpPr>
          <p:cNvPr id="4" name="Text 2"/>
          <p:cNvSpPr/>
          <p:nvPr>
            <p:ph type="title"/>
          </p:nvPr>
        </p:nvSpPr>
        <p:spPr>
          <a:xfrm>
            <a:off x="2153920" y="1127770"/>
            <a:ext cx="9502039" cy="5588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Gérer les ressources</a:t>
            </a:r>
            <a:endParaRPr lang="en-US" sz="4000" dirty="0"/>
          </a:p>
        </p:txBody>
      </p:sp>
      <p:sp>
        <p:nvSpPr>
          <p:cNvPr id="5" name="Text 3"/>
          <p:cNvSpPr/>
          <p:nvPr/>
        </p:nvSpPr>
        <p:spPr>
          <a:xfrm>
            <a:off x="2153920" y="1813570"/>
            <a:ext cx="950203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Les requests réservent des ressources et guident le placement ; les limits plafonnent la consommation. LimitRange et ResourceQuota encadrent un namespace entier.</a:t>
            </a:r>
            <a:endParaRPr lang="en-US" sz="1500" dirty="0"/>
          </a:p>
        </p:txBody>
      </p:sp>
      <p:sp>
        <p:nvSpPr>
          <p:cNvPr id="6" name="Text 4"/>
          <p:cNvSpPr/>
          <p:nvPr/>
        </p:nvSpPr>
        <p:spPr>
          <a:xfrm>
            <a:off x="2153920" y="2499320"/>
            <a:ext cx="2575242"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TP8 · Quotas et labels · J3 09:25</a:t>
            </a:r>
            <a:endParaRPr lang="en-US" sz="1200" dirty="0"/>
          </a:p>
        </p:txBody>
      </p:sp>
      <p:pic>
        <p:nvPicPr>
          <p:cNvPr id="7" name="Image 0" descr="Parcours de la formation : module 11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11 · GÉRER LES RESSOURCES</a:t>
            </a:r>
            <a:endParaRPr lang="en-US" sz="1200" dirty="0"/>
          </a:p>
        </p:txBody>
      </p:sp>
      <p:sp>
        <p:nvSpPr>
          <p:cNvPr id="3" name="Text 1"/>
          <p:cNvSpPr/>
          <p:nvPr>
            <p:ph type="title"/>
          </p:nvPr>
        </p:nvSpPr>
        <p:spPr>
          <a:xfrm>
            <a:off x="812800" y="949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Requests et limits</a:t>
            </a:r>
            <a:endParaRPr lang="en-US" sz="2800" dirty="0"/>
          </a:p>
        </p:txBody>
      </p:sp>
      <p:sp>
        <p:nvSpPr>
          <p:cNvPr id="4" name="Text 2"/>
          <p:cNvSpPr/>
          <p:nvPr/>
        </p:nvSpPr>
        <p:spPr>
          <a:xfrm>
            <a:off x="812800" y="1531640"/>
            <a:ext cx="4953000" cy="2922905"/>
          </a:xfrm>
          <a:prstGeom prst="roundRect">
            <a:avLst>
              <a:gd name="adj" fmla="val 3476"/>
            </a:avLst>
          </a:prstGeom>
          <a:solidFill>
            <a:srgbClr val="0B0748"/>
          </a:solidFill>
          <a:ln/>
        </p:spPr>
        <p:txBody>
          <a:bodyPr wrap="none" lIns="148042" tIns="97242" rIns="10120" bIns="97242" rtlCol="0" anchor="ctr">
            <a:normAutofit/>
          </a:bodyPr>
          <a:lstStyle/>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containers:</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name: podinfo</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image: ghcr.io/stefanprodan/podinfo:6.7.1</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resources:</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requests:</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cpu: 100m      </a:t>
            </a:r>
            <a:r>
              <a:rPr lang="en-US" sz="1200" dirty="0">
                <a:solidFill>
                  <a:srgbClr val="9A96D0"/>
                </a:solidFill>
                <a:latin typeface="JetBrains Mono" pitchFamily="49" charset="0"/>
                <a:ea typeface="JetBrains Mono" pitchFamily="49" charset="-122"/>
                <a:cs typeface="JetBrains Mono" pitchFamily="49" charset="-120"/>
              </a:rPr>
              <a:t># 0,1 cœur réservé</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memory: 128Mi  </a:t>
            </a:r>
            <a:r>
              <a:rPr lang="en-US" sz="1200" dirty="0">
                <a:solidFill>
                  <a:srgbClr val="9A96D0"/>
                </a:solidFill>
                <a:latin typeface="JetBrains Mono" pitchFamily="49" charset="0"/>
                <a:ea typeface="JetBrains Mono" pitchFamily="49" charset="-122"/>
                <a:cs typeface="JetBrains Mono" pitchFamily="49" charset="-120"/>
              </a:rPr>
              <a:t># 128 mebioctets réservés</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limits:</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cpu: 500m      </a:t>
            </a:r>
            <a:r>
              <a:rPr lang="en-US" sz="1200" dirty="0">
                <a:solidFill>
                  <a:srgbClr val="9A96D0"/>
                </a:solidFill>
                <a:latin typeface="JetBrains Mono" pitchFamily="49" charset="0"/>
                <a:ea typeface="JetBrains Mono" pitchFamily="49" charset="-122"/>
                <a:cs typeface="JetBrains Mono" pitchFamily="49" charset="-120"/>
              </a:rPr>
              <a:t># au plus un demi-cœur</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memory: 128Mi  </a:t>
            </a:r>
            <a:r>
              <a:rPr lang="en-US" sz="1200" dirty="0">
                <a:solidFill>
                  <a:srgbClr val="9A96D0"/>
                </a:solidFill>
                <a:latin typeface="JetBrains Mono" pitchFamily="49" charset="0"/>
                <a:ea typeface="JetBrains Mono" pitchFamily="49" charset="-122"/>
                <a:cs typeface="JetBrains Mono" pitchFamily="49" charset="-120"/>
              </a:rPr>
              <a:t># au-delà : arrêt immédiat</a:t>
            </a:r>
            <a:endParaRPr lang="en-US" sz="1200" dirty="0"/>
          </a:p>
        </p:txBody>
      </p:sp>
      <p:sp>
        <p:nvSpPr>
          <p:cNvPr id="5" name="Shape 3"/>
          <p:cNvSpPr/>
          <p:nvPr/>
        </p:nvSpPr>
        <p:spPr>
          <a:xfrm>
            <a:off x="5969000" y="1531640"/>
            <a:ext cx="5410200" cy="2922905"/>
          </a:xfrm>
          <a:prstGeom prst="rect">
            <a:avLst/>
          </a:prstGeom>
          <a:solidFill>
            <a:srgbClr val="FDFD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76091" y="1538731"/>
          <a:ext cx="5403109" cy="2915814"/>
        </p:xfrm>
        <a:graphic>
          <a:graphicData uri="http://schemas.openxmlformats.org/drawingml/2006/table">
            <a:tbl>
              <a:tblPr/>
              <a:tblGrid>
                <a:gridCol w="1404808"/>
                <a:gridCol w="2161244"/>
                <a:gridCol w="1837057"/>
              </a:tblGrid>
              <a:tr h="327131">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requests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limits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54049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Utilisé par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Le scheduler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Le noyau, via les cgroups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4049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Signification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Ce dont le conteneur a besoin pour bien fonctionner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Ce qu'il ne doit jamais dépasser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96721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Effet sur le placement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Un pod ne va que sur un nœud où la somme des requests reste sous l'allouable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Aucun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4049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En fonctionnement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Part de CPU garantie quand le nœud est saturé</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CPU : ralentissement. Mémoire : arrêt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sp>
        <p:nvSpPr>
          <p:cNvPr id="7" name="Shape 4"/>
          <p:cNvSpPr/>
          <p:nvPr/>
        </p:nvSpPr>
        <p:spPr>
          <a:xfrm>
            <a:off x="815975" y="4648200"/>
            <a:ext cx="5207741" cy="995892"/>
          </a:xfrm>
          <a:prstGeom prst="roundRect">
            <a:avLst>
              <a:gd name="adj" fmla="val 12434"/>
            </a:avLst>
          </a:prstGeom>
          <a:solidFill>
            <a:srgbClr val="FDFDFF"/>
          </a:solidFill>
          <a:ln w="6350">
            <a:solidFill>
              <a:srgbClr val="E1DFEE"/>
            </a:solidFill>
            <a:prstDash val="solid"/>
          </a:ln>
        </p:spPr>
      </p:sp>
      <p:sp>
        <p:nvSpPr>
          <p:cNvPr id="8" name="Text 5"/>
          <p:cNvSpPr/>
          <p:nvPr/>
        </p:nvSpPr>
        <p:spPr>
          <a:xfrm>
            <a:off x="997691" y="4791770"/>
            <a:ext cx="498963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UNITÉS</a:t>
            </a:r>
            <a:endParaRPr lang="en-US" sz="1200" dirty="0"/>
          </a:p>
        </p:txBody>
      </p:sp>
      <p:sp>
        <p:nvSpPr>
          <p:cNvPr id="9" name="Text 6"/>
          <p:cNvSpPr/>
          <p:nvPr/>
        </p:nvSpPr>
        <p:spPr>
          <a:xfrm>
            <a:off x="997691" y="5055989"/>
            <a:ext cx="4989638"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0B0748"/>
                </a:solidFill>
                <a:latin typeface="IBM Plex Sans" pitchFamily="34" charset="0"/>
                <a:ea typeface="IBM Plex Sans" pitchFamily="34" charset="-122"/>
                <a:cs typeface="IBM Plex Sans" pitchFamily="34" charset="-120"/>
              </a:rPr>
              <a:t>CPU : 1 = un vCPU, 500m = un demi. Mémoire : Mi, Gi (binaires) plutôt que M, G. </a:t>
            </a:r>
            <a:r>
              <a:rPr lang="en-US" sz="1250" b="1" dirty="0">
                <a:solidFill>
                  <a:srgbClr val="0B0748"/>
                </a:solidFill>
                <a:latin typeface="IBM Plex Sans" pitchFamily="34" charset="0"/>
                <a:ea typeface="IBM Plex Sans" pitchFamily="34" charset="-122"/>
                <a:cs typeface="IBM Plex Sans" pitchFamily="34" charset="-120"/>
              </a:rPr>
              <a:t>memory: 128</a:t>
            </a:r>
            <a:r>
              <a:rPr lang="en-US" sz="1250" dirty="0">
                <a:solidFill>
                  <a:srgbClr val="0B0748"/>
                </a:solidFill>
                <a:latin typeface="IBM Plex Sans" pitchFamily="34" charset="0"/>
                <a:ea typeface="IBM Plex Sans" pitchFamily="34" charset="-122"/>
                <a:cs typeface="IBM Plex Sans" pitchFamily="34" charset="-120"/>
              </a:rPr>
              <a:t> signifie 128 octets !</a:t>
            </a:r>
            <a:endParaRPr lang="en-US" sz="1250" dirty="0"/>
          </a:p>
        </p:txBody>
      </p:sp>
      <p:sp>
        <p:nvSpPr>
          <p:cNvPr id="10" name="Shape 7"/>
          <p:cNvSpPr/>
          <p:nvPr/>
        </p:nvSpPr>
        <p:spPr>
          <a:xfrm>
            <a:off x="6179291" y="4645025"/>
            <a:ext cx="5199909" cy="1002242"/>
          </a:xfrm>
          <a:prstGeom prst="roundRect">
            <a:avLst>
              <a:gd name="adj" fmla="val 12672"/>
            </a:avLst>
          </a:prstGeom>
          <a:solidFill>
            <a:srgbClr val="0B0748"/>
          </a:solidFill>
          <a:ln/>
        </p:spPr>
      </p:sp>
      <p:sp>
        <p:nvSpPr>
          <p:cNvPr id="11" name="Text 8"/>
          <p:cNvSpPr/>
          <p:nvPr/>
        </p:nvSpPr>
        <p:spPr>
          <a:xfrm>
            <a:off x="6357091" y="4784725"/>
            <a:ext cx="498963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À SAVOIR</a:t>
            </a:r>
            <a:endParaRPr lang="en-US" sz="1200" dirty="0"/>
          </a:p>
        </p:txBody>
      </p:sp>
      <p:sp>
        <p:nvSpPr>
          <p:cNvPr id="12" name="Text 9"/>
          <p:cNvSpPr/>
          <p:nvPr/>
        </p:nvSpPr>
        <p:spPr>
          <a:xfrm>
            <a:off x="6357091" y="5048845"/>
            <a:ext cx="4989638"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ECEAFF"/>
                </a:solidFill>
                <a:latin typeface="IBM Plex Sans" pitchFamily="34" charset="0"/>
                <a:ea typeface="IBM Plex Sans" pitchFamily="34" charset="-122"/>
                <a:cs typeface="IBM Plex Sans" pitchFamily="34" charset="-120"/>
              </a:rPr>
              <a:t>Le scheduler raisonne sur les requests </a:t>
            </a:r>
            <a:r>
              <a:rPr lang="en-US" sz="1250" b="1" dirty="0">
                <a:solidFill>
                  <a:srgbClr val="ECEAFF"/>
                </a:solidFill>
                <a:latin typeface="IBM Plex Sans" pitchFamily="34" charset="0"/>
                <a:ea typeface="IBM Plex Sans" pitchFamily="34" charset="-122"/>
                <a:cs typeface="IBM Plex Sans" pitchFamily="34" charset="-120"/>
              </a:rPr>
              <a:t>déclarées</a:t>
            </a:r>
            <a:r>
              <a:rPr lang="en-US" sz="1250" dirty="0">
                <a:solidFill>
                  <a:srgbClr val="ECEAFF"/>
                </a:solidFill>
                <a:latin typeface="IBM Plex Sans" pitchFamily="34" charset="0"/>
                <a:ea typeface="IBM Plex Sans" pitchFamily="34" charset="-122"/>
                <a:cs typeface="IBM Plex Sans" pitchFamily="34" charset="-120"/>
              </a:rPr>
              <a:t>, pas sur la consommation réelle : un nœud à 10 % de CPU peut être « plein ».</a:t>
            </a:r>
            <a:endParaRPr lang="en-US" sz="1250" dirty="0"/>
          </a:p>
        </p:txBody>
      </p:sp>
      <p:pic>
        <p:nvPicPr>
          <p:cNvPr id="13"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4" name="Text 10"/>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5" name="Image 1" descr="Parcours : module 1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11 · GÉRER LES RESSOURCES</a:t>
            </a:r>
            <a:endParaRPr lang="en-US" sz="1200" dirty="0"/>
          </a:p>
        </p:txBody>
      </p:sp>
      <p:sp>
        <p:nvSpPr>
          <p:cNvPr id="3" name="Text 1"/>
          <p:cNvSpPr/>
          <p:nvPr>
            <p:ph type="title"/>
          </p:nvPr>
        </p:nvSpPr>
        <p:spPr>
          <a:xfrm>
            <a:off x="812800" y="949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Que se passe-t-il en cas de dépassement ?</a:t>
            </a:r>
            <a:endParaRPr lang="en-US" sz="2800" dirty="0"/>
          </a:p>
        </p:txBody>
      </p:sp>
      <p:sp>
        <p:nvSpPr>
          <p:cNvPr id="4" name="Text 2"/>
          <p:cNvSpPr/>
          <p:nvPr/>
        </p:nvSpPr>
        <p:spPr>
          <a:xfrm>
            <a:off x="812800" y="1493540"/>
            <a:ext cx="10820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0 → request</a:t>
            </a:r>
            <a:endParaRPr lang="en-US" sz="1200" dirty="0"/>
          </a:p>
        </p:txBody>
      </p:sp>
      <p:sp>
        <p:nvSpPr>
          <p:cNvPr id="5" name="Shape 3"/>
          <p:cNvSpPr/>
          <p:nvPr/>
        </p:nvSpPr>
        <p:spPr>
          <a:xfrm>
            <a:off x="1894840" y="1593850"/>
            <a:ext cx="2372360" cy="12700"/>
          </a:xfrm>
          <a:prstGeom prst="rect">
            <a:avLst/>
          </a:prstGeom>
          <a:solidFill>
            <a:srgbClr val="E1DFEE"/>
          </a:solidFill>
          <a:ln/>
        </p:spPr>
      </p:sp>
      <p:sp>
        <p:nvSpPr>
          <p:cNvPr id="6" name="Text 4"/>
          <p:cNvSpPr/>
          <p:nvPr/>
        </p:nvSpPr>
        <p:spPr>
          <a:xfrm>
            <a:off x="4368800" y="1493540"/>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request → limit</a:t>
            </a:r>
            <a:endParaRPr lang="en-US" sz="1200" dirty="0"/>
          </a:p>
        </p:txBody>
      </p:sp>
      <p:sp>
        <p:nvSpPr>
          <p:cNvPr id="7" name="Shape 5"/>
          <p:cNvSpPr/>
          <p:nvPr/>
        </p:nvSpPr>
        <p:spPr>
          <a:xfrm>
            <a:off x="5816600" y="1593850"/>
            <a:ext cx="2006600" cy="12700"/>
          </a:xfrm>
          <a:prstGeom prst="rect">
            <a:avLst/>
          </a:prstGeom>
          <a:solidFill>
            <a:srgbClr val="E1DFEE"/>
          </a:solidFill>
          <a:ln/>
        </p:spPr>
      </p:sp>
      <p:sp>
        <p:nvSpPr>
          <p:cNvPr id="8" name="Text 6"/>
          <p:cNvSpPr/>
          <p:nvPr/>
        </p:nvSpPr>
        <p:spPr>
          <a:xfrm>
            <a:off x="7924800" y="1493540"/>
            <a:ext cx="18135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au-delà de la limit</a:t>
            </a:r>
            <a:endParaRPr lang="en-US" sz="1200" dirty="0"/>
          </a:p>
        </p:txBody>
      </p:sp>
      <p:sp>
        <p:nvSpPr>
          <p:cNvPr id="9" name="Shape 7"/>
          <p:cNvSpPr/>
          <p:nvPr/>
        </p:nvSpPr>
        <p:spPr>
          <a:xfrm>
            <a:off x="9738360" y="1593850"/>
            <a:ext cx="1640840" cy="12700"/>
          </a:xfrm>
          <a:prstGeom prst="rect">
            <a:avLst/>
          </a:prstGeom>
          <a:solidFill>
            <a:srgbClr val="E1DFEE"/>
          </a:solidFill>
          <a:ln/>
        </p:spPr>
      </p:sp>
      <p:sp>
        <p:nvSpPr>
          <p:cNvPr id="10" name="Text 8"/>
          <p:cNvSpPr/>
          <p:nvPr/>
        </p:nvSpPr>
        <p:spPr>
          <a:xfrm>
            <a:off x="812800" y="2424113"/>
            <a:ext cx="16383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0748"/>
                </a:solidFill>
                <a:latin typeface="Sora" pitchFamily="34" charset="0"/>
                <a:ea typeface="Sora" pitchFamily="34" charset="-122"/>
                <a:cs typeface="Sora" pitchFamily="34" charset="-120"/>
              </a:rPr>
              <a:t>CPU</a:t>
            </a:r>
            <a:endParaRPr lang="en-US" sz="2000" dirty="0"/>
          </a:p>
        </p:txBody>
      </p:sp>
      <p:sp>
        <p:nvSpPr>
          <p:cNvPr id="11" name="Text 9"/>
          <p:cNvSpPr/>
          <p:nvPr/>
        </p:nvSpPr>
        <p:spPr>
          <a:xfrm>
            <a:off x="812800" y="2817912"/>
            <a:ext cx="163830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compressible</a:t>
            </a:r>
            <a:endParaRPr lang="en-US" sz="1100" dirty="0"/>
          </a:p>
        </p:txBody>
      </p:sp>
      <p:sp>
        <p:nvSpPr>
          <p:cNvPr id="12" name="Text 10"/>
          <p:cNvSpPr/>
          <p:nvPr/>
        </p:nvSpPr>
        <p:spPr>
          <a:xfrm>
            <a:off x="2501900" y="1859260"/>
            <a:ext cx="2891367" cy="1718945"/>
          </a:xfrm>
          <a:prstGeom prst="roundRect">
            <a:avLst>
              <a:gd name="adj" fmla="val 5172"/>
            </a:avLst>
          </a:prstGeom>
          <a:solidFill>
            <a:srgbClr val="ECEAF6"/>
          </a:solidFill>
          <a:ln/>
        </p:spPr>
        <p:txBody>
          <a:bodyPr wrap="square" lIns="139062" tIns="113662" rIns="62227" bIns="113662" rtlCol="0" anchor="ctr">
            <a:normAutofit/>
          </a:bodyPr>
          <a:lstStyle/>
          <a:p>
            <a:pPr algn="l" indent="0" marL="0">
              <a:lnSpc>
                <a:spcPts val="1823"/>
              </a:lnSpc>
              <a:buNone/>
            </a:pPr>
            <a:r>
              <a:rPr lang="en-US" sz="1350" dirty="0">
                <a:solidFill>
                  <a:srgbClr val="0B0748"/>
                </a:solidFill>
                <a:latin typeface="IBM Plex Sans" pitchFamily="34" charset="0"/>
                <a:ea typeface="IBM Plex Sans" pitchFamily="34" charset="-122"/>
                <a:cs typeface="IBM Plex Sans" pitchFamily="34" charset="-120"/>
              </a:rPr>
              <a:t>Part garantie quand le nœud est saturé</a:t>
            </a:r>
            <a:endParaRPr lang="en-US" sz="1350" dirty="0"/>
          </a:p>
        </p:txBody>
      </p:sp>
      <p:sp>
        <p:nvSpPr>
          <p:cNvPr id="13" name="Text 11"/>
          <p:cNvSpPr/>
          <p:nvPr/>
        </p:nvSpPr>
        <p:spPr>
          <a:xfrm>
            <a:off x="5494867" y="1859260"/>
            <a:ext cx="2891367" cy="1718945"/>
          </a:xfrm>
          <a:prstGeom prst="roundRect">
            <a:avLst>
              <a:gd name="adj" fmla="val 5172"/>
            </a:avLst>
          </a:prstGeom>
          <a:solidFill>
            <a:srgbClr val="FCE6DC"/>
          </a:solidFill>
          <a:ln/>
        </p:spPr>
        <p:txBody>
          <a:bodyPr wrap="square" lIns="139062" tIns="113662" rIns="62227" bIns="113662" rtlCol="0" anchor="ctr">
            <a:normAutofit/>
          </a:bodyPr>
          <a:lstStyle/>
          <a:p>
            <a:pPr algn="l" indent="0" marL="0">
              <a:lnSpc>
                <a:spcPts val="1823"/>
              </a:lnSpc>
              <a:buNone/>
            </a:pPr>
            <a:r>
              <a:rPr lang="en-US" sz="1350" dirty="0">
                <a:solidFill>
                  <a:srgbClr val="0B0748"/>
                </a:solidFill>
                <a:latin typeface="IBM Plex Sans" pitchFamily="34" charset="0"/>
                <a:ea typeface="IBM Plex Sans" pitchFamily="34" charset="-122"/>
                <a:cs typeface="IBM Plex Sans" pitchFamily="34" charset="-120"/>
              </a:rPr>
              <a:t>Autorisé si le nœud a du CPU libre</a:t>
            </a:r>
            <a:endParaRPr lang="en-US" sz="1350" dirty="0"/>
          </a:p>
        </p:txBody>
      </p:sp>
      <p:sp>
        <p:nvSpPr>
          <p:cNvPr id="14" name="Text 12"/>
          <p:cNvSpPr/>
          <p:nvPr/>
        </p:nvSpPr>
        <p:spPr>
          <a:xfrm>
            <a:off x="8487833" y="1859260"/>
            <a:ext cx="2891367" cy="1718945"/>
          </a:xfrm>
          <a:prstGeom prst="roundRect">
            <a:avLst>
              <a:gd name="adj" fmla="val 5172"/>
            </a:avLst>
          </a:prstGeom>
          <a:solidFill>
            <a:srgbClr val="F7C4AE"/>
          </a:solidFill>
          <a:ln/>
        </p:spPr>
        <p:txBody>
          <a:bodyPr wrap="square" lIns="139062" tIns="113662" rIns="62227" bIns="113662" rtlCol="0" anchor="ctr">
            <a:normAutofit/>
          </a:bodyPr>
          <a:lstStyle/>
          <a:p>
            <a:pPr algn="l" indent="0" marL="0">
              <a:lnSpc>
                <a:spcPts val="1823"/>
              </a:lnSpc>
              <a:buNone/>
            </a:pPr>
            <a:r>
              <a:rPr lang="en-US" sz="1350" b="1" dirty="0">
                <a:solidFill>
                  <a:srgbClr val="0B0748"/>
                </a:solidFill>
                <a:latin typeface="IBM Plex Sans" pitchFamily="34" charset="0"/>
                <a:ea typeface="IBM Plex Sans" pitchFamily="34" charset="-122"/>
                <a:cs typeface="IBM Plex Sans" pitchFamily="34" charset="-120"/>
              </a:rPr>
              <a:t>Bridé</a:t>
            </a:r>
            <a:r>
              <a:rPr lang="en-US" sz="1350" dirty="0">
                <a:solidFill>
                  <a:srgbClr val="0B0748"/>
                </a:solidFill>
                <a:latin typeface="IBM Plex Sans" pitchFamily="34" charset="0"/>
                <a:ea typeface="IBM Plex Sans" pitchFamily="34" charset="-122"/>
                <a:cs typeface="IBM Plex Sans" pitchFamily="34" charset="-120"/>
              </a:rPr>
              <a:t> (throttling) : il ralentit mais continue</a:t>
            </a:r>
            <a:endParaRPr lang="en-US" sz="1350" dirty="0"/>
          </a:p>
        </p:txBody>
      </p:sp>
      <p:sp>
        <p:nvSpPr>
          <p:cNvPr id="15" name="Text 13"/>
          <p:cNvSpPr/>
          <p:nvPr/>
        </p:nvSpPr>
        <p:spPr>
          <a:xfrm>
            <a:off x="812800" y="4295477"/>
            <a:ext cx="16383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0748"/>
                </a:solidFill>
                <a:latin typeface="Sora" pitchFamily="34" charset="0"/>
                <a:ea typeface="Sora" pitchFamily="34" charset="-122"/>
                <a:cs typeface="Sora" pitchFamily="34" charset="-120"/>
              </a:rPr>
              <a:t>Mémoire</a:t>
            </a:r>
            <a:endParaRPr lang="en-US" sz="2000" dirty="0"/>
          </a:p>
        </p:txBody>
      </p:sp>
      <p:sp>
        <p:nvSpPr>
          <p:cNvPr id="16" name="Text 14"/>
          <p:cNvSpPr/>
          <p:nvPr/>
        </p:nvSpPr>
        <p:spPr>
          <a:xfrm>
            <a:off x="812800" y="4689177"/>
            <a:ext cx="163830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non compressible</a:t>
            </a:r>
            <a:endParaRPr lang="en-US" sz="1100" dirty="0"/>
          </a:p>
        </p:txBody>
      </p:sp>
      <p:sp>
        <p:nvSpPr>
          <p:cNvPr id="17" name="Text 15"/>
          <p:cNvSpPr/>
          <p:nvPr/>
        </p:nvSpPr>
        <p:spPr>
          <a:xfrm>
            <a:off x="2501900" y="3730625"/>
            <a:ext cx="2891367" cy="1718945"/>
          </a:xfrm>
          <a:prstGeom prst="roundRect">
            <a:avLst>
              <a:gd name="adj" fmla="val 5172"/>
            </a:avLst>
          </a:prstGeom>
          <a:solidFill>
            <a:srgbClr val="ECEAF6"/>
          </a:solidFill>
          <a:ln/>
        </p:spPr>
        <p:txBody>
          <a:bodyPr wrap="square" lIns="139062" tIns="113662" rIns="62227" bIns="113662" rtlCol="0" anchor="ctr">
            <a:normAutofit/>
          </a:bodyPr>
          <a:lstStyle/>
          <a:p>
            <a:pPr algn="l" indent="0" marL="0">
              <a:lnSpc>
                <a:spcPts val="1823"/>
              </a:lnSpc>
              <a:buNone/>
            </a:pPr>
            <a:r>
              <a:rPr lang="en-US" sz="1350" dirty="0">
                <a:solidFill>
                  <a:srgbClr val="0B0748"/>
                </a:solidFill>
                <a:latin typeface="IBM Plex Sans" pitchFamily="34" charset="0"/>
                <a:ea typeface="IBM Plex Sans" pitchFamily="34" charset="-122"/>
                <a:cs typeface="IBM Plex Sans" pitchFamily="34" charset="-120"/>
              </a:rPr>
              <a:t>Réservée au conteneur</a:t>
            </a:r>
            <a:endParaRPr lang="en-US" sz="1350" dirty="0"/>
          </a:p>
        </p:txBody>
      </p:sp>
      <p:sp>
        <p:nvSpPr>
          <p:cNvPr id="18" name="Text 16"/>
          <p:cNvSpPr/>
          <p:nvPr/>
        </p:nvSpPr>
        <p:spPr>
          <a:xfrm>
            <a:off x="5494867" y="3730625"/>
            <a:ext cx="2891367" cy="1718945"/>
          </a:xfrm>
          <a:prstGeom prst="roundRect">
            <a:avLst>
              <a:gd name="adj" fmla="val 5172"/>
            </a:avLst>
          </a:prstGeom>
          <a:solidFill>
            <a:srgbClr val="FCE6DC"/>
          </a:solidFill>
          <a:ln/>
        </p:spPr>
        <p:txBody>
          <a:bodyPr wrap="square" lIns="139062" tIns="113662" rIns="62227" bIns="113662" rtlCol="0" anchor="ctr">
            <a:normAutofit/>
          </a:bodyPr>
          <a:lstStyle/>
          <a:p>
            <a:pPr algn="l" indent="0" marL="0">
              <a:lnSpc>
                <a:spcPts val="1823"/>
              </a:lnSpc>
              <a:buNone/>
            </a:pPr>
            <a:r>
              <a:rPr lang="en-US" sz="1350" dirty="0">
                <a:solidFill>
                  <a:srgbClr val="0B0748"/>
                </a:solidFill>
                <a:latin typeface="IBM Plex Sans" pitchFamily="34" charset="0"/>
                <a:ea typeface="IBM Plex Sans" pitchFamily="34" charset="-122"/>
                <a:cs typeface="IBM Plex Sans" pitchFamily="34" charset="-120"/>
              </a:rPr>
              <a:t>Autorisé, mais le pod devient candidat à l'éviction si le nœud manque de mémoire</a:t>
            </a:r>
            <a:endParaRPr lang="en-US" sz="1350" dirty="0"/>
          </a:p>
        </p:txBody>
      </p:sp>
      <p:sp>
        <p:nvSpPr>
          <p:cNvPr id="19" name="Text 17"/>
          <p:cNvSpPr/>
          <p:nvPr/>
        </p:nvSpPr>
        <p:spPr>
          <a:xfrm>
            <a:off x="8487833" y="3730625"/>
            <a:ext cx="2891367" cy="1718945"/>
          </a:xfrm>
          <a:prstGeom prst="roundRect">
            <a:avLst>
              <a:gd name="adj" fmla="val 5172"/>
            </a:avLst>
          </a:prstGeom>
          <a:solidFill>
            <a:srgbClr val="EE6A3C"/>
          </a:solidFill>
          <a:ln/>
        </p:spPr>
        <p:txBody>
          <a:bodyPr wrap="square" lIns="139062" tIns="113662" rIns="62227" bIns="113662" rtlCol="0" anchor="ctr">
            <a:normAutofit/>
          </a:bodyPr>
          <a:lstStyle/>
          <a:p>
            <a:pPr algn="l" indent="0" marL="0">
              <a:lnSpc>
                <a:spcPts val="1823"/>
              </a:lnSpc>
              <a:buNone/>
            </a:pPr>
            <a:r>
              <a:rPr lang="en-US" sz="1350" b="1" dirty="0">
                <a:solidFill>
                  <a:srgbClr val="0B0748"/>
                </a:solidFill>
                <a:latin typeface="IBM Plex Sans" pitchFamily="34" charset="0"/>
                <a:ea typeface="IBM Plex Sans" pitchFamily="34" charset="-122"/>
                <a:cs typeface="IBM Plex Sans" pitchFamily="34" charset="-120"/>
              </a:rPr>
              <a:t>Tué</a:t>
            </a:r>
            <a:r>
              <a:rPr lang="en-US" sz="1350" dirty="0">
                <a:solidFill>
                  <a:srgbClr val="0B0748"/>
                </a:solidFill>
                <a:latin typeface="IBM Plex Sans" pitchFamily="34" charset="0"/>
                <a:ea typeface="IBM Plex Sans" pitchFamily="34" charset="-122"/>
                <a:cs typeface="IBM Plex Sans" pitchFamily="34" charset="-120"/>
              </a:rPr>
              <a:t> : OOMKilled, code de sortie 137, puis redémarré</a:t>
            </a:r>
            <a:endParaRPr lang="en-US" sz="1350" dirty="0"/>
          </a:p>
        </p:txBody>
      </p:sp>
      <p:sp>
        <p:nvSpPr>
          <p:cNvPr id="20" name="Text 18"/>
          <p:cNvSpPr/>
          <p:nvPr/>
        </p:nvSpPr>
        <p:spPr>
          <a:xfrm>
            <a:off x="812800" y="5601990"/>
            <a:ext cx="10883392"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F3C6B"/>
                </a:solidFill>
                <a:latin typeface="IBM Plex Sans" pitchFamily="34" charset="0"/>
                <a:ea typeface="IBM Plex Sans" pitchFamily="34" charset="-122"/>
                <a:cs typeface="IBM Plex Sans" pitchFamily="34" charset="-120"/>
              </a:rPr>
              <a:t>On peut donner moins de CPU à un processus ; on ne peut pas lui reprendre de la mémoire déjà allouée sans l'arrêter.</a:t>
            </a:r>
            <a:endParaRPr lang="en-US" sz="1350" dirty="0"/>
          </a:p>
        </p:txBody>
      </p:sp>
      <p:pic>
        <p:nvPicPr>
          <p:cNvPr id="21"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2" name="Text 19"/>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3" name="Image 1" descr="Parcours : module 1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11 · GÉRER LES RESSOURCES</a:t>
            </a:r>
            <a:endParaRPr lang="en-US" sz="1200" dirty="0"/>
          </a:p>
        </p:txBody>
      </p:sp>
      <p:sp>
        <p:nvSpPr>
          <p:cNvPr id="3" name="Text 1"/>
          <p:cNvSpPr/>
          <p:nvPr>
            <p:ph type="title"/>
          </p:nvPr>
        </p:nvSpPr>
        <p:spPr>
          <a:xfrm>
            <a:off x="812800" y="949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Trois classes de qualité de service</a:t>
            </a:r>
            <a:endParaRPr lang="en-US" sz="2800" dirty="0"/>
          </a:p>
        </p:txBody>
      </p:sp>
      <p:sp>
        <p:nvSpPr>
          <p:cNvPr id="4" name="Text 2"/>
          <p:cNvSpPr/>
          <p:nvPr/>
        </p:nvSpPr>
        <p:spPr>
          <a:xfrm>
            <a:off x="812800" y="1531640"/>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Kubernetes range chaque pod dans une classe QoS selon ses déclarations. Elle fixe l'</a:t>
            </a:r>
            <a:r>
              <a:rPr lang="en-US" sz="1400" b="1" dirty="0">
                <a:solidFill>
                  <a:srgbClr val="3F3C6B"/>
                </a:solidFill>
                <a:latin typeface="IBM Plex Sans" pitchFamily="34" charset="0"/>
                <a:ea typeface="IBM Plex Sans" pitchFamily="34" charset="-122"/>
                <a:cs typeface="IBM Plex Sans" pitchFamily="34" charset="-120"/>
              </a:rPr>
              <a:t>ordre d'éviction</a:t>
            </a:r>
            <a:r>
              <a:rPr lang="en-US" sz="1400" dirty="0">
                <a:solidFill>
                  <a:srgbClr val="3F3C6B"/>
                </a:solidFill>
                <a:latin typeface="IBM Plex Sans" pitchFamily="34" charset="0"/>
                <a:ea typeface="IBM Plex Sans" pitchFamily="34" charset="-122"/>
                <a:cs typeface="IBM Plex Sans" pitchFamily="34" charset="-120"/>
              </a:rPr>
              <a:t> quand un nœud manque de mémoire.</a:t>
            </a:r>
            <a:endParaRPr lang="en-US" sz="1400" dirty="0"/>
          </a:p>
        </p:txBody>
      </p:sp>
      <p:sp>
        <p:nvSpPr>
          <p:cNvPr id="5" name="Shape 3"/>
          <p:cNvSpPr/>
          <p:nvPr/>
        </p:nvSpPr>
        <p:spPr>
          <a:xfrm>
            <a:off x="815975" y="2223095"/>
            <a:ext cx="3414183" cy="3001010"/>
          </a:xfrm>
          <a:prstGeom prst="roundRect">
            <a:avLst>
              <a:gd name="adj" fmla="val 4126"/>
            </a:avLst>
          </a:prstGeom>
          <a:solidFill>
            <a:srgbClr val="FDFDFF"/>
          </a:solidFill>
          <a:ln w="6350">
            <a:solidFill>
              <a:srgbClr val="E1DFEE"/>
            </a:solidFill>
            <a:prstDash val="solid"/>
          </a:ln>
        </p:spPr>
      </p:sp>
      <p:sp>
        <p:nvSpPr>
          <p:cNvPr id="6" name="Shape 4"/>
          <p:cNvSpPr/>
          <p:nvPr/>
        </p:nvSpPr>
        <p:spPr>
          <a:xfrm>
            <a:off x="908791" y="2315964"/>
            <a:ext cx="3228552" cy="609600"/>
          </a:xfrm>
          <a:prstGeom prst="roundRect">
            <a:avLst>
              <a:gd name="adj" fmla="val 14583"/>
            </a:avLst>
          </a:prstGeom>
          <a:solidFill>
            <a:srgbClr val="EE6A3C"/>
          </a:solidFill>
          <a:ln/>
        </p:spPr>
      </p:sp>
      <p:sp>
        <p:nvSpPr>
          <p:cNvPr id="7" name="Text 5"/>
          <p:cNvSpPr/>
          <p:nvPr/>
        </p:nvSpPr>
        <p:spPr>
          <a:xfrm>
            <a:off x="1061191" y="2442964"/>
            <a:ext cx="2029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0B0748"/>
                </a:solidFill>
                <a:latin typeface="Sora" pitchFamily="34" charset="0"/>
                <a:ea typeface="Sora" pitchFamily="34" charset="-122"/>
                <a:cs typeface="Sora" pitchFamily="34" charset="-120"/>
              </a:rPr>
              <a:t>1</a:t>
            </a:r>
            <a:endParaRPr lang="en-US" sz="2800" dirty="0"/>
          </a:p>
        </p:txBody>
      </p:sp>
      <p:sp>
        <p:nvSpPr>
          <p:cNvPr id="8" name="Text 6"/>
          <p:cNvSpPr/>
          <p:nvPr/>
        </p:nvSpPr>
        <p:spPr>
          <a:xfrm>
            <a:off x="1327679" y="2521645"/>
            <a:ext cx="15848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B0748"/>
                </a:solidFill>
                <a:latin typeface="IBM Plex Sans" pitchFamily="34" charset="0"/>
                <a:ea typeface="IBM Plex Sans" pitchFamily="34" charset="-122"/>
                <a:cs typeface="IBM Plex Sans" pitchFamily="34" charset="-120"/>
              </a:rPr>
              <a:t>Expulsé en premier</a:t>
            </a:r>
            <a:endParaRPr lang="en-US" sz="1200" dirty="0"/>
          </a:p>
        </p:txBody>
      </p:sp>
      <p:sp>
        <p:nvSpPr>
          <p:cNvPr id="9" name="Text 7"/>
          <p:cNvSpPr/>
          <p:nvPr/>
        </p:nvSpPr>
        <p:spPr>
          <a:xfrm>
            <a:off x="1023091" y="3065264"/>
            <a:ext cx="308995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B0748"/>
                </a:solidFill>
                <a:latin typeface="JetBrains Mono" pitchFamily="49" charset="0"/>
                <a:ea typeface="JetBrains Mono" pitchFamily="49" charset="-122"/>
                <a:cs typeface="JetBrains Mono" pitchFamily="49" charset="-120"/>
              </a:rPr>
              <a:t>BestEffort</a:t>
            </a:r>
            <a:endParaRPr lang="en-US" sz="1700" dirty="0"/>
          </a:p>
        </p:txBody>
      </p:sp>
      <p:sp>
        <p:nvSpPr>
          <p:cNvPr id="10" name="Text 8"/>
          <p:cNvSpPr/>
          <p:nvPr/>
        </p:nvSpPr>
        <p:spPr>
          <a:xfrm>
            <a:off x="1023091" y="3430984"/>
            <a:ext cx="30899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Aucune request ni limit.</a:t>
            </a:r>
            <a:endParaRPr lang="en-US" sz="1300" dirty="0"/>
          </a:p>
        </p:txBody>
      </p:sp>
      <p:sp>
        <p:nvSpPr>
          <p:cNvPr id="11" name="Shape 9"/>
          <p:cNvSpPr/>
          <p:nvPr/>
        </p:nvSpPr>
        <p:spPr>
          <a:xfrm>
            <a:off x="4388908" y="2223095"/>
            <a:ext cx="3414183" cy="3001010"/>
          </a:xfrm>
          <a:prstGeom prst="roundRect">
            <a:avLst>
              <a:gd name="adj" fmla="val 4126"/>
            </a:avLst>
          </a:prstGeom>
          <a:solidFill>
            <a:srgbClr val="FDFDFF"/>
          </a:solidFill>
          <a:ln w="6350">
            <a:solidFill>
              <a:srgbClr val="E1DFEE"/>
            </a:solidFill>
            <a:prstDash val="solid"/>
          </a:ln>
        </p:spPr>
      </p:sp>
      <p:sp>
        <p:nvSpPr>
          <p:cNvPr id="12" name="Shape 10"/>
          <p:cNvSpPr/>
          <p:nvPr/>
        </p:nvSpPr>
        <p:spPr>
          <a:xfrm>
            <a:off x="4481724" y="2315964"/>
            <a:ext cx="3228552" cy="650240"/>
          </a:xfrm>
          <a:prstGeom prst="roundRect">
            <a:avLst>
              <a:gd name="adj" fmla="val 13672"/>
            </a:avLst>
          </a:prstGeom>
          <a:solidFill>
            <a:srgbClr val="FCE6DC"/>
          </a:solidFill>
          <a:ln/>
        </p:spPr>
      </p:sp>
      <p:sp>
        <p:nvSpPr>
          <p:cNvPr id="13" name="Text 11"/>
          <p:cNvSpPr/>
          <p:nvPr/>
        </p:nvSpPr>
        <p:spPr>
          <a:xfrm>
            <a:off x="4634124" y="2463304"/>
            <a:ext cx="178117"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0B0748"/>
                </a:solidFill>
                <a:latin typeface="Sora" pitchFamily="34" charset="0"/>
                <a:ea typeface="Sora" pitchFamily="34" charset="-122"/>
                <a:cs typeface="Sora" pitchFamily="34" charset="-120"/>
              </a:rPr>
              <a:t>2</a:t>
            </a:r>
            <a:endParaRPr lang="en-US" sz="2800" dirty="0"/>
          </a:p>
        </p:txBody>
      </p:sp>
      <p:sp>
        <p:nvSpPr>
          <p:cNvPr id="14" name="Text 12"/>
          <p:cNvSpPr/>
          <p:nvPr/>
        </p:nvSpPr>
        <p:spPr>
          <a:xfrm>
            <a:off x="4875742" y="2442964"/>
            <a:ext cx="2762598"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B0748"/>
                </a:solidFill>
                <a:latin typeface="IBM Plex Sans" pitchFamily="34" charset="0"/>
                <a:ea typeface="IBM Plex Sans" pitchFamily="34" charset="-122"/>
                <a:cs typeface="IBM Plex Sans" pitchFamily="34" charset="-120"/>
              </a:rPr>
              <a:t>Expulsé en second, d'abord ceux qui dépassent le plus leurs requests</a:t>
            </a:r>
            <a:endParaRPr lang="en-US" sz="1200" dirty="0"/>
          </a:p>
        </p:txBody>
      </p:sp>
      <p:sp>
        <p:nvSpPr>
          <p:cNvPr id="15" name="Text 13"/>
          <p:cNvSpPr/>
          <p:nvPr/>
        </p:nvSpPr>
        <p:spPr>
          <a:xfrm>
            <a:off x="4596024" y="3105845"/>
            <a:ext cx="308995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B0748"/>
                </a:solidFill>
                <a:latin typeface="JetBrains Mono" pitchFamily="49" charset="0"/>
                <a:ea typeface="JetBrains Mono" pitchFamily="49" charset="-122"/>
                <a:cs typeface="JetBrains Mono" pitchFamily="49" charset="-120"/>
              </a:rPr>
              <a:t>Burstable</a:t>
            </a:r>
            <a:endParaRPr lang="en-US" sz="1700" dirty="0"/>
          </a:p>
        </p:txBody>
      </p:sp>
      <p:sp>
        <p:nvSpPr>
          <p:cNvPr id="16" name="Text 14"/>
          <p:cNvSpPr/>
          <p:nvPr/>
        </p:nvSpPr>
        <p:spPr>
          <a:xfrm>
            <a:off x="4596024" y="3471664"/>
            <a:ext cx="30899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Au moins une request ou une limit, sans remplir la condition de Guaranteed.</a:t>
            </a:r>
            <a:endParaRPr lang="en-US" sz="1300" dirty="0"/>
          </a:p>
        </p:txBody>
      </p:sp>
      <p:sp>
        <p:nvSpPr>
          <p:cNvPr id="17" name="Shape 15"/>
          <p:cNvSpPr/>
          <p:nvPr/>
        </p:nvSpPr>
        <p:spPr>
          <a:xfrm>
            <a:off x="7961842" y="2223095"/>
            <a:ext cx="3414183" cy="3001010"/>
          </a:xfrm>
          <a:prstGeom prst="roundRect">
            <a:avLst>
              <a:gd name="adj" fmla="val 4126"/>
            </a:avLst>
          </a:prstGeom>
          <a:solidFill>
            <a:srgbClr val="FDFDFF"/>
          </a:solidFill>
          <a:ln w="6350">
            <a:solidFill>
              <a:srgbClr val="E1DFEE"/>
            </a:solidFill>
            <a:prstDash val="solid"/>
          </a:ln>
        </p:spPr>
      </p:sp>
      <p:sp>
        <p:nvSpPr>
          <p:cNvPr id="18" name="Shape 16"/>
          <p:cNvSpPr/>
          <p:nvPr/>
        </p:nvSpPr>
        <p:spPr>
          <a:xfrm>
            <a:off x="8054657" y="2315964"/>
            <a:ext cx="3228552" cy="609600"/>
          </a:xfrm>
          <a:prstGeom prst="roundRect">
            <a:avLst>
              <a:gd name="adj" fmla="val 14583"/>
            </a:avLst>
          </a:prstGeom>
          <a:solidFill>
            <a:srgbClr val="0B0748"/>
          </a:solidFill>
          <a:ln/>
        </p:spPr>
      </p:sp>
      <p:sp>
        <p:nvSpPr>
          <p:cNvPr id="19" name="Text 17"/>
          <p:cNvSpPr/>
          <p:nvPr/>
        </p:nvSpPr>
        <p:spPr>
          <a:xfrm>
            <a:off x="8207057" y="2442964"/>
            <a:ext cx="27559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5F4F9"/>
                </a:solidFill>
                <a:latin typeface="Sora" pitchFamily="34" charset="0"/>
                <a:ea typeface="Sora" pitchFamily="34" charset="-122"/>
                <a:cs typeface="Sora" pitchFamily="34" charset="-120"/>
              </a:rPr>
              <a:t>3</a:t>
            </a:r>
            <a:endParaRPr lang="en-US" sz="2800" dirty="0"/>
          </a:p>
        </p:txBody>
      </p:sp>
      <p:sp>
        <p:nvSpPr>
          <p:cNvPr id="20" name="Text 18"/>
          <p:cNvSpPr/>
          <p:nvPr/>
        </p:nvSpPr>
        <p:spPr>
          <a:xfrm>
            <a:off x="8546147" y="2521645"/>
            <a:ext cx="152996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5F4F9"/>
                </a:solidFill>
                <a:latin typeface="IBM Plex Sans" pitchFamily="34" charset="0"/>
                <a:ea typeface="IBM Plex Sans" pitchFamily="34" charset="-122"/>
                <a:cs typeface="IBM Plex Sans" pitchFamily="34" charset="-120"/>
              </a:rPr>
              <a:t>Expulsé en dernier</a:t>
            </a:r>
            <a:endParaRPr lang="en-US" sz="1200" dirty="0"/>
          </a:p>
        </p:txBody>
      </p:sp>
      <p:sp>
        <p:nvSpPr>
          <p:cNvPr id="21" name="Text 19"/>
          <p:cNvSpPr/>
          <p:nvPr/>
        </p:nvSpPr>
        <p:spPr>
          <a:xfrm>
            <a:off x="8168957" y="3065264"/>
            <a:ext cx="308995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B0748"/>
                </a:solidFill>
                <a:latin typeface="JetBrains Mono" pitchFamily="49" charset="0"/>
                <a:ea typeface="JetBrains Mono" pitchFamily="49" charset="-122"/>
                <a:cs typeface="JetBrains Mono" pitchFamily="49" charset="-120"/>
              </a:rPr>
              <a:t>Guaranteed</a:t>
            </a:r>
            <a:endParaRPr lang="en-US" sz="1700" dirty="0"/>
          </a:p>
        </p:txBody>
      </p:sp>
      <p:sp>
        <p:nvSpPr>
          <p:cNvPr id="22" name="Text 20"/>
          <p:cNvSpPr/>
          <p:nvPr/>
        </p:nvSpPr>
        <p:spPr>
          <a:xfrm>
            <a:off x="8168957" y="3430984"/>
            <a:ext cx="30899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Chaque conteneur a des requests égales à ses limits, pour le CPU et la mémoire.</a:t>
            </a:r>
            <a:endParaRPr lang="en-US" sz="1300" dirty="0"/>
          </a:p>
        </p:txBody>
      </p:sp>
      <p:sp>
        <p:nvSpPr>
          <p:cNvPr id="23" name="Text 21"/>
          <p:cNvSpPr/>
          <p:nvPr/>
        </p:nvSpPr>
        <p:spPr>
          <a:xfrm>
            <a:off x="812800" y="5417840"/>
            <a:ext cx="10566400" cy="424180"/>
          </a:xfrm>
          <a:prstGeom prst="roundRect">
            <a:avLst>
              <a:gd name="adj" fmla="val 23952"/>
            </a:avLst>
          </a:prstGeom>
          <a:solidFill>
            <a:srgbClr val="ECEAF6"/>
          </a:solidFill>
          <a:ln/>
        </p:spPr>
        <p:txBody>
          <a:bodyPr wrap="none" lIns="148042" tIns="59142" rIns="0" bIns="59142" rtlCol="0" anchor="ctr">
            <a:normAutofit/>
          </a:bodyPr>
          <a:lstStyle/>
          <a:p>
            <a:pPr algn="l" indent="0" marL="0">
              <a:lnSpc>
                <a:spcPts val="1740"/>
              </a:lnSpc>
              <a:buNone/>
            </a:pPr>
            <a:r>
              <a:rPr lang="en-US" sz="1200" dirty="0">
                <a:solidFill>
                  <a:srgbClr val="0B0748"/>
                </a:solidFill>
                <a:latin typeface="JetBrains Mono" pitchFamily="49" charset="0"/>
                <a:ea typeface="JetBrains Mono" pitchFamily="49" charset="-122"/>
                <a:cs typeface="JetBrains Mono" pitchFamily="49" charset="-120"/>
              </a:rPr>
              <a:t>kubectl get pods -o custom-columns=NOM:.metadata.name,QOS:.status.qosClass</a:t>
            </a:r>
            <a:endParaRPr lang="en-US" sz="1200" dirty="0"/>
          </a:p>
        </p:txBody>
      </p:sp>
      <p:pic>
        <p:nvPicPr>
          <p:cNvPr id="24"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5" name="Text 22"/>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6" name="Image 1" descr="Parcours : module 1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11 · GÉRER LES RESSOURCES</a:t>
            </a:r>
            <a:endParaRPr lang="en-US" sz="1200" dirty="0"/>
          </a:p>
        </p:txBody>
      </p:sp>
      <p:sp>
        <p:nvSpPr>
          <p:cNvPr id="3" name="Text 1"/>
          <p:cNvSpPr/>
          <p:nvPr>
            <p:ph type="title"/>
          </p:nvPr>
        </p:nvSpPr>
        <p:spPr>
          <a:xfrm>
            <a:off x="812800" y="949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Bien dimensionner</a:t>
            </a:r>
            <a:endParaRPr lang="en-US" sz="2800" dirty="0"/>
          </a:p>
        </p:txBody>
      </p:sp>
      <p:sp>
        <p:nvSpPr>
          <p:cNvPr id="4" name="Shape 2"/>
          <p:cNvSpPr/>
          <p:nvPr/>
        </p:nvSpPr>
        <p:spPr>
          <a:xfrm>
            <a:off x="815975" y="1496715"/>
            <a:ext cx="3414183" cy="2091690"/>
          </a:xfrm>
          <a:prstGeom prst="roundRect">
            <a:avLst>
              <a:gd name="adj" fmla="val 5920"/>
            </a:avLst>
          </a:prstGeom>
          <a:solidFill>
            <a:srgbClr val="FDFDFF"/>
          </a:solidFill>
          <a:ln w="6350">
            <a:solidFill>
              <a:srgbClr val="E1DFEE"/>
            </a:solidFill>
            <a:prstDash val="solid"/>
          </a:ln>
        </p:spPr>
      </p:sp>
      <p:sp>
        <p:nvSpPr>
          <p:cNvPr id="5" name="Text 3"/>
          <p:cNvSpPr/>
          <p:nvPr/>
        </p:nvSpPr>
        <p:spPr>
          <a:xfrm>
            <a:off x="997691" y="1652984"/>
            <a:ext cx="159491"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E25A2C"/>
                </a:solidFill>
                <a:latin typeface="Sora" pitchFamily="34" charset="0"/>
                <a:ea typeface="Sora" pitchFamily="34" charset="-122"/>
                <a:cs typeface="Sora" pitchFamily="34" charset="-120"/>
              </a:rPr>
              <a:t>1</a:t>
            </a:r>
            <a:endParaRPr lang="en-US" sz="2000" dirty="0"/>
          </a:p>
        </p:txBody>
      </p:sp>
      <p:sp>
        <p:nvSpPr>
          <p:cNvPr id="6" name="Text 4"/>
          <p:cNvSpPr/>
          <p:nvPr/>
        </p:nvSpPr>
        <p:spPr>
          <a:xfrm>
            <a:off x="1207982" y="1697335"/>
            <a:ext cx="301900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Toujours déclarer des requests</a:t>
            </a:r>
            <a:endParaRPr lang="en-US" sz="1400" dirty="0"/>
          </a:p>
        </p:txBody>
      </p:sp>
      <p:sp>
        <p:nvSpPr>
          <p:cNvPr id="7" name="Text 5"/>
          <p:cNvSpPr/>
          <p:nvPr/>
        </p:nvSpPr>
        <p:spPr>
          <a:xfrm>
            <a:off x="997691" y="1995785"/>
            <a:ext cx="3142274" cy="445982"/>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Sans elles, le scheduler empile les pods à l'aveugle et l'autoscaling ne fonctionne pas.</a:t>
            </a:r>
            <a:endParaRPr lang="en-US" sz="1200" dirty="0"/>
          </a:p>
        </p:txBody>
      </p:sp>
      <p:sp>
        <p:nvSpPr>
          <p:cNvPr id="8" name="Shape 6"/>
          <p:cNvSpPr/>
          <p:nvPr/>
        </p:nvSpPr>
        <p:spPr>
          <a:xfrm>
            <a:off x="4388908" y="1496715"/>
            <a:ext cx="3414183" cy="2091690"/>
          </a:xfrm>
          <a:prstGeom prst="roundRect">
            <a:avLst>
              <a:gd name="adj" fmla="val 5920"/>
            </a:avLst>
          </a:prstGeom>
          <a:solidFill>
            <a:srgbClr val="FDFDFF"/>
          </a:solidFill>
          <a:ln w="6350">
            <a:solidFill>
              <a:srgbClr val="E1DFEE"/>
            </a:solidFill>
            <a:prstDash val="solid"/>
          </a:ln>
        </p:spPr>
      </p:sp>
      <p:sp>
        <p:nvSpPr>
          <p:cNvPr id="9" name="Text 7"/>
          <p:cNvSpPr/>
          <p:nvPr/>
        </p:nvSpPr>
        <p:spPr>
          <a:xfrm>
            <a:off x="4570624" y="1652984"/>
            <a:ext cx="211349"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E25A2C"/>
                </a:solidFill>
                <a:latin typeface="Sora" pitchFamily="34" charset="0"/>
                <a:ea typeface="Sora" pitchFamily="34" charset="-122"/>
                <a:cs typeface="Sora" pitchFamily="34" charset="-120"/>
              </a:rPr>
              <a:t>2</a:t>
            </a:r>
            <a:endParaRPr lang="en-US" sz="2000" dirty="0"/>
          </a:p>
        </p:txBody>
      </p:sp>
      <p:sp>
        <p:nvSpPr>
          <p:cNvPr id="10" name="Text 8"/>
          <p:cNvSpPr/>
          <p:nvPr/>
        </p:nvSpPr>
        <p:spPr>
          <a:xfrm>
            <a:off x="4832773" y="1697335"/>
            <a:ext cx="241071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Mesurer avant de fixer</a:t>
            </a:r>
            <a:endParaRPr lang="en-US" sz="1400" dirty="0"/>
          </a:p>
        </p:txBody>
      </p:sp>
      <p:sp>
        <p:nvSpPr>
          <p:cNvPr id="11" name="Text 9"/>
          <p:cNvSpPr/>
          <p:nvPr/>
        </p:nvSpPr>
        <p:spPr>
          <a:xfrm>
            <a:off x="4570624" y="1995785"/>
            <a:ext cx="3142274" cy="866563"/>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Observer la consommation réelle (kubectl top, Prometheus) sur une période représentative, puis fixer les requests un peu au-dessus.</a:t>
            </a:r>
            <a:endParaRPr lang="en-US" sz="1200" dirty="0"/>
          </a:p>
        </p:txBody>
      </p:sp>
      <p:sp>
        <p:nvSpPr>
          <p:cNvPr id="12" name="Shape 10"/>
          <p:cNvSpPr/>
          <p:nvPr/>
        </p:nvSpPr>
        <p:spPr>
          <a:xfrm>
            <a:off x="7961842" y="1496715"/>
            <a:ext cx="3414183" cy="2091690"/>
          </a:xfrm>
          <a:prstGeom prst="roundRect">
            <a:avLst>
              <a:gd name="adj" fmla="val 5920"/>
            </a:avLst>
          </a:prstGeom>
          <a:solidFill>
            <a:srgbClr val="FDFDFF"/>
          </a:solidFill>
          <a:ln w="6350">
            <a:solidFill>
              <a:srgbClr val="E1DFEE"/>
            </a:solidFill>
            <a:prstDash val="solid"/>
          </a:ln>
        </p:spPr>
      </p:sp>
      <p:sp>
        <p:nvSpPr>
          <p:cNvPr id="13" name="Text 11"/>
          <p:cNvSpPr/>
          <p:nvPr/>
        </p:nvSpPr>
        <p:spPr>
          <a:xfrm>
            <a:off x="8143557" y="1652984"/>
            <a:ext cx="211349"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E25A2C"/>
                </a:solidFill>
                <a:latin typeface="Sora" pitchFamily="34" charset="0"/>
                <a:ea typeface="Sora" pitchFamily="34" charset="-122"/>
                <a:cs typeface="Sora" pitchFamily="34" charset="-120"/>
              </a:rPr>
              <a:t>3</a:t>
            </a:r>
            <a:endParaRPr lang="en-US" sz="2000" dirty="0"/>
          </a:p>
        </p:txBody>
      </p:sp>
      <p:sp>
        <p:nvSpPr>
          <p:cNvPr id="14" name="Text 12"/>
          <p:cNvSpPr/>
          <p:nvPr/>
        </p:nvSpPr>
        <p:spPr>
          <a:xfrm>
            <a:off x="8405707" y="1697335"/>
            <a:ext cx="269862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Mémoire : limit = request</a:t>
            </a:r>
            <a:endParaRPr lang="en-US" sz="1400" dirty="0"/>
          </a:p>
        </p:txBody>
      </p:sp>
      <p:sp>
        <p:nvSpPr>
          <p:cNvPr id="15" name="Text 13"/>
          <p:cNvSpPr/>
          <p:nvPr/>
        </p:nvSpPr>
        <p:spPr>
          <a:xfrm>
            <a:off x="8143557" y="1995785"/>
            <a:ext cx="3142274" cy="656272"/>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Le pod ne consomme jamais plus que sa réservation ; les arrêts pour manque de mémoire deviennent prévisibles.</a:t>
            </a:r>
            <a:endParaRPr lang="en-US" sz="1200" dirty="0"/>
          </a:p>
        </p:txBody>
      </p:sp>
      <p:sp>
        <p:nvSpPr>
          <p:cNvPr id="16" name="Shape 14"/>
          <p:cNvSpPr/>
          <p:nvPr/>
        </p:nvSpPr>
        <p:spPr>
          <a:xfrm>
            <a:off x="815975" y="3747095"/>
            <a:ext cx="3418840" cy="2091690"/>
          </a:xfrm>
          <a:prstGeom prst="roundRect">
            <a:avLst>
              <a:gd name="adj" fmla="val 5920"/>
            </a:avLst>
          </a:prstGeom>
          <a:solidFill>
            <a:srgbClr val="FDFDFF"/>
          </a:solidFill>
          <a:ln w="6350">
            <a:solidFill>
              <a:srgbClr val="E1DFEE"/>
            </a:solidFill>
            <a:prstDash val="solid"/>
          </a:ln>
        </p:spPr>
      </p:sp>
      <p:sp>
        <p:nvSpPr>
          <p:cNvPr id="17" name="Text 15"/>
          <p:cNvSpPr/>
          <p:nvPr/>
        </p:nvSpPr>
        <p:spPr>
          <a:xfrm>
            <a:off x="997691" y="3903464"/>
            <a:ext cx="207857"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E25A2C"/>
                </a:solidFill>
                <a:latin typeface="Sora" pitchFamily="34" charset="0"/>
                <a:ea typeface="Sora" pitchFamily="34" charset="-122"/>
                <a:cs typeface="Sora" pitchFamily="34" charset="-120"/>
              </a:rPr>
              <a:t>4</a:t>
            </a:r>
            <a:endParaRPr lang="en-US" sz="2000" dirty="0"/>
          </a:p>
        </p:txBody>
      </p:sp>
      <p:sp>
        <p:nvSpPr>
          <p:cNvPr id="18" name="Text 16"/>
          <p:cNvSpPr/>
          <p:nvPr/>
        </p:nvSpPr>
        <p:spPr>
          <a:xfrm>
            <a:off x="1256348" y="3947815"/>
            <a:ext cx="2880654"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CPU : limit généreuse, ou absente</a:t>
            </a:r>
            <a:endParaRPr lang="en-US" sz="1400" dirty="0"/>
          </a:p>
        </p:txBody>
      </p:sp>
      <p:sp>
        <p:nvSpPr>
          <p:cNvPr id="19" name="Text 17"/>
          <p:cNvSpPr/>
          <p:nvPr/>
        </p:nvSpPr>
        <p:spPr>
          <a:xfrm>
            <a:off x="997691" y="4468515"/>
            <a:ext cx="3147071" cy="866563"/>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Une limit trop basse ralentit même un nœud inactif. Beaucoup ne fixent que la request ; d'autres imposent une limit. Choisissez en connaissance de cause.</a:t>
            </a:r>
            <a:endParaRPr lang="en-US" sz="1200" dirty="0"/>
          </a:p>
        </p:txBody>
      </p:sp>
      <p:sp>
        <p:nvSpPr>
          <p:cNvPr id="20" name="Shape 18"/>
          <p:cNvSpPr/>
          <p:nvPr/>
        </p:nvSpPr>
        <p:spPr>
          <a:xfrm>
            <a:off x="4393565" y="3747095"/>
            <a:ext cx="3418946" cy="2091690"/>
          </a:xfrm>
          <a:prstGeom prst="roundRect">
            <a:avLst>
              <a:gd name="adj" fmla="val 5920"/>
            </a:avLst>
          </a:prstGeom>
          <a:solidFill>
            <a:srgbClr val="FDFDFF"/>
          </a:solidFill>
          <a:ln w="6350">
            <a:solidFill>
              <a:srgbClr val="E1DFEE"/>
            </a:solidFill>
            <a:prstDash val="solid"/>
          </a:ln>
        </p:spPr>
      </p:sp>
      <p:sp>
        <p:nvSpPr>
          <p:cNvPr id="21" name="Text 19"/>
          <p:cNvSpPr/>
          <p:nvPr/>
        </p:nvSpPr>
        <p:spPr>
          <a:xfrm>
            <a:off x="4575281" y="3903464"/>
            <a:ext cx="214418"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E25A2C"/>
                </a:solidFill>
                <a:latin typeface="Sora" pitchFamily="34" charset="0"/>
                <a:ea typeface="Sora" pitchFamily="34" charset="-122"/>
                <a:cs typeface="Sora" pitchFamily="34" charset="-120"/>
              </a:rPr>
              <a:t>5</a:t>
            </a:r>
            <a:endParaRPr lang="en-US" sz="2000" dirty="0"/>
          </a:p>
        </p:txBody>
      </p:sp>
      <p:sp>
        <p:nvSpPr>
          <p:cNvPr id="22" name="Text 20"/>
          <p:cNvSpPr/>
          <p:nvPr/>
        </p:nvSpPr>
        <p:spPr>
          <a:xfrm>
            <a:off x="4840499" y="3947815"/>
            <a:ext cx="234797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Java, Node.js, Python</a:t>
            </a:r>
            <a:endParaRPr lang="en-US" sz="1400" dirty="0"/>
          </a:p>
        </p:txBody>
      </p:sp>
      <p:sp>
        <p:nvSpPr>
          <p:cNvPr id="23" name="Text 21"/>
          <p:cNvSpPr/>
          <p:nvPr/>
        </p:nvSpPr>
        <p:spPr>
          <a:xfrm>
            <a:off x="4575281" y="4246265"/>
            <a:ext cx="3147180" cy="656273"/>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Vérifiez que leur gestion mémoire tient compte de la limit du conteneur, sinon elles dépassent et sont tuées.</a:t>
            </a:r>
            <a:endParaRPr lang="en-US" sz="1200" dirty="0"/>
          </a:p>
        </p:txBody>
      </p:sp>
      <p:sp>
        <p:nvSpPr>
          <p:cNvPr id="24" name="Shape 22"/>
          <p:cNvSpPr/>
          <p:nvPr/>
        </p:nvSpPr>
        <p:spPr>
          <a:xfrm>
            <a:off x="7968086" y="3743920"/>
            <a:ext cx="3411114" cy="2098040"/>
          </a:xfrm>
          <a:prstGeom prst="roundRect">
            <a:avLst>
              <a:gd name="adj" fmla="val 6053"/>
            </a:avLst>
          </a:prstGeom>
          <a:solidFill>
            <a:srgbClr val="0B0748"/>
          </a:solidFill>
          <a:ln/>
        </p:spPr>
      </p:sp>
      <p:sp>
        <p:nvSpPr>
          <p:cNvPr id="25" name="Text 23"/>
          <p:cNvSpPr/>
          <p:nvPr/>
        </p:nvSpPr>
        <p:spPr>
          <a:xfrm>
            <a:off x="8145886" y="3896320"/>
            <a:ext cx="31471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SURENGAGEMENT</a:t>
            </a:r>
            <a:endParaRPr lang="en-US" sz="1200" dirty="0"/>
          </a:p>
        </p:txBody>
      </p:sp>
      <p:sp>
        <p:nvSpPr>
          <p:cNvPr id="26" name="Text 24"/>
          <p:cNvSpPr/>
          <p:nvPr/>
        </p:nvSpPr>
        <p:spPr>
          <a:xfrm>
            <a:off x="8145886" y="4173240"/>
            <a:ext cx="3147180" cy="656273"/>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ECEAFF"/>
                </a:solidFill>
                <a:latin typeface="IBM Plex Sans" pitchFamily="34" charset="0"/>
                <a:ea typeface="IBM Plex Sans" pitchFamily="34" charset="-122"/>
                <a:cs typeface="IBM Plex Sans" pitchFamily="34" charset="-120"/>
              </a:rPr>
              <a:t>La somme des limits d'un nœud peut dépasser sa capacité : acceptable pour le CPU, risqué pour la mémoire.</a:t>
            </a:r>
            <a:endParaRPr lang="en-US" sz="1200" dirty="0"/>
          </a:p>
        </p:txBody>
      </p:sp>
      <p:sp>
        <p:nvSpPr>
          <p:cNvPr id="27" name="Text 25"/>
          <p:cNvSpPr/>
          <p:nvPr/>
        </p:nvSpPr>
        <p:spPr>
          <a:xfrm>
            <a:off x="8145886" y="4867573"/>
            <a:ext cx="3147180" cy="591185"/>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B9B6E8"/>
                </a:solidFill>
                <a:latin typeface="IBM Plex Sans" pitchFamily="34" charset="0"/>
                <a:ea typeface="IBM Plex Sans" pitchFamily="34" charset="-122"/>
                <a:cs typeface="IBM Plex Sans" pitchFamily="34" charset="-120"/>
              </a:rPr>
              <a:t>Les versions récentes modifient requests et limits d'un pod en marche, sans le recréer (« in-place resize »).</a:t>
            </a:r>
            <a:endParaRPr lang="en-US" sz="1100" dirty="0"/>
          </a:p>
        </p:txBody>
      </p:sp>
      <p:pic>
        <p:nvPicPr>
          <p:cNvPr id="28"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9" name="Text 2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0" name="Image 1" descr="Parcours : module 1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11 · GÉRER LES RESSOURCES</a:t>
            </a:r>
            <a:endParaRPr lang="en-US" sz="1200" dirty="0"/>
          </a:p>
        </p:txBody>
      </p:sp>
      <p:sp>
        <p:nvSpPr>
          <p:cNvPr id="3" name="Text 1"/>
          <p:cNvSpPr/>
          <p:nvPr>
            <p:ph type="title"/>
          </p:nvPr>
        </p:nvSpPr>
        <p:spPr>
          <a:xfrm>
            <a:off x="812800" y="949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LimitRange : des valeurs par défaut</a:t>
            </a:r>
            <a:endParaRPr lang="en-US" sz="2800" dirty="0"/>
          </a:p>
        </p:txBody>
      </p:sp>
      <p:sp>
        <p:nvSpPr>
          <p:cNvPr id="4" name="Text 2"/>
          <p:cNvSpPr/>
          <p:nvPr/>
        </p:nvSpPr>
        <p:spPr>
          <a:xfrm>
            <a:off x="812800" y="1531640"/>
            <a:ext cx="4826000" cy="4310380"/>
          </a:xfrm>
          <a:prstGeom prst="roundRect">
            <a:avLst>
              <a:gd name="adj" fmla="val 2357"/>
            </a:avLst>
          </a:prstGeom>
          <a:solidFill>
            <a:srgbClr val="0B0748"/>
          </a:solidFill>
          <a:ln/>
        </p:spPr>
        <p:txBody>
          <a:bodyPr wrap="none" lIns="148042" tIns="84542" rIns="13930" bIns="84542" rtlCol="0" anchor="ctr">
            <a:normAutofit/>
          </a:bodyPr>
          <a:lstStyle/>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apiVersion: v1</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kind: </a:t>
            </a:r>
            <a:r>
              <a:rPr lang="en-US" sz="1100" dirty="0">
                <a:solidFill>
                  <a:srgbClr val="FFB08F"/>
                </a:solidFill>
                <a:latin typeface="JetBrains Mono" pitchFamily="49" charset="0"/>
                <a:ea typeface="JetBrains Mono" pitchFamily="49" charset="-122"/>
                <a:cs typeface="JetBrains Mono" pitchFamily="49" charset="-120"/>
              </a:rPr>
              <a:t>LimitRange</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name: defauts-equipe-a</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namespace: equipe-a</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spec:</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limits:</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 type: Container</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defaultRequest:  </a:t>
            </a:r>
            <a:r>
              <a:rPr lang="en-US" sz="1100" dirty="0">
                <a:solidFill>
                  <a:srgbClr val="9A96D0"/>
                </a:solidFill>
                <a:latin typeface="JetBrains Mono" pitchFamily="49" charset="0"/>
                <a:ea typeface="JetBrains Mono" pitchFamily="49" charset="-122"/>
                <a:cs typeface="JetBrains Mono" pitchFamily="49" charset="-120"/>
              </a:rPr>
              <a:t># request ajoutée si absente</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cpu: 100m</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memory: 128Mi</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default:         </a:t>
            </a:r>
            <a:r>
              <a:rPr lang="en-US" sz="1100" dirty="0">
                <a:solidFill>
                  <a:srgbClr val="9A96D0"/>
                </a:solidFill>
                <a:latin typeface="JetBrains Mono" pitchFamily="49" charset="0"/>
                <a:ea typeface="JetBrains Mono" pitchFamily="49" charset="-122"/>
                <a:cs typeface="JetBrains Mono" pitchFamily="49" charset="-120"/>
              </a:rPr>
              <a:t># limit ajoutée si absente</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cpu: 200m</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memory: 128Mi</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max:             </a:t>
            </a:r>
            <a:r>
              <a:rPr lang="en-US" sz="1100" dirty="0">
                <a:solidFill>
                  <a:srgbClr val="9A96D0"/>
                </a:solidFill>
                <a:latin typeface="JetBrains Mono" pitchFamily="49" charset="0"/>
                <a:ea typeface="JetBrains Mono" pitchFamily="49" charset="-122"/>
                <a:cs typeface="JetBrains Mono" pitchFamily="49" charset="-120"/>
              </a:rPr>
              <a:t># au-delà : pod refusé</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cpu: "1"</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memory: 512Mi</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min:</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cpu: 10m</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memory: 16Mi</a:t>
            </a:r>
            <a:endParaRPr lang="en-US" sz="1100" dirty="0"/>
          </a:p>
        </p:txBody>
      </p:sp>
      <p:sp>
        <p:nvSpPr>
          <p:cNvPr id="5" name="Text 3"/>
          <p:cNvSpPr/>
          <p:nvPr/>
        </p:nvSpPr>
        <p:spPr>
          <a:xfrm>
            <a:off x="5994400" y="2208510"/>
            <a:ext cx="554634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Une LimitRange s'applique à </a:t>
            </a:r>
            <a:r>
              <a:rPr lang="en-US" sz="1500" b="1" dirty="0">
                <a:solidFill>
                  <a:srgbClr val="0B0748"/>
                </a:solidFill>
                <a:latin typeface="IBM Plex Sans" pitchFamily="34" charset="0"/>
                <a:ea typeface="IBM Plex Sans" pitchFamily="34" charset="-122"/>
                <a:cs typeface="IBM Plex Sans" pitchFamily="34" charset="-120"/>
              </a:rPr>
              <a:t>un namespace</a:t>
            </a:r>
            <a:r>
              <a:rPr lang="en-US" sz="1500" dirty="0">
                <a:solidFill>
                  <a:srgbClr val="0B0748"/>
                </a:solidFill>
                <a:latin typeface="IBM Plex Sans" pitchFamily="34" charset="0"/>
                <a:ea typeface="IBM Plex Sans" pitchFamily="34" charset="-122"/>
                <a:cs typeface="IBM Plex Sans" pitchFamily="34" charset="-120"/>
              </a:rPr>
              <a:t> : elle donne des valeurs par défaut et des bornes à chaque conteneur.</a:t>
            </a:r>
            <a:endParaRPr lang="en-US" sz="1500" dirty="0"/>
          </a:p>
        </p:txBody>
      </p:sp>
      <p:sp>
        <p:nvSpPr>
          <p:cNvPr id="6" name="Shape 4"/>
          <p:cNvSpPr/>
          <p:nvPr/>
        </p:nvSpPr>
        <p:spPr>
          <a:xfrm>
            <a:off x="6007100" y="2932410"/>
            <a:ext cx="0" cy="617220"/>
          </a:xfrm>
          <a:prstGeom prst="line">
            <a:avLst/>
          </a:prstGeom>
          <a:noFill/>
          <a:ln w="25400">
            <a:solidFill>
              <a:srgbClr val="E25A2C"/>
            </a:solidFill>
            <a:prstDash val="solid"/>
          </a:ln>
        </p:spPr>
      </p:sp>
      <p:sp>
        <p:nvSpPr>
          <p:cNvPr id="7" name="Text 5"/>
          <p:cNvSpPr/>
          <p:nvPr/>
        </p:nvSpPr>
        <p:spPr>
          <a:xfrm>
            <a:off x="6155372" y="2970510"/>
            <a:ext cx="538054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Ajoute</a:t>
            </a:r>
            <a:endParaRPr lang="en-US" sz="1600" dirty="0"/>
          </a:p>
        </p:txBody>
      </p:sp>
      <p:sp>
        <p:nvSpPr>
          <p:cNvPr id="8" name="Text 6"/>
          <p:cNvSpPr/>
          <p:nvPr/>
        </p:nvSpPr>
        <p:spPr>
          <a:xfrm>
            <a:off x="6155372" y="3280370"/>
            <a:ext cx="538054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les valeurs manquantes, à la création de chaque pod</a:t>
            </a:r>
            <a:endParaRPr lang="en-US" sz="1300" dirty="0"/>
          </a:p>
        </p:txBody>
      </p:sp>
      <p:sp>
        <p:nvSpPr>
          <p:cNvPr id="9" name="Shape 7"/>
          <p:cNvSpPr/>
          <p:nvPr/>
        </p:nvSpPr>
        <p:spPr>
          <a:xfrm>
            <a:off x="6007100" y="3740150"/>
            <a:ext cx="0" cy="617220"/>
          </a:xfrm>
          <a:prstGeom prst="line">
            <a:avLst/>
          </a:prstGeom>
          <a:noFill/>
          <a:ln w="25400">
            <a:solidFill>
              <a:srgbClr val="E25A2C"/>
            </a:solidFill>
            <a:prstDash val="solid"/>
          </a:ln>
        </p:spPr>
      </p:sp>
      <p:sp>
        <p:nvSpPr>
          <p:cNvPr id="10" name="Text 8"/>
          <p:cNvSpPr/>
          <p:nvPr/>
        </p:nvSpPr>
        <p:spPr>
          <a:xfrm>
            <a:off x="6155372" y="3778250"/>
            <a:ext cx="538054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Refuse</a:t>
            </a:r>
            <a:endParaRPr lang="en-US" sz="1600" dirty="0"/>
          </a:p>
        </p:txBody>
      </p:sp>
      <p:sp>
        <p:nvSpPr>
          <p:cNvPr id="11" name="Text 9"/>
          <p:cNvSpPr/>
          <p:nvPr/>
        </p:nvSpPr>
        <p:spPr>
          <a:xfrm>
            <a:off x="6155372" y="4088110"/>
            <a:ext cx="538054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les valeurs qui sortent des bornes min et max</a:t>
            </a:r>
            <a:endParaRPr lang="en-US" sz="1300" dirty="0"/>
          </a:p>
        </p:txBody>
      </p:sp>
      <p:sp>
        <p:nvSpPr>
          <p:cNvPr id="12" name="Shape 10"/>
          <p:cNvSpPr/>
          <p:nvPr/>
        </p:nvSpPr>
        <p:spPr>
          <a:xfrm>
            <a:off x="6007100" y="4547890"/>
            <a:ext cx="0" cy="617220"/>
          </a:xfrm>
          <a:prstGeom prst="line">
            <a:avLst/>
          </a:prstGeom>
          <a:noFill/>
          <a:ln w="25400">
            <a:solidFill>
              <a:srgbClr val="E25A2C"/>
            </a:solidFill>
            <a:prstDash val="solid"/>
          </a:ln>
        </p:spPr>
      </p:sp>
      <p:sp>
        <p:nvSpPr>
          <p:cNvPr id="13" name="Text 11"/>
          <p:cNvSpPr/>
          <p:nvPr/>
        </p:nvSpPr>
        <p:spPr>
          <a:xfrm>
            <a:off x="6155372" y="4585990"/>
            <a:ext cx="538054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N'agit pas</a:t>
            </a:r>
            <a:endParaRPr lang="en-US" sz="1600" dirty="0"/>
          </a:p>
        </p:txBody>
      </p:sp>
      <p:sp>
        <p:nvSpPr>
          <p:cNvPr id="14" name="Text 12"/>
          <p:cNvSpPr/>
          <p:nvPr/>
        </p:nvSpPr>
        <p:spPr>
          <a:xfrm>
            <a:off x="6155372" y="4895850"/>
            <a:ext cx="538054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sur les pods déjà créés</a:t>
            </a:r>
            <a:endParaRPr lang="en-US" sz="1300" dirty="0"/>
          </a:p>
        </p:txBody>
      </p:sp>
      <p:pic>
        <p:nvPicPr>
          <p:cNvPr id="15"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6" name="Text 13"/>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7" name="Image 1" descr="Parcours : module 1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11 · GÉRER LES RESSOURCES</a:t>
            </a:r>
            <a:endParaRPr lang="en-US" sz="1200" dirty="0"/>
          </a:p>
        </p:txBody>
      </p:sp>
      <p:sp>
        <p:nvSpPr>
          <p:cNvPr id="3" name="Text 1"/>
          <p:cNvSpPr/>
          <p:nvPr>
            <p:ph type="title"/>
          </p:nvPr>
        </p:nvSpPr>
        <p:spPr>
          <a:xfrm>
            <a:off x="812800" y="949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ResourceQuota : un budget par namespace</a:t>
            </a:r>
            <a:endParaRPr lang="en-US" sz="2800" dirty="0"/>
          </a:p>
        </p:txBody>
      </p:sp>
      <p:sp>
        <p:nvSpPr>
          <p:cNvPr id="4" name="Text 2"/>
          <p:cNvSpPr/>
          <p:nvPr/>
        </p:nvSpPr>
        <p:spPr>
          <a:xfrm>
            <a:off x="812800" y="1531640"/>
            <a:ext cx="4064000" cy="4310380"/>
          </a:xfrm>
          <a:prstGeom prst="roundRect">
            <a:avLst>
              <a:gd name="adj" fmla="val 2500"/>
            </a:avLst>
          </a:prstGeom>
          <a:solidFill>
            <a:srgbClr val="0B0748"/>
          </a:solidFill>
          <a:ln/>
        </p:spPr>
        <p:txBody>
          <a:bodyPr wrap="none" lIns="148042" tIns="84542" rIns="36790" bIns="84542" rtlCol="0" anchor="ctr">
            <a:normAutofit/>
          </a:bodyPr>
          <a:lstStyle/>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apiVersion: v1</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kind: </a:t>
            </a:r>
            <a:r>
              <a:rPr lang="en-US" sz="1100" dirty="0">
                <a:solidFill>
                  <a:srgbClr val="FFB08F"/>
                </a:solidFill>
                <a:latin typeface="JetBrains Mono" pitchFamily="49" charset="0"/>
                <a:ea typeface="JetBrains Mono" pitchFamily="49" charset="-122"/>
                <a:cs typeface="JetBrains Mono" pitchFamily="49" charset="-120"/>
              </a:rPr>
              <a:t>ResourceQuota</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name: quota-equipe-a</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namespace: equipe-a</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spec:</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hard:</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requests.cpu: "1"</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requests.memory: 1Gi</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limits.cpu: "2"</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limits.memory: 2Gi</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pods: "10"</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services: "5"</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persistentvolumeclaims: "4"</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requests.storage: 20Gi</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count/deployments.apps: "5"</a:t>
            </a:r>
            <a:endParaRPr lang="en-US" sz="1100" dirty="0"/>
          </a:p>
        </p:txBody>
      </p:sp>
      <p:sp>
        <p:nvSpPr>
          <p:cNvPr id="5" name="Text 3"/>
          <p:cNvSpPr/>
          <p:nvPr/>
        </p:nvSpPr>
        <p:spPr>
          <a:xfrm>
            <a:off x="5181600" y="1531640"/>
            <a:ext cx="638352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Une ResourceQuota plafonne la consommation </a:t>
            </a:r>
            <a:r>
              <a:rPr lang="en-US" sz="1400" b="1" dirty="0">
                <a:solidFill>
                  <a:srgbClr val="0B0748"/>
                </a:solidFill>
                <a:latin typeface="IBM Plex Sans" pitchFamily="34" charset="0"/>
                <a:ea typeface="IBM Plex Sans" pitchFamily="34" charset="-122"/>
                <a:cs typeface="IBM Plex Sans" pitchFamily="34" charset="-120"/>
              </a:rPr>
              <a:t>totale</a:t>
            </a:r>
            <a:r>
              <a:rPr lang="en-US" sz="1400" dirty="0">
                <a:solidFill>
                  <a:srgbClr val="0B0748"/>
                </a:solidFill>
                <a:latin typeface="IBM Plex Sans" pitchFamily="34" charset="0"/>
                <a:ea typeface="IBM Plex Sans" pitchFamily="34" charset="-122"/>
                <a:cs typeface="IBM Plex Sans" pitchFamily="34" charset="-120"/>
              </a:rPr>
              <a:t> d'un namespace : calcul, stockage, nombre d'objets.</a:t>
            </a:r>
            <a:endParaRPr lang="en-US" sz="1400" dirty="0"/>
          </a:p>
        </p:txBody>
      </p:sp>
      <p:sp>
        <p:nvSpPr>
          <p:cNvPr id="6" name="Text 4"/>
          <p:cNvSpPr/>
          <p:nvPr/>
        </p:nvSpPr>
        <p:spPr>
          <a:xfrm>
            <a:off x="5181600" y="2143720"/>
            <a:ext cx="6197600" cy="645160"/>
          </a:xfrm>
          <a:prstGeom prst="roundRect">
            <a:avLst>
              <a:gd name="adj" fmla="val 15748"/>
            </a:avLst>
          </a:prstGeom>
          <a:solidFill>
            <a:srgbClr val="ECEAF6"/>
          </a:solidFill>
          <a:ln/>
        </p:spPr>
        <p:txBody>
          <a:bodyPr wrap="none" lIns="122642" tIns="59142" rIns="0" bIns="59142" rtlCol="0" anchor="ctr">
            <a:normAutofit/>
          </a:bodyPr>
          <a:lstStyle/>
          <a:p>
            <a:pPr algn="l" indent="0" marL="0">
              <a:lnSpc>
                <a:spcPts val="1740"/>
              </a:lnSpc>
              <a:buNone/>
            </a:pPr>
            <a:r>
              <a:rPr lang="en-US" sz="1200" dirty="0">
                <a:solidFill>
                  <a:srgbClr val="0B0748"/>
                </a:solidFill>
                <a:latin typeface="JetBrains Mono" pitchFamily="49" charset="0"/>
                <a:ea typeface="JetBrains Mono" pitchFamily="49" charset="-122"/>
                <a:cs typeface="JetBrains Mono" pitchFamily="49" charset="-120"/>
              </a:rPr>
              <a:t>kubectl describe quota -n equipe-a</a:t>
            </a:r>
            <a:endParaRPr lang="en-US" sz="1200" dirty="0"/>
          </a:p>
          <a:p>
            <a:pPr algn="l" indent="0" marL="0">
              <a:lnSpc>
                <a:spcPts val="1740"/>
              </a:lnSpc>
              <a:buNone/>
            </a:pPr>
            <a:r>
              <a:rPr lang="en-US" sz="1200" dirty="0">
                <a:solidFill>
                  <a:srgbClr val="6B6890"/>
                </a:solidFill>
                <a:latin typeface="JetBrains Mono" pitchFamily="49" charset="0"/>
                <a:ea typeface="JetBrains Mono" pitchFamily="49" charset="-122"/>
                <a:cs typeface="JetBrains Mono" pitchFamily="49" charset="-120"/>
              </a:rPr>
              <a:t># consommé / autorisé pour chaque ligne</a:t>
            </a:r>
            <a:endParaRPr lang="en-US" sz="1200" dirty="0"/>
          </a:p>
        </p:txBody>
      </p:sp>
      <p:sp>
        <p:nvSpPr>
          <p:cNvPr id="7" name="Text 5"/>
          <p:cNvSpPr/>
          <p:nvPr/>
        </p:nvSpPr>
        <p:spPr>
          <a:xfrm>
            <a:off x="5181600" y="2928640"/>
            <a:ext cx="638352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DEUX COMPORTEMENTS À CONNAÎTRE</a:t>
            </a:r>
            <a:endParaRPr lang="en-US" sz="1200" dirty="0"/>
          </a:p>
        </p:txBody>
      </p:sp>
      <p:sp>
        <p:nvSpPr>
          <p:cNvPr id="8" name="Shape 6"/>
          <p:cNvSpPr/>
          <p:nvPr/>
        </p:nvSpPr>
        <p:spPr>
          <a:xfrm>
            <a:off x="5184775" y="3259435"/>
            <a:ext cx="6191250" cy="1229360"/>
          </a:xfrm>
          <a:prstGeom prst="roundRect">
            <a:avLst>
              <a:gd name="adj" fmla="val 10072"/>
            </a:avLst>
          </a:prstGeom>
          <a:solidFill>
            <a:srgbClr val="FDFDFF"/>
          </a:solidFill>
          <a:ln w="6350">
            <a:solidFill>
              <a:srgbClr val="E1DFEE"/>
            </a:solidFill>
            <a:prstDash val="solid"/>
          </a:ln>
        </p:spPr>
      </p:sp>
      <p:sp>
        <p:nvSpPr>
          <p:cNvPr id="9" name="Text 7"/>
          <p:cNvSpPr/>
          <p:nvPr/>
        </p:nvSpPr>
        <p:spPr>
          <a:xfrm>
            <a:off x="5366491" y="3403104"/>
            <a:ext cx="6002653" cy="239713"/>
          </a:xfrm>
          <a:prstGeom prst="rect">
            <a:avLst/>
          </a:prstGeom>
          <a:noFill/>
          <a:ln/>
        </p:spPr>
        <p:txBody>
          <a:bodyPr wrap="square" lIns="0" tIns="0" rIns="0" bIns="0" rtlCol="0" anchor="t">
            <a:normAutofit/>
          </a:bodyPr>
          <a:lstStyle/>
          <a:p>
            <a:pPr algn="l" indent="0" marL="0">
              <a:lnSpc>
                <a:spcPts val="1688"/>
              </a:lnSpc>
              <a:buNone/>
            </a:pPr>
            <a:r>
              <a:rPr lang="en-US" sz="1350" b="1" dirty="0">
                <a:solidFill>
                  <a:srgbClr val="0B0748"/>
                </a:solidFill>
                <a:latin typeface="Sora" pitchFamily="34" charset="0"/>
                <a:ea typeface="Sora" pitchFamily="34" charset="-122"/>
                <a:cs typeface="Sora" pitchFamily="34" charset="-120"/>
              </a:rPr>
              <a:t>Quota CPU ou mémoire = déclaration obligatoire</a:t>
            </a:r>
            <a:endParaRPr lang="en-US" sz="1350" dirty="0"/>
          </a:p>
        </p:txBody>
      </p:sp>
      <p:sp>
        <p:nvSpPr>
          <p:cNvPr id="10" name="Text 8"/>
          <p:cNvSpPr/>
          <p:nvPr/>
        </p:nvSpPr>
        <p:spPr>
          <a:xfrm>
            <a:off x="5366491" y="3680916"/>
            <a:ext cx="6002653" cy="445982"/>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Tout pod du namespace doit alors déclarer ces ressources, sinon il est refusé. D'où la LimitRange qui fournit des valeurs par défaut.</a:t>
            </a:r>
            <a:endParaRPr lang="en-US" sz="1200" dirty="0"/>
          </a:p>
        </p:txBody>
      </p:sp>
      <p:sp>
        <p:nvSpPr>
          <p:cNvPr id="11" name="Shape 9"/>
          <p:cNvSpPr/>
          <p:nvPr/>
        </p:nvSpPr>
        <p:spPr>
          <a:xfrm>
            <a:off x="5184775" y="4609505"/>
            <a:ext cx="6191250" cy="1229360"/>
          </a:xfrm>
          <a:prstGeom prst="roundRect">
            <a:avLst>
              <a:gd name="adj" fmla="val 10072"/>
            </a:avLst>
          </a:prstGeom>
          <a:solidFill>
            <a:srgbClr val="FDFDFF"/>
          </a:solidFill>
          <a:ln w="6350">
            <a:solidFill>
              <a:srgbClr val="E1DFEE"/>
            </a:solidFill>
            <a:prstDash val="solid"/>
          </a:ln>
        </p:spPr>
      </p:sp>
      <p:sp>
        <p:nvSpPr>
          <p:cNvPr id="12" name="Text 10"/>
          <p:cNvSpPr/>
          <p:nvPr/>
        </p:nvSpPr>
        <p:spPr>
          <a:xfrm>
            <a:off x="5366491" y="4753074"/>
            <a:ext cx="6002653" cy="239713"/>
          </a:xfrm>
          <a:prstGeom prst="rect">
            <a:avLst/>
          </a:prstGeom>
          <a:noFill/>
          <a:ln/>
        </p:spPr>
        <p:txBody>
          <a:bodyPr wrap="square" lIns="0" tIns="0" rIns="0" bIns="0" rtlCol="0" anchor="t">
            <a:normAutofit/>
          </a:bodyPr>
          <a:lstStyle/>
          <a:p>
            <a:pPr algn="l" indent="0" marL="0">
              <a:lnSpc>
                <a:spcPts val="1688"/>
              </a:lnSpc>
              <a:buNone/>
            </a:pPr>
            <a:r>
              <a:rPr lang="en-US" sz="1350" b="1" dirty="0">
                <a:solidFill>
                  <a:srgbClr val="0B0748"/>
                </a:solidFill>
                <a:latin typeface="Sora" pitchFamily="34" charset="0"/>
                <a:ea typeface="Sora" pitchFamily="34" charset="-122"/>
                <a:cs typeface="Sora" pitchFamily="34" charset="-120"/>
              </a:rPr>
              <a:t>Un dépassement ne se voit pas sur le Deployment</a:t>
            </a:r>
            <a:endParaRPr lang="en-US" sz="1350" dirty="0"/>
          </a:p>
        </p:txBody>
      </p:sp>
      <p:sp>
        <p:nvSpPr>
          <p:cNvPr id="13" name="Text 11"/>
          <p:cNvSpPr/>
          <p:nvPr/>
        </p:nvSpPr>
        <p:spPr>
          <a:xfrm>
            <a:off x="5366491" y="5030887"/>
            <a:ext cx="6002653" cy="445982"/>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Le ReplicaSet n'arrive pas à créer ses pods ; l'erreur apparaît dans ses événements : exceeded quota.</a:t>
            </a:r>
            <a:endParaRPr lang="en-US" sz="1200" dirty="0"/>
          </a:p>
        </p:txBody>
      </p:sp>
      <p:pic>
        <p:nvPicPr>
          <p:cNvPr id="14"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5" name="Text 12"/>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6" name="Image 1" descr="Parcours : module 1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11 · LE CALCUL DU TP8</a:t>
            </a:r>
            <a:endParaRPr lang="en-US" sz="1200" dirty="0"/>
          </a:p>
        </p:txBody>
      </p:sp>
      <p:sp>
        <p:nvSpPr>
          <p:cNvPr id="3" name="Text 1"/>
          <p:cNvSpPr/>
          <p:nvPr>
            <p:ph type="title"/>
          </p:nvPr>
        </p:nvSpPr>
        <p:spPr>
          <a:xfrm>
            <a:off x="812800" y="949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Pourquoi le Deployment plafonne à 8 pods sur 15</a:t>
            </a:r>
            <a:endParaRPr lang="en-US" sz="2800" dirty="0"/>
          </a:p>
        </p:txBody>
      </p:sp>
      <p:sp>
        <p:nvSpPr>
          <p:cNvPr id="4" name="Text 2"/>
          <p:cNvSpPr/>
          <p:nvPr/>
        </p:nvSpPr>
        <p:spPr>
          <a:xfrm>
            <a:off x="812800" y="1800225"/>
            <a:ext cx="5673408" cy="977900"/>
          </a:xfrm>
          <a:prstGeom prst="rect">
            <a:avLst/>
          </a:prstGeom>
          <a:noFill/>
          <a:ln/>
        </p:spPr>
        <p:txBody>
          <a:bodyPr wrap="square" lIns="0" tIns="0" rIns="0" bIns="0" rtlCol="0" anchor="t">
            <a:normAutofit/>
          </a:bodyPr>
          <a:lstStyle/>
          <a:p>
            <a:pPr algn="l" indent="0" marL="0">
              <a:lnSpc>
                <a:spcPts val="7500"/>
              </a:lnSpc>
              <a:buNone/>
            </a:pPr>
            <a:r>
              <a:rPr lang="en-US" sz="7500" b="1" spc="-200" kern="0" dirty="0">
                <a:solidFill>
                  <a:srgbClr val="0B0748"/>
                </a:solidFill>
                <a:latin typeface="Sora" pitchFamily="34" charset="0"/>
                <a:ea typeface="Sora" pitchFamily="34" charset="-122"/>
                <a:cs typeface="Sora" pitchFamily="34" charset="-120"/>
              </a:rPr>
              <a:t>1 Gi ÷ 128 Mi</a:t>
            </a:r>
            <a:endParaRPr lang="en-US" sz="7500" dirty="0"/>
          </a:p>
        </p:txBody>
      </p:sp>
      <p:sp>
        <p:nvSpPr>
          <p:cNvPr id="5" name="Text 3"/>
          <p:cNvSpPr/>
          <p:nvPr/>
        </p:nvSpPr>
        <p:spPr>
          <a:xfrm>
            <a:off x="6486208" y="1800225"/>
            <a:ext cx="674370" cy="977900"/>
          </a:xfrm>
          <a:prstGeom prst="rect">
            <a:avLst/>
          </a:prstGeom>
          <a:noFill/>
          <a:ln/>
        </p:spPr>
        <p:txBody>
          <a:bodyPr wrap="square" lIns="0" tIns="0" rIns="0" bIns="0" rtlCol="0" anchor="t">
            <a:normAutofit/>
          </a:bodyPr>
          <a:lstStyle/>
          <a:p>
            <a:pPr algn="l" indent="0" marL="0">
              <a:lnSpc>
                <a:spcPts val="7500"/>
              </a:lnSpc>
              <a:buNone/>
            </a:pPr>
            <a:r>
              <a:rPr lang="en-US" sz="7500" b="1" dirty="0">
                <a:solidFill>
                  <a:srgbClr val="A6A3C6"/>
                </a:solidFill>
                <a:latin typeface="Sora" pitchFamily="34" charset="0"/>
                <a:ea typeface="Sora" pitchFamily="34" charset="-122"/>
                <a:cs typeface="Sora" pitchFamily="34" charset="-120"/>
              </a:rPr>
              <a:t>=</a:t>
            </a:r>
            <a:endParaRPr lang="en-US" sz="7500" dirty="0"/>
          </a:p>
        </p:txBody>
      </p:sp>
      <p:sp>
        <p:nvSpPr>
          <p:cNvPr id="6" name="Text 4"/>
          <p:cNvSpPr/>
          <p:nvPr/>
        </p:nvSpPr>
        <p:spPr>
          <a:xfrm>
            <a:off x="7276782" y="1531640"/>
            <a:ext cx="970788"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E25A2C"/>
                </a:solidFill>
                <a:latin typeface="Sora" pitchFamily="34" charset="0"/>
                <a:ea typeface="Sora" pitchFamily="34" charset="-122"/>
                <a:cs typeface="Sora" pitchFamily="34" charset="-120"/>
              </a:rPr>
              <a:t>8</a:t>
            </a:r>
            <a:endParaRPr lang="en-US" sz="10000" dirty="0"/>
          </a:p>
        </p:txBody>
      </p:sp>
      <p:sp>
        <p:nvSpPr>
          <p:cNvPr id="7" name="Text 5"/>
          <p:cNvSpPr/>
          <p:nvPr/>
        </p:nvSpPr>
        <p:spPr>
          <a:xfrm>
            <a:off x="812800" y="299214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Chaque pod reçoit par défaut une request de 128 Mi (LimitRange) ; le quota autorise 1 Gi de requests mémoire.</a:t>
            </a:r>
            <a:endParaRPr lang="en-US" sz="1500" dirty="0"/>
          </a:p>
        </p:txBody>
      </p:sp>
      <p:sp>
        <p:nvSpPr>
          <p:cNvPr id="8" name="Shape 6"/>
          <p:cNvSpPr/>
          <p:nvPr/>
        </p:nvSpPr>
        <p:spPr>
          <a:xfrm>
            <a:off x="822325" y="5092105"/>
            <a:ext cx="438150" cy="438150"/>
          </a:xfrm>
          <a:prstGeom prst="roundRect">
            <a:avLst>
              <a:gd name="adj" fmla="val 18116"/>
            </a:avLst>
          </a:prstGeom>
          <a:solidFill>
            <a:srgbClr val="0B0748"/>
          </a:solidFill>
          <a:ln w="19050">
            <a:solidFill>
              <a:srgbClr val="0B0748"/>
            </a:solidFill>
            <a:prstDash val="solid"/>
          </a:ln>
        </p:spPr>
      </p:sp>
      <p:sp>
        <p:nvSpPr>
          <p:cNvPr id="9" name="Shape 7"/>
          <p:cNvSpPr/>
          <p:nvPr/>
        </p:nvSpPr>
        <p:spPr>
          <a:xfrm>
            <a:off x="1368425" y="5092105"/>
            <a:ext cx="438150" cy="438150"/>
          </a:xfrm>
          <a:prstGeom prst="roundRect">
            <a:avLst>
              <a:gd name="adj" fmla="val 18116"/>
            </a:avLst>
          </a:prstGeom>
          <a:solidFill>
            <a:srgbClr val="0B0748"/>
          </a:solidFill>
          <a:ln w="19050">
            <a:solidFill>
              <a:srgbClr val="0B0748"/>
            </a:solidFill>
            <a:prstDash val="solid"/>
          </a:ln>
        </p:spPr>
      </p:sp>
      <p:sp>
        <p:nvSpPr>
          <p:cNvPr id="10" name="Shape 8"/>
          <p:cNvSpPr/>
          <p:nvPr/>
        </p:nvSpPr>
        <p:spPr>
          <a:xfrm>
            <a:off x="1914525" y="5092105"/>
            <a:ext cx="438150" cy="438150"/>
          </a:xfrm>
          <a:prstGeom prst="roundRect">
            <a:avLst>
              <a:gd name="adj" fmla="val 18116"/>
            </a:avLst>
          </a:prstGeom>
          <a:solidFill>
            <a:srgbClr val="0B0748"/>
          </a:solidFill>
          <a:ln w="19050">
            <a:solidFill>
              <a:srgbClr val="0B0748"/>
            </a:solidFill>
            <a:prstDash val="solid"/>
          </a:ln>
        </p:spPr>
      </p:sp>
      <p:sp>
        <p:nvSpPr>
          <p:cNvPr id="11" name="Shape 9"/>
          <p:cNvSpPr/>
          <p:nvPr/>
        </p:nvSpPr>
        <p:spPr>
          <a:xfrm>
            <a:off x="2460625" y="5092105"/>
            <a:ext cx="438150" cy="438150"/>
          </a:xfrm>
          <a:prstGeom prst="roundRect">
            <a:avLst>
              <a:gd name="adj" fmla="val 18116"/>
            </a:avLst>
          </a:prstGeom>
          <a:solidFill>
            <a:srgbClr val="0B0748"/>
          </a:solidFill>
          <a:ln w="19050">
            <a:solidFill>
              <a:srgbClr val="0B0748"/>
            </a:solidFill>
            <a:prstDash val="solid"/>
          </a:ln>
        </p:spPr>
      </p:sp>
      <p:sp>
        <p:nvSpPr>
          <p:cNvPr id="12" name="Shape 10"/>
          <p:cNvSpPr/>
          <p:nvPr/>
        </p:nvSpPr>
        <p:spPr>
          <a:xfrm>
            <a:off x="3006725" y="5092105"/>
            <a:ext cx="438150" cy="438150"/>
          </a:xfrm>
          <a:prstGeom prst="roundRect">
            <a:avLst>
              <a:gd name="adj" fmla="val 18116"/>
            </a:avLst>
          </a:prstGeom>
          <a:solidFill>
            <a:srgbClr val="0B0748"/>
          </a:solidFill>
          <a:ln w="19050">
            <a:solidFill>
              <a:srgbClr val="0B0748"/>
            </a:solidFill>
            <a:prstDash val="solid"/>
          </a:ln>
        </p:spPr>
      </p:sp>
      <p:sp>
        <p:nvSpPr>
          <p:cNvPr id="13" name="Shape 11"/>
          <p:cNvSpPr/>
          <p:nvPr/>
        </p:nvSpPr>
        <p:spPr>
          <a:xfrm>
            <a:off x="3552825" y="5092105"/>
            <a:ext cx="438150" cy="438150"/>
          </a:xfrm>
          <a:prstGeom prst="roundRect">
            <a:avLst>
              <a:gd name="adj" fmla="val 18116"/>
            </a:avLst>
          </a:prstGeom>
          <a:solidFill>
            <a:srgbClr val="0B0748"/>
          </a:solidFill>
          <a:ln w="19050">
            <a:solidFill>
              <a:srgbClr val="0B0748"/>
            </a:solidFill>
            <a:prstDash val="solid"/>
          </a:ln>
        </p:spPr>
      </p:sp>
      <p:sp>
        <p:nvSpPr>
          <p:cNvPr id="14" name="Shape 12"/>
          <p:cNvSpPr/>
          <p:nvPr/>
        </p:nvSpPr>
        <p:spPr>
          <a:xfrm>
            <a:off x="4098925" y="5092105"/>
            <a:ext cx="438150" cy="438150"/>
          </a:xfrm>
          <a:prstGeom prst="roundRect">
            <a:avLst>
              <a:gd name="adj" fmla="val 18116"/>
            </a:avLst>
          </a:prstGeom>
          <a:solidFill>
            <a:srgbClr val="0B0748"/>
          </a:solidFill>
          <a:ln w="19050">
            <a:solidFill>
              <a:srgbClr val="0B0748"/>
            </a:solidFill>
            <a:prstDash val="solid"/>
          </a:ln>
        </p:spPr>
      </p:sp>
      <p:sp>
        <p:nvSpPr>
          <p:cNvPr id="15" name="Shape 13"/>
          <p:cNvSpPr/>
          <p:nvPr/>
        </p:nvSpPr>
        <p:spPr>
          <a:xfrm>
            <a:off x="4645025" y="5092105"/>
            <a:ext cx="438150" cy="438150"/>
          </a:xfrm>
          <a:prstGeom prst="roundRect">
            <a:avLst>
              <a:gd name="adj" fmla="val 18116"/>
            </a:avLst>
          </a:prstGeom>
          <a:solidFill>
            <a:srgbClr val="0B0748"/>
          </a:solidFill>
          <a:ln w="19050">
            <a:solidFill>
              <a:srgbClr val="0B0748"/>
            </a:solidFill>
            <a:prstDash val="solid"/>
          </a:ln>
        </p:spPr>
      </p:sp>
      <p:sp>
        <p:nvSpPr>
          <p:cNvPr id="16" name="Shape 14"/>
          <p:cNvSpPr/>
          <p:nvPr/>
        </p:nvSpPr>
        <p:spPr>
          <a:xfrm>
            <a:off x="5191125" y="5092105"/>
            <a:ext cx="438150" cy="438150"/>
          </a:xfrm>
          <a:prstGeom prst="roundRect">
            <a:avLst>
              <a:gd name="adj" fmla="val 18116"/>
            </a:avLst>
          </a:prstGeom>
          <a:noFill/>
          <a:ln w="19050">
            <a:solidFill>
              <a:srgbClr val="A6A3C6"/>
            </a:solidFill>
            <a:prstDash val="dash"/>
          </a:ln>
        </p:spPr>
      </p:sp>
      <p:sp>
        <p:nvSpPr>
          <p:cNvPr id="17" name="Shape 15"/>
          <p:cNvSpPr/>
          <p:nvPr/>
        </p:nvSpPr>
        <p:spPr>
          <a:xfrm>
            <a:off x="5737225" y="5092105"/>
            <a:ext cx="438150" cy="438150"/>
          </a:xfrm>
          <a:prstGeom prst="roundRect">
            <a:avLst>
              <a:gd name="adj" fmla="val 18116"/>
            </a:avLst>
          </a:prstGeom>
          <a:noFill/>
          <a:ln w="19050">
            <a:solidFill>
              <a:srgbClr val="A6A3C6"/>
            </a:solidFill>
            <a:prstDash val="dash"/>
          </a:ln>
        </p:spPr>
      </p:sp>
      <p:sp>
        <p:nvSpPr>
          <p:cNvPr id="18" name="Shape 16"/>
          <p:cNvSpPr/>
          <p:nvPr/>
        </p:nvSpPr>
        <p:spPr>
          <a:xfrm>
            <a:off x="6283325" y="5092105"/>
            <a:ext cx="438150" cy="438150"/>
          </a:xfrm>
          <a:prstGeom prst="roundRect">
            <a:avLst>
              <a:gd name="adj" fmla="val 18116"/>
            </a:avLst>
          </a:prstGeom>
          <a:noFill/>
          <a:ln w="19050">
            <a:solidFill>
              <a:srgbClr val="A6A3C6"/>
            </a:solidFill>
            <a:prstDash val="dash"/>
          </a:ln>
        </p:spPr>
      </p:sp>
      <p:sp>
        <p:nvSpPr>
          <p:cNvPr id="19" name="Shape 17"/>
          <p:cNvSpPr/>
          <p:nvPr/>
        </p:nvSpPr>
        <p:spPr>
          <a:xfrm>
            <a:off x="6829425" y="5092105"/>
            <a:ext cx="438150" cy="438150"/>
          </a:xfrm>
          <a:prstGeom prst="roundRect">
            <a:avLst>
              <a:gd name="adj" fmla="val 18116"/>
            </a:avLst>
          </a:prstGeom>
          <a:noFill/>
          <a:ln w="19050">
            <a:solidFill>
              <a:srgbClr val="A6A3C6"/>
            </a:solidFill>
            <a:prstDash val="dash"/>
          </a:ln>
        </p:spPr>
      </p:sp>
      <p:sp>
        <p:nvSpPr>
          <p:cNvPr id="20" name="Shape 18"/>
          <p:cNvSpPr/>
          <p:nvPr/>
        </p:nvSpPr>
        <p:spPr>
          <a:xfrm>
            <a:off x="7375525" y="5092105"/>
            <a:ext cx="438150" cy="438150"/>
          </a:xfrm>
          <a:prstGeom prst="roundRect">
            <a:avLst>
              <a:gd name="adj" fmla="val 18116"/>
            </a:avLst>
          </a:prstGeom>
          <a:noFill/>
          <a:ln w="19050">
            <a:solidFill>
              <a:srgbClr val="A6A3C6"/>
            </a:solidFill>
            <a:prstDash val="dash"/>
          </a:ln>
        </p:spPr>
      </p:sp>
      <p:sp>
        <p:nvSpPr>
          <p:cNvPr id="21" name="Shape 19"/>
          <p:cNvSpPr/>
          <p:nvPr/>
        </p:nvSpPr>
        <p:spPr>
          <a:xfrm>
            <a:off x="7921625" y="5092105"/>
            <a:ext cx="438150" cy="438150"/>
          </a:xfrm>
          <a:prstGeom prst="roundRect">
            <a:avLst>
              <a:gd name="adj" fmla="val 18116"/>
            </a:avLst>
          </a:prstGeom>
          <a:noFill/>
          <a:ln w="19050">
            <a:solidFill>
              <a:srgbClr val="A6A3C6"/>
            </a:solidFill>
            <a:prstDash val="dash"/>
          </a:ln>
        </p:spPr>
      </p:sp>
      <p:sp>
        <p:nvSpPr>
          <p:cNvPr id="22" name="Shape 20"/>
          <p:cNvSpPr/>
          <p:nvPr/>
        </p:nvSpPr>
        <p:spPr>
          <a:xfrm>
            <a:off x="8467725" y="5092105"/>
            <a:ext cx="438150" cy="438150"/>
          </a:xfrm>
          <a:prstGeom prst="roundRect">
            <a:avLst>
              <a:gd name="adj" fmla="val 18116"/>
            </a:avLst>
          </a:prstGeom>
          <a:noFill/>
          <a:ln w="19050">
            <a:solidFill>
              <a:srgbClr val="A6A3C6"/>
            </a:solidFill>
            <a:prstDash val="dash"/>
          </a:ln>
        </p:spPr>
      </p:sp>
      <p:sp>
        <p:nvSpPr>
          <p:cNvPr id="23" name="Text 21"/>
          <p:cNvSpPr/>
          <p:nvPr/>
        </p:nvSpPr>
        <p:spPr>
          <a:xfrm>
            <a:off x="812800" y="5628680"/>
            <a:ext cx="10791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8 pods créés</a:t>
            </a:r>
            <a:endParaRPr lang="en-US" sz="1200" dirty="0"/>
          </a:p>
        </p:txBody>
      </p:sp>
      <p:sp>
        <p:nvSpPr>
          <p:cNvPr id="24" name="Text 22"/>
          <p:cNvSpPr/>
          <p:nvPr/>
        </p:nvSpPr>
        <p:spPr>
          <a:xfrm>
            <a:off x="4292071" y="5628680"/>
            <a:ext cx="57308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7 refusés : exceeded quota · le plafond de 10 pods n'est jamais atteint</a:t>
            </a:r>
            <a:endParaRPr lang="en-US" sz="1200" dirty="0"/>
          </a:p>
        </p:txBody>
      </p:sp>
      <p:pic>
        <p:nvPicPr>
          <p:cNvPr id="25"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6" name="Text 23"/>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7" name="Image 1" descr="Parcours : module 1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11 · GÉRER LES RESSOURCES</a:t>
            </a:r>
            <a:endParaRPr lang="en-US" sz="1200" dirty="0"/>
          </a:p>
        </p:txBody>
      </p:sp>
      <p:sp>
        <p:nvSpPr>
          <p:cNvPr id="3" name="Text 1"/>
          <p:cNvSpPr/>
          <p:nvPr>
            <p:ph type="title"/>
          </p:nvPr>
        </p:nvSpPr>
        <p:spPr>
          <a:xfrm>
            <a:off x="812800" y="949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Un modèle pour plusieurs équipes</a:t>
            </a:r>
            <a:endParaRPr lang="en-US" sz="2800" dirty="0"/>
          </a:p>
        </p:txBody>
      </p:sp>
      <p:sp>
        <p:nvSpPr>
          <p:cNvPr id="4" name="Text 2"/>
          <p:cNvSpPr/>
          <p:nvPr/>
        </p:nvSpPr>
        <p:spPr>
          <a:xfrm>
            <a:off x="812800" y="154434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Chaque équipe ou environnement reçoit un namespace équipé de cinq objets :</a:t>
            </a:r>
            <a:endParaRPr lang="en-US" sz="1500" dirty="0"/>
          </a:p>
        </p:txBody>
      </p:sp>
      <p:sp>
        <p:nvSpPr>
          <p:cNvPr id="5" name="Shape 3"/>
          <p:cNvSpPr/>
          <p:nvPr/>
        </p:nvSpPr>
        <p:spPr>
          <a:xfrm>
            <a:off x="822325" y="2023765"/>
            <a:ext cx="10547350" cy="3808730"/>
          </a:xfrm>
          <a:prstGeom prst="roundRect">
            <a:avLst>
              <a:gd name="adj" fmla="val 4418"/>
            </a:avLst>
          </a:prstGeom>
          <a:solidFill>
            <a:srgbClr val="ECEAF6"/>
          </a:solidFill>
          <a:ln w="19050">
            <a:solidFill>
              <a:srgbClr val="8A86C4"/>
            </a:solidFill>
            <a:prstDash val="dash"/>
          </a:ln>
        </p:spPr>
      </p:sp>
      <p:sp>
        <p:nvSpPr>
          <p:cNvPr id="6" name="Text 4"/>
          <p:cNvSpPr/>
          <p:nvPr/>
        </p:nvSpPr>
        <p:spPr>
          <a:xfrm>
            <a:off x="1030182" y="2245618"/>
            <a:ext cx="11125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890"/>
                </a:solidFill>
                <a:latin typeface="IBM Plex Sans" pitchFamily="34" charset="0"/>
                <a:ea typeface="IBM Plex Sans" pitchFamily="34" charset="-122"/>
                <a:cs typeface="IBM Plex Sans" pitchFamily="34" charset="-120"/>
              </a:rPr>
              <a:t>NAMESPACE</a:t>
            </a:r>
            <a:endParaRPr lang="en-US" sz="1200" dirty="0"/>
          </a:p>
        </p:txBody>
      </p:sp>
      <p:sp>
        <p:nvSpPr>
          <p:cNvPr id="7" name="Text 5"/>
          <p:cNvSpPr/>
          <p:nvPr/>
        </p:nvSpPr>
        <p:spPr>
          <a:xfrm>
            <a:off x="2142702" y="2218928"/>
            <a:ext cx="10972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JetBrains Mono" pitchFamily="49" charset="0"/>
                <a:ea typeface="JetBrains Mono" pitchFamily="49" charset="-122"/>
                <a:cs typeface="JetBrains Mono" pitchFamily="49" charset="-120"/>
              </a:rPr>
              <a:t>equipe-a</a:t>
            </a:r>
            <a:endParaRPr lang="en-US" sz="1500" dirty="0"/>
          </a:p>
        </p:txBody>
      </p:sp>
      <p:sp>
        <p:nvSpPr>
          <p:cNvPr id="8" name="Shape 6"/>
          <p:cNvSpPr/>
          <p:nvPr/>
        </p:nvSpPr>
        <p:spPr>
          <a:xfrm>
            <a:off x="1030182" y="2625328"/>
            <a:ext cx="1934845" cy="3012017"/>
          </a:xfrm>
          <a:prstGeom prst="roundRect">
            <a:avLst>
              <a:gd name="adj" fmla="val 5251"/>
            </a:avLst>
          </a:prstGeom>
          <a:solidFill>
            <a:srgbClr val="FDFDFF"/>
          </a:solidFill>
          <a:ln/>
        </p:spPr>
      </p:sp>
      <p:sp>
        <p:nvSpPr>
          <p:cNvPr id="9" name="Text 7"/>
          <p:cNvSpPr/>
          <p:nvPr/>
        </p:nvSpPr>
        <p:spPr>
          <a:xfrm>
            <a:off x="1182582" y="2777728"/>
            <a:ext cx="168084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ResourceQuota</a:t>
            </a:r>
            <a:endParaRPr lang="en-US" sz="1400" dirty="0"/>
          </a:p>
        </p:txBody>
      </p:sp>
      <p:sp>
        <p:nvSpPr>
          <p:cNvPr id="10" name="Text 8"/>
          <p:cNvSpPr/>
          <p:nvPr/>
        </p:nvSpPr>
        <p:spPr>
          <a:xfrm>
            <a:off x="1182582" y="3063478"/>
            <a:ext cx="1680845"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Budget total</a:t>
            </a:r>
            <a:endParaRPr lang="en-US" sz="1400" dirty="0"/>
          </a:p>
        </p:txBody>
      </p:sp>
      <p:sp>
        <p:nvSpPr>
          <p:cNvPr id="11" name="Text 9"/>
          <p:cNvSpPr/>
          <p:nvPr/>
        </p:nvSpPr>
        <p:spPr>
          <a:xfrm>
            <a:off x="1182582" y="5289352"/>
            <a:ext cx="1680845"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MODULE 11</a:t>
            </a:r>
            <a:endParaRPr lang="en-US" sz="1100" dirty="0"/>
          </a:p>
        </p:txBody>
      </p:sp>
      <p:sp>
        <p:nvSpPr>
          <p:cNvPr id="12" name="Shape 10"/>
          <p:cNvSpPr/>
          <p:nvPr/>
        </p:nvSpPr>
        <p:spPr>
          <a:xfrm>
            <a:off x="3079327" y="2625328"/>
            <a:ext cx="1934951" cy="3012017"/>
          </a:xfrm>
          <a:prstGeom prst="roundRect">
            <a:avLst>
              <a:gd name="adj" fmla="val 5251"/>
            </a:avLst>
          </a:prstGeom>
          <a:solidFill>
            <a:srgbClr val="FDFDFF"/>
          </a:solidFill>
          <a:ln/>
        </p:spPr>
      </p:sp>
      <p:sp>
        <p:nvSpPr>
          <p:cNvPr id="13" name="Text 11"/>
          <p:cNvSpPr/>
          <p:nvPr/>
        </p:nvSpPr>
        <p:spPr>
          <a:xfrm>
            <a:off x="3231727" y="2777728"/>
            <a:ext cx="168095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LimitRange</a:t>
            </a:r>
            <a:endParaRPr lang="en-US" sz="1400" dirty="0"/>
          </a:p>
        </p:txBody>
      </p:sp>
      <p:sp>
        <p:nvSpPr>
          <p:cNvPr id="14" name="Text 12"/>
          <p:cNvSpPr/>
          <p:nvPr/>
        </p:nvSpPr>
        <p:spPr>
          <a:xfrm>
            <a:off x="3231727" y="3063478"/>
            <a:ext cx="1680951"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Valeurs par défaut et bornes</a:t>
            </a:r>
            <a:endParaRPr lang="en-US" sz="1400" dirty="0"/>
          </a:p>
        </p:txBody>
      </p:sp>
      <p:sp>
        <p:nvSpPr>
          <p:cNvPr id="15" name="Text 13"/>
          <p:cNvSpPr/>
          <p:nvPr/>
        </p:nvSpPr>
        <p:spPr>
          <a:xfrm>
            <a:off x="3231727" y="5289352"/>
            <a:ext cx="168095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MODULE 11</a:t>
            </a:r>
            <a:endParaRPr lang="en-US" sz="1100" dirty="0"/>
          </a:p>
        </p:txBody>
      </p:sp>
      <p:sp>
        <p:nvSpPr>
          <p:cNvPr id="16" name="Shape 14"/>
          <p:cNvSpPr/>
          <p:nvPr/>
        </p:nvSpPr>
        <p:spPr>
          <a:xfrm>
            <a:off x="5128578" y="2625328"/>
            <a:ext cx="1934845" cy="3012017"/>
          </a:xfrm>
          <a:prstGeom prst="roundRect">
            <a:avLst>
              <a:gd name="adj" fmla="val 5251"/>
            </a:avLst>
          </a:prstGeom>
          <a:solidFill>
            <a:srgbClr val="FDFDFF"/>
          </a:solidFill>
          <a:ln/>
        </p:spPr>
      </p:sp>
      <p:sp>
        <p:nvSpPr>
          <p:cNvPr id="17" name="Text 15"/>
          <p:cNvSpPr/>
          <p:nvPr/>
        </p:nvSpPr>
        <p:spPr>
          <a:xfrm>
            <a:off x="5280978" y="2777728"/>
            <a:ext cx="168084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RoleBinding</a:t>
            </a:r>
            <a:endParaRPr lang="en-US" sz="1400" dirty="0"/>
          </a:p>
        </p:txBody>
      </p:sp>
      <p:sp>
        <p:nvSpPr>
          <p:cNvPr id="18" name="Text 16"/>
          <p:cNvSpPr/>
          <p:nvPr/>
        </p:nvSpPr>
        <p:spPr>
          <a:xfrm>
            <a:off x="5280978" y="3063478"/>
            <a:ext cx="1680845"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Droits de l'équipe, limités à son namespace</a:t>
            </a:r>
            <a:endParaRPr lang="en-US" sz="1400" dirty="0"/>
          </a:p>
        </p:txBody>
      </p:sp>
      <p:sp>
        <p:nvSpPr>
          <p:cNvPr id="19" name="Text 17"/>
          <p:cNvSpPr/>
          <p:nvPr/>
        </p:nvSpPr>
        <p:spPr>
          <a:xfrm>
            <a:off x="5280978" y="5289352"/>
            <a:ext cx="1680845"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MODULE 15</a:t>
            </a:r>
            <a:endParaRPr lang="en-US" sz="1100" dirty="0"/>
          </a:p>
        </p:txBody>
      </p:sp>
      <p:sp>
        <p:nvSpPr>
          <p:cNvPr id="20" name="Shape 18"/>
          <p:cNvSpPr/>
          <p:nvPr/>
        </p:nvSpPr>
        <p:spPr>
          <a:xfrm>
            <a:off x="7177722" y="2625328"/>
            <a:ext cx="1934951" cy="3012017"/>
          </a:xfrm>
          <a:prstGeom prst="roundRect">
            <a:avLst>
              <a:gd name="adj" fmla="val 5251"/>
            </a:avLst>
          </a:prstGeom>
          <a:solidFill>
            <a:srgbClr val="FDFDFF"/>
          </a:solidFill>
          <a:ln/>
        </p:spPr>
      </p:sp>
      <p:sp>
        <p:nvSpPr>
          <p:cNvPr id="21" name="Text 19"/>
          <p:cNvSpPr/>
          <p:nvPr/>
        </p:nvSpPr>
        <p:spPr>
          <a:xfrm>
            <a:off x="7330122" y="2777728"/>
            <a:ext cx="168095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NetworkPolicy</a:t>
            </a:r>
            <a:endParaRPr lang="en-US" sz="1400" dirty="0"/>
          </a:p>
        </p:txBody>
      </p:sp>
      <p:sp>
        <p:nvSpPr>
          <p:cNvPr id="22" name="Text 20"/>
          <p:cNvSpPr/>
          <p:nvPr/>
        </p:nvSpPr>
        <p:spPr>
          <a:xfrm>
            <a:off x="7330122" y="3063478"/>
            <a:ext cx="1680951"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Isolation réseau par défaut</a:t>
            </a:r>
            <a:endParaRPr lang="en-US" sz="1400" dirty="0"/>
          </a:p>
        </p:txBody>
      </p:sp>
      <p:sp>
        <p:nvSpPr>
          <p:cNvPr id="23" name="Text 21"/>
          <p:cNvSpPr/>
          <p:nvPr/>
        </p:nvSpPr>
        <p:spPr>
          <a:xfrm>
            <a:off x="7330122" y="5289352"/>
            <a:ext cx="168095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MODULE 15</a:t>
            </a:r>
            <a:endParaRPr lang="en-US" sz="1100" dirty="0"/>
          </a:p>
        </p:txBody>
      </p:sp>
      <p:sp>
        <p:nvSpPr>
          <p:cNvPr id="24" name="Shape 22"/>
          <p:cNvSpPr/>
          <p:nvPr/>
        </p:nvSpPr>
        <p:spPr>
          <a:xfrm>
            <a:off x="9226973" y="2625328"/>
            <a:ext cx="1934845" cy="3012017"/>
          </a:xfrm>
          <a:prstGeom prst="roundRect">
            <a:avLst>
              <a:gd name="adj" fmla="val 5251"/>
            </a:avLst>
          </a:prstGeom>
          <a:solidFill>
            <a:srgbClr val="FDFDFF"/>
          </a:solidFill>
          <a:ln/>
        </p:spPr>
      </p:sp>
      <p:sp>
        <p:nvSpPr>
          <p:cNvPr id="25" name="Text 23"/>
          <p:cNvSpPr/>
          <p:nvPr/>
        </p:nvSpPr>
        <p:spPr>
          <a:xfrm>
            <a:off x="9379373" y="2777728"/>
            <a:ext cx="1680845"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Labels Pod Security</a:t>
            </a:r>
            <a:endParaRPr lang="en-US" sz="1400" dirty="0"/>
          </a:p>
        </p:txBody>
      </p:sp>
      <p:sp>
        <p:nvSpPr>
          <p:cNvPr id="26" name="Text 24"/>
          <p:cNvSpPr/>
          <p:nvPr/>
        </p:nvSpPr>
        <p:spPr>
          <a:xfrm>
            <a:off x="9379373" y="3285728"/>
            <a:ext cx="1680845"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3C6B"/>
                </a:solidFill>
                <a:latin typeface="IBM Plex Sans" pitchFamily="34" charset="0"/>
                <a:ea typeface="IBM Plex Sans" pitchFamily="34" charset="-122"/>
                <a:cs typeface="IBM Plex Sans" pitchFamily="34" charset="-120"/>
              </a:rPr>
              <a:t>Niveau de sécurité imposé aux pods</a:t>
            </a:r>
            <a:endParaRPr lang="en-US" sz="1400" dirty="0"/>
          </a:p>
        </p:txBody>
      </p:sp>
      <p:sp>
        <p:nvSpPr>
          <p:cNvPr id="27" name="Text 25"/>
          <p:cNvSpPr/>
          <p:nvPr/>
        </p:nvSpPr>
        <p:spPr>
          <a:xfrm>
            <a:off x="9379373" y="5289352"/>
            <a:ext cx="1680845"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MODULE 15</a:t>
            </a:r>
            <a:endParaRPr lang="en-US" sz="1100" dirty="0"/>
          </a:p>
        </p:txBody>
      </p:sp>
      <p:pic>
        <p:nvPicPr>
          <p:cNvPr id="28"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9" name="Text 26"/>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0" name="Image 1" descr="Parcours : module 1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11 · GÉRER LES RESSOURCES</a:t>
            </a:r>
            <a:endParaRPr lang="en-US" sz="1200" dirty="0"/>
          </a:p>
        </p:txBody>
      </p:sp>
      <p:sp>
        <p:nvSpPr>
          <p:cNvPr id="3" name="Text 1"/>
          <p:cNvSpPr/>
          <p:nvPr>
            <p:ph type="title"/>
          </p:nvPr>
        </p:nvSpPr>
        <p:spPr>
          <a:xfrm>
            <a:off x="812800" y="949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Priorités et préemption</a:t>
            </a:r>
            <a:endParaRPr lang="en-US" sz="2800" dirty="0"/>
          </a:p>
        </p:txBody>
      </p:sp>
      <p:sp>
        <p:nvSpPr>
          <p:cNvPr id="4" name="Text 2"/>
          <p:cNvSpPr/>
          <p:nvPr/>
        </p:nvSpPr>
        <p:spPr>
          <a:xfrm>
            <a:off x="812800" y="1569740"/>
            <a:ext cx="4892294"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0B0748"/>
                </a:solidFill>
                <a:latin typeface="IBM Plex Sans" pitchFamily="34" charset="0"/>
                <a:ea typeface="IBM Plex Sans" pitchFamily="34" charset="-122"/>
                <a:cs typeface="IBM Plex Sans" pitchFamily="34" charset="-120"/>
              </a:rPr>
              <a:t>Une </a:t>
            </a:r>
            <a:r>
              <a:rPr lang="en-US" sz="1600" b="1" dirty="0">
                <a:solidFill>
                  <a:srgbClr val="0B0748"/>
                </a:solidFill>
                <a:latin typeface="IBM Plex Sans" pitchFamily="34" charset="0"/>
                <a:ea typeface="IBM Plex Sans" pitchFamily="34" charset="-122"/>
                <a:cs typeface="IBM Plex Sans" pitchFamily="34" charset="-120"/>
              </a:rPr>
              <a:t>PriorityClass</a:t>
            </a:r>
            <a:r>
              <a:rPr lang="en-US" sz="1600" dirty="0">
                <a:solidFill>
                  <a:srgbClr val="0B0748"/>
                </a:solidFill>
                <a:latin typeface="IBM Plex Sans" pitchFamily="34" charset="0"/>
                <a:ea typeface="IBM Plex Sans" pitchFamily="34" charset="-122"/>
                <a:cs typeface="IBM Plex Sans" pitchFamily="34" charset="-120"/>
              </a:rPr>
              <a:t> donne une priorité aux pods.</a:t>
            </a:r>
            <a:endParaRPr lang="en-US" sz="1600" dirty="0"/>
          </a:p>
        </p:txBody>
      </p:sp>
      <p:sp>
        <p:nvSpPr>
          <p:cNvPr id="5" name="Text 3"/>
          <p:cNvSpPr/>
          <p:nvPr/>
        </p:nvSpPr>
        <p:spPr>
          <a:xfrm>
            <a:off x="812800" y="1996480"/>
            <a:ext cx="4892294"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C6B"/>
                </a:solidFill>
                <a:latin typeface="IBM Plex Sans" pitchFamily="34" charset="0"/>
                <a:ea typeface="IBM Plex Sans" pitchFamily="34" charset="-122"/>
                <a:cs typeface="IBM Plex Sans" pitchFamily="34" charset="-120"/>
              </a:rPr>
              <a:t>Quand le cluster est plein, le scheduler peut </a:t>
            </a:r>
            <a:r>
              <a:rPr lang="en-US" sz="1400" b="1" dirty="0">
                <a:solidFill>
                  <a:srgbClr val="3F3C6B"/>
                </a:solidFill>
                <a:latin typeface="IBM Plex Sans" pitchFamily="34" charset="0"/>
                <a:ea typeface="IBM Plex Sans" pitchFamily="34" charset="-122"/>
                <a:cs typeface="IBM Plex Sans" pitchFamily="34" charset="-120"/>
              </a:rPr>
              <a:t>expulser</a:t>
            </a:r>
            <a:r>
              <a:rPr lang="en-US" sz="1400" dirty="0">
                <a:solidFill>
                  <a:srgbClr val="3F3C6B"/>
                </a:solidFill>
                <a:latin typeface="IBM Plex Sans" pitchFamily="34" charset="0"/>
                <a:ea typeface="IBM Plex Sans" pitchFamily="34" charset="-122"/>
                <a:cs typeface="IBM Plex Sans" pitchFamily="34" charset="-120"/>
              </a:rPr>
              <a:t> des pods moins prioritaires pour placer un pod plus prioritaire : c'est la préemption.</a:t>
            </a:r>
            <a:endParaRPr lang="en-US" sz="1400" dirty="0"/>
          </a:p>
        </p:txBody>
      </p:sp>
      <p:sp>
        <p:nvSpPr>
          <p:cNvPr id="6" name="Shape 4"/>
          <p:cNvSpPr/>
          <p:nvPr/>
        </p:nvSpPr>
        <p:spPr>
          <a:xfrm>
            <a:off x="815975" y="4783237"/>
            <a:ext cx="4743450" cy="1055582"/>
          </a:xfrm>
          <a:prstGeom prst="roundRect">
            <a:avLst>
              <a:gd name="adj" fmla="val 11730"/>
            </a:avLst>
          </a:prstGeom>
          <a:solidFill>
            <a:srgbClr val="FDFDFF"/>
          </a:solidFill>
          <a:ln w="6350">
            <a:solidFill>
              <a:srgbClr val="E1DFEE"/>
            </a:solidFill>
            <a:prstDash val="solid"/>
          </a:ln>
        </p:spPr>
      </p:sp>
      <p:sp>
        <p:nvSpPr>
          <p:cNvPr id="7" name="Text 5"/>
          <p:cNvSpPr/>
          <p:nvPr/>
        </p:nvSpPr>
        <p:spPr>
          <a:xfrm>
            <a:off x="1010391" y="4939705"/>
            <a:ext cx="448525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RÉSERVÉES AU CLUSTER</a:t>
            </a:r>
            <a:endParaRPr lang="en-US" sz="1200" dirty="0"/>
          </a:p>
        </p:txBody>
      </p:sp>
      <p:sp>
        <p:nvSpPr>
          <p:cNvPr id="8" name="Text 6"/>
          <p:cNvSpPr/>
          <p:nvPr/>
        </p:nvSpPr>
        <p:spPr>
          <a:xfrm>
            <a:off x="1010391" y="5203825"/>
            <a:ext cx="4485257"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0B0748"/>
                </a:solidFill>
                <a:latin typeface="IBM Plex Sans" pitchFamily="34" charset="0"/>
                <a:ea typeface="IBM Plex Sans" pitchFamily="34" charset="-122"/>
                <a:cs typeface="IBM Plex Sans" pitchFamily="34" charset="-120"/>
              </a:rPr>
              <a:t>system-cluster-critical</a:t>
            </a:r>
            <a:r>
              <a:rPr lang="en-US" sz="1300" dirty="0">
                <a:solidFill>
                  <a:srgbClr val="3F3C6B"/>
                </a:solidFill>
                <a:latin typeface="IBM Plex Sans" pitchFamily="34" charset="0"/>
                <a:ea typeface="IBM Plex Sans" pitchFamily="34" charset="-122"/>
                <a:cs typeface="IBM Plex Sans" pitchFamily="34" charset="-120"/>
              </a:rPr>
              <a:t> et </a:t>
            </a:r>
            <a:r>
              <a:rPr lang="en-US" sz="1300" dirty="0">
                <a:solidFill>
                  <a:srgbClr val="0B0748"/>
                </a:solidFill>
                <a:latin typeface="IBM Plex Sans" pitchFamily="34" charset="0"/>
                <a:ea typeface="IBM Plex Sans" pitchFamily="34" charset="-122"/>
                <a:cs typeface="IBM Plex Sans" pitchFamily="34" charset="-120"/>
              </a:rPr>
              <a:t>system-node-critical</a:t>
            </a:r>
            <a:r>
              <a:rPr lang="en-US" sz="1300" dirty="0">
                <a:solidFill>
                  <a:srgbClr val="3F3C6B"/>
                </a:solidFill>
                <a:latin typeface="IBM Plex Sans" pitchFamily="34" charset="0"/>
                <a:ea typeface="IBM Plex Sans" pitchFamily="34" charset="-122"/>
                <a:cs typeface="IBM Plex Sans" pitchFamily="34" charset="-120"/>
              </a:rPr>
              <a:t> protègent les composants du cluster.</a:t>
            </a:r>
            <a:endParaRPr lang="en-US" sz="1300" dirty="0"/>
          </a:p>
        </p:txBody>
      </p:sp>
      <p:sp>
        <p:nvSpPr>
          <p:cNvPr id="9" name="Text 7"/>
          <p:cNvSpPr/>
          <p:nvPr/>
        </p:nvSpPr>
        <p:spPr>
          <a:xfrm>
            <a:off x="5918200" y="1569740"/>
            <a:ext cx="5461000" cy="4272280"/>
          </a:xfrm>
          <a:prstGeom prst="roundRect">
            <a:avLst>
              <a:gd name="adj" fmla="val 2378"/>
            </a:avLst>
          </a:prstGeom>
          <a:solidFill>
            <a:srgbClr val="0B0748"/>
          </a:solidFill>
          <a:ln/>
        </p:spPr>
        <p:txBody>
          <a:bodyPr wrap="none" lIns="173442" tIns="135342" rIns="21804" bIns="135342" rtlCol="0" anchor="ctr">
            <a:normAutofit/>
          </a:bodyPr>
          <a:lstStyle/>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apiVersion: scheduling.k8s.io/v1</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kind: </a:t>
            </a:r>
            <a:r>
              <a:rPr lang="en-US" sz="1200" dirty="0">
                <a:solidFill>
                  <a:srgbClr val="FFB08F"/>
                </a:solidFill>
                <a:latin typeface="JetBrains Mono" pitchFamily="49" charset="0"/>
                <a:ea typeface="JetBrains Mono" pitchFamily="49" charset="-122"/>
                <a:cs typeface="JetBrains Mono" pitchFamily="49" charset="-120"/>
              </a:rPr>
              <a:t>PriorityClass</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metadata:</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name: production-critique</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value: 100000</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globalDefault: false</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description: "Applications de production critiques"</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9A96D0"/>
                </a:solidFill>
                <a:latin typeface="JetBrains Mono" pitchFamily="49" charset="0"/>
                <a:ea typeface="JetBrains Mono" pitchFamily="49" charset="-122"/>
                <a:cs typeface="JetBrains Mono" pitchFamily="49" charset="-120"/>
              </a:rPr>
              <a:t># dans le modèle de pod :</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spec:</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a:t>
            </a:r>
            <a:r>
              <a:rPr lang="en-US" sz="1200" dirty="0">
                <a:solidFill>
                  <a:srgbClr val="FFB08F"/>
                </a:solidFill>
                <a:latin typeface="JetBrains Mono" pitchFamily="49" charset="0"/>
                <a:ea typeface="JetBrains Mono" pitchFamily="49" charset="-122"/>
                <a:cs typeface="JetBrains Mono" pitchFamily="49" charset="-120"/>
              </a:rPr>
              <a:t>priorityClassName: production-critique</a:t>
            </a:r>
            <a:endParaRPr lang="en-US" sz="1200" dirty="0"/>
          </a:p>
        </p:txBody>
      </p:sp>
      <p:pic>
        <p:nvPicPr>
          <p:cNvPr id="10"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11" name="Text 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2" name="Image 1" descr="Parcours : module 11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11 · BILAN</a:t>
            </a:r>
            <a:endParaRPr lang="en-US" sz="1200" dirty="0"/>
          </a:p>
        </p:txBody>
      </p:sp>
      <p:sp>
        <p:nvSpPr>
          <p:cNvPr id="3" name="Text 1"/>
          <p:cNvSpPr/>
          <p:nvPr>
            <p:ph type="title"/>
          </p:nvPr>
        </p:nvSpPr>
        <p:spPr>
          <a:xfrm>
            <a:off x="812800" y="949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40"/>
            <a:ext cx="5225309"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40"/>
            <a:ext cx="228600" cy="228600"/>
          </a:xfrm>
          <a:prstGeom prst="rect">
            <a:avLst/>
          </a:prstGeom>
        </p:spPr>
      </p:pic>
      <p:sp>
        <p:nvSpPr>
          <p:cNvPr id="6" name="Text 3"/>
          <p:cNvSpPr/>
          <p:nvPr/>
        </p:nvSpPr>
        <p:spPr>
          <a:xfrm>
            <a:off x="1511300" y="1874540"/>
            <a:ext cx="4322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Requests = réservation utilisée pour le placement ; limits = plafond appliqué par le noyau.</a:t>
            </a:r>
            <a:endParaRPr lang="en-US" sz="1400" dirty="0"/>
          </a:p>
        </p:txBody>
      </p:sp>
      <p:pic>
        <p:nvPicPr>
          <p:cNvPr id="7" name="Image 1" descr="Check">    </p:cNvPr>
          <p:cNvPicPr>
            <a:picLocks noChangeAspect="1"/>
          </p:cNvPicPr>
          <p:nvPr/>
        </p:nvPicPr>
        <p:blipFill>
          <a:blip r:embed="rId2"/>
          <a:srcRect l="0" r="0" t="0" b="0"/>
          <a:stretch/>
        </p:blipFill>
        <p:spPr>
          <a:xfrm>
            <a:off x="1143000" y="2524720"/>
            <a:ext cx="228600" cy="228600"/>
          </a:xfrm>
          <a:prstGeom prst="rect">
            <a:avLst/>
          </a:prstGeom>
        </p:spPr>
      </p:pic>
      <p:sp>
        <p:nvSpPr>
          <p:cNvPr id="8" name="Text 4"/>
          <p:cNvSpPr/>
          <p:nvPr/>
        </p:nvSpPr>
        <p:spPr>
          <a:xfrm>
            <a:off x="1511300" y="2524720"/>
            <a:ext cx="4322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Dépasser sa limit CPU ralentit ; dépasser sa limit mémoire tue (OOMKilled).</a:t>
            </a:r>
            <a:endParaRPr lang="en-US" sz="1400" dirty="0"/>
          </a:p>
        </p:txBody>
      </p:sp>
      <p:pic>
        <p:nvPicPr>
          <p:cNvPr id="9" name="Image 2" descr="Check">    </p:cNvPr>
          <p:cNvPicPr>
            <a:picLocks noChangeAspect="1"/>
          </p:cNvPicPr>
          <p:nvPr/>
        </p:nvPicPr>
        <p:blipFill>
          <a:blip r:embed="rId3"/>
          <a:srcRect l="0" r="0" t="0" b="0"/>
          <a:stretch/>
        </p:blipFill>
        <p:spPr>
          <a:xfrm>
            <a:off x="1143000" y="3175000"/>
            <a:ext cx="228600" cy="228600"/>
          </a:xfrm>
          <a:prstGeom prst="rect">
            <a:avLst/>
          </a:prstGeom>
        </p:spPr>
      </p:pic>
      <p:sp>
        <p:nvSpPr>
          <p:cNvPr id="10" name="Text 5"/>
          <p:cNvSpPr/>
          <p:nvPr/>
        </p:nvSpPr>
        <p:spPr>
          <a:xfrm>
            <a:off x="1511300" y="3175000"/>
            <a:ext cx="4322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Les classes QoS fixent l'ordre d'éviction : BestEffort, puis Burstable, puis Guaranteed.</a:t>
            </a:r>
            <a:endParaRPr lang="en-US" sz="1400" dirty="0"/>
          </a:p>
        </p:txBody>
      </p:sp>
      <p:pic>
        <p:nvPicPr>
          <p:cNvPr id="11" name="Image 3" descr="Check">    </p:cNvPr>
          <p:cNvPicPr>
            <a:picLocks noChangeAspect="1"/>
          </p:cNvPicPr>
          <p:nvPr/>
        </p:nvPicPr>
        <p:blipFill>
          <a:blip r:embed="rId4"/>
          <a:srcRect l="0" r="0" t="0" b="0"/>
          <a:stretch/>
        </p:blipFill>
        <p:spPr>
          <a:xfrm>
            <a:off x="1143000" y="3825280"/>
            <a:ext cx="228600" cy="228600"/>
          </a:xfrm>
          <a:prstGeom prst="rect">
            <a:avLst/>
          </a:prstGeom>
        </p:spPr>
      </p:pic>
      <p:sp>
        <p:nvSpPr>
          <p:cNvPr id="12" name="Text 6"/>
          <p:cNvSpPr/>
          <p:nvPr/>
        </p:nvSpPr>
        <p:spPr>
          <a:xfrm>
            <a:off x="1511300" y="3825280"/>
            <a:ext cx="4322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LimitRange fournit les valeurs par défaut, ResourceQuota le budget ; les deux vont ensemble.</a:t>
            </a:r>
            <a:endParaRPr lang="en-US" sz="1400" dirty="0"/>
          </a:p>
        </p:txBody>
      </p:sp>
      <p:pic>
        <p:nvPicPr>
          <p:cNvPr id="13" name="Image 4" descr="Check">    </p:cNvPr>
          <p:cNvPicPr>
            <a:picLocks noChangeAspect="1"/>
          </p:cNvPicPr>
          <p:nvPr/>
        </p:nvPicPr>
        <p:blipFill>
          <a:blip r:embed="rId5"/>
          <a:srcRect l="0" r="0" t="0" b="0"/>
          <a:stretch/>
        </p:blipFill>
        <p:spPr>
          <a:xfrm>
            <a:off x="1143000" y="4475460"/>
            <a:ext cx="228600" cy="228600"/>
          </a:xfrm>
          <a:prstGeom prst="rect">
            <a:avLst/>
          </a:prstGeom>
        </p:spPr>
      </p:pic>
      <p:sp>
        <p:nvSpPr>
          <p:cNvPr id="14" name="Text 7"/>
          <p:cNvSpPr/>
          <p:nvPr/>
        </p:nvSpPr>
        <p:spPr>
          <a:xfrm>
            <a:off x="1511300" y="4475460"/>
            <a:ext cx="4322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Mesurez avant de dimensionner ; mémoire : limit = request.</a:t>
            </a:r>
            <a:endParaRPr lang="en-US" sz="1400" dirty="0"/>
          </a:p>
        </p:txBody>
      </p:sp>
      <p:sp>
        <p:nvSpPr>
          <p:cNvPr id="15" name="Shape 8"/>
          <p:cNvSpPr/>
          <p:nvPr/>
        </p:nvSpPr>
        <p:spPr>
          <a:xfrm>
            <a:off x="6244484" y="1598315"/>
            <a:ext cx="5131541" cy="4240530"/>
          </a:xfrm>
          <a:prstGeom prst="roundRect">
            <a:avLst>
              <a:gd name="adj" fmla="val 3519"/>
            </a:avLst>
          </a:prstGeom>
          <a:solidFill>
            <a:srgbClr val="FDFDFF"/>
          </a:solidFill>
          <a:ln w="6350">
            <a:solidFill>
              <a:srgbClr val="E1DFEE"/>
            </a:solidFill>
            <a:prstDash val="solid"/>
          </a:ln>
        </p:spPr>
      </p:sp>
      <p:sp>
        <p:nvSpPr>
          <p:cNvPr id="16" name="Text 9"/>
          <p:cNvSpPr/>
          <p:nvPr/>
        </p:nvSpPr>
        <p:spPr>
          <a:xfrm>
            <a:off x="6527800" y="1856284"/>
            <a:ext cx="470185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7" name="Text 10"/>
          <p:cNvSpPr/>
          <p:nvPr/>
        </p:nvSpPr>
        <p:spPr>
          <a:xfrm>
            <a:off x="6527800" y="2196703"/>
            <a:ext cx="228600" cy="6921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1</a:t>
            </a:r>
            <a:endParaRPr lang="en-US" sz="1250" dirty="0"/>
          </a:p>
        </p:txBody>
      </p:sp>
      <p:sp>
        <p:nvSpPr>
          <p:cNvPr id="18" name="Text 11"/>
          <p:cNvSpPr/>
          <p:nvPr/>
        </p:nvSpPr>
        <p:spPr>
          <a:xfrm>
            <a:off x="6807200" y="2196703"/>
            <a:ext cx="4414074"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Un nœud affiche 15 % de CPU utilisé mais refuse un nouveau pod pour « Insufficient cpu ». Comment est-ce possible ?</a:t>
            </a:r>
            <a:endParaRPr lang="en-US" sz="1250" dirty="0"/>
          </a:p>
        </p:txBody>
      </p:sp>
      <p:sp>
        <p:nvSpPr>
          <p:cNvPr id="19" name="Text 12"/>
          <p:cNvSpPr/>
          <p:nvPr/>
        </p:nvSpPr>
        <p:spPr>
          <a:xfrm>
            <a:off x="6527800" y="2990453"/>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2</a:t>
            </a:r>
            <a:endParaRPr lang="en-US" sz="1250" dirty="0"/>
          </a:p>
        </p:txBody>
      </p:sp>
      <p:sp>
        <p:nvSpPr>
          <p:cNvPr id="20" name="Text 13"/>
          <p:cNvSpPr/>
          <p:nvPr/>
        </p:nvSpPr>
        <p:spPr>
          <a:xfrm>
            <a:off x="6807200" y="2990453"/>
            <a:ext cx="441407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Quelle est la classe QoS d'un pod qui déclare requests.memory: 128Mi et rien d'autre ?</a:t>
            </a:r>
            <a:endParaRPr lang="en-US" sz="1250" dirty="0"/>
          </a:p>
        </p:txBody>
      </p:sp>
      <p:sp>
        <p:nvSpPr>
          <p:cNvPr id="21" name="Text 14"/>
          <p:cNvSpPr/>
          <p:nvPr/>
        </p:nvSpPr>
        <p:spPr>
          <a:xfrm>
            <a:off x="6527800" y="3561953"/>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3</a:t>
            </a:r>
            <a:endParaRPr lang="en-US" sz="1250" dirty="0"/>
          </a:p>
        </p:txBody>
      </p:sp>
      <p:sp>
        <p:nvSpPr>
          <p:cNvPr id="22" name="Text 15"/>
          <p:cNvSpPr/>
          <p:nvPr/>
        </p:nvSpPr>
        <p:spPr>
          <a:xfrm>
            <a:off x="6807200" y="3561953"/>
            <a:ext cx="441407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Pourquoi un pod sans ressources est-il refusé dans un namespace qui a un quota CPU ?</a:t>
            </a:r>
            <a:endParaRPr lang="en-US" sz="1250" dirty="0"/>
          </a:p>
        </p:txBody>
      </p:sp>
      <p:sp>
        <p:nvSpPr>
          <p:cNvPr id="23" name="Text 16"/>
          <p:cNvSpPr/>
          <p:nvPr/>
        </p:nvSpPr>
        <p:spPr>
          <a:xfrm>
            <a:off x="6527800" y="4133453"/>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4</a:t>
            </a:r>
            <a:endParaRPr lang="en-US" sz="1250" dirty="0"/>
          </a:p>
        </p:txBody>
      </p:sp>
      <p:sp>
        <p:nvSpPr>
          <p:cNvPr id="24" name="Text 17"/>
          <p:cNvSpPr/>
          <p:nvPr/>
        </p:nvSpPr>
        <p:spPr>
          <a:xfrm>
            <a:off x="6807200" y="4133453"/>
            <a:ext cx="441407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Quel symptôme observe-t-on quand un conteneur dépasse sa limit mémoire ?</a:t>
            </a:r>
            <a:endParaRPr lang="en-US" sz="1250" dirty="0"/>
          </a:p>
        </p:txBody>
      </p:sp>
      <p:pic>
        <p:nvPicPr>
          <p:cNvPr id="25" name="Image 5" descr="preencoded.png">    </p:cNvPr>
          <p:cNvPicPr>
            <a:picLocks noChangeAspect="1"/>
          </p:cNvPicPr>
          <p:nvPr/>
        </p:nvPicPr>
        <p:blipFill>
          <a:blip r:embed="rId6"/>
          <a:srcRect l="0" r="0" t="0" b="0"/>
          <a:stretch/>
        </p:blipFill>
        <p:spPr>
          <a:xfrm>
            <a:off x="812800" y="6299200"/>
            <a:ext cx="152400" cy="152400"/>
          </a:xfrm>
          <a:prstGeom prst="rect">
            <a:avLst/>
          </a:prstGeom>
        </p:spPr>
      </p:pic>
      <p:sp>
        <p:nvSpPr>
          <p:cNvPr id="26" name="Text 18"/>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7" name="Image 6" descr="Parcours : module 11 sur 16">    </p:cNvPr>
          <p:cNvPicPr>
            <a:picLocks noChangeAspect="1"/>
          </p:cNvPicPr>
          <p:nvPr/>
        </p:nvPicPr>
        <p:blipFill>
          <a:blip r:embed="rId7"/>
          <a:srcRect l="0" r="0" t="0" b="0"/>
          <a:stretch/>
        </p:blipFill>
        <p:spPr>
          <a:xfrm>
            <a:off x="9207500" y="6299200"/>
            <a:ext cx="2171700" cy="152400"/>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3 · ENCADRER, SÉCURISER, FAIRE GRANDIR</a:t>
            </a:r>
            <a:endParaRPr lang="en-US" sz="1200" dirty="0"/>
          </a:p>
        </p:txBody>
      </p:sp>
      <p:sp>
        <p:nvSpPr>
          <p:cNvPr id="3" name="Text 1"/>
          <p:cNvSpPr/>
          <p:nvPr/>
        </p:nvSpPr>
        <p:spPr>
          <a:xfrm>
            <a:off x="812800" y="1076920"/>
            <a:ext cx="1493520"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12</a:t>
            </a:r>
            <a:endParaRPr lang="en-US" sz="10000" dirty="0"/>
          </a:p>
        </p:txBody>
      </p:sp>
      <p:sp>
        <p:nvSpPr>
          <p:cNvPr id="4" name="Text 2"/>
          <p:cNvSpPr/>
          <p:nvPr>
            <p:ph type="title"/>
          </p:nvPr>
        </p:nvSpPr>
        <p:spPr>
          <a:xfrm>
            <a:off x="2413000" y="1127720"/>
            <a:ext cx="9235186" cy="932180"/>
          </a:xfrm>
          <a:prstGeom prst="rect">
            <a:avLst/>
          </a:prstGeom>
          <a:noFill/>
          <a:ln/>
        </p:spPr>
        <p:txBody>
          <a:bodyPr wrap="square" lIns="0" tIns="0" rIns="0" bIns="0" rtlCol="0" anchor="t">
            <a:normAutofit/>
          </a:bodyPr>
          <a:lstStyle/>
          <a:p>
            <a:pPr algn="l" indent="0" marL="0">
              <a:lnSpc>
                <a:spcPts val="3570"/>
              </a:lnSpc>
              <a:buNone/>
            </a:pPr>
            <a:r>
              <a:rPr lang="en-US" sz="3400" b="1" i="0" spc="-100" kern="0" dirty="0">
                <a:solidFill>
                  <a:srgbClr val="F5F4F9"/>
                </a:solidFill>
                <a:latin typeface="Sora" pitchFamily="34" charset="0"/>
                <a:ea typeface="Sora" pitchFamily="34" charset="-122"/>
                <a:cs typeface="Sora" pitchFamily="34" charset="-120"/>
              </a:rPr>
              <a:t>Labels, annotations et stratégies de déploiement</a:t>
            </a:r>
            <a:endParaRPr lang="en-US" sz="3400" dirty="0"/>
          </a:p>
        </p:txBody>
      </p:sp>
      <p:sp>
        <p:nvSpPr>
          <p:cNvPr id="5" name="Text 3"/>
          <p:cNvSpPr/>
          <p:nvPr/>
        </p:nvSpPr>
        <p:spPr>
          <a:xfrm>
            <a:off x="2413000" y="2186980"/>
            <a:ext cx="923518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Un Service trouve ses pods, un Deployment ses réplicas, une NetworkPolicy ses cibles : toujours par sélecteur de labels. Ce mécanisme suffit pour des déploiements blue/green et canary.</a:t>
            </a:r>
            <a:endParaRPr lang="en-US" sz="1500" dirty="0"/>
          </a:p>
        </p:txBody>
      </p:sp>
      <p:sp>
        <p:nvSpPr>
          <p:cNvPr id="6" name="Text 4"/>
          <p:cNvSpPr/>
          <p:nvPr/>
        </p:nvSpPr>
        <p:spPr>
          <a:xfrm>
            <a:off x="2413000" y="2872780"/>
            <a:ext cx="2575242"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TP8 · Quotas et labels · J3 09:25</a:t>
            </a:r>
            <a:endParaRPr lang="en-US" sz="1200" dirty="0"/>
          </a:p>
        </p:txBody>
      </p:sp>
      <p:pic>
        <p:nvPicPr>
          <p:cNvPr id="7" name="Image 0" descr="Parcours de la formation : module 12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12 · LABELS, ANNOTATIONS, DÉPLOIEMENTS</a:t>
            </a:r>
            <a:endParaRPr lang="en-US" sz="1200" dirty="0"/>
          </a:p>
        </p:txBody>
      </p:sp>
      <p:sp>
        <p:nvSpPr>
          <p:cNvPr id="3" name="Text 1"/>
          <p:cNvSpPr/>
          <p:nvPr>
            <p:ph type="title"/>
          </p:nvPr>
        </p:nvSpPr>
        <p:spPr>
          <a:xfrm>
            <a:off x="812800" y="949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labels</a:t>
            </a:r>
            <a:endParaRPr lang="en-US" sz="2800" dirty="0"/>
          </a:p>
        </p:txBody>
      </p:sp>
      <p:sp>
        <p:nvSpPr>
          <p:cNvPr id="4" name="Text 2"/>
          <p:cNvSpPr/>
          <p:nvPr/>
        </p:nvSpPr>
        <p:spPr>
          <a:xfrm>
            <a:off x="812800" y="155704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Un label est une paire clé-valeur attachée à un objet, destinée à l'</a:t>
            </a:r>
            <a:r>
              <a:rPr lang="en-US" sz="1500" b="1" dirty="0">
                <a:solidFill>
                  <a:srgbClr val="0B0748"/>
                </a:solidFill>
                <a:latin typeface="IBM Plex Sans" pitchFamily="34" charset="0"/>
                <a:ea typeface="IBM Plex Sans" pitchFamily="34" charset="-122"/>
                <a:cs typeface="IBM Plex Sans" pitchFamily="34" charset="-120"/>
              </a:rPr>
              <a:t>identifier</a:t>
            </a:r>
            <a:r>
              <a:rPr lang="en-US" sz="1500" dirty="0">
                <a:solidFill>
                  <a:srgbClr val="0B0748"/>
                </a:solidFill>
                <a:latin typeface="IBM Plex Sans" pitchFamily="34" charset="0"/>
                <a:ea typeface="IBM Plex Sans" pitchFamily="34" charset="-122"/>
                <a:cs typeface="IBM Plex Sans" pitchFamily="34" charset="-120"/>
              </a:rPr>
              <a:t> et à le </a:t>
            </a:r>
            <a:r>
              <a:rPr lang="en-US" sz="1500" b="1" dirty="0">
                <a:solidFill>
                  <a:srgbClr val="0B0748"/>
                </a:solidFill>
                <a:latin typeface="IBM Plex Sans" pitchFamily="34" charset="0"/>
                <a:ea typeface="IBM Plex Sans" pitchFamily="34" charset="-122"/>
                <a:cs typeface="IBM Plex Sans" pitchFamily="34" charset="-120"/>
              </a:rPr>
              <a:t>sélectionner</a:t>
            </a:r>
            <a:r>
              <a:rPr lang="en-US" sz="1500" dirty="0">
                <a:solidFill>
                  <a:srgbClr val="0B0748"/>
                </a:solidFill>
                <a:latin typeface="IBM Plex Sans" pitchFamily="34" charset="0"/>
                <a:ea typeface="IBM Plex Sans" pitchFamily="34" charset="-122"/>
                <a:cs typeface="IBM Plex Sans" pitchFamily="34" charset="-120"/>
              </a:rPr>
              <a:t>.</a:t>
            </a:r>
            <a:endParaRPr lang="en-US" sz="1500" dirty="0"/>
          </a:p>
        </p:txBody>
      </p:sp>
      <p:sp>
        <p:nvSpPr>
          <p:cNvPr id="5" name="Text 3"/>
          <p:cNvSpPr/>
          <p:nvPr/>
        </p:nvSpPr>
        <p:spPr>
          <a:xfrm>
            <a:off x="812800" y="2039640"/>
            <a:ext cx="4251325" cy="444500"/>
          </a:xfrm>
          <a:prstGeom prst="rect">
            <a:avLst/>
          </a:prstGeom>
          <a:noFill/>
          <a:ln/>
        </p:spPr>
        <p:txBody>
          <a:bodyPr wrap="none" lIns="0" tIns="0" rIns="0" bIns="0" rtlCol="0" anchor="t">
            <a:normAutofit/>
          </a:bodyPr>
          <a:lstStyle/>
          <a:p>
            <a:pPr algn="l" indent="0" marL="0">
              <a:lnSpc>
                <a:spcPts val="3300"/>
              </a:lnSpc>
              <a:buNone/>
            </a:pPr>
            <a:r>
              <a:rPr lang="en-US" sz="3000" b="1" dirty="0">
                <a:solidFill>
                  <a:srgbClr val="8A86C4"/>
                </a:solidFill>
                <a:latin typeface="JetBrains Mono" pitchFamily="49" charset="0"/>
                <a:ea typeface="JetBrains Mono" pitchFamily="49" charset="-122"/>
                <a:cs typeface="JetBrains Mono" pitchFamily="49" charset="-120"/>
              </a:rPr>
              <a:t>app.kubernetes.io/</a:t>
            </a:r>
            <a:endParaRPr lang="en-US" sz="3000" dirty="0"/>
          </a:p>
        </p:txBody>
      </p:sp>
      <p:sp>
        <p:nvSpPr>
          <p:cNvPr id="6" name="Shape 4"/>
          <p:cNvSpPr/>
          <p:nvPr/>
        </p:nvSpPr>
        <p:spPr>
          <a:xfrm>
            <a:off x="812800" y="2547640"/>
            <a:ext cx="4127500" cy="38100"/>
          </a:xfrm>
          <a:prstGeom prst="roundRect">
            <a:avLst>
              <a:gd name="adj" fmla="val 50000"/>
            </a:avLst>
          </a:prstGeom>
          <a:solidFill>
            <a:srgbClr val="8A86C4"/>
          </a:solidFill>
          <a:ln/>
        </p:spPr>
      </p:sp>
      <p:sp>
        <p:nvSpPr>
          <p:cNvPr id="7" name="Text 5"/>
          <p:cNvSpPr/>
          <p:nvPr/>
        </p:nvSpPr>
        <p:spPr>
          <a:xfrm>
            <a:off x="812800" y="2674640"/>
            <a:ext cx="42513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PRÉFIXE FACULTATIF</a:t>
            </a:r>
            <a:endParaRPr lang="en-US" sz="1200" dirty="0"/>
          </a:p>
        </p:txBody>
      </p:sp>
      <p:sp>
        <p:nvSpPr>
          <p:cNvPr id="8" name="Text 6"/>
          <p:cNvSpPr/>
          <p:nvPr/>
        </p:nvSpPr>
        <p:spPr>
          <a:xfrm>
            <a:off x="812800" y="2976860"/>
            <a:ext cx="4251325"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En forme de nom de domaine. kubernetes.io/ et k8s.io/ sont réservés au projet.</a:t>
            </a:r>
            <a:endParaRPr lang="en-US" sz="1200" dirty="0"/>
          </a:p>
        </p:txBody>
      </p:sp>
      <p:sp>
        <p:nvSpPr>
          <p:cNvPr id="9" name="Text 7"/>
          <p:cNvSpPr/>
          <p:nvPr/>
        </p:nvSpPr>
        <p:spPr>
          <a:xfrm>
            <a:off x="4991100" y="2039640"/>
            <a:ext cx="1962150" cy="444500"/>
          </a:xfrm>
          <a:prstGeom prst="rect">
            <a:avLst/>
          </a:prstGeom>
          <a:noFill/>
          <a:ln/>
        </p:spPr>
        <p:txBody>
          <a:bodyPr wrap="none" lIns="0" tIns="0" rIns="0" bIns="0" rtlCol="0" anchor="t">
            <a:normAutofit/>
          </a:bodyPr>
          <a:lstStyle/>
          <a:p>
            <a:pPr algn="l" indent="0" marL="0">
              <a:lnSpc>
                <a:spcPts val="3300"/>
              </a:lnSpc>
              <a:buNone/>
            </a:pPr>
            <a:r>
              <a:rPr lang="en-US" sz="3000" b="1" dirty="0">
                <a:solidFill>
                  <a:srgbClr val="E25A2C"/>
                </a:solidFill>
                <a:latin typeface="JetBrains Mono" pitchFamily="49" charset="0"/>
                <a:ea typeface="JetBrains Mono" pitchFamily="49" charset="-122"/>
                <a:cs typeface="JetBrains Mono" pitchFamily="49" charset="-120"/>
              </a:rPr>
              <a:t>name</a:t>
            </a:r>
            <a:endParaRPr lang="en-US" sz="3000" dirty="0"/>
          </a:p>
        </p:txBody>
      </p:sp>
      <p:sp>
        <p:nvSpPr>
          <p:cNvPr id="10" name="Shape 8"/>
          <p:cNvSpPr/>
          <p:nvPr/>
        </p:nvSpPr>
        <p:spPr>
          <a:xfrm>
            <a:off x="4991100" y="2547640"/>
            <a:ext cx="1905000" cy="38100"/>
          </a:xfrm>
          <a:prstGeom prst="roundRect">
            <a:avLst>
              <a:gd name="adj" fmla="val 50000"/>
            </a:avLst>
          </a:prstGeom>
          <a:solidFill>
            <a:srgbClr val="E25A2C"/>
          </a:solidFill>
          <a:ln/>
        </p:spPr>
      </p:sp>
      <p:sp>
        <p:nvSpPr>
          <p:cNvPr id="11" name="Text 9"/>
          <p:cNvSpPr/>
          <p:nvPr/>
        </p:nvSpPr>
        <p:spPr>
          <a:xfrm>
            <a:off x="4991100" y="267464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NOM</a:t>
            </a:r>
            <a:endParaRPr lang="en-US" sz="1200" dirty="0"/>
          </a:p>
        </p:txBody>
      </p:sp>
      <p:sp>
        <p:nvSpPr>
          <p:cNvPr id="12" name="Text 10"/>
          <p:cNvSpPr/>
          <p:nvPr/>
        </p:nvSpPr>
        <p:spPr>
          <a:xfrm>
            <a:off x="4991100" y="2976860"/>
            <a:ext cx="196215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63 caractères au plus : lettres, chiffres, -, _, .</a:t>
            </a:r>
            <a:endParaRPr lang="en-US" sz="1200" dirty="0"/>
          </a:p>
        </p:txBody>
      </p:sp>
      <p:sp>
        <p:nvSpPr>
          <p:cNvPr id="13" name="Text 11"/>
          <p:cNvSpPr/>
          <p:nvPr/>
        </p:nvSpPr>
        <p:spPr>
          <a:xfrm>
            <a:off x="6946900" y="2039640"/>
            <a:ext cx="508000"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6B6890"/>
                </a:solidFill>
                <a:latin typeface="JetBrains Mono" pitchFamily="49" charset="0"/>
                <a:ea typeface="JetBrains Mono" pitchFamily="49" charset="-122"/>
                <a:cs typeface="JetBrains Mono" pitchFamily="49" charset="-120"/>
              </a:rPr>
              <a:t>: </a:t>
            </a:r>
            <a:endParaRPr lang="en-US" sz="3000" dirty="0"/>
          </a:p>
        </p:txBody>
      </p:sp>
      <p:sp>
        <p:nvSpPr>
          <p:cNvPr id="14" name="Text 12"/>
          <p:cNvSpPr/>
          <p:nvPr/>
        </p:nvSpPr>
        <p:spPr>
          <a:xfrm>
            <a:off x="7454900" y="2039640"/>
            <a:ext cx="3401060" cy="444500"/>
          </a:xfrm>
          <a:prstGeom prst="rect">
            <a:avLst/>
          </a:prstGeom>
          <a:noFill/>
          <a:ln/>
        </p:spPr>
        <p:txBody>
          <a:bodyPr wrap="none" lIns="0" tIns="0" rIns="0" bIns="0" rtlCol="0" anchor="t">
            <a:normAutofit/>
          </a:bodyPr>
          <a:lstStyle/>
          <a:p>
            <a:pPr algn="l" indent="0" marL="0">
              <a:lnSpc>
                <a:spcPts val="3300"/>
              </a:lnSpc>
              <a:buNone/>
            </a:pPr>
            <a:r>
              <a:rPr lang="en-US" sz="3000" b="1" dirty="0">
                <a:solidFill>
                  <a:srgbClr val="0B0748"/>
                </a:solidFill>
                <a:latin typeface="JetBrains Mono" pitchFamily="49" charset="0"/>
                <a:ea typeface="JetBrains Mono" pitchFamily="49" charset="-122"/>
                <a:cs typeface="JetBrains Mono" pitchFamily="49" charset="-120"/>
              </a:rPr>
              <a:t>podinfo</a:t>
            </a:r>
            <a:endParaRPr lang="en-US" sz="3000" dirty="0"/>
          </a:p>
        </p:txBody>
      </p:sp>
      <p:sp>
        <p:nvSpPr>
          <p:cNvPr id="15" name="Shape 13"/>
          <p:cNvSpPr/>
          <p:nvPr/>
        </p:nvSpPr>
        <p:spPr>
          <a:xfrm>
            <a:off x="7454900" y="2547640"/>
            <a:ext cx="3302000" cy="38100"/>
          </a:xfrm>
          <a:prstGeom prst="roundRect">
            <a:avLst>
              <a:gd name="adj" fmla="val 50000"/>
            </a:avLst>
          </a:prstGeom>
          <a:solidFill>
            <a:srgbClr val="0B0748"/>
          </a:solidFill>
          <a:ln/>
        </p:spPr>
      </p:sp>
      <p:sp>
        <p:nvSpPr>
          <p:cNvPr id="16" name="Text 14"/>
          <p:cNvSpPr/>
          <p:nvPr/>
        </p:nvSpPr>
        <p:spPr>
          <a:xfrm>
            <a:off x="7454900" y="2674640"/>
            <a:ext cx="3401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VALEUR</a:t>
            </a:r>
            <a:endParaRPr lang="en-US" sz="1200" dirty="0"/>
          </a:p>
        </p:txBody>
      </p:sp>
      <p:sp>
        <p:nvSpPr>
          <p:cNvPr id="17" name="Text 15"/>
          <p:cNvSpPr/>
          <p:nvPr/>
        </p:nvSpPr>
        <p:spPr>
          <a:xfrm>
            <a:off x="7454900" y="2976860"/>
            <a:ext cx="340106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Mêmes règles, éventuellement vide. Toujours une chaîne : "true", "6.7".</a:t>
            </a:r>
            <a:endParaRPr lang="en-US" sz="1200" dirty="0"/>
          </a:p>
        </p:txBody>
      </p:sp>
      <p:sp>
        <p:nvSpPr>
          <p:cNvPr id="18" name="Text 16"/>
          <p:cNvSpPr/>
          <p:nvPr/>
        </p:nvSpPr>
        <p:spPr>
          <a:xfrm>
            <a:off x="812800" y="4483100"/>
            <a:ext cx="10566400" cy="1358900"/>
          </a:xfrm>
          <a:prstGeom prst="roundRect">
            <a:avLst>
              <a:gd name="adj" fmla="val 7477"/>
            </a:avLst>
          </a:prstGeom>
          <a:solidFill>
            <a:srgbClr val="0B0748"/>
          </a:solidFill>
          <a:ln/>
        </p:spPr>
        <p:txBody>
          <a:bodyPr wrap="none" lIns="160742" tIns="84542" rIns="0" bIns="84542" rtlCol="0" anchor="ctr">
            <a:normAutofit/>
          </a:bodyPr>
          <a:lstStyle/>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label pods -l app=redis tier=donnees     </a:t>
            </a:r>
            <a:r>
              <a:rPr lang="en-US" sz="1200" dirty="0">
                <a:solidFill>
                  <a:srgbClr val="9A96D0"/>
                </a:solidFill>
                <a:latin typeface="JetBrains Mono" pitchFamily="49" charset="0"/>
                <a:ea typeface="JetBrains Mono" pitchFamily="49" charset="-122"/>
                <a:cs typeface="JetBrains Mono" pitchFamily="49" charset="-120"/>
              </a:rPr>
              <a:t># ajouter à tous les pods sélectionnés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label pod &lt;pod&gt; tier=cache --overwrite   </a:t>
            </a:r>
            <a:r>
              <a:rPr lang="en-US" sz="1200" dirty="0">
                <a:solidFill>
                  <a:srgbClr val="9A96D0"/>
                </a:solidFill>
                <a:latin typeface="JetBrains Mono" pitchFamily="49" charset="0"/>
                <a:ea typeface="JetBrains Mono" pitchFamily="49" charset="-122"/>
                <a:cs typeface="JetBrains Mono" pitchFamily="49" charset="-120"/>
              </a:rPr>
              <a:t># modifier</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label pod &lt;pod&gt; tier-                    </a:t>
            </a:r>
            <a:r>
              <a:rPr lang="en-US" sz="1200" dirty="0">
                <a:solidFill>
                  <a:srgbClr val="9A96D0"/>
                </a:solidFill>
                <a:latin typeface="JetBrains Mono" pitchFamily="49" charset="0"/>
                <a:ea typeface="JetBrains Mono" pitchFamily="49" charset="-122"/>
                <a:cs typeface="JetBrains Mono" pitchFamily="49" charset="-120"/>
              </a:rPr>
              <a:t># retirer</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get pods --show-labels</a:t>
            </a:r>
            <a:endParaRPr lang="en-US" sz="1200" dirty="0"/>
          </a:p>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get pods -L app,tier                     </a:t>
            </a:r>
            <a:r>
              <a:rPr lang="en-US" sz="1200" dirty="0">
                <a:solidFill>
                  <a:srgbClr val="9A96D0"/>
                </a:solidFill>
                <a:latin typeface="JetBrains Mono" pitchFamily="49" charset="0"/>
                <a:ea typeface="JetBrains Mono" pitchFamily="49" charset="-122"/>
                <a:cs typeface="JetBrains Mono" pitchFamily="49" charset="-120"/>
              </a:rPr>
              <a:t># labels en colonnes</a:t>
            </a:r>
            <a:endParaRPr lang="en-US" sz="1200" dirty="0"/>
          </a:p>
        </p:txBody>
      </p:sp>
      <p:pic>
        <p:nvPicPr>
          <p:cNvPr id="19" name="Image 0" descr="preencoded.png">    </p:cNvPr>
          <p:cNvPicPr>
            <a:picLocks noChangeAspect="1"/>
          </p:cNvPicPr>
          <p:nvPr/>
        </p:nvPicPr>
        <p:blipFill>
          <a:blip r:embed="rId1"/>
          <a:srcRect l="0" r="0" t="0" b="0"/>
          <a:stretch/>
        </p:blipFill>
        <p:spPr>
          <a:xfrm>
            <a:off x="812800" y="6299200"/>
            <a:ext cx="152400" cy="152400"/>
          </a:xfrm>
          <a:prstGeom prst="rect">
            <a:avLst/>
          </a:prstGeom>
        </p:spPr>
      </p:pic>
      <p:sp>
        <p:nvSpPr>
          <p:cNvPr id="20" name="Text 17"/>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1" name="Image 1" descr="Parcours : module 12 sur 16">    </p:cNvPr>
          <p:cNvPicPr>
            <a:picLocks noChangeAspect="1"/>
          </p:cNvPicPr>
          <p:nvPr/>
        </p:nvPicPr>
        <p:blipFill>
          <a:blip r:embed="rId2"/>
          <a:srcRect l="0" r="0" t="0" b="0"/>
          <a:stretch/>
        </p:blipFill>
        <p:spPr>
          <a:xfrm>
            <a:off x="9207500" y="6299200"/>
            <a:ext cx="2171700" cy="152400"/>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12 · LABELS, ANNOTATIONS, DÉPLOIEMENTS</a:t>
            </a:r>
            <a:endParaRPr lang="en-US" sz="1200" dirty="0"/>
          </a:p>
        </p:txBody>
      </p:sp>
      <p:sp>
        <p:nvSpPr>
          <p:cNvPr id="3" name="Text 1"/>
          <p:cNvSpPr/>
          <p:nvPr>
            <p:ph type="title"/>
          </p:nvPr>
        </p:nvSpPr>
        <p:spPr>
          <a:xfrm>
            <a:off x="812800" y="949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labels recommandés</a:t>
            </a:r>
            <a:endParaRPr lang="en-US" sz="2800" dirty="0"/>
          </a:p>
        </p:txBody>
      </p:sp>
      <p:sp>
        <p:nvSpPr>
          <p:cNvPr id="4" name="Text 2"/>
          <p:cNvSpPr/>
          <p:nvPr/>
        </p:nvSpPr>
        <p:spPr>
          <a:xfrm>
            <a:off x="812800" y="15316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Un jeu de labels communs, compris par de nombreux outils : Helm, tableaux de bord, Headlamp.</a:t>
            </a:r>
            <a:endParaRPr lang="en-US" sz="1400" dirty="0"/>
          </a:p>
        </p:txBody>
      </p:sp>
      <p:sp>
        <p:nvSpPr>
          <p:cNvPr id="5" name="Shape 3"/>
          <p:cNvSpPr/>
          <p:nvPr/>
        </p:nvSpPr>
        <p:spPr>
          <a:xfrm>
            <a:off x="812800" y="1971080"/>
            <a:ext cx="10566400" cy="2670387"/>
          </a:xfrm>
          <a:prstGeom prst="rect">
            <a:avLst/>
          </a:prstGeom>
          <a:solidFill>
            <a:srgbClr val="FDFD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9891" y="1978171"/>
          <a:ext cx="10559309" cy="2663296"/>
        </p:xfrm>
        <a:graphic>
          <a:graphicData uri="http://schemas.openxmlformats.org/drawingml/2006/table">
            <a:tbl>
              <a:tblPr/>
              <a:tblGrid>
                <a:gridCol w="4223724"/>
                <a:gridCol w="3801351"/>
                <a:gridCol w="2534234"/>
              </a:tblGrid>
              <a:tr h="380471">
                <a:tc>
                  <a:txBody>
                    <a:bodyPr/>
                    <a:lstStyle/>
                    <a:p>
                      <a:pPr indent="0" marL="0">
                        <a:lnSpc>
                          <a:spcPts val="1960"/>
                        </a:lnSpc>
                        <a:buNone/>
                      </a:pPr>
                      <a:r>
                        <a:rPr lang="en-US" sz="1400" b="1" dirty="0">
                          <a:solidFill>
                            <a:srgbClr val="F5F4F9"/>
                          </a:solidFill>
                          <a:latin typeface="IBM Plex Sans" pitchFamily="34" charset="0"/>
                          <a:ea typeface="IBM Plex Sans" pitchFamily="34" charset="-122"/>
                          <a:cs typeface="IBM Plex Sans" pitchFamily="34" charset="-120"/>
                        </a:rPr>
                        <a:t>Label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960"/>
                        </a:lnSpc>
                        <a:buNone/>
                      </a:pPr>
                      <a:r>
                        <a:rPr lang="en-US" sz="1400" b="1" dirty="0">
                          <a:solidFill>
                            <a:srgbClr val="F5F4F9"/>
                          </a:solidFill>
                          <a:latin typeface="IBM Plex Sans" pitchFamily="34" charset="0"/>
                          <a:ea typeface="IBM Plex Sans" pitchFamily="34" charset="-122"/>
                          <a:cs typeface="IBM Plex Sans" pitchFamily="34" charset="-120"/>
                        </a:rPr>
                        <a:t>Signification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960"/>
                        </a:lnSpc>
                        <a:buNone/>
                      </a:pPr>
                      <a:r>
                        <a:rPr lang="en-US" sz="1400" b="1" dirty="0">
                          <a:solidFill>
                            <a:srgbClr val="F5F4F9"/>
                          </a:solidFill>
                          <a:latin typeface="IBM Plex Sans" pitchFamily="34" charset="0"/>
                          <a:ea typeface="IBM Plex Sans" pitchFamily="34" charset="-122"/>
                          <a:cs typeface="IBM Plex Sans" pitchFamily="34" charset="-120"/>
                        </a:rPr>
                        <a:t>Exemple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app.kubernetes.io/name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Nom de l'application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podinfo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app.kubernetes.io/instance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Instance particulière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podinfo-recette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app.kubernetes.io/version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Version de l'application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"6.7.1"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app.kubernetes.io/component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Rôle dans l'architecture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frontend, cache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app.kubernetes.io/part-of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Application plus large dont elle fait partie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fil-rouge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app.kubernetes.io/managed-by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Outil qui la gère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helm, kubectl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sp>
        <p:nvSpPr>
          <p:cNvPr id="7" name="Shape 4"/>
          <p:cNvSpPr/>
          <p:nvPr/>
        </p:nvSpPr>
        <p:spPr>
          <a:xfrm>
            <a:off x="812800" y="5298480"/>
            <a:ext cx="10566400" cy="543560"/>
          </a:xfrm>
          <a:prstGeom prst="roundRect">
            <a:avLst>
              <a:gd name="adj" fmla="val 18692"/>
            </a:avLst>
          </a:prstGeom>
          <a:solidFill>
            <a:srgbClr val="ECEAF6"/>
          </a:solidFill>
          <a:ln/>
        </p:spPr>
      </p:sp>
      <p:pic>
        <p:nvPicPr>
          <p:cNvPr id="8" name="Image 0" descr="Lightbulb">    </p:cNvPr>
          <p:cNvPicPr>
            <a:picLocks noChangeAspect="1"/>
          </p:cNvPicPr>
          <p:nvPr/>
        </p:nvPicPr>
        <p:blipFill>
          <a:blip r:embed="rId1"/>
          <a:srcRect l="0" r="0" t="0" b="0"/>
          <a:stretch/>
        </p:blipFill>
        <p:spPr>
          <a:xfrm>
            <a:off x="990600" y="5455940"/>
            <a:ext cx="228600" cy="228600"/>
          </a:xfrm>
          <a:prstGeom prst="rect">
            <a:avLst/>
          </a:prstGeom>
        </p:spPr>
      </p:pic>
      <p:sp>
        <p:nvSpPr>
          <p:cNvPr id="9" name="Text 5"/>
          <p:cNvSpPr/>
          <p:nvPr/>
        </p:nvSpPr>
        <p:spPr>
          <a:xfrm>
            <a:off x="1371600" y="5454650"/>
            <a:ext cx="338730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Ajoutez vos propres labels d'organisation :</a:t>
            </a:r>
            <a:endParaRPr lang="en-US" sz="1300" dirty="0"/>
          </a:p>
        </p:txBody>
      </p:sp>
      <p:sp>
        <p:nvSpPr>
          <p:cNvPr id="10" name="Text 6"/>
          <p:cNvSpPr/>
          <p:nvPr/>
        </p:nvSpPr>
        <p:spPr>
          <a:xfrm>
            <a:off x="4758902" y="5425480"/>
            <a:ext cx="2240280" cy="289560"/>
          </a:xfrm>
          <a:custGeom>
            <a:avLst/>
            <a:gdLst/>
            <a:ahLst/>
            <a:cxnLst/>
            <a:rect l="l" t="t" r="r" b="b"/>
            <a:pathLst>
              <a:path w="2240280" h="289560">
                <a:moveTo>
                  <a:pt x="144780" y="0"/>
                </a:moveTo>
                <a:lnTo>
                  <a:pt x="2095500" y="0"/>
                </a:lnTo>
                <a:arcTo hR="144780" wR="144780" stAng="16200000" swAng="5400000"/>
                <a:lnTo>
                  <a:pt x="2240280" y="144780"/>
                </a:lnTo>
                <a:arcTo hR="144780" wR="144780" stAng="0" swAng="5400000"/>
                <a:lnTo>
                  <a:pt x="144780" y="289560"/>
                </a:lnTo>
                <a:arcTo hR="144780" wR="144780" stAng="5400000" swAng="5400000"/>
                <a:lnTo>
                  <a:pt x="0" y="144780"/>
                </a:lnTo>
                <a:arcTo hR="144780" wR="144780" stAng="10800000" swAng="5400000"/>
                <a:close/>
              </a:path>
            </a:pathLst>
          </a:custGeom>
          <a:solidFill>
            <a:srgbClr val="FDFDFF"/>
          </a:solidFill>
          <a:ln/>
        </p:spPr>
        <p:txBody>
          <a:bodyPr wrap="none" lIns="0" tIns="0" rIns="0" bIns="0" rtlCol="0" anchor="ctr">
            <a:normAutofit/>
          </a:bodyPr>
          <a:lstStyle/>
          <a:p>
            <a:pPr algn="ctr"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environnement: recette</a:t>
            </a:r>
            <a:endParaRPr lang="en-US" sz="1200" dirty="0"/>
          </a:p>
        </p:txBody>
      </p:sp>
      <p:sp>
        <p:nvSpPr>
          <p:cNvPr id="11" name="Text 7"/>
          <p:cNvSpPr/>
          <p:nvPr/>
        </p:nvSpPr>
        <p:spPr>
          <a:xfrm>
            <a:off x="7151582" y="5425480"/>
            <a:ext cx="1783080" cy="289560"/>
          </a:xfrm>
          <a:custGeom>
            <a:avLst/>
            <a:gdLst/>
            <a:ahLst/>
            <a:cxnLst/>
            <a:rect l="l" t="t" r="r" b="b"/>
            <a:pathLst>
              <a:path w="1783080" h="289560">
                <a:moveTo>
                  <a:pt x="144780" y="0"/>
                </a:moveTo>
                <a:lnTo>
                  <a:pt x="1638300" y="0"/>
                </a:lnTo>
                <a:arcTo hR="144780" wR="144780" stAng="16200000" swAng="5400000"/>
                <a:lnTo>
                  <a:pt x="1783080" y="144780"/>
                </a:lnTo>
                <a:arcTo hR="144780" wR="144780" stAng="0" swAng="5400000"/>
                <a:lnTo>
                  <a:pt x="144780" y="289560"/>
                </a:lnTo>
                <a:arcTo hR="144780" wR="144780" stAng="5400000" swAng="5400000"/>
                <a:lnTo>
                  <a:pt x="0" y="144780"/>
                </a:lnTo>
                <a:arcTo hR="144780" wR="144780" stAng="10800000" swAng="5400000"/>
                <a:close/>
              </a:path>
            </a:pathLst>
          </a:custGeom>
          <a:solidFill>
            <a:srgbClr val="FDFDFF"/>
          </a:solidFill>
          <a:ln/>
        </p:spPr>
        <p:txBody>
          <a:bodyPr wrap="none" lIns="0" tIns="0" rIns="0" bIns="0" rtlCol="0" anchor="ctr">
            <a:normAutofit/>
          </a:bodyPr>
          <a:lstStyle/>
          <a:p>
            <a:pPr algn="ctr"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equipe: diffusion</a:t>
            </a:r>
            <a:endParaRPr lang="en-US" sz="1200" dirty="0"/>
          </a:p>
        </p:txBody>
      </p:sp>
      <p:sp>
        <p:nvSpPr>
          <p:cNvPr id="12" name="Text 8"/>
          <p:cNvSpPr/>
          <p:nvPr/>
        </p:nvSpPr>
        <p:spPr>
          <a:xfrm>
            <a:off x="9087062" y="5425480"/>
            <a:ext cx="1417320" cy="289560"/>
          </a:xfrm>
          <a:custGeom>
            <a:avLst/>
            <a:gdLst/>
            <a:ahLst/>
            <a:cxnLst/>
            <a:rect l="l" t="t" r="r" b="b"/>
            <a:pathLst>
              <a:path w="1417320" h="289560">
                <a:moveTo>
                  <a:pt x="144780" y="0"/>
                </a:moveTo>
                <a:lnTo>
                  <a:pt x="1272540" y="0"/>
                </a:lnTo>
                <a:arcTo hR="144780" wR="144780" stAng="16200000" swAng="5400000"/>
                <a:lnTo>
                  <a:pt x="1417320" y="144780"/>
                </a:lnTo>
                <a:arcTo hR="144780" wR="144780" stAng="0" swAng="5400000"/>
                <a:lnTo>
                  <a:pt x="144780" y="289560"/>
                </a:lnTo>
                <a:arcTo hR="144780" wR="144780" stAng="5400000" swAng="5400000"/>
                <a:lnTo>
                  <a:pt x="0" y="144780"/>
                </a:lnTo>
                <a:arcTo hR="144780" wR="144780" stAng="10800000" swAng="5400000"/>
                <a:close/>
              </a:path>
            </a:pathLst>
          </a:custGeom>
          <a:solidFill>
            <a:srgbClr val="FDFDFF"/>
          </a:solidFill>
          <a:ln/>
        </p:spPr>
        <p:txBody>
          <a:bodyPr wrap="none" lIns="0" tIns="0" rIns="0" bIns="0" rtlCol="0" anchor="ctr">
            <a:normAutofit/>
          </a:bodyPr>
          <a:lstStyle/>
          <a:p>
            <a:pPr algn="ctr"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tier: donnees</a:t>
            </a:r>
            <a:endParaRPr lang="en-US" sz="1200" dirty="0"/>
          </a:p>
        </p:txBody>
      </p:sp>
      <p:pic>
        <p:nvPicPr>
          <p:cNvPr id="13" name="Image 1" descr="preencoded.png">    </p:cNvPr>
          <p:cNvPicPr>
            <a:picLocks noChangeAspect="1"/>
          </p:cNvPicPr>
          <p:nvPr/>
        </p:nvPicPr>
        <p:blipFill>
          <a:blip r:embed="rId2"/>
          <a:srcRect l="0" r="0" t="0" b="0"/>
          <a:stretch/>
        </p:blipFill>
        <p:spPr>
          <a:xfrm>
            <a:off x="812800" y="6299200"/>
            <a:ext cx="152400" cy="152400"/>
          </a:xfrm>
          <a:prstGeom prst="rect">
            <a:avLst/>
          </a:prstGeom>
        </p:spPr>
      </p:pic>
      <p:sp>
        <p:nvSpPr>
          <p:cNvPr id="14" name="Text 9"/>
          <p:cNvSpPr/>
          <p:nvPr/>
        </p:nvSpPr>
        <p:spPr>
          <a:xfrm>
            <a:off x="1066800" y="6299200"/>
            <a:ext cx="33672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5" name="Image 2" descr="Parcours : module 12 sur 16">    </p:cNvPr>
          <p:cNvPicPr>
            <a:picLocks noChangeAspect="1"/>
          </p:cNvPicPr>
          <p:nvPr/>
        </p:nvPicPr>
        <p:blipFill>
          <a:blip r:embed="rId3"/>
          <a:srcRect l="0" r="0" t="0" b="0"/>
          <a:stretch/>
        </p:blipFill>
        <p:spPr>
          <a:xfrm>
            <a:off x="9207500" y="6299200"/>
            <a:ext cx="2171700" cy="152400"/>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12 · LABELS, ANNOTATIONS, DÉPLOIEMENTS</a:t>
            </a:r>
            <a:endParaRPr lang="en-US" sz="1200" dirty="0"/>
          </a:p>
        </p:txBody>
      </p:sp>
      <p:sp>
        <p:nvSpPr>
          <p:cNvPr id="3" name="Text 1"/>
          <p:cNvSpPr/>
          <p:nvPr>
            <p:ph type="title"/>
          </p:nvPr>
        </p:nvSpPr>
        <p:spPr>
          <a:xfrm>
            <a:off x="812800" y="9499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sélecteurs</a:t>
            </a:r>
            <a:endParaRPr lang="en-US" sz="2800" dirty="0"/>
          </a:p>
        </p:txBody>
      </p:sp>
      <p:sp>
        <p:nvSpPr>
          <p:cNvPr id="4" name="Shape 2"/>
          <p:cNvSpPr/>
          <p:nvPr/>
        </p:nvSpPr>
        <p:spPr>
          <a:xfrm>
            <a:off x="815975" y="1547515"/>
            <a:ext cx="5200650" cy="1050078"/>
          </a:xfrm>
          <a:prstGeom prst="roundRect">
            <a:avLst>
              <a:gd name="adj" fmla="val 11792"/>
            </a:avLst>
          </a:prstGeom>
          <a:solidFill>
            <a:srgbClr val="FDFDFF"/>
          </a:solidFill>
          <a:ln w="6350">
            <a:solidFill>
              <a:srgbClr val="E1DFEE"/>
            </a:solidFill>
            <a:prstDash val="solid"/>
          </a:ln>
        </p:spPr>
      </p:sp>
      <p:sp>
        <p:nvSpPr>
          <p:cNvPr id="5" name="Text 3"/>
          <p:cNvSpPr/>
          <p:nvPr/>
        </p:nvSpPr>
        <p:spPr>
          <a:xfrm>
            <a:off x="1010391" y="1716584"/>
            <a:ext cx="889529"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B0748"/>
                </a:solidFill>
                <a:latin typeface="Sora" pitchFamily="34" charset="0"/>
                <a:ea typeface="Sora" pitchFamily="34" charset="-122"/>
                <a:cs typeface="Sora" pitchFamily="34" charset="-120"/>
              </a:rPr>
              <a:t>Égalité</a:t>
            </a:r>
            <a:endParaRPr lang="en-US" sz="1700" dirty="0"/>
          </a:p>
        </p:txBody>
      </p:sp>
      <p:sp>
        <p:nvSpPr>
          <p:cNvPr id="6" name="Text 4"/>
          <p:cNvSpPr/>
          <p:nvPr/>
        </p:nvSpPr>
        <p:spPr>
          <a:xfrm>
            <a:off x="1899920" y="1737816"/>
            <a:ext cx="115214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25A2C"/>
                </a:solidFill>
                <a:latin typeface="JetBrains Mono" pitchFamily="49" charset="0"/>
                <a:ea typeface="JetBrains Mono" pitchFamily="49" charset="-122"/>
                <a:cs typeface="JetBrains Mono" pitchFamily="49" charset="-120"/>
              </a:rPr>
              <a:t>=  ==  !=</a:t>
            </a:r>
            <a:endParaRPr lang="en-US" sz="1400" dirty="0"/>
          </a:p>
        </p:txBody>
      </p:sp>
      <p:sp>
        <p:nvSpPr>
          <p:cNvPr id="7" name="Text 5"/>
          <p:cNvSpPr/>
          <p:nvPr/>
        </p:nvSpPr>
        <p:spPr>
          <a:xfrm>
            <a:off x="1010391" y="2088257"/>
            <a:ext cx="4811818" cy="340360"/>
          </a:xfrm>
          <a:prstGeom prst="roundRect">
            <a:avLst>
              <a:gd name="adj" fmla="val 18657"/>
            </a:avLst>
          </a:prstGeom>
          <a:solidFill>
            <a:srgbClr val="ECEAF6"/>
          </a:solidFill>
          <a:ln/>
        </p:spPr>
        <p:txBody>
          <a:bodyPr wrap="none" lIns="83001" tIns="44901" rIns="0" bIns="19501"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-l app=podinfo,tier!=cache</a:t>
            </a:r>
            <a:endParaRPr lang="en-US" sz="1200" dirty="0"/>
          </a:p>
        </p:txBody>
      </p:sp>
      <p:sp>
        <p:nvSpPr>
          <p:cNvPr id="8" name="Shape 6"/>
          <p:cNvSpPr/>
          <p:nvPr/>
        </p:nvSpPr>
        <p:spPr>
          <a:xfrm>
            <a:off x="6175375" y="1547515"/>
            <a:ext cx="5200650" cy="1050078"/>
          </a:xfrm>
          <a:prstGeom prst="roundRect">
            <a:avLst>
              <a:gd name="adj" fmla="val 11792"/>
            </a:avLst>
          </a:prstGeom>
          <a:solidFill>
            <a:srgbClr val="FDFDFF"/>
          </a:solidFill>
          <a:ln w="6350">
            <a:solidFill>
              <a:srgbClr val="E1DFEE"/>
            </a:solidFill>
            <a:prstDash val="solid"/>
          </a:ln>
        </p:spPr>
      </p:sp>
      <p:sp>
        <p:nvSpPr>
          <p:cNvPr id="9" name="Text 7"/>
          <p:cNvSpPr/>
          <p:nvPr/>
        </p:nvSpPr>
        <p:spPr>
          <a:xfrm>
            <a:off x="6369791" y="1716584"/>
            <a:ext cx="1209780"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B0748"/>
                </a:solidFill>
                <a:latin typeface="Sora" pitchFamily="34" charset="0"/>
                <a:ea typeface="Sora" pitchFamily="34" charset="-122"/>
                <a:cs typeface="Sora" pitchFamily="34" charset="-120"/>
              </a:rPr>
              <a:t>Ensemble</a:t>
            </a:r>
            <a:endParaRPr lang="en-US" sz="1700" dirty="0"/>
          </a:p>
        </p:txBody>
      </p:sp>
      <p:sp>
        <p:nvSpPr>
          <p:cNvPr id="10" name="Text 8"/>
          <p:cNvSpPr/>
          <p:nvPr/>
        </p:nvSpPr>
        <p:spPr>
          <a:xfrm>
            <a:off x="7579571" y="1737816"/>
            <a:ext cx="25603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25A2C"/>
                </a:solidFill>
                <a:latin typeface="JetBrains Mono" pitchFamily="49" charset="0"/>
                <a:ea typeface="JetBrains Mono" pitchFamily="49" charset="-122"/>
                <a:cs typeface="JetBrains Mono" pitchFamily="49" charset="-120"/>
              </a:rPr>
              <a:t>in  notin  existence</a:t>
            </a:r>
            <a:endParaRPr lang="en-US" sz="1400" dirty="0"/>
          </a:p>
        </p:txBody>
      </p:sp>
      <p:sp>
        <p:nvSpPr>
          <p:cNvPr id="11" name="Text 9"/>
          <p:cNvSpPr/>
          <p:nvPr/>
        </p:nvSpPr>
        <p:spPr>
          <a:xfrm>
            <a:off x="6369791" y="2088257"/>
            <a:ext cx="4811818" cy="340360"/>
          </a:xfrm>
          <a:prstGeom prst="roundRect">
            <a:avLst>
              <a:gd name="adj" fmla="val 18657"/>
            </a:avLst>
          </a:prstGeom>
          <a:solidFill>
            <a:srgbClr val="ECEAF6"/>
          </a:solidFill>
          <a:ln/>
        </p:spPr>
        <p:txBody>
          <a:bodyPr wrap="none" lIns="83001" tIns="44901" rIns="0" bIns="19501" rtlCol="0" anchor="t">
            <a:normAutofit/>
          </a:bodyPr>
          <a:lstStyle/>
          <a:p>
            <a:pPr algn="l" indent="0" marL="0">
              <a:lnSpc>
                <a:spcPts val="1680"/>
              </a:lnSpc>
              <a:buNone/>
            </a:pPr>
            <a:r>
              <a:rPr lang="en-US" sz="1200" dirty="0">
                <a:solidFill>
                  <a:srgbClr val="0B0748"/>
                </a:solidFill>
                <a:latin typeface="JetBrains Mono" pitchFamily="49" charset="0"/>
                <a:ea typeface="JetBrains Mono" pitchFamily="49" charset="-122"/>
                <a:cs typeface="JetBrains Mono" pitchFamily="49" charset="-120"/>
              </a:rPr>
              <a:t>-l 'environnement in (recette,prod),!obsolete'</a:t>
            </a:r>
            <a:endParaRPr lang="en-US" sz="1200" dirty="0"/>
          </a:p>
        </p:txBody>
      </p:sp>
      <p:sp>
        <p:nvSpPr>
          <p:cNvPr id="12" name="Text 10"/>
          <p:cNvSpPr/>
          <p:nvPr/>
        </p:nvSpPr>
        <p:spPr>
          <a:xfrm>
            <a:off x="812800" y="2803922"/>
            <a:ext cx="6404458"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DEPLOYMENT, REPLICASET, NETWORKPOLICY, PDB, JOB</a:t>
            </a:r>
            <a:endParaRPr lang="en-US" sz="1100" dirty="0"/>
          </a:p>
        </p:txBody>
      </p:sp>
      <p:sp>
        <p:nvSpPr>
          <p:cNvPr id="13" name="Text 11"/>
          <p:cNvSpPr/>
          <p:nvPr/>
        </p:nvSpPr>
        <p:spPr>
          <a:xfrm>
            <a:off x="812800" y="3075682"/>
            <a:ext cx="6217920" cy="2766272"/>
          </a:xfrm>
          <a:prstGeom prst="roundRect">
            <a:avLst>
              <a:gd name="adj" fmla="val 3673"/>
            </a:avLst>
          </a:prstGeom>
          <a:solidFill>
            <a:srgbClr val="0B0748"/>
          </a:solidFill>
          <a:ln/>
        </p:spPr>
        <p:txBody>
          <a:bodyPr wrap="none" lIns="148042" tIns="97242" rIns="0" bIns="97242" rtlCol="0" anchor="ctr">
            <a:normAutofit/>
          </a:bodyPr>
          <a:lstStyle/>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selector:</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matchLabels:</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app: podinfo</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matchExpressions:</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 key: environnement</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operator: In</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values: ["recette", "prod"]</a:t>
            </a:r>
            <a:endParaRPr lang="en-US" sz="1200" dirty="0"/>
          </a:p>
        </p:txBody>
      </p:sp>
      <p:sp>
        <p:nvSpPr>
          <p:cNvPr id="14" name="Text 12"/>
          <p:cNvSpPr/>
          <p:nvPr/>
        </p:nvSpPr>
        <p:spPr>
          <a:xfrm>
            <a:off x="7233920" y="2803922"/>
            <a:ext cx="4269638"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SERVICE : ÉGALITÉ UNIQUEMENT</a:t>
            </a:r>
            <a:endParaRPr lang="en-US" sz="1100" dirty="0"/>
          </a:p>
        </p:txBody>
      </p:sp>
      <p:sp>
        <p:nvSpPr>
          <p:cNvPr id="15" name="Text 13"/>
          <p:cNvSpPr/>
          <p:nvPr/>
        </p:nvSpPr>
        <p:spPr>
          <a:xfrm>
            <a:off x="7233920" y="3075682"/>
            <a:ext cx="4145280" cy="2245572"/>
          </a:xfrm>
          <a:prstGeom prst="roundRect">
            <a:avLst>
              <a:gd name="adj" fmla="val 4524"/>
            </a:avLst>
          </a:prstGeom>
          <a:solidFill>
            <a:srgbClr val="0B0748"/>
          </a:solidFill>
          <a:ln/>
        </p:spPr>
        <p:txBody>
          <a:bodyPr wrap="none" lIns="148042" tIns="97242" rIns="34352" bIns="97242" rtlCol="0" anchor="ctr">
            <a:normAutofit/>
          </a:bodyPr>
          <a:lstStyle/>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selector:</a:t>
            </a:r>
            <a:endParaRPr lang="en-US" sz="1200" dirty="0"/>
          </a:p>
          <a:p>
            <a:pPr algn="l" indent="0" marL="0">
              <a:lnSpc>
                <a:spcPts val="1704"/>
              </a:lnSpc>
              <a:buNone/>
            </a:pPr>
            <a:r>
              <a:rPr lang="en-US" sz="1200" dirty="0">
                <a:solidFill>
                  <a:srgbClr val="ECEAFF"/>
                </a:solidFill>
                <a:latin typeface="JetBrains Mono" pitchFamily="49" charset="0"/>
                <a:ea typeface="JetBrains Mono" pitchFamily="49" charset="-122"/>
                <a:cs typeface="JetBrains Mono" pitchFamily="49" charset="-120"/>
              </a:rPr>
              <a:t>  app: podinfo</a:t>
            </a:r>
            <a:endParaRPr lang="en-US" sz="1200" dirty="0"/>
          </a:p>
        </p:txBody>
      </p:sp>
      <p:sp>
        <p:nvSpPr>
          <p:cNvPr id="16" name="Text 14"/>
          <p:cNvSpPr/>
          <p:nvPr/>
        </p:nvSpPr>
        <p:spPr>
          <a:xfrm>
            <a:off x="7233920" y="5397500"/>
            <a:ext cx="4269638"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Un simple dictionnaire : les objets anciens ne connaissent que l'égalité.</a:t>
            </a:r>
            <a:endParaRPr lang="en-US" sz="1250" dirty="0"/>
          </a:p>
        </p:txBody>
      </p:sp>
      <p:pic>
        <p:nvPicPr>
          <p:cNvPr id="17"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8" name="Text 15"/>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9" name="Image 1" descr="Parcours : module 12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12 · LABELS, ANNOTATIONS, DÉPLOIEMENTS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Qui sélectionne quoi ?</a:t>
            </a:r>
            <a:endParaRPr lang="en-US" sz="2800" dirty="0"/>
          </a:p>
        </p:txBody>
      </p:sp>
      <p:sp>
        <p:nvSpPr>
          <p:cNvPr id="4" name="Text 2"/>
          <p:cNvSpPr/>
          <p:nvPr/>
        </p:nvSpPr>
        <p:spPr>
          <a:xfrm>
            <a:off x="812800" y="15189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Le même mécanisme sert partout : chaque objet trouve ses cibles par un sélecteur de labels.</a:t>
            </a:r>
            <a:endParaRPr lang="en-US" sz="1400" dirty="0"/>
          </a:p>
        </p:txBody>
      </p:sp>
      <p:sp>
        <p:nvSpPr>
          <p:cNvPr id="5" name="Shape 3"/>
          <p:cNvSpPr/>
          <p:nvPr/>
        </p:nvSpPr>
        <p:spPr>
          <a:xfrm>
            <a:off x="815975" y="1948855"/>
            <a:ext cx="3414183" cy="1852930"/>
          </a:xfrm>
          <a:prstGeom prst="roundRect">
            <a:avLst>
              <a:gd name="adj" fmla="val 6683"/>
            </a:avLst>
          </a:prstGeom>
          <a:solidFill>
            <a:srgbClr val="FDFDFF"/>
          </a:solidFill>
          <a:ln w="6350">
            <a:solidFill>
              <a:srgbClr val="E1DFEE"/>
            </a:solidFill>
            <a:prstDash val="solid"/>
          </a:ln>
        </p:spPr>
      </p:sp>
      <p:sp>
        <p:nvSpPr>
          <p:cNvPr id="6" name="Text 4"/>
          <p:cNvSpPr/>
          <p:nvPr/>
        </p:nvSpPr>
        <p:spPr>
          <a:xfrm>
            <a:off x="1010391" y="2117923"/>
            <a:ext cx="311611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B0748"/>
                </a:solidFill>
                <a:latin typeface="Sora" pitchFamily="34" charset="0"/>
                <a:ea typeface="Sora" pitchFamily="34" charset="-122"/>
                <a:cs typeface="Sora" pitchFamily="34" charset="-120"/>
              </a:rPr>
              <a:t>Service</a:t>
            </a:r>
            <a:endParaRPr lang="en-US" sz="1400" dirty="0"/>
          </a:p>
        </p:txBody>
      </p:sp>
      <p:pic>
        <p:nvPicPr>
          <p:cNvPr id="7" name="Image 0" descr="arrow-right">    </p:cNvPr>
          <p:cNvPicPr>
            <a:picLocks noChangeAspect="1"/>
          </p:cNvPicPr>
          <p:nvPr/>
        </p:nvPicPr>
        <p:blipFill>
          <a:blip r:embed="rId1"/>
          <a:srcRect l="0" r="0" t="0" b="0"/>
          <a:stretch/>
        </p:blipFill>
        <p:spPr>
          <a:xfrm>
            <a:off x="1010391" y="3344168"/>
            <a:ext cx="190500" cy="114300"/>
          </a:xfrm>
          <a:prstGeom prst="rect">
            <a:avLst/>
          </a:prstGeom>
        </p:spPr>
      </p:pic>
      <p:sp>
        <p:nvSpPr>
          <p:cNvPr id="8" name="Text 5"/>
          <p:cNvSpPr/>
          <p:nvPr/>
        </p:nvSpPr>
        <p:spPr>
          <a:xfrm>
            <a:off x="1289791" y="3169940"/>
            <a:ext cx="2828330" cy="488315"/>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3F3C6B"/>
                </a:solidFill>
                <a:latin typeface="IBM Plex Sans" pitchFamily="34" charset="0"/>
                <a:ea typeface="IBM Plex Sans" pitchFamily="34" charset="-122"/>
                <a:cs typeface="IBM Plex Sans" pitchFamily="34" charset="-120"/>
              </a:rPr>
              <a:t>Les pods vers lesquels envoyer le trafic</a:t>
            </a:r>
            <a:endParaRPr lang="en-US" sz="1350" dirty="0"/>
          </a:p>
        </p:txBody>
      </p:sp>
      <p:sp>
        <p:nvSpPr>
          <p:cNvPr id="9" name="Shape 6"/>
          <p:cNvSpPr/>
          <p:nvPr/>
        </p:nvSpPr>
        <p:spPr>
          <a:xfrm>
            <a:off x="4388908" y="1948855"/>
            <a:ext cx="3414183" cy="1852930"/>
          </a:xfrm>
          <a:prstGeom prst="roundRect">
            <a:avLst>
              <a:gd name="adj" fmla="val 6683"/>
            </a:avLst>
          </a:prstGeom>
          <a:solidFill>
            <a:srgbClr val="FDFDFF"/>
          </a:solidFill>
          <a:ln w="6350">
            <a:solidFill>
              <a:srgbClr val="E1DFEE"/>
            </a:solidFill>
            <a:prstDash val="solid"/>
          </a:ln>
        </p:spPr>
      </p:sp>
      <p:sp>
        <p:nvSpPr>
          <p:cNvPr id="10" name="Text 7"/>
          <p:cNvSpPr/>
          <p:nvPr/>
        </p:nvSpPr>
        <p:spPr>
          <a:xfrm>
            <a:off x="4583324" y="2117923"/>
            <a:ext cx="3116112"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B0748"/>
                </a:solidFill>
                <a:latin typeface="Sora" pitchFamily="34" charset="0"/>
                <a:ea typeface="Sora" pitchFamily="34" charset="-122"/>
                <a:cs typeface="Sora" pitchFamily="34" charset="-120"/>
              </a:rPr>
              <a:t>Deployment, ReplicaSet, StatefulSet, DaemonSet</a:t>
            </a:r>
            <a:endParaRPr lang="en-US" sz="1400" dirty="0"/>
          </a:p>
        </p:txBody>
      </p:sp>
      <p:pic>
        <p:nvPicPr>
          <p:cNvPr id="11" name="Image 1" descr="arrow-right">    </p:cNvPr>
          <p:cNvPicPr>
            <a:picLocks noChangeAspect="1"/>
          </p:cNvPicPr>
          <p:nvPr/>
        </p:nvPicPr>
        <p:blipFill>
          <a:blip r:embed="rId2"/>
          <a:srcRect l="0" r="0" t="0" b="0"/>
          <a:stretch/>
        </p:blipFill>
        <p:spPr>
          <a:xfrm>
            <a:off x="4583324" y="3459857"/>
            <a:ext cx="190500" cy="114300"/>
          </a:xfrm>
          <a:prstGeom prst="rect">
            <a:avLst/>
          </a:prstGeom>
        </p:spPr>
      </p:pic>
      <p:sp>
        <p:nvSpPr>
          <p:cNvPr id="12" name="Text 8"/>
          <p:cNvSpPr/>
          <p:nvPr/>
        </p:nvSpPr>
        <p:spPr>
          <a:xfrm>
            <a:off x="4862724" y="3401318"/>
            <a:ext cx="2828330" cy="256857"/>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3F3C6B"/>
                </a:solidFill>
                <a:latin typeface="IBM Plex Sans" pitchFamily="34" charset="0"/>
                <a:ea typeface="IBM Plex Sans" pitchFamily="34" charset="-122"/>
                <a:cs typeface="IBM Plex Sans" pitchFamily="34" charset="-120"/>
              </a:rPr>
              <a:t>Les pods qu'il gère</a:t>
            </a:r>
            <a:endParaRPr lang="en-US" sz="1350" dirty="0"/>
          </a:p>
        </p:txBody>
      </p:sp>
      <p:sp>
        <p:nvSpPr>
          <p:cNvPr id="13" name="Shape 9"/>
          <p:cNvSpPr/>
          <p:nvPr/>
        </p:nvSpPr>
        <p:spPr>
          <a:xfrm>
            <a:off x="7961842" y="1948855"/>
            <a:ext cx="3414183" cy="1852930"/>
          </a:xfrm>
          <a:prstGeom prst="roundRect">
            <a:avLst>
              <a:gd name="adj" fmla="val 6683"/>
            </a:avLst>
          </a:prstGeom>
          <a:solidFill>
            <a:srgbClr val="FDFDFF"/>
          </a:solidFill>
          <a:ln w="6350">
            <a:solidFill>
              <a:srgbClr val="E1DFEE"/>
            </a:solidFill>
            <a:prstDash val="solid"/>
          </a:ln>
        </p:spPr>
      </p:sp>
      <p:sp>
        <p:nvSpPr>
          <p:cNvPr id="14" name="Text 10"/>
          <p:cNvSpPr/>
          <p:nvPr/>
        </p:nvSpPr>
        <p:spPr>
          <a:xfrm>
            <a:off x="8156257" y="2117923"/>
            <a:ext cx="311611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B0748"/>
                </a:solidFill>
                <a:latin typeface="Sora" pitchFamily="34" charset="0"/>
                <a:ea typeface="Sora" pitchFamily="34" charset="-122"/>
                <a:cs typeface="Sora" pitchFamily="34" charset="-120"/>
              </a:rPr>
              <a:t>NetworkPolicy</a:t>
            </a:r>
            <a:endParaRPr lang="en-US" sz="1400" dirty="0"/>
          </a:p>
        </p:txBody>
      </p:sp>
      <p:pic>
        <p:nvPicPr>
          <p:cNvPr id="15" name="Image 2" descr="arrow-right">    </p:cNvPr>
          <p:cNvPicPr>
            <a:picLocks noChangeAspect="1"/>
          </p:cNvPicPr>
          <p:nvPr/>
        </p:nvPicPr>
        <p:blipFill>
          <a:blip r:embed="rId3"/>
          <a:srcRect l="0" r="0" t="0" b="0"/>
          <a:stretch/>
        </p:blipFill>
        <p:spPr>
          <a:xfrm>
            <a:off x="8156257" y="3344168"/>
            <a:ext cx="190500" cy="114300"/>
          </a:xfrm>
          <a:prstGeom prst="rect">
            <a:avLst/>
          </a:prstGeom>
        </p:spPr>
      </p:pic>
      <p:sp>
        <p:nvSpPr>
          <p:cNvPr id="16" name="Text 11"/>
          <p:cNvSpPr/>
          <p:nvPr/>
        </p:nvSpPr>
        <p:spPr>
          <a:xfrm>
            <a:off x="8435657" y="3169940"/>
            <a:ext cx="2828330" cy="488315"/>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3F3C6B"/>
                </a:solidFill>
                <a:latin typeface="IBM Plex Sans" pitchFamily="34" charset="0"/>
                <a:ea typeface="IBM Plex Sans" pitchFamily="34" charset="-122"/>
                <a:cs typeface="IBM Plex Sans" pitchFamily="34" charset="-120"/>
              </a:rPr>
              <a:t>Les pods protégés et les sources autorisées</a:t>
            </a:r>
            <a:endParaRPr lang="en-US" sz="1350" dirty="0"/>
          </a:p>
        </p:txBody>
      </p:sp>
      <p:sp>
        <p:nvSpPr>
          <p:cNvPr id="17" name="Shape 12"/>
          <p:cNvSpPr/>
          <p:nvPr/>
        </p:nvSpPr>
        <p:spPr>
          <a:xfrm>
            <a:off x="815975" y="3985915"/>
            <a:ext cx="3414183" cy="1852930"/>
          </a:xfrm>
          <a:prstGeom prst="roundRect">
            <a:avLst>
              <a:gd name="adj" fmla="val 6683"/>
            </a:avLst>
          </a:prstGeom>
          <a:solidFill>
            <a:srgbClr val="FDFDFF"/>
          </a:solidFill>
          <a:ln w="6350">
            <a:solidFill>
              <a:srgbClr val="E1DFEE"/>
            </a:solidFill>
            <a:prstDash val="solid"/>
          </a:ln>
        </p:spPr>
      </p:sp>
      <p:sp>
        <p:nvSpPr>
          <p:cNvPr id="18" name="Text 13"/>
          <p:cNvSpPr/>
          <p:nvPr/>
        </p:nvSpPr>
        <p:spPr>
          <a:xfrm>
            <a:off x="1010391" y="4154984"/>
            <a:ext cx="311611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B0748"/>
                </a:solidFill>
                <a:latin typeface="Sora" pitchFamily="34" charset="0"/>
                <a:ea typeface="Sora" pitchFamily="34" charset="-122"/>
                <a:cs typeface="Sora" pitchFamily="34" charset="-120"/>
              </a:rPr>
              <a:t>PodDisruptionBudget</a:t>
            </a:r>
            <a:endParaRPr lang="en-US" sz="1400" dirty="0"/>
          </a:p>
        </p:txBody>
      </p:sp>
      <p:pic>
        <p:nvPicPr>
          <p:cNvPr id="19" name="Image 3" descr="arrow-right">    </p:cNvPr>
          <p:cNvPicPr>
            <a:picLocks noChangeAspect="1"/>
          </p:cNvPicPr>
          <p:nvPr/>
        </p:nvPicPr>
        <p:blipFill>
          <a:blip r:embed="rId4"/>
          <a:srcRect l="0" r="0" t="0" b="0"/>
          <a:stretch/>
        </p:blipFill>
        <p:spPr>
          <a:xfrm>
            <a:off x="1010391" y="5381228"/>
            <a:ext cx="190500" cy="114300"/>
          </a:xfrm>
          <a:prstGeom prst="rect">
            <a:avLst/>
          </a:prstGeom>
        </p:spPr>
      </p:pic>
      <p:sp>
        <p:nvSpPr>
          <p:cNvPr id="20" name="Text 14"/>
          <p:cNvSpPr/>
          <p:nvPr/>
        </p:nvSpPr>
        <p:spPr>
          <a:xfrm>
            <a:off x="1289791" y="5207000"/>
            <a:ext cx="2828330" cy="488315"/>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3F3C6B"/>
                </a:solidFill>
                <a:latin typeface="IBM Plex Sans" pitchFamily="34" charset="0"/>
                <a:ea typeface="IBM Plex Sans" pitchFamily="34" charset="-122"/>
                <a:cs typeface="IBM Plex Sans" pitchFamily="34" charset="-120"/>
              </a:rPr>
              <a:t>Les pods protégés pendant les maintenances</a:t>
            </a:r>
            <a:endParaRPr lang="en-US" sz="1350" dirty="0"/>
          </a:p>
        </p:txBody>
      </p:sp>
      <p:sp>
        <p:nvSpPr>
          <p:cNvPr id="21" name="Shape 15"/>
          <p:cNvSpPr/>
          <p:nvPr/>
        </p:nvSpPr>
        <p:spPr>
          <a:xfrm>
            <a:off x="4388908" y="3985915"/>
            <a:ext cx="3414183" cy="1852930"/>
          </a:xfrm>
          <a:prstGeom prst="roundRect">
            <a:avLst>
              <a:gd name="adj" fmla="val 6683"/>
            </a:avLst>
          </a:prstGeom>
          <a:solidFill>
            <a:srgbClr val="FDFDFF"/>
          </a:solidFill>
          <a:ln w="6350">
            <a:solidFill>
              <a:srgbClr val="E1DFEE"/>
            </a:solidFill>
            <a:prstDash val="solid"/>
          </a:ln>
        </p:spPr>
      </p:sp>
      <p:sp>
        <p:nvSpPr>
          <p:cNvPr id="22" name="Text 16"/>
          <p:cNvSpPr/>
          <p:nvPr/>
        </p:nvSpPr>
        <p:spPr>
          <a:xfrm>
            <a:off x="4583324" y="4154984"/>
            <a:ext cx="311611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B0748"/>
                </a:solidFill>
                <a:latin typeface="Sora" pitchFamily="34" charset="0"/>
                <a:ea typeface="Sora" pitchFamily="34" charset="-122"/>
                <a:cs typeface="Sora" pitchFamily="34" charset="-120"/>
              </a:rPr>
              <a:t>nodeSelector, affinités</a:t>
            </a:r>
            <a:endParaRPr lang="en-US" sz="1400" dirty="0"/>
          </a:p>
        </p:txBody>
      </p:sp>
      <p:pic>
        <p:nvPicPr>
          <p:cNvPr id="23" name="Image 4" descr="arrow-right">    </p:cNvPr>
          <p:cNvPicPr>
            <a:picLocks noChangeAspect="1"/>
          </p:cNvPicPr>
          <p:nvPr/>
        </p:nvPicPr>
        <p:blipFill>
          <a:blip r:embed="rId5"/>
          <a:srcRect l="0" r="0" t="0" b="0"/>
          <a:stretch/>
        </p:blipFill>
        <p:spPr>
          <a:xfrm>
            <a:off x="4583324" y="5497016"/>
            <a:ext cx="190500" cy="114300"/>
          </a:xfrm>
          <a:prstGeom prst="rect">
            <a:avLst/>
          </a:prstGeom>
        </p:spPr>
      </p:pic>
      <p:sp>
        <p:nvSpPr>
          <p:cNvPr id="24" name="Text 17"/>
          <p:cNvSpPr/>
          <p:nvPr/>
        </p:nvSpPr>
        <p:spPr>
          <a:xfrm>
            <a:off x="4862724" y="5438378"/>
            <a:ext cx="2828330" cy="256857"/>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3F3C6B"/>
                </a:solidFill>
                <a:latin typeface="IBM Plex Sans" pitchFamily="34" charset="0"/>
                <a:ea typeface="IBM Plex Sans" pitchFamily="34" charset="-122"/>
                <a:cs typeface="IBM Plex Sans" pitchFamily="34" charset="-120"/>
              </a:rPr>
              <a:t>Les nœuds</a:t>
            </a:r>
            <a:endParaRPr lang="en-US" sz="1350" dirty="0"/>
          </a:p>
        </p:txBody>
      </p:sp>
      <p:sp>
        <p:nvSpPr>
          <p:cNvPr id="25" name="Shape 18"/>
          <p:cNvSpPr/>
          <p:nvPr/>
        </p:nvSpPr>
        <p:spPr>
          <a:xfrm>
            <a:off x="7961842" y="3985915"/>
            <a:ext cx="3414183" cy="1852930"/>
          </a:xfrm>
          <a:prstGeom prst="roundRect">
            <a:avLst>
              <a:gd name="adj" fmla="val 6683"/>
            </a:avLst>
          </a:prstGeom>
          <a:solidFill>
            <a:srgbClr val="FDFDFF"/>
          </a:solidFill>
          <a:ln w="6350">
            <a:solidFill>
              <a:srgbClr val="E1DFEE"/>
            </a:solidFill>
            <a:prstDash val="solid"/>
          </a:ln>
        </p:spPr>
      </p:sp>
      <p:sp>
        <p:nvSpPr>
          <p:cNvPr id="26" name="Text 19"/>
          <p:cNvSpPr/>
          <p:nvPr/>
        </p:nvSpPr>
        <p:spPr>
          <a:xfrm>
            <a:off x="8156257" y="4154984"/>
            <a:ext cx="311611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B0748"/>
                </a:solidFill>
                <a:latin typeface="Sora" pitchFamily="34" charset="0"/>
                <a:ea typeface="Sora" pitchFamily="34" charset="-122"/>
                <a:cs typeface="Sora" pitchFamily="34" charset="-120"/>
              </a:rPr>
              <a:t>kubectl -l</a:t>
            </a:r>
            <a:endParaRPr lang="en-US" sz="1400" dirty="0"/>
          </a:p>
        </p:txBody>
      </p:sp>
      <p:pic>
        <p:nvPicPr>
          <p:cNvPr id="27" name="Image 5" descr="arrow-right">    </p:cNvPr>
          <p:cNvPicPr>
            <a:picLocks noChangeAspect="1"/>
          </p:cNvPicPr>
          <p:nvPr/>
        </p:nvPicPr>
        <p:blipFill>
          <a:blip r:embed="rId6"/>
          <a:srcRect l="0" r="0" t="0" b="0"/>
          <a:stretch/>
        </p:blipFill>
        <p:spPr>
          <a:xfrm>
            <a:off x="8156257" y="5497016"/>
            <a:ext cx="190500" cy="114300"/>
          </a:xfrm>
          <a:prstGeom prst="rect">
            <a:avLst/>
          </a:prstGeom>
        </p:spPr>
      </p:pic>
      <p:sp>
        <p:nvSpPr>
          <p:cNvPr id="28" name="Text 20"/>
          <p:cNvSpPr/>
          <p:nvPr/>
        </p:nvSpPr>
        <p:spPr>
          <a:xfrm>
            <a:off x="8435657" y="5438378"/>
            <a:ext cx="2828330" cy="256857"/>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3F3C6B"/>
                </a:solidFill>
                <a:latin typeface="IBM Plex Sans" pitchFamily="34" charset="0"/>
                <a:ea typeface="IBM Plex Sans" pitchFamily="34" charset="-122"/>
                <a:cs typeface="IBM Plex Sans" pitchFamily="34" charset="-120"/>
              </a:rPr>
              <a:t>Ce que vous affichez ou modifiez</a:t>
            </a:r>
            <a:endParaRPr lang="en-US" sz="1350" dirty="0"/>
          </a:p>
        </p:txBody>
      </p:sp>
      <p:pic>
        <p:nvPicPr>
          <p:cNvPr id="29" name="Image 6" descr="preencoded.png">    </p:cNvPr>
          <p:cNvPicPr>
            <a:picLocks noChangeAspect="1"/>
          </p:cNvPicPr>
          <p:nvPr/>
        </p:nvPicPr>
        <p:blipFill>
          <a:blip r:embed="rId7"/>
          <a:srcRect l="0" r="0" t="-35" b="-35"/>
          <a:stretch/>
        </p:blipFill>
        <p:spPr>
          <a:xfrm>
            <a:off x="812800" y="6299200"/>
            <a:ext cx="152400" cy="152506"/>
          </a:xfrm>
          <a:prstGeom prst="rect">
            <a:avLst/>
          </a:prstGeom>
        </p:spPr>
      </p:pic>
      <p:sp>
        <p:nvSpPr>
          <p:cNvPr id="30" name="Text 21"/>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1" name="Image 7" descr="Parcours : module 12 sur 16">    </p:cNvPr>
          <p:cNvPicPr>
            <a:picLocks noChangeAspect="1"/>
          </p:cNvPicPr>
          <p:nvPr/>
        </p:nvPicPr>
        <p:blipFill>
          <a:blip r:embed="rId8"/>
          <a:srcRect l="0" r="0" t="-35" b="-35"/>
          <a:stretch/>
        </p:blipFill>
        <p:spPr>
          <a:xfrm>
            <a:off x="9207500" y="6299200"/>
            <a:ext cx="2171700" cy="152506"/>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12 · LABELS, ANNOTATIONS, DÉPLOIEMENTS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annotations</a:t>
            </a:r>
            <a:endParaRPr lang="en-US" sz="2800" dirty="0"/>
          </a:p>
        </p:txBody>
      </p:sp>
      <p:sp>
        <p:nvSpPr>
          <p:cNvPr id="4" name="Text 2"/>
          <p:cNvSpPr/>
          <p:nvPr/>
        </p:nvSpPr>
        <p:spPr>
          <a:xfrm>
            <a:off x="812800" y="1531640"/>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Une paire clé-valeur elle aussi, mais </a:t>
            </a:r>
            <a:r>
              <a:rPr lang="en-US" sz="1400" b="1" dirty="0">
                <a:solidFill>
                  <a:srgbClr val="3F3C6B"/>
                </a:solidFill>
                <a:latin typeface="IBM Plex Sans" pitchFamily="34" charset="0"/>
                <a:ea typeface="IBM Plex Sans" pitchFamily="34" charset="-122"/>
                <a:cs typeface="IBM Plex Sans" pitchFamily="34" charset="-120"/>
              </a:rPr>
              <a:t>non sélectionnable</a:t>
            </a:r>
            <a:r>
              <a:rPr lang="en-US" sz="1400" dirty="0">
                <a:solidFill>
                  <a:srgbClr val="3F3C6B"/>
                </a:solidFill>
                <a:latin typeface="IBM Plex Sans" pitchFamily="34" charset="0"/>
                <a:ea typeface="IBM Plex Sans" pitchFamily="34" charset="-122"/>
                <a:cs typeface="IBM Plex Sans" pitchFamily="34" charset="-120"/>
              </a:rPr>
              <a:t> : elle documente l'objet ou configure un outil. Sa valeur peut être longue (256 Kio pour l'ensemble des annotations d'un objet).</a:t>
            </a:r>
            <a:endParaRPr lang="en-US" sz="1400" dirty="0"/>
          </a:p>
        </p:txBody>
      </p:sp>
      <p:sp>
        <p:nvSpPr>
          <p:cNvPr id="5" name="Shape 3"/>
          <p:cNvSpPr/>
          <p:nvPr/>
        </p:nvSpPr>
        <p:spPr>
          <a:xfrm>
            <a:off x="812800" y="2219920"/>
            <a:ext cx="10566400" cy="2183236"/>
          </a:xfrm>
          <a:prstGeom prst="rect">
            <a:avLst/>
          </a:prstGeom>
          <a:solidFill>
            <a:srgbClr val="FDFD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9891" y="2227011"/>
          <a:ext cx="10559309" cy="2176145"/>
        </p:xfrm>
        <a:graphic>
          <a:graphicData uri="http://schemas.openxmlformats.org/drawingml/2006/table">
            <a:tbl>
              <a:tblPr/>
              <a:tblGrid>
                <a:gridCol w="5279655"/>
                <a:gridCol w="2111862"/>
                <a:gridCol w="3167793"/>
              </a:tblGrid>
              <a:tr h="327131">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Annotation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Posée par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Rôle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kubernetes.io/change-cause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Vous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Motif d'une révision dans rollout history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deployment.kubernetes.io/revision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Le contrôleur Deployment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Numéro de révision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54049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kubectl.kubernetes.io/last-applied-configuration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kubectl apply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Dernière version appliquée, pour calculer les différences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kubectl.kubernetes.io/restartedAt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kubectl rollout restart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Force un nouveau rollout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description, contact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Vous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Documentation libre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bl>
          </a:graphicData>
        </a:graphic>
      </p:graphicFrame>
      <p:sp>
        <p:nvSpPr>
          <p:cNvPr id="7" name="Text 4"/>
          <p:cNvSpPr/>
          <p:nvPr/>
        </p:nvSpPr>
        <p:spPr>
          <a:xfrm>
            <a:off x="812800" y="5171480"/>
            <a:ext cx="10566400" cy="670560"/>
          </a:xfrm>
          <a:prstGeom prst="roundRect">
            <a:avLst>
              <a:gd name="adj" fmla="val 15152"/>
            </a:avLst>
          </a:prstGeom>
          <a:solidFill>
            <a:srgbClr val="ECEAF6"/>
          </a:solidFill>
          <a:ln/>
        </p:spPr>
        <p:txBody>
          <a:bodyPr wrap="none" lIns="148042" tIns="71842" rIns="0" bIns="71842" rtlCol="0" anchor="ctr">
            <a:normAutofit/>
          </a:bodyPr>
          <a:lstStyle/>
          <a:p>
            <a:pPr algn="l" indent="0" marL="0">
              <a:lnSpc>
                <a:spcPts val="1740"/>
              </a:lnSpc>
              <a:buNone/>
            </a:pPr>
            <a:r>
              <a:rPr lang="en-US" sz="1200" dirty="0">
                <a:solidFill>
                  <a:srgbClr val="0B0748"/>
                </a:solidFill>
                <a:latin typeface="JetBrains Mono" pitchFamily="49" charset="0"/>
                <a:ea typeface="JetBrains Mono" pitchFamily="49" charset="-122"/>
                <a:cs typeface="JetBrains Mono" pitchFamily="49" charset="-120"/>
              </a:rPr>
              <a:t>kubectl annotate deployment podinfo description="Démonstrateur formation INSEE"</a:t>
            </a:r>
            <a:endParaRPr lang="en-US" sz="1200" dirty="0"/>
          </a:p>
          <a:p>
            <a:pPr algn="l" indent="0" marL="0">
              <a:lnSpc>
                <a:spcPts val="1740"/>
              </a:lnSpc>
              <a:buNone/>
            </a:pPr>
            <a:r>
              <a:rPr lang="en-US" sz="1200" dirty="0">
                <a:solidFill>
                  <a:srgbClr val="0B0748"/>
                </a:solidFill>
                <a:latin typeface="JetBrains Mono" pitchFamily="49" charset="0"/>
                <a:ea typeface="JetBrains Mono" pitchFamily="49" charset="-122"/>
                <a:cs typeface="JetBrains Mono" pitchFamily="49" charset="-120"/>
              </a:rPr>
              <a:t>kubectl get deployment podinfo -o jsonpath='{.metadata.annotations}'</a:t>
            </a:r>
            <a:endParaRPr lang="en-US" sz="1200" dirty="0"/>
          </a:p>
        </p:txBody>
      </p:sp>
      <p:pic>
        <p:nvPicPr>
          <p:cNvPr id="8"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9" name="Text 5"/>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0" name="Image 1" descr="Parcours : module 12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12 · LABELS, ANNOTATIONS, DÉPLOIEMENTS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Pièges et astuces</a:t>
            </a:r>
            <a:endParaRPr lang="en-US" sz="2800" dirty="0"/>
          </a:p>
        </p:txBody>
      </p:sp>
      <p:sp>
        <p:nvSpPr>
          <p:cNvPr id="4" name="Shape 2"/>
          <p:cNvSpPr/>
          <p:nvPr/>
        </p:nvSpPr>
        <p:spPr>
          <a:xfrm>
            <a:off x="815975" y="1547515"/>
            <a:ext cx="3414183" cy="3638550"/>
          </a:xfrm>
          <a:prstGeom prst="roundRect">
            <a:avLst>
              <a:gd name="adj" fmla="val 3627"/>
            </a:avLst>
          </a:prstGeom>
          <a:solidFill>
            <a:srgbClr val="FDFDFF"/>
          </a:solidFill>
          <a:ln w="6350">
            <a:solidFill>
              <a:srgbClr val="E1DFEE"/>
            </a:solidFill>
            <a:prstDash val="solid"/>
          </a:ln>
        </p:spPr>
      </p:sp>
      <p:pic>
        <p:nvPicPr>
          <p:cNvPr id="5" name="Image 0" descr="Warning">    </p:cNvPr>
          <p:cNvPicPr>
            <a:picLocks noChangeAspect="1"/>
          </p:cNvPicPr>
          <p:nvPr/>
        </p:nvPicPr>
        <p:blipFill>
          <a:blip r:embed="rId1"/>
          <a:srcRect l="0" r="0" t="0" b="0"/>
          <a:stretch/>
        </p:blipFill>
        <p:spPr>
          <a:xfrm>
            <a:off x="1023091" y="1741984"/>
            <a:ext cx="279400" cy="279400"/>
          </a:xfrm>
          <a:prstGeom prst="rect">
            <a:avLst/>
          </a:prstGeom>
        </p:spPr>
      </p:pic>
      <p:sp>
        <p:nvSpPr>
          <p:cNvPr id="6" name="Text 3"/>
          <p:cNvSpPr/>
          <p:nvPr/>
        </p:nvSpPr>
        <p:spPr>
          <a:xfrm>
            <a:off x="1023091" y="2122984"/>
            <a:ext cx="3089950" cy="501756"/>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B0748"/>
                </a:solidFill>
                <a:latin typeface="Sora" pitchFamily="34" charset="0"/>
                <a:ea typeface="Sora" pitchFamily="34" charset="-122"/>
                <a:cs typeface="Sora" pitchFamily="34" charset="-120"/>
              </a:rPr>
              <a:t>Le sélecteur d'un Deployment ne se modifie pas</a:t>
            </a:r>
            <a:endParaRPr lang="en-US" sz="1500" dirty="0"/>
          </a:p>
        </p:txBody>
      </p:sp>
      <p:sp>
        <p:nvSpPr>
          <p:cNvPr id="7" name="Text 4"/>
          <p:cNvSpPr/>
          <p:nvPr/>
        </p:nvSpPr>
        <p:spPr>
          <a:xfrm>
            <a:off x="1023091" y="2700834"/>
            <a:ext cx="3089950" cy="963083"/>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F3C6B"/>
                </a:solidFill>
                <a:latin typeface="IBM Plex Sans" pitchFamily="34" charset="0"/>
                <a:ea typeface="IBM Plex Sans" pitchFamily="34" charset="-122"/>
                <a:cs typeface="IBM Plex Sans" pitchFamily="34" charset="-120"/>
              </a:rPr>
              <a:t>Après création, il est figé. Choisissez-le minimal et stable : app: podinfo, jamais un label de version, qui changerait à chaque mise à jour.</a:t>
            </a:r>
            <a:endParaRPr lang="en-US" sz="1300" dirty="0"/>
          </a:p>
        </p:txBody>
      </p:sp>
      <p:sp>
        <p:nvSpPr>
          <p:cNvPr id="8" name="Shape 5"/>
          <p:cNvSpPr/>
          <p:nvPr/>
        </p:nvSpPr>
        <p:spPr>
          <a:xfrm>
            <a:off x="4388908" y="1547515"/>
            <a:ext cx="3414183" cy="3638550"/>
          </a:xfrm>
          <a:prstGeom prst="roundRect">
            <a:avLst>
              <a:gd name="adj" fmla="val 3627"/>
            </a:avLst>
          </a:prstGeom>
          <a:solidFill>
            <a:srgbClr val="FDFDFF"/>
          </a:solidFill>
          <a:ln w="6350">
            <a:solidFill>
              <a:srgbClr val="E1DFEE"/>
            </a:solidFill>
            <a:prstDash val="solid"/>
          </a:ln>
        </p:spPr>
      </p:sp>
      <p:pic>
        <p:nvPicPr>
          <p:cNvPr id="9" name="Image 1" descr="Warning">    </p:cNvPr>
          <p:cNvPicPr>
            <a:picLocks noChangeAspect="1"/>
          </p:cNvPicPr>
          <p:nvPr/>
        </p:nvPicPr>
        <p:blipFill>
          <a:blip r:embed="rId2"/>
          <a:srcRect l="0" r="0" t="0" b="0"/>
          <a:stretch/>
        </p:blipFill>
        <p:spPr>
          <a:xfrm>
            <a:off x="4596024" y="1741984"/>
            <a:ext cx="279400" cy="279400"/>
          </a:xfrm>
          <a:prstGeom prst="rect">
            <a:avLst/>
          </a:prstGeom>
        </p:spPr>
      </p:pic>
      <p:sp>
        <p:nvSpPr>
          <p:cNvPr id="10" name="Text 6"/>
          <p:cNvSpPr/>
          <p:nvPr/>
        </p:nvSpPr>
        <p:spPr>
          <a:xfrm>
            <a:off x="4596024" y="2122984"/>
            <a:ext cx="3089950" cy="501756"/>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B0748"/>
                </a:solidFill>
                <a:latin typeface="Sora" pitchFamily="34" charset="0"/>
                <a:ea typeface="Sora" pitchFamily="34" charset="-122"/>
                <a:cs typeface="Sora" pitchFamily="34" charset="-120"/>
              </a:rPr>
              <a:t>Deux sélecteurs qui se recouvrent</a:t>
            </a:r>
            <a:endParaRPr lang="en-US" sz="1500" dirty="0"/>
          </a:p>
        </p:txBody>
      </p:sp>
      <p:sp>
        <p:nvSpPr>
          <p:cNvPr id="11" name="Text 7"/>
          <p:cNvSpPr/>
          <p:nvPr/>
        </p:nvSpPr>
        <p:spPr>
          <a:xfrm>
            <a:off x="4596024" y="2700834"/>
            <a:ext cx="3089950" cy="728663"/>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F3C6B"/>
                </a:solidFill>
                <a:latin typeface="IBM Plex Sans" pitchFamily="34" charset="0"/>
                <a:ea typeface="IBM Plex Sans" pitchFamily="34" charset="-122"/>
                <a:cs typeface="IBM Plex Sans" pitchFamily="34" charset="-120"/>
              </a:rPr>
              <a:t>Deux Deployments dont les sélecteurs se recouvrent se disputent les mêmes pods. Chaque sélecteur doit être unique.</a:t>
            </a:r>
            <a:endParaRPr lang="en-US" sz="1300" dirty="0"/>
          </a:p>
        </p:txBody>
      </p:sp>
      <p:sp>
        <p:nvSpPr>
          <p:cNvPr id="12" name="Shape 8"/>
          <p:cNvSpPr/>
          <p:nvPr/>
        </p:nvSpPr>
        <p:spPr>
          <a:xfrm>
            <a:off x="7961842" y="1547515"/>
            <a:ext cx="3414183" cy="3638550"/>
          </a:xfrm>
          <a:prstGeom prst="roundRect">
            <a:avLst>
              <a:gd name="adj" fmla="val 3627"/>
            </a:avLst>
          </a:prstGeom>
          <a:solidFill>
            <a:srgbClr val="FDFDFF"/>
          </a:solidFill>
          <a:ln w="6350">
            <a:solidFill>
              <a:srgbClr val="E1DFEE"/>
            </a:solidFill>
            <a:prstDash val="solid"/>
          </a:ln>
        </p:spPr>
      </p:sp>
      <p:pic>
        <p:nvPicPr>
          <p:cNvPr id="13" name="Image 2" descr="Lightbulb">    </p:cNvPr>
          <p:cNvPicPr>
            <a:picLocks noChangeAspect="1"/>
          </p:cNvPicPr>
          <p:nvPr/>
        </p:nvPicPr>
        <p:blipFill>
          <a:blip r:embed="rId3"/>
          <a:srcRect l="0" r="0" t="0" b="0"/>
          <a:stretch/>
        </p:blipFill>
        <p:spPr>
          <a:xfrm>
            <a:off x="8168957" y="1741984"/>
            <a:ext cx="279400" cy="279400"/>
          </a:xfrm>
          <a:prstGeom prst="rect">
            <a:avLst/>
          </a:prstGeom>
        </p:spPr>
      </p:pic>
      <p:sp>
        <p:nvSpPr>
          <p:cNvPr id="14" name="Text 9"/>
          <p:cNvSpPr/>
          <p:nvPr/>
        </p:nvSpPr>
        <p:spPr>
          <a:xfrm>
            <a:off x="8168957" y="2122984"/>
            <a:ext cx="308995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B0748"/>
                </a:solidFill>
                <a:latin typeface="Sora" pitchFamily="34" charset="0"/>
                <a:ea typeface="Sora" pitchFamily="34" charset="-122"/>
                <a:cs typeface="Sora" pitchFamily="34" charset="-120"/>
              </a:rPr>
              <a:t>Mettre un pod en quarantaine</a:t>
            </a:r>
            <a:endParaRPr lang="en-US" sz="1500" dirty="0"/>
          </a:p>
        </p:txBody>
      </p:sp>
      <p:sp>
        <p:nvSpPr>
          <p:cNvPr id="15" name="Text 10"/>
          <p:cNvSpPr/>
          <p:nvPr/>
        </p:nvSpPr>
        <p:spPr>
          <a:xfrm>
            <a:off x="8168957" y="2462709"/>
            <a:ext cx="3089950" cy="1197504"/>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F3C6B"/>
                </a:solidFill>
                <a:latin typeface="IBM Plex Sans" pitchFamily="34" charset="0"/>
                <a:ea typeface="IBM Plex Sans" pitchFamily="34" charset="-122"/>
                <a:cs typeface="IBM Plex Sans" pitchFamily="34" charset="-120"/>
              </a:rPr>
              <a:t>Changez un de ses labels pour qu'il sorte du sélecteur : le ReplicaSet crée un remplaçant, le Service ne lui envoie plus de trafic, et le pod isolé reste disponible pour l'analyse.</a:t>
            </a:r>
            <a:endParaRPr lang="en-US" sz="1300" dirty="0"/>
          </a:p>
        </p:txBody>
      </p:sp>
      <p:sp>
        <p:nvSpPr>
          <p:cNvPr id="16" name="Text 11"/>
          <p:cNvSpPr/>
          <p:nvPr/>
        </p:nvSpPr>
        <p:spPr>
          <a:xfrm>
            <a:off x="812800" y="5392440"/>
            <a:ext cx="10566400" cy="449580"/>
          </a:xfrm>
          <a:prstGeom prst="roundRect">
            <a:avLst>
              <a:gd name="adj" fmla="val 22599"/>
            </a:avLst>
          </a:prstGeom>
          <a:solidFill>
            <a:srgbClr val="0B0748"/>
          </a:solidFill>
          <a:ln/>
        </p:spPr>
        <p:txBody>
          <a:bodyPr wrap="none" lIns="148042" tIns="71789" rIns="0" bIns="71789" rtlCol="0" anchor="ctr">
            <a:normAutofit/>
          </a:bodyPr>
          <a:lstStyle/>
          <a:p>
            <a:pPr algn="l" indent="0" marL="0">
              <a:lnSpc>
                <a:spcPts val="1740"/>
              </a:lnSpc>
              <a:buNone/>
            </a:pPr>
            <a:r>
              <a:rPr lang="en-US" sz="1200" dirty="0">
                <a:solidFill>
                  <a:srgbClr val="ECEAFF"/>
                </a:solidFill>
                <a:latin typeface="JetBrains Mono" pitchFamily="49" charset="0"/>
                <a:ea typeface="JetBrains Mono" pitchFamily="49" charset="-122"/>
                <a:cs typeface="JetBrains Mono" pitchFamily="49" charset="-120"/>
              </a:rPr>
              <a:t>kubectl label pod podinfo-6c9f8d7b5-4kx2p app=quarantaine --overwrite </a:t>
            </a:r>
            <a:r>
              <a:rPr lang="en-US" sz="1200" dirty="0">
                <a:solidFill>
                  <a:srgbClr val="9A96D0"/>
                </a:solidFill>
                <a:latin typeface="JetBrains Mono" pitchFamily="49" charset="0"/>
                <a:ea typeface="JetBrains Mono" pitchFamily="49" charset="-122"/>
                <a:cs typeface="JetBrains Mono" pitchFamily="49" charset="-120"/>
              </a:rPr>
              <a:t># quarantaine</a:t>
            </a:r>
            <a:endParaRPr lang="en-US" sz="1200" dirty="0"/>
          </a:p>
        </p:txBody>
      </p:sp>
      <p:pic>
        <p:nvPicPr>
          <p:cNvPr id="17" name="Image 3" descr="preencoded.png">    </p:cNvPr>
          <p:cNvPicPr>
            <a:picLocks noChangeAspect="1"/>
          </p:cNvPicPr>
          <p:nvPr/>
        </p:nvPicPr>
        <p:blipFill>
          <a:blip r:embed="rId4"/>
          <a:srcRect l="0" r="0" t="-35" b="-35"/>
          <a:stretch/>
        </p:blipFill>
        <p:spPr>
          <a:xfrm>
            <a:off x="812800" y="6299200"/>
            <a:ext cx="152400" cy="152506"/>
          </a:xfrm>
          <a:prstGeom prst="rect">
            <a:avLst/>
          </a:prstGeom>
        </p:spPr>
      </p:pic>
      <p:sp>
        <p:nvSpPr>
          <p:cNvPr id="18" name="Text 12"/>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9" name="Image 4" descr="Parcours : module 12 sur 16">    </p:cNvPr>
          <p:cNvPicPr>
            <a:picLocks noChangeAspect="1"/>
          </p:cNvPicPr>
          <p:nvPr/>
        </p:nvPicPr>
        <p:blipFill>
          <a:blip r:embed="rId5"/>
          <a:srcRect l="0" r="0" t="-35" b="-35"/>
          <a:stretch/>
        </p:blipFill>
        <p:spPr>
          <a:xfrm>
            <a:off x="9207500" y="6299200"/>
            <a:ext cx="2171700" cy="152506"/>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12 · LABELS, ANNOTATIONS, DÉPLOIEMENTS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Quatre stratégies de déploiement</a:t>
            </a:r>
            <a:endParaRPr lang="en-US" sz="2800" dirty="0"/>
          </a:p>
        </p:txBody>
      </p:sp>
      <p:sp>
        <p:nvSpPr>
          <p:cNvPr id="4" name="Shape 2"/>
          <p:cNvSpPr/>
          <p:nvPr/>
        </p:nvSpPr>
        <p:spPr>
          <a:xfrm>
            <a:off x="815975" y="1509415"/>
            <a:ext cx="2530475" cy="3968750"/>
          </a:xfrm>
          <a:prstGeom prst="roundRect">
            <a:avLst>
              <a:gd name="adj" fmla="val 4893"/>
            </a:avLst>
          </a:prstGeom>
          <a:solidFill>
            <a:srgbClr val="FDFDFF"/>
          </a:solidFill>
          <a:ln w="6350">
            <a:solidFill>
              <a:srgbClr val="E1DFEE"/>
            </a:solidFill>
            <a:prstDash val="solid"/>
          </a:ln>
        </p:spPr>
      </p:sp>
      <p:sp>
        <p:nvSpPr>
          <p:cNvPr id="5" name="Text 3"/>
          <p:cNvSpPr/>
          <p:nvPr/>
        </p:nvSpPr>
        <p:spPr>
          <a:xfrm>
            <a:off x="997691" y="1691184"/>
            <a:ext cx="223205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Recreate</a:t>
            </a:r>
            <a:endParaRPr lang="en-US" sz="1600" dirty="0"/>
          </a:p>
        </p:txBody>
      </p:sp>
      <p:sp>
        <p:nvSpPr>
          <p:cNvPr id="6" name="Shape 4"/>
          <p:cNvSpPr/>
          <p:nvPr/>
        </p:nvSpPr>
        <p:spPr>
          <a:xfrm>
            <a:off x="997691" y="2046784"/>
            <a:ext cx="127000" cy="127000"/>
          </a:xfrm>
          <a:prstGeom prst="roundRect">
            <a:avLst>
              <a:gd name="adj" fmla="val 25000"/>
            </a:avLst>
          </a:prstGeom>
          <a:solidFill>
            <a:srgbClr val="0B0748"/>
          </a:solidFill>
          <a:ln/>
        </p:spPr>
      </p:sp>
      <p:sp>
        <p:nvSpPr>
          <p:cNvPr id="7" name="Shape 5"/>
          <p:cNvSpPr/>
          <p:nvPr/>
        </p:nvSpPr>
        <p:spPr>
          <a:xfrm>
            <a:off x="1150091" y="2046784"/>
            <a:ext cx="127000" cy="127000"/>
          </a:xfrm>
          <a:prstGeom prst="roundRect">
            <a:avLst>
              <a:gd name="adj" fmla="val 25000"/>
            </a:avLst>
          </a:prstGeom>
          <a:solidFill>
            <a:srgbClr val="0B0748"/>
          </a:solidFill>
          <a:ln/>
        </p:spPr>
      </p:sp>
      <p:sp>
        <p:nvSpPr>
          <p:cNvPr id="8" name="Shape 6"/>
          <p:cNvSpPr/>
          <p:nvPr/>
        </p:nvSpPr>
        <p:spPr>
          <a:xfrm>
            <a:off x="1302491" y="2046784"/>
            <a:ext cx="127000" cy="127000"/>
          </a:xfrm>
          <a:prstGeom prst="roundRect">
            <a:avLst>
              <a:gd name="adj" fmla="val 25000"/>
            </a:avLst>
          </a:prstGeom>
          <a:solidFill>
            <a:srgbClr val="0B0748"/>
          </a:solidFill>
          <a:ln/>
        </p:spPr>
      </p:sp>
      <p:sp>
        <p:nvSpPr>
          <p:cNvPr id="9" name="Shape 7"/>
          <p:cNvSpPr/>
          <p:nvPr/>
        </p:nvSpPr>
        <p:spPr>
          <a:xfrm>
            <a:off x="1454891" y="2046784"/>
            <a:ext cx="127000" cy="127000"/>
          </a:xfrm>
          <a:prstGeom prst="roundRect">
            <a:avLst>
              <a:gd name="adj" fmla="val 25000"/>
            </a:avLst>
          </a:prstGeom>
          <a:solidFill>
            <a:srgbClr val="0B0748"/>
          </a:solidFill>
          <a:ln/>
        </p:spPr>
      </p:sp>
      <p:sp>
        <p:nvSpPr>
          <p:cNvPr id="10" name="Shape 8"/>
          <p:cNvSpPr/>
          <p:nvPr/>
        </p:nvSpPr>
        <p:spPr>
          <a:xfrm>
            <a:off x="1607291" y="2046784"/>
            <a:ext cx="12700" cy="127000"/>
          </a:xfrm>
          <a:prstGeom prst="rect">
            <a:avLst/>
          </a:prstGeom>
          <a:solidFill>
            <a:srgbClr val="A6A3C6"/>
          </a:solidFill>
          <a:ln/>
        </p:spPr>
      </p:sp>
      <p:sp>
        <p:nvSpPr>
          <p:cNvPr id="11" name="Shape 9"/>
          <p:cNvSpPr/>
          <p:nvPr/>
        </p:nvSpPr>
        <p:spPr>
          <a:xfrm>
            <a:off x="1651741" y="2053134"/>
            <a:ext cx="114300" cy="114300"/>
          </a:xfrm>
          <a:prstGeom prst="roundRect">
            <a:avLst>
              <a:gd name="adj" fmla="val 22222"/>
            </a:avLst>
          </a:prstGeom>
          <a:noFill/>
          <a:ln w="12700">
            <a:solidFill>
              <a:srgbClr val="A6A3C6"/>
            </a:solidFill>
            <a:prstDash val="dash"/>
          </a:ln>
        </p:spPr>
      </p:sp>
      <p:sp>
        <p:nvSpPr>
          <p:cNvPr id="12" name="Shape 10"/>
          <p:cNvSpPr/>
          <p:nvPr/>
        </p:nvSpPr>
        <p:spPr>
          <a:xfrm>
            <a:off x="1804141" y="2053134"/>
            <a:ext cx="114300" cy="114300"/>
          </a:xfrm>
          <a:prstGeom prst="roundRect">
            <a:avLst>
              <a:gd name="adj" fmla="val 22222"/>
            </a:avLst>
          </a:prstGeom>
          <a:noFill/>
          <a:ln w="12700">
            <a:solidFill>
              <a:srgbClr val="A6A3C6"/>
            </a:solidFill>
            <a:prstDash val="dash"/>
          </a:ln>
        </p:spPr>
      </p:sp>
      <p:sp>
        <p:nvSpPr>
          <p:cNvPr id="13" name="Shape 11"/>
          <p:cNvSpPr/>
          <p:nvPr/>
        </p:nvSpPr>
        <p:spPr>
          <a:xfrm>
            <a:off x="1956541" y="2053134"/>
            <a:ext cx="114300" cy="114300"/>
          </a:xfrm>
          <a:prstGeom prst="roundRect">
            <a:avLst>
              <a:gd name="adj" fmla="val 22222"/>
            </a:avLst>
          </a:prstGeom>
          <a:noFill/>
          <a:ln w="12700">
            <a:solidFill>
              <a:srgbClr val="A6A3C6"/>
            </a:solidFill>
            <a:prstDash val="dash"/>
          </a:ln>
        </p:spPr>
      </p:sp>
      <p:sp>
        <p:nvSpPr>
          <p:cNvPr id="14" name="Shape 12"/>
          <p:cNvSpPr/>
          <p:nvPr/>
        </p:nvSpPr>
        <p:spPr>
          <a:xfrm>
            <a:off x="2108941" y="2053134"/>
            <a:ext cx="114300" cy="114300"/>
          </a:xfrm>
          <a:prstGeom prst="roundRect">
            <a:avLst>
              <a:gd name="adj" fmla="val 22222"/>
            </a:avLst>
          </a:prstGeom>
          <a:noFill/>
          <a:ln w="12700">
            <a:solidFill>
              <a:srgbClr val="A6A3C6"/>
            </a:solidFill>
            <a:prstDash val="dash"/>
          </a:ln>
        </p:spPr>
      </p:sp>
      <p:sp>
        <p:nvSpPr>
          <p:cNvPr id="15" name="Shape 13"/>
          <p:cNvSpPr/>
          <p:nvPr/>
        </p:nvSpPr>
        <p:spPr>
          <a:xfrm>
            <a:off x="2254991" y="2046784"/>
            <a:ext cx="12700" cy="127000"/>
          </a:xfrm>
          <a:prstGeom prst="rect">
            <a:avLst/>
          </a:prstGeom>
          <a:solidFill>
            <a:srgbClr val="A6A3C6"/>
          </a:solidFill>
          <a:ln/>
        </p:spPr>
      </p:sp>
      <p:sp>
        <p:nvSpPr>
          <p:cNvPr id="16" name="Shape 14"/>
          <p:cNvSpPr/>
          <p:nvPr/>
        </p:nvSpPr>
        <p:spPr>
          <a:xfrm>
            <a:off x="2293091" y="2046784"/>
            <a:ext cx="127000" cy="127000"/>
          </a:xfrm>
          <a:prstGeom prst="roundRect">
            <a:avLst>
              <a:gd name="adj" fmla="val 25000"/>
            </a:avLst>
          </a:prstGeom>
          <a:solidFill>
            <a:srgbClr val="E25A2C"/>
          </a:solidFill>
          <a:ln/>
        </p:spPr>
      </p:sp>
      <p:sp>
        <p:nvSpPr>
          <p:cNvPr id="17" name="Shape 15"/>
          <p:cNvSpPr/>
          <p:nvPr/>
        </p:nvSpPr>
        <p:spPr>
          <a:xfrm>
            <a:off x="2445491" y="2046784"/>
            <a:ext cx="127000" cy="127000"/>
          </a:xfrm>
          <a:prstGeom prst="roundRect">
            <a:avLst>
              <a:gd name="adj" fmla="val 25000"/>
            </a:avLst>
          </a:prstGeom>
          <a:solidFill>
            <a:srgbClr val="E25A2C"/>
          </a:solidFill>
          <a:ln/>
        </p:spPr>
      </p:sp>
      <p:sp>
        <p:nvSpPr>
          <p:cNvPr id="18" name="Shape 16"/>
          <p:cNvSpPr/>
          <p:nvPr/>
        </p:nvSpPr>
        <p:spPr>
          <a:xfrm>
            <a:off x="2597891" y="2046784"/>
            <a:ext cx="127000" cy="127000"/>
          </a:xfrm>
          <a:prstGeom prst="roundRect">
            <a:avLst>
              <a:gd name="adj" fmla="val 25000"/>
            </a:avLst>
          </a:prstGeom>
          <a:solidFill>
            <a:srgbClr val="E25A2C"/>
          </a:solidFill>
          <a:ln/>
        </p:spPr>
      </p:sp>
      <p:sp>
        <p:nvSpPr>
          <p:cNvPr id="19" name="Shape 17"/>
          <p:cNvSpPr/>
          <p:nvPr/>
        </p:nvSpPr>
        <p:spPr>
          <a:xfrm>
            <a:off x="2750291" y="2046784"/>
            <a:ext cx="127000" cy="127000"/>
          </a:xfrm>
          <a:prstGeom prst="roundRect">
            <a:avLst>
              <a:gd name="adj" fmla="val 25000"/>
            </a:avLst>
          </a:prstGeom>
          <a:solidFill>
            <a:srgbClr val="E25A2C"/>
          </a:solidFill>
          <a:ln/>
        </p:spPr>
      </p:sp>
      <p:sp>
        <p:nvSpPr>
          <p:cNvPr id="20" name="Text 18"/>
          <p:cNvSpPr/>
          <p:nvPr/>
        </p:nvSpPr>
        <p:spPr>
          <a:xfrm>
            <a:off x="997691" y="2275384"/>
            <a:ext cx="2232055"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3F3C6B"/>
                </a:solidFill>
                <a:latin typeface="IBM Plex Sans" pitchFamily="34" charset="0"/>
                <a:ea typeface="IBM Plex Sans" pitchFamily="34" charset="-122"/>
                <a:cs typeface="IBM Plex Sans" pitchFamily="34" charset="-120"/>
              </a:rPr>
              <a:t>Tout arrêter, puis tout démarrer.</a:t>
            </a:r>
            <a:endParaRPr lang="en-US" sz="1250" dirty="0"/>
          </a:p>
        </p:txBody>
      </p:sp>
      <p:sp>
        <p:nvSpPr>
          <p:cNvPr id="21" name="Shape 19"/>
          <p:cNvSpPr/>
          <p:nvPr/>
        </p:nvSpPr>
        <p:spPr>
          <a:xfrm>
            <a:off x="997691" y="3669209"/>
            <a:ext cx="2167043" cy="0"/>
          </a:xfrm>
          <a:prstGeom prst="line">
            <a:avLst/>
          </a:prstGeom>
          <a:noFill/>
          <a:ln w="6350">
            <a:solidFill>
              <a:srgbClr val="E1DFEE"/>
            </a:solidFill>
            <a:prstDash val="solid"/>
          </a:ln>
        </p:spPr>
      </p:sp>
      <p:sp>
        <p:nvSpPr>
          <p:cNvPr id="22" name="Text 20"/>
          <p:cNvSpPr/>
          <p:nvPr/>
        </p:nvSpPr>
        <p:spPr>
          <a:xfrm>
            <a:off x="997691" y="3736777"/>
            <a:ext cx="223205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COUPURE</a:t>
            </a:r>
            <a:endParaRPr lang="en-US" sz="1000" dirty="0"/>
          </a:p>
        </p:txBody>
      </p:sp>
      <p:sp>
        <p:nvSpPr>
          <p:cNvPr id="23" name="Text 21"/>
          <p:cNvSpPr/>
          <p:nvPr/>
        </p:nvSpPr>
        <p:spPr>
          <a:xfrm>
            <a:off x="997691" y="3927277"/>
            <a:ext cx="2232055"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B8421A"/>
                </a:solidFill>
                <a:latin typeface="IBM Plex Sans" pitchFamily="34" charset="0"/>
                <a:ea typeface="IBM Plex Sans" pitchFamily="34" charset="-122"/>
                <a:cs typeface="IBM Plex Sans" pitchFamily="34" charset="-120"/>
              </a:rPr>
              <a:t>Oui</a:t>
            </a:r>
            <a:endParaRPr lang="en-US" sz="1300" dirty="0"/>
          </a:p>
        </p:txBody>
      </p:sp>
      <p:sp>
        <p:nvSpPr>
          <p:cNvPr id="24" name="Shape 22"/>
          <p:cNvSpPr/>
          <p:nvPr/>
        </p:nvSpPr>
        <p:spPr>
          <a:xfrm>
            <a:off x="997691" y="4246662"/>
            <a:ext cx="2167043" cy="0"/>
          </a:xfrm>
          <a:prstGeom prst="line">
            <a:avLst/>
          </a:prstGeom>
          <a:noFill/>
          <a:ln w="6350">
            <a:solidFill>
              <a:srgbClr val="E1DFEE"/>
            </a:solidFill>
            <a:prstDash val="solid"/>
          </a:ln>
        </p:spPr>
      </p:sp>
      <p:sp>
        <p:nvSpPr>
          <p:cNvPr id="25" name="Text 23"/>
          <p:cNvSpPr/>
          <p:nvPr/>
        </p:nvSpPr>
        <p:spPr>
          <a:xfrm>
            <a:off x="997691" y="4313932"/>
            <a:ext cx="223205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RESSOURCES</a:t>
            </a:r>
            <a:endParaRPr lang="en-US" sz="1000" dirty="0"/>
          </a:p>
        </p:txBody>
      </p:sp>
      <p:sp>
        <p:nvSpPr>
          <p:cNvPr id="26" name="Text 24"/>
          <p:cNvSpPr/>
          <p:nvPr/>
        </p:nvSpPr>
        <p:spPr>
          <a:xfrm>
            <a:off x="997691" y="4504432"/>
            <a:ext cx="223205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Aucune en plus</a:t>
            </a:r>
            <a:endParaRPr lang="en-US" sz="1300" dirty="0"/>
          </a:p>
        </p:txBody>
      </p:sp>
      <p:sp>
        <p:nvSpPr>
          <p:cNvPr id="27" name="Shape 25"/>
          <p:cNvSpPr/>
          <p:nvPr/>
        </p:nvSpPr>
        <p:spPr>
          <a:xfrm>
            <a:off x="997691" y="4823916"/>
            <a:ext cx="2167043" cy="0"/>
          </a:xfrm>
          <a:prstGeom prst="line">
            <a:avLst/>
          </a:prstGeom>
          <a:noFill/>
          <a:ln w="6350">
            <a:solidFill>
              <a:srgbClr val="E1DFEE"/>
            </a:solidFill>
            <a:prstDash val="solid"/>
          </a:ln>
        </p:spPr>
      </p:sp>
      <p:sp>
        <p:nvSpPr>
          <p:cNvPr id="28" name="Text 26"/>
          <p:cNvSpPr/>
          <p:nvPr/>
        </p:nvSpPr>
        <p:spPr>
          <a:xfrm>
            <a:off x="997691" y="4891385"/>
            <a:ext cx="223205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RETOUR ARRIÈRE</a:t>
            </a:r>
            <a:endParaRPr lang="en-US" sz="1000" dirty="0"/>
          </a:p>
        </p:txBody>
      </p:sp>
      <p:sp>
        <p:nvSpPr>
          <p:cNvPr id="29" name="Text 27"/>
          <p:cNvSpPr/>
          <p:nvPr/>
        </p:nvSpPr>
        <p:spPr>
          <a:xfrm>
            <a:off x="997691" y="5081885"/>
            <a:ext cx="223205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Redéploiement</a:t>
            </a:r>
            <a:endParaRPr lang="en-US" sz="1300" dirty="0"/>
          </a:p>
        </p:txBody>
      </p:sp>
      <p:sp>
        <p:nvSpPr>
          <p:cNvPr id="30" name="Shape 28"/>
          <p:cNvSpPr/>
          <p:nvPr/>
        </p:nvSpPr>
        <p:spPr>
          <a:xfrm>
            <a:off x="3492500" y="1509415"/>
            <a:ext cx="2530475" cy="3968750"/>
          </a:xfrm>
          <a:prstGeom prst="roundRect">
            <a:avLst>
              <a:gd name="adj" fmla="val 4893"/>
            </a:avLst>
          </a:prstGeom>
          <a:solidFill>
            <a:srgbClr val="FDFDFF"/>
          </a:solidFill>
          <a:ln w="6350">
            <a:solidFill>
              <a:srgbClr val="E1DFEE"/>
            </a:solidFill>
            <a:prstDash val="solid"/>
          </a:ln>
        </p:spPr>
      </p:sp>
      <p:sp>
        <p:nvSpPr>
          <p:cNvPr id="31" name="Text 29"/>
          <p:cNvSpPr/>
          <p:nvPr/>
        </p:nvSpPr>
        <p:spPr>
          <a:xfrm>
            <a:off x="3674216" y="1691184"/>
            <a:ext cx="223205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Rolling update</a:t>
            </a:r>
            <a:endParaRPr lang="en-US" sz="1600" dirty="0"/>
          </a:p>
        </p:txBody>
      </p:sp>
      <p:sp>
        <p:nvSpPr>
          <p:cNvPr id="32" name="Shape 30"/>
          <p:cNvSpPr/>
          <p:nvPr/>
        </p:nvSpPr>
        <p:spPr>
          <a:xfrm>
            <a:off x="3674216" y="2046784"/>
            <a:ext cx="127000" cy="127000"/>
          </a:xfrm>
          <a:prstGeom prst="roundRect">
            <a:avLst>
              <a:gd name="adj" fmla="val 25000"/>
            </a:avLst>
          </a:prstGeom>
          <a:solidFill>
            <a:srgbClr val="0B0748"/>
          </a:solidFill>
          <a:ln/>
        </p:spPr>
      </p:sp>
      <p:sp>
        <p:nvSpPr>
          <p:cNvPr id="33" name="Shape 31"/>
          <p:cNvSpPr/>
          <p:nvPr/>
        </p:nvSpPr>
        <p:spPr>
          <a:xfrm>
            <a:off x="3826616" y="2046784"/>
            <a:ext cx="127000" cy="127000"/>
          </a:xfrm>
          <a:prstGeom prst="roundRect">
            <a:avLst>
              <a:gd name="adj" fmla="val 25000"/>
            </a:avLst>
          </a:prstGeom>
          <a:solidFill>
            <a:srgbClr val="0B0748"/>
          </a:solidFill>
          <a:ln/>
        </p:spPr>
      </p:sp>
      <p:sp>
        <p:nvSpPr>
          <p:cNvPr id="34" name="Shape 32"/>
          <p:cNvSpPr/>
          <p:nvPr/>
        </p:nvSpPr>
        <p:spPr>
          <a:xfrm>
            <a:off x="3979016" y="2046784"/>
            <a:ext cx="127000" cy="127000"/>
          </a:xfrm>
          <a:prstGeom prst="roundRect">
            <a:avLst>
              <a:gd name="adj" fmla="val 25000"/>
            </a:avLst>
          </a:prstGeom>
          <a:solidFill>
            <a:srgbClr val="0B0748"/>
          </a:solidFill>
          <a:ln/>
        </p:spPr>
      </p:sp>
      <p:sp>
        <p:nvSpPr>
          <p:cNvPr id="35" name="Shape 33"/>
          <p:cNvSpPr/>
          <p:nvPr/>
        </p:nvSpPr>
        <p:spPr>
          <a:xfrm>
            <a:off x="4131416" y="2046784"/>
            <a:ext cx="127000" cy="127000"/>
          </a:xfrm>
          <a:prstGeom prst="roundRect">
            <a:avLst>
              <a:gd name="adj" fmla="val 25000"/>
            </a:avLst>
          </a:prstGeom>
          <a:solidFill>
            <a:srgbClr val="0B0748"/>
          </a:solidFill>
          <a:ln/>
        </p:spPr>
      </p:sp>
      <p:sp>
        <p:nvSpPr>
          <p:cNvPr id="36" name="Shape 34"/>
          <p:cNvSpPr/>
          <p:nvPr/>
        </p:nvSpPr>
        <p:spPr>
          <a:xfrm>
            <a:off x="4283816" y="2046784"/>
            <a:ext cx="12700" cy="127000"/>
          </a:xfrm>
          <a:prstGeom prst="rect">
            <a:avLst/>
          </a:prstGeom>
          <a:solidFill>
            <a:srgbClr val="A6A3C6"/>
          </a:solidFill>
          <a:ln/>
        </p:spPr>
      </p:sp>
      <p:sp>
        <p:nvSpPr>
          <p:cNvPr id="37" name="Shape 35"/>
          <p:cNvSpPr/>
          <p:nvPr/>
        </p:nvSpPr>
        <p:spPr>
          <a:xfrm>
            <a:off x="4321916" y="2046784"/>
            <a:ext cx="127000" cy="127000"/>
          </a:xfrm>
          <a:prstGeom prst="roundRect">
            <a:avLst>
              <a:gd name="adj" fmla="val 25000"/>
            </a:avLst>
          </a:prstGeom>
          <a:solidFill>
            <a:srgbClr val="0B0748"/>
          </a:solidFill>
          <a:ln/>
        </p:spPr>
      </p:sp>
      <p:sp>
        <p:nvSpPr>
          <p:cNvPr id="38" name="Shape 36"/>
          <p:cNvSpPr/>
          <p:nvPr/>
        </p:nvSpPr>
        <p:spPr>
          <a:xfrm>
            <a:off x="4474316" y="2046784"/>
            <a:ext cx="127000" cy="127000"/>
          </a:xfrm>
          <a:prstGeom prst="roundRect">
            <a:avLst>
              <a:gd name="adj" fmla="val 25000"/>
            </a:avLst>
          </a:prstGeom>
          <a:solidFill>
            <a:srgbClr val="0B0748"/>
          </a:solidFill>
          <a:ln/>
        </p:spPr>
      </p:sp>
      <p:sp>
        <p:nvSpPr>
          <p:cNvPr id="39" name="Shape 37"/>
          <p:cNvSpPr/>
          <p:nvPr/>
        </p:nvSpPr>
        <p:spPr>
          <a:xfrm>
            <a:off x="4626716" y="2046784"/>
            <a:ext cx="127000" cy="127000"/>
          </a:xfrm>
          <a:prstGeom prst="roundRect">
            <a:avLst>
              <a:gd name="adj" fmla="val 25000"/>
            </a:avLst>
          </a:prstGeom>
          <a:solidFill>
            <a:srgbClr val="0B0748"/>
          </a:solidFill>
          <a:ln/>
        </p:spPr>
      </p:sp>
      <p:sp>
        <p:nvSpPr>
          <p:cNvPr id="40" name="Shape 38"/>
          <p:cNvSpPr/>
          <p:nvPr/>
        </p:nvSpPr>
        <p:spPr>
          <a:xfrm>
            <a:off x="4779116" y="2046784"/>
            <a:ext cx="127000" cy="127000"/>
          </a:xfrm>
          <a:prstGeom prst="roundRect">
            <a:avLst>
              <a:gd name="adj" fmla="val 25000"/>
            </a:avLst>
          </a:prstGeom>
          <a:solidFill>
            <a:srgbClr val="E25A2C"/>
          </a:solidFill>
          <a:ln/>
        </p:spPr>
      </p:sp>
      <p:sp>
        <p:nvSpPr>
          <p:cNvPr id="41" name="Shape 39"/>
          <p:cNvSpPr/>
          <p:nvPr/>
        </p:nvSpPr>
        <p:spPr>
          <a:xfrm>
            <a:off x="4931516" y="2046784"/>
            <a:ext cx="12700" cy="127000"/>
          </a:xfrm>
          <a:prstGeom prst="rect">
            <a:avLst/>
          </a:prstGeom>
          <a:solidFill>
            <a:srgbClr val="A6A3C6"/>
          </a:solidFill>
          <a:ln/>
        </p:spPr>
      </p:sp>
      <p:sp>
        <p:nvSpPr>
          <p:cNvPr id="42" name="Shape 40"/>
          <p:cNvSpPr/>
          <p:nvPr/>
        </p:nvSpPr>
        <p:spPr>
          <a:xfrm>
            <a:off x="4969616" y="2046784"/>
            <a:ext cx="127000" cy="127000"/>
          </a:xfrm>
          <a:prstGeom prst="roundRect">
            <a:avLst>
              <a:gd name="adj" fmla="val 25000"/>
            </a:avLst>
          </a:prstGeom>
          <a:solidFill>
            <a:srgbClr val="E25A2C"/>
          </a:solidFill>
          <a:ln/>
        </p:spPr>
      </p:sp>
      <p:sp>
        <p:nvSpPr>
          <p:cNvPr id="43" name="Shape 41"/>
          <p:cNvSpPr/>
          <p:nvPr/>
        </p:nvSpPr>
        <p:spPr>
          <a:xfrm>
            <a:off x="5122016" y="2046784"/>
            <a:ext cx="127000" cy="127000"/>
          </a:xfrm>
          <a:prstGeom prst="roundRect">
            <a:avLst>
              <a:gd name="adj" fmla="val 25000"/>
            </a:avLst>
          </a:prstGeom>
          <a:solidFill>
            <a:srgbClr val="E25A2C"/>
          </a:solidFill>
          <a:ln/>
        </p:spPr>
      </p:sp>
      <p:sp>
        <p:nvSpPr>
          <p:cNvPr id="44" name="Shape 42"/>
          <p:cNvSpPr/>
          <p:nvPr/>
        </p:nvSpPr>
        <p:spPr>
          <a:xfrm>
            <a:off x="5274416" y="2046784"/>
            <a:ext cx="127000" cy="127000"/>
          </a:xfrm>
          <a:prstGeom prst="roundRect">
            <a:avLst>
              <a:gd name="adj" fmla="val 25000"/>
            </a:avLst>
          </a:prstGeom>
          <a:solidFill>
            <a:srgbClr val="E25A2C"/>
          </a:solidFill>
          <a:ln/>
        </p:spPr>
      </p:sp>
      <p:sp>
        <p:nvSpPr>
          <p:cNvPr id="45" name="Shape 43"/>
          <p:cNvSpPr/>
          <p:nvPr/>
        </p:nvSpPr>
        <p:spPr>
          <a:xfrm>
            <a:off x="5426816" y="2046784"/>
            <a:ext cx="127000" cy="127000"/>
          </a:xfrm>
          <a:prstGeom prst="roundRect">
            <a:avLst>
              <a:gd name="adj" fmla="val 25000"/>
            </a:avLst>
          </a:prstGeom>
          <a:solidFill>
            <a:srgbClr val="E25A2C"/>
          </a:solidFill>
          <a:ln/>
        </p:spPr>
      </p:sp>
      <p:sp>
        <p:nvSpPr>
          <p:cNvPr id="46" name="Text 44"/>
          <p:cNvSpPr/>
          <p:nvPr/>
        </p:nvSpPr>
        <p:spPr>
          <a:xfrm>
            <a:off x="3674216" y="2275384"/>
            <a:ext cx="2232055" cy="244475"/>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3F3C6B"/>
                </a:solidFill>
                <a:latin typeface="IBM Plex Sans" pitchFamily="34" charset="0"/>
                <a:ea typeface="IBM Plex Sans" pitchFamily="34" charset="-122"/>
                <a:cs typeface="IBM Plex Sans" pitchFamily="34" charset="-120"/>
              </a:rPr>
              <a:t>Remplacer progressivement.</a:t>
            </a:r>
            <a:endParaRPr lang="en-US" sz="1250" dirty="0"/>
          </a:p>
        </p:txBody>
      </p:sp>
      <p:sp>
        <p:nvSpPr>
          <p:cNvPr id="47" name="Shape 45"/>
          <p:cNvSpPr/>
          <p:nvPr/>
        </p:nvSpPr>
        <p:spPr>
          <a:xfrm>
            <a:off x="3674216" y="3669209"/>
            <a:ext cx="2167043" cy="0"/>
          </a:xfrm>
          <a:prstGeom prst="line">
            <a:avLst/>
          </a:prstGeom>
          <a:noFill/>
          <a:ln w="6350">
            <a:solidFill>
              <a:srgbClr val="E1DFEE"/>
            </a:solidFill>
            <a:prstDash val="solid"/>
          </a:ln>
        </p:spPr>
      </p:sp>
      <p:sp>
        <p:nvSpPr>
          <p:cNvPr id="48" name="Text 46"/>
          <p:cNvSpPr/>
          <p:nvPr/>
        </p:nvSpPr>
        <p:spPr>
          <a:xfrm>
            <a:off x="3674216" y="3736777"/>
            <a:ext cx="223205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COUPURE</a:t>
            </a:r>
            <a:endParaRPr lang="en-US" sz="1000" dirty="0"/>
          </a:p>
        </p:txBody>
      </p:sp>
      <p:sp>
        <p:nvSpPr>
          <p:cNvPr id="49" name="Text 47"/>
          <p:cNvSpPr/>
          <p:nvPr/>
        </p:nvSpPr>
        <p:spPr>
          <a:xfrm>
            <a:off x="3674216" y="3927277"/>
            <a:ext cx="2232055"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IBM Plex Sans" pitchFamily="34" charset="0"/>
                <a:ea typeface="IBM Plex Sans" pitchFamily="34" charset="-122"/>
                <a:cs typeface="IBM Plex Sans" pitchFamily="34" charset="-120"/>
              </a:rPr>
              <a:t>Non</a:t>
            </a:r>
            <a:endParaRPr lang="en-US" sz="1300" dirty="0"/>
          </a:p>
        </p:txBody>
      </p:sp>
      <p:sp>
        <p:nvSpPr>
          <p:cNvPr id="50" name="Shape 48"/>
          <p:cNvSpPr/>
          <p:nvPr/>
        </p:nvSpPr>
        <p:spPr>
          <a:xfrm>
            <a:off x="3674216" y="4246662"/>
            <a:ext cx="2167043" cy="0"/>
          </a:xfrm>
          <a:prstGeom prst="line">
            <a:avLst/>
          </a:prstGeom>
          <a:noFill/>
          <a:ln w="6350">
            <a:solidFill>
              <a:srgbClr val="E1DFEE"/>
            </a:solidFill>
            <a:prstDash val="solid"/>
          </a:ln>
        </p:spPr>
      </p:sp>
      <p:sp>
        <p:nvSpPr>
          <p:cNvPr id="51" name="Text 49"/>
          <p:cNvSpPr/>
          <p:nvPr/>
        </p:nvSpPr>
        <p:spPr>
          <a:xfrm>
            <a:off x="3674216" y="4313932"/>
            <a:ext cx="223205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RESSOURCES</a:t>
            </a:r>
            <a:endParaRPr lang="en-US" sz="1000" dirty="0"/>
          </a:p>
        </p:txBody>
      </p:sp>
      <p:sp>
        <p:nvSpPr>
          <p:cNvPr id="52" name="Text 50"/>
          <p:cNvSpPr/>
          <p:nvPr/>
        </p:nvSpPr>
        <p:spPr>
          <a:xfrm>
            <a:off x="3674216" y="4504432"/>
            <a:ext cx="223205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Quelques pods en plus</a:t>
            </a:r>
            <a:endParaRPr lang="en-US" sz="1300" dirty="0"/>
          </a:p>
        </p:txBody>
      </p:sp>
      <p:sp>
        <p:nvSpPr>
          <p:cNvPr id="53" name="Shape 51"/>
          <p:cNvSpPr/>
          <p:nvPr/>
        </p:nvSpPr>
        <p:spPr>
          <a:xfrm>
            <a:off x="3674216" y="4823916"/>
            <a:ext cx="2167043" cy="0"/>
          </a:xfrm>
          <a:prstGeom prst="line">
            <a:avLst/>
          </a:prstGeom>
          <a:noFill/>
          <a:ln w="6350">
            <a:solidFill>
              <a:srgbClr val="E1DFEE"/>
            </a:solidFill>
            <a:prstDash val="solid"/>
          </a:ln>
        </p:spPr>
      </p:sp>
      <p:sp>
        <p:nvSpPr>
          <p:cNvPr id="54" name="Text 52"/>
          <p:cNvSpPr/>
          <p:nvPr/>
        </p:nvSpPr>
        <p:spPr>
          <a:xfrm>
            <a:off x="3674216" y="4891385"/>
            <a:ext cx="223205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RETOUR ARRIÈRE</a:t>
            </a:r>
            <a:endParaRPr lang="en-US" sz="1000" dirty="0"/>
          </a:p>
        </p:txBody>
      </p:sp>
      <p:sp>
        <p:nvSpPr>
          <p:cNvPr id="55" name="Text 53"/>
          <p:cNvSpPr/>
          <p:nvPr/>
        </p:nvSpPr>
        <p:spPr>
          <a:xfrm>
            <a:off x="3674216" y="5081885"/>
            <a:ext cx="223205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rollout undo, progressif</a:t>
            </a:r>
            <a:endParaRPr lang="en-US" sz="1300" dirty="0"/>
          </a:p>
        </p:txBody>
      </p:sp>
      <p:sp>
        <p:nvSpPr>
          <p:cNvPr id="56" name="Shape 54"/>
          <p:cNvSpPr/>
          <p:nvPr/>
        </p:nvSpPr>
        <p:spPr>
          <a:xfrm>
            <a:off x="6169025" y="1509415"/>
            <a:ext cx="2530475" cy="3968750"/>
          </a:xfrm>
          <a:prstGeom prst="roundRect">
            <a:avLst>
              <a:gd name="adj" fmla="val 4893"/>
            </a:avLst>
          </a:prstGeom>
          <a:solidFill>
            <a:srgbClr val="FDFDFF"/>
          </a:solidFill>
          <a:ln w="6350">
            <a:solidFill>
              <a:srgbClr val="E1DFEE"/>
            </a:solidFill>
            <a:prstDash val="solid"/>
          </a:ln>
        </p:spPr>
      </p:sp>
      <p:sp>
        <p:nvSpPr>
          <p:cNvPr id="57" name="Text 55"/>
          <p:cNvSpPr/>
          <p:nvPr/>
        </p:nvSpPr>
        <p:spPr>
          <a:xfrm>
            <a:off x="6350741" y="1691184"/>
            <a:ext cx="223205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Blue/green</a:t>
            </a:r>
            <a:endParaRPr lang="en-US" sz="1600" dirty="0"/>
          </a:p>
        </p:txBody>
      </p:sp>
      <p:sp>
        <p:nvSpPr>
          <p:cNvPr id="58" name="Shape 56"/>
          <p:cNvSpPr/>
          <p:nvPr/>
        </p:nvSpPr>
        <p:spPr>
          <a:xfrm>
            <a:off x="6350741" y="2046784"/>
            <a:ext cx="127000" cy="127000"/>
          </a:xfrm>
          <a:prstGeom prst="roundRect">
            <a:avLst>
              <a:gd name="adj" fmla="val 25000"/>
            </a:avLst>
          </a:prstGeom>
          <a:solidFill>
            <a:srgbClr val="0B0748"/>
          </a:solidFill>
          <a:ln/>
        </p:spPr>
      </p:sp>
      <p:sp>
        <p:nvSpPr>
          <p:cNvPr id="59" name="Shape 57"/>
          <p:cNvSpPr/>
          <p:nvPr/>
        </p:nvSpPr>
        <p:spPr>
          <a:xfrm>
            <a:off x="6503141" y="2046784"/>
            <a:ext cx="127000" cy="127000"/>
          </a:xfrm>
          <a:prstGeom prst="roundRect">
            <a:avLst>
              <a:gd name="adj" fmla="val 25000"/>
            </a:avLst>
          </a:prstGeom>
          <a:solidFill>
            <a:srgbClr val="0B0748"/>
          </a:solidFill>
          <a:ln/>
        </p:spPr>
      </p:sp>
      <p:sp>
        <p:nvSpPr>
          <p:cNvPr id="60" name="Shape 58"/>
          <p:cNvSpPr/>
          <p:nvPr/>
        </p:nvSpPr>
        <p:spPr>
          <a:xfrm>
            <a:off x="6655541" y="2046784"/>
            <a:ext cx="127000" cy="127000"/>
          </a:xfrm>
          <a:prstGeom prst="roundRect">
            <a:avLst>
              <a:gd name="adj" fmla="val 25000"/>
            </a:avLst>
          </a:prstGeom>
          <a:solidFill>
            <a:srgbClr val="0B0748"/>
          </a:solidFill>
          <a:ln/>
        </p:spPr>
      </p:sp>
      <p:sp>
        <p:nvSpPr>
          <p:cNvPr id="61" name="Shape 59"/>
          <p:cNvSpPr/>
          <p:nvPr/>
        </p:nvSpPr>
        <p:spPr>
          <a:xfrm>
            <a:off x="6807941" y="2046784"/>
            <a:ext cx="127000" cy="127000"/>
          </a:xfrm>
          <a:prstGeom prst="roundRect">
            <a:avLst>
              <a:gd name="adj" fmla="val 25000"/>
            </a:avLst>
          </a:prstGeom>
          <a:solidFill>
            <a:srgbClr val="0B0748"/>
          </a:solidFill>
          <a:ln/>
        </p:spPr>
      </p:sp>
      <p:sp>
        <p:nvSpPr>
          <p:cNvPr id="62" name="Shape 60"/>
          <p:cNvSpPr/>
          <p:nvPr/>
        </p:nvSpPr>
        <p:spPr>
          <a:xfrm>
            <a:off x="6960341" y="2046784"/>
            <a:ext cx="12700" cy="127000"/>
          </a:xfrm>
          <a:prstGeom prst="rect">
            <a:avLst/>
          </a:prstGeom>
          <a:solidFill>
            <a:srgbClr val="A6A3C6"/>
          </a:solidFill>
          <a:ln/>
        </p:spPr>
      </p:sp>
      <p:sp>
        <p:nvSpPr>
          <p:cNvPr id="63" name="Shape 61"/>
          <p:cNvSpPr/>
          <p:nvPr/>
        </p:nvSpPr>
        <p:spPr>
          <a:xfrm>
            <a:off x="6998441" y="2046784"/>
            <a:ext cx="127000" cy="127000"/>
          </a:xfrm>
          <a:prstGeom prst="roundRect">
            <a:avLst>
              <a:gd name="adj" fmla="val 25000"/>
            </a:avLst>
          </a:prstGeom>
          <a:solidFill>
            <a:srgbClr val="E25A2C"/>
          </a:solidFill>
          <a:ln/>
        </p:spPr>
      </p:sp>
      <p:sp>
        <p:nvSpPr>
          <p:cNvPr id="64" name="Shape 62"/>
          <p:cNvSpPr/>
          <p:nvPr/>
        </p:nvSpPr>
        <p:spPr>
          <a:xfrm>
            <a:off x="7150841" y="2046784"/>
            <a:ext cx="127000" cy="127000"/>
          </a:xfrm>
          <a:prstGeom prst="roundRect">
            <a:avLst>
              <a:gd name="adj" fmla="val 25000"/>
            </a:avLst>
          </a:prstGeom>
          <a:solidFill>
            <a:srgbClr val="E25A2C"/>
          </a:solidFill>
          <a:ln/>
        </p:spPr>
      </p:sp>
      <p:sp>
        <p:nvSpPr>
          <p:cNvPr id="65" name="Shape 63"/>
          <p:cNvSpPr/>
          <p:nvPr/>
        </p:nvSpPr>
        <p:spPr>
          <a:xfrm>
            <a:off x="7303241" y="2046784"/>
            <a:ext cx="127000" cy="127000"/>
          </a:xfrm>
          <a:prstGeom prst="roundRect">
            <a:avLst>
              <a:gd name="adj" fmla="val 25000"/>
            </a:avLst>
          </a:prstGeom>
          <a:solidFill>
            <a:srgbClr val="E25A2C"/>
          </a:solidFill>
          <a:ln/>
        </p:spPr>
      </p:sp>
      <p:sp>
        <p:nvSpPr>
          <p:cNvPr id="66" name="Shape 64"/>
          <p:cNvSpPr/>
          <p:nvPr/>
        </p:nvSpPr>
        <p:spPr>
          <a:xfrm>
            <a:off x="7455641" y="2046784"/>
            <a:ext cx="127000" cy="127000"/>
          </a:xfrm>
          <a:prstGeom prst="roundRect">
            <a:avLst>
              <a:gd name="adj" fmla="val 25000"/>
            </a:avLst>
          </a:prstGeom>
          <a:solidFill>
            <a:srgbClr val="E25A2C"/>
          </a:solidFill>
          <a:ln/>
        </p:spPr>
      </p:sp>
      <p:sp>
        <p:nvSpPr>
          <p:cNvPr id="67" name="Text 65"/>
          <p:cNvSpPr/>
          <p:nvPr/>
        </p:nvSpPr>
        <p:spPr>
          <a:xfrm>
            <a:off x="6350741" y="2275384"/>
            <a:ext cx="2232055"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3F3C6B"/>
                </a:solidFill>
                <a:latin typeface="IBM Plex Sans" pitchFamily="34" charset="0"/>
                <a:ea typeface="IBM Plex Sans" pitchFamily="34" charset="-122"/>
                <a:cs typeface="IBM Plex Sans" pitchFamily="34" charset="-120"/>
              </a:rPr>
              <a:t>Deux versions complètes, bascule instantanée du trafic.</a:t>
            </a:r>
            <a:endParaRPr lang="en-US" sz="1250" dirty="0"/>
          </a:p>
        </p:txBody>
      </p:sp>
      <p:sp>
        <p:nvSpPr>
          <p:cNvPr id="68" name="Shape 66"/>
          <p:cNvSpPr/>
          <p:nvPr/>
        </p:nvSpPr>
        <p:spPr>
          <a:xfrm>
            <a:off x="6350741" y="3669209"/>
            <a:ext cx="2167043" cy="0"/>
          </a:xfrm>
          <a:prstGeom prst="line">
            <a:avLst/>
          </a:prstGeom>
          <a:noFill/>
          <a:ln w="6350">
            <a:solidFill>
              <a:srgbClr val="E1DFEE"/>
            </a:solidFill>
            <a:prstDash val="solid"/>
          </a:ln>
        </p:spPr>
      </p:sp>
      <p:sp>
        <p:nvSpPr>
          <p:cNvPr id="69" name="Text 67"/>
          <p:cNvSpPr/>
          <p:nvPr/>
        </p:nvSpPr>
        <p:spPr>
          <a:xfrm>
            <a:off x="6350741" y="3736777"/>
            <a:ext cx="223205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COUPURE</a:t>
            </a:r>
            <a:endParaRPr lang="en-US" sz="1000" dirty="0"/>
          </a:p>
        </p:txBody>
      </p:sp>
      <p:sp>
        <p:nvSpPr>
          <p:cNvPr id="70" name="Text 68"/>
          <p:cNvSpPr/>
          <p:nvPr/>
        </p:nvSpPr>
        <p:spPr>
          <a:xfrm>
            <a:off x="6350741" y="3927277"/>
            <a:ext cx="2232055"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IBM Plex Sans" pitchFamily="34" charset="0"/>
                <a:ea typeface="IBM Plex Sans" pitchFamily="34" charset="-122"/>
                <a:cs typeface="IBM Plex Sans" pitchFamily="34" charset="-120"/>
              </a:rPr>
              <a:t>Non</a:t>
            </a:r>
            <a:endParaRPr lang="en-US" sz="1300" dirty="0"/>
          </a:p>
        </p:txBody>
      </p:sp>
      <p:sp>
        <p:nvSpPr>
          <p:cNvPr id="71" name="Shape 69"/>
          <p:cNvSpPr/>
          <p:nvPr/>
        </p:nvSpPr>
        <p:spPr>
          <a:xfrm>
            <a:off x="6350741" y="4246662"/>
            <a:ext cx="2167043" cy="0"/>
          </a:xfrm>
          <a:prstGeom prst="line">
            <a:avLst/>
          </a:prstGeom>
          <a:noFill/>
          <a:ln w="6350">
            <a:solidFill>
              <a:srgbClr val="E1DFEE"/>
            </a:solidFill>
            <a:prstDash val="solid"/>
          </a:ln>
        </p:spPr>
      </p:sp>
      <p:sp>
        <p:nvSpPr>
          <p:cNvPr id="72" name="Text 70"/>
          <p:cNvSpPr/>
          <p:nvPr/>
        </p:nvSpPr>
        <p:spPr>
          <a:xfrm>
            <a:off x="6350741" y="4313932"/>
            <a:ext cx="223205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RESSOURCES</a:t>
            </a:r>
            <a:endParaRPr lang="en-US" sz="1000" dirty="0"/>
          </a:p>
        </p:txBody>
      </p:sp>
      <p:sp>
        <p:nvSpPr>
          <p:cNvPr id="73" name="Text 71"/>
          <p:cNvSpPr/>
          <p:nvPr/>
        </p:nvSpPr>
        <p:spPr>
          <a:xfrm>
            <a:off x="6350741" y="4504432"/>
            <a:ext cx="223205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Le double</a:t>
            </a:r>
            <a:endParaRPr lang="en-US" sz="1300" dirty="0"/>
          </a:p>
        </p:txBody>
      </p:sp>
      <p:sp>
        <p:nvSpPr>
          <p:cNvPr id="74" name="Shape 72"/>
          <p:cNvSpPr/>
          <p:nvPr/>
        </p:nvSpPr>
        <p:spPr>
          <a:xfrm>
            <a:off x="6350741" y="4823916"/>
            <a:ext cx="2167043" cy="0"/>
          </a:xfrm>
          <a:prstGeom prst="line">
            <a:avLst/>
          </a:prstGeom>
          <a:noFill/>
          <a:ln w="6350">
            <a:solidFill>
              <a:srgbClr val="E1DFEE"/>
            </a:solidFill>
            <a:prstDash val="solid"/>
          </a:ln>
        </p:spPr>
      </p:sp>
      <p:sp>
        <p:nvSpPr>
          <p:cNvPr id="75" name="Text 73"/>
          <p:cNvSpPr/>
          <p:nvPr/>
        </p:nvSpPr>
        <p:spPr>
          <a:xfrm>
            <a:off x="6350741" y="4891385"/>
            <a:ext cx="223205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RETOUR ARRIÈRE</a:t>
            </a:r>
            <a:endParaRPr lang="en-US" sz="1000" dirty="0"/>
          </a:p>
        </p:txBody>
      </p:sp>
      <p:sp>
        <p:nvSpPr>
          <p:cNvPr id="76" name="Text 74"/>
          <p:cNvSpPr/>
          <p:nvPr/>
        </p:nvSpPr>
        <p:spPr>
          <a:xfrm>
            <a:off x="6350741" y="5081885"/>
            <a:ext cx="223205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Instantané</a:t>
            </a:r>
            <a:endParaRPr lang="en-US" sz="1300" dirty="0"/>
          </a:p>
        </p:txBody>
      </p:sp>
      <p:sp>
        <p:nvSpPr>
          <p:cNvPr id="77" name="Shape 75"/>
          <p:cNvSpPr/>
          <p:nvPr/>
        </p:nvSpPr>
        <p:spPr>
          <a:xfrm>
            <a:off x="8845550" y="1509415"/>
            <a:ext cx="2530475" cy="3968750"/>
          </a:xfrm>
          <a:prstGeom prst="roundRect">
            <a:avLst>
              <a:gd name="adj" fmla="val 4893"/>
            </a:avLst>
          </a:prstGeom>
          <a:solidFill>
            <a:srgbClr val="FDFDFF"/>
          </a:solidFill>
          <a:ln w="6350">
            <a:solidFill>
              <a:srgbClr val="E1DFEE"/>
            </a:solidFill>
            <a:prstDash val="solid"/>
          </a:ln>
        </p:spPr>
      </p:sp>
      <p:sp>
        <p:nvSpPr>
          <p:cNvPr id="78" name="Text 76"/>
          <p:cNvSpPr/>
          <p:nvPr/>
        </p:nvSpPr>
        <p:spPr>
          <a:xfrm>
            <a:off x="9027266" y="1691184"/>
            <a:ext cx="223205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Canary</a:t>
            </a:r>
            <a:endParaRPr lang="en-US" sz="1600" dirty="0"/>
          </a:p>
        </p:txBody>
      </p:sp>
      <p:sp>
        <p:nvSpPr>
          <p:cNvPr id="79" name="Shape 77"/>
          <p:cNvSpPr/>
          <p:nvPr/>
        </p:nvSpPr>
        <p:spPr>
          <a:xfrm>
            <a:off x="9027266" y="2046784"/>
            <a:ext cx="127000" cy="127000"/>
          </a:xfrm>
          <a:prstGeom prst="roundRect">
            <a:avLst>
              <a:gd name="adj" fmla="val 25000"/>
            </a:avLst>
          </a:prstGeom>
          <a:solidFill>
            <a:srgbClr val="0B0748"/>
          </a:solidFill>
          <a:ln/>
        </p:spPr>
      </p:sp>
      <p:sp>
        <p:nvSpPr>
          <p:cNvPr id="80" name="Shape 78"/>
          <p:cNvSpPr/>
          <p:nvPr/>
        </p:nvSpPr>
        <p:spPr>
          <a:xfrm>
            <a:off x="9179666" y="2046784"/>
            <a:ext cx="127000" cy="127000"/>
          </a:xfrm>
          <a:prstGeom prst="roundRect">
            <a:avLst>
              <a:gd name="adj" fmla="val 25000"/>
            </a:avLst>
          </a:prstGeom>
          <a:solidFill>
            <a:srgbClr val="0B0748"/>
          </a:solidFill>
          <a:ln/>
        </p:spPr>
      </p:sp>
      <p:sp>
        <p:nvSpPr>
          <p:cNvPr id="81" name="Shape 79"/>
          <p:cNvSpPr/>
          <p:nvPr/>
        </p:nvSpPr>
        <p:spPr>
          <a:xfrm>
            <a:off x="9332066" y="2046784"/>
            <a:ext cx="127000" cy="127000"/>
          </a:xfrm>
          <a:prstGeom prst="roundRect">
            <a:avLst>
              <a:gd name="adj" fmla="val 25000"/>
            </a:avLst>
          </a:prstGeom>
          <a:solidFill>
            <a:srgbClr val="0B0748"/>
          </a:solidFill>
          <a:ln/>
        </p:spPr>
      </p:sp>
      <p:sp>
        <p:nvSpPr>
          <p:cNvPr id="82" name="Shape 80"/>
          <p:cNvSpPr/>
          <p:nvPr/>
        </p:nvSpPr>
        <p:spPr>
          <a:xfrm>
            <a:off x="9484466" y="2046784"/>
            <a:ext cx="127000" cy="127000"/>
          </a:xfrm>
          <a:prstGeom prst="roundRect">
            <a:avLst>
              <a:gd name="adj" fmla="val 25000"/>
            </a:avLst>
          </a:prstGeom>
          <a:solidFill>
            <a:srgbClr val="0B0748"/>
          </a:solidFill>
          <a:ln/>
        </p:spPr>
      </p:sp>
      <p:sp>
        <p:nvSpPr>
          <p:cNvPr id="83" name="Shape 81"/>
          <p:cNvSpPr/>
          <p:nvPr/>
        </p:nvSpPr>
        <p:spPr>
          <a:xfrm>
            <a:off x="9636866" y="2046784"/>
            <a:ext cx="127000" cy="127000"/>
          </a:xfrm>
          <a:prstGeom prst="roundRect">
            <a:avLst>
              <a:gd name="adj" fmla="val 25000"/>
            </a:avLst>
          </a:prstGeom>
          <a:solidFill>
            <a:srgbClr val="0B0748"/>
          </a:solidFill>
          <a:ln/>
        </p:spPr>
      </p:sp>
      <p:sp>
        <p:nvSpPr>
          <p:cNvPr id="84" name="Shape 82"/>
          <p:cNvSpPr/>
          <p:nvPr/>
        </p:nvSpPr>
        <p:spPr>
          <a:xfrm>
            <a:off x="9789266" y="2046784"/>
            <a:ext cx="127000" cy="127000"/>
          </a:xfrm>
          <a:prstGeom prst="roundRect">
            <a:avLst>
              <a:gd name="adj" fmla="val 25000"/>
            </a:avLst>
          </a:prstGeom>
          <a:solidFill>
            <a:srgbClr val="0B0748"/>
          </a:solidFill>
          <a:ln/>
        </p:spPr>
      </p:sp>
      <p:sp>
        <p:nvSpPr>
          <p:cNvPr id="85" name="Shape 83"/>
          <p:cNvSpPr/>
          <p:nvPr/>
        </p:nvSpPr>
        <p:spPr>
          <a:xfrm>
            <a:off x="9941666" y="2046784"/>
            <a:ext cx="127000" cy="127000"/>
          </a:xfrm>
          <a:prstGeom prst="roundRect">
            <a:avLst>
              <a:gd name="adj" fmla="val 25000"/>
            </a:avLst>
          </a:prstGeom>
          <a:solidFill>
            <a:srgbClr val="0B0748"/>
          </a:solidFill>
          <a:ln/>
        </p:spPr>
      </p:sp>
      <p:sp>
        <p:nvSpPr>
          <p:cNvPr id="86" name="Shape 84"/>
          <p:cNvSpPr/>
          <p:nvPr/>
        </p:nvSpPr>
        <p:spPr>
          <a:xfrm>
            <a:off x="10094066" y="2046784"/>
            <a:ext cx="127000" cy="127000"/>
          </a:xfrm>
          <a:prstGeom prst="roundRect">
            <a:avLst>
              <a:gd name="adj" fmla="val 25000"/>
            </a:avLst>
          </a:prstGeom>
          <a:solidFill>
            <a:srgbClr val="0B0748"/>
          </a:solidFill>
          <a:ln/>
        </p:spPr>
      </p:sp>
      <p:sp>
        <p:nvSpPr>
          <p:cNvPr id="87" name="Shape 85"/>
          <p:cNvSpPr/>
          <p:nvPr/>
        </p:nvSpPr>
        <p:spPr>
          <a:xfrm>
            <a:off x="10246466" y="2046784"/>
            <a:ext cx="127000" cy="127000"/>
          </a:xfrm>
          <a:prstGeom prst="roundRect">
            <a:avLst>
              <a:gd name="adj" fmla="val 25000"/>
            </a:avLst>
          </a:prstGeom>
          <a:solidFill>
            <a:srgbClr val="0B0748"/>
          </a:solidFill>
          <a:ln/>
        </p:spPr>
      </p:sp>
      <p:sp>
        <p:nvSpPr>
          <p:cNvPr id="88" name="Shape 86"/>
          <p:cNvSpPr/>
          <p:nvPr/>
        </p:nvSpPr>
        <p:spPr>
          <a:xfrm>
            <a:off x="10398866" y="2046784"/>
            <a:ext cx="127000" cy="127000"/>
          </a:xfrm>
          <a:prstGeom prst="roundRect">
            <a:avLst>
              <a:gd name="adj" fmla="val 25000"/>
            </a:avLst>
          </a:prstGeom>
          <a:solidFill>
            <a:srgbClr val="E25A2C"/>
          </a:solidFill>
          <a:ln/>
        </p:spPr>
      </p:sp>
      <p:sp>
        <p:nvSpPr>
          <p:cNvPr id="89" name="Text 87"/>
          <p:cNvSpPr/>
          <p:nvPr/>
        </p:nvSpPr>
        <p:spPr>
          <a:xfrm>
            <a:off x="9027266" y="2275384"/>
            <a:ext cx="2232055" cy="682625"/>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3F3C6B"/>
                </a:solidFill>
                <a:latin typeface="IBM Plex Sans" pitchFamily="34" charset="0"/>
                <a:ea typeface="IBM Plex Sans" pitchFamily="34" charset="-122"/>
                <a:cs typeface="IBM Plex Sans" pitchFamily="34" charset="-120"/>
              </a:rPr>
              <a:t>Une petite part du trafic sur la nouvelle version, puis augmentation.</a:t>
            </a:r>
            <a:endParaRPr lang="en-US" sz="1250" dirty="0"/>
          </a:p>
        </p:txBody>
      </p:sp>
      <p:sp>
        <p:nvSpPr>
          <p:cNvPr id="90" name="Shape 88"/>
          <p:cNvSpPr/>
          <p:nvPr/>
        </p:nvSpPr>
        <p:spPr>
          <a:xfrm>
            <a:off x="9027266" y="3669209"/>
            <a:ext cx="2167043" cy="0"/>
          </a:xfrm>
          <a:prstGeom prst="line">
            <a:avLst/>
          </a:prstGeom>
          <a:noFill/>
          <a:ln w="6350">
            <a:solidFill>
              <a:srgbClr val="E1DFEE"/>
            </a:solidFill>
            <a:prstDash val="solid"/>
          </a:ln>
        </p:spPr>
      </p:sp>
      <p:sp>
        <p:nvSpPr>
          <p:cNvPr id="91" name="Text 89"/>
          <p:cNvSpPr/>
          <p:nvPr/>
        </p:nvSpPr>
        <p:spPr>
          <a:xfrm>
            <a:off x="9027266" y="3736777"/>
            <a:ext cx="223205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COUPURE</a:t>
            </a:r>
            <a:endParaRPr lang="en-US" sz="1000" dirty="0"/>
          </a:p>
        </p:txBody>
      </p:sp>
      <p:sp>
        <p:nvSpPr>
          <p:cNvPr id="92" name="Text 90"/>
          <p:cNvSpPr/>
          <p:nvPr/>
        </p:nvSpPr>
        <p:spPr>
          <a:xfrm>
            <a:off x="9027266" y="3927277"/>
            <a:ext cx="2232055"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IBM Plex Sans" pitchFamily="34" charset="0"/>
                <a:ea typeface="IBM Plex Sans" pitchFamily="34" charset="-122"/>
                <a:cs typeface="IBM Plex Sans" pitchFamily="34" charset="-120"/>
              </a:rPr>
              <a:t>Non</a:t>
            </a:r>
            <a:endParaRPr lang="en-US" sz="1300" dirty="0"/>
          </a:p>
        </p:txBody>
      </p:sp>
      <p:sp>
        <p:nvSpPr>
          <p:cNvPr id="93" name="Shape 91"/>
          <p:cNvSpPr/>
          <p:nvPr/>
        </p:nvSpPr>
        <p:spPr>
          <a:xfrm>
            <a:off x="9027266" y="4246662"/>
            <a:ext cx="2167043" cy="0"/>
          </a:xfrm>
          <a:prstGeom prst="line">
            <a:avLst/>
          </a:prstGeom>
          <a:noFill/>
          <a:ln w="6350">
            <a:solidFill>
              <a:srgbClr val="E1DFEE"/>
            </a:solidFill>
            <a:prstDash val="solid"/>
          </a:ln>
        </p:spPr>
      </p:sp>
      <p:sp>
        <p:nvSpPr>
          <p:cNvPr id="94" name="Text 92"/>
          <p:cNvSpPr/>
          <p:nvPr/>
        </p:nvSpPr>
        <p:spPr>
          <a:xfrm>
            <a:off x="9027266" y="4313932"/>
            <a:ext cx="223205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RESSOURCES</a:t>
            </a:r>
            <a:endParaRPr lang="en-US" sz="1000" dirty="0"/>
          </a:p>
        </p:txBody>
      </p:sp>
      <p:sp>
        <p:nvSpPr>
          <p:cNvPr id="95" name="Text 93"/>
          <p:cNvSpPr/>
          <p:nvPr/>
        </p:nvSpPr>
        <p:spPr>
          <a:xfrm>
            <a:off x="9027266" y="4504432"/>
            <a:ext cx="223205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Quelques pods en plus</a:t>
            </a:r>
            <a:endParaRPr lang="en-US" sz="1300" dirty="0"/>
          </a:p>
        </p:txBody>
      </p:sp>
      <p:sp>
        <p:nvSpPr>
          <p:cNvPr id="96" name="Shape 94"/>
          <p:cNvSpPr/>
          <p:nvPr/>
        </p:nvSpPr>
        <p:spPr>
          <a:xfrm>
            <a:off x="9027266" y="4823916"/>
            <a:ext cx="2167043" cy="0"/>
          </a:xfrm>
          <a:prstGeom prst="line">
            <a:avLst/>
          </a:prstGeom>
          <a:noFill/>
          <a:ln w="6350">
            <a:solidFill>
              <a:srgbClr val="E1DFEE"/>
            </a:solidFill>
            <a:prstDash val="solid"/>
          </a:ln>
        </p:spPr>
      </p:sp>
      <p:sp>
        <p:nvSpPr>
          <p:cNvPr id="97" name="Text 95"/>
          <p:cNvSpPr/>
          <p:nvPr/>
        </p:nvSpPr>
        <p:spPr>
          <a:xfrm>
            <a:off x="9027266" y="4891385"/>
            <a:ext cx="223205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RETOUR ARRIÈRE</a:t>
            </a:r>
            <a:endParaRPr lang="en-US" sz="1000" dirty="0"/>
          </a:p>
        </p:txBody>
      </p:sp>
      <p:sp>
        <p:nvSpPr>
          <p:cNvPr id="98" name="Text 96"/>
          <p:cNvSpPr/>
          <p:nvPr/>
        </p:nvSpPr>
        <p:spPr>
          <a:xfrm>
            <a:off x="9027266" y="5081885"/>
            <a:ext cx="223205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0748"/>
                </a:solidFill>
                <a:latin typeface="IBM Plex Sans" pitchFamily="34" charset="0"/>
                <a:ea typeface="IBM Plex Sans" pitchFamily="34" charset="-122"/>
                <a:cs typeface="IBM Plex Sans" pitchFamily="34" charset="-120"/>
              </a:rPr>
              <a:t>Instantané</a:t>
            </a:r>
            <a:endParaRPr lang="en-US" sz="1300" dirty="0"/>
          </a:p>
        </p:txBody>
      </p:sp>
      <p:sp>
        <p:nvSpPr>
          <p:cNvPr id="99" name="Shape 97"/>
          <p:cNvSpPr/>
          <p:nvPr/>
        </p:nvSpPr>
        <p:spPr>
          <a:xfrm>
            <a:off x="812800" y="5674320"/>
            <a:ext cx="139700" cy="139700"/>
          </a:xfrm>
          <a:prstGeom prst="roundRect">
            <a:avLst>
              <a:gd name="adj" fmla="val 27273"/>
            </a:avLst>
          </a:prstGeom>
          <a:solidFill>
            <a:srgbClr val="0B0748"/>
          </a:solidFill>
          <a:ln/>
        </p:spPr>
      </p:sp>
      <p:sp>
        <p:nvSpPr>
          <p:cNvPr id="100" name="Text 98"/>
          <p:cNvSpPr/>
          <p:nvPr/>
        </p:nvSpPr>
        <p:spPr>
          <a:xfrm>
            <a:off x="1016000" y="5646440"/>
            <a:ext cx="1272667"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ancienne version</a:t>
            </a:r>
            <a:endParaRPr lang="en-US" sz="1100" dirty="0"/>
          </a:p>
        </p:txBody>
      </p:sp>
      <p:sp>
        <p:nvSpPr>
          <p:cNvPr id="101" name="Shape 99"/>
          <p:cNvSpPr/>
          <p:nvPr/>
        </p:nvSpPr>
        <p:spPr>
          <a:xfrm>
            <a:off x="2305156" y="5674320"/>
            <a:ext cx="139700" cy="139700"/>
          </a:xfrm>
          <a:prstGeom prst="roundRect">
            <a:avLst>
              <a:gd name="adj" fmla="val 27273"/>
            </a:avLst>
          </a:prstGeom>
          <a:solidFill>
            <a:srgbClr val="E25A2C"/>
          </a:solidFill>
          <a:ln/>
        </p:spPr>
      </p:sp>
      <p:sp>
        <p:nvSpPr>
          <p:cNvPr id="102" name="Text 100"/>
          <p:cNvSpPr/>
          <p:nvPr/>
        </p:nvSpPr>
        <p:spPr>
          <a:xfrm>
            <a:off x="2508356" y="5646440"/>
            <a:ext cx="1226947"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nouvelle version</a:t>
            </a:r>
            <a:endParaRPr lang="en-US" sz="1100" dirty="0"/>
          </a:p>
        </p:txBody>
      </p:sp>
      <p:sp>
        <p:nvSpPr>
          <p:cNvPr id="103" name="Shape 101"/>
          <p:cNvSpPr/>
          <p:nvPr/>
        </p:nvSpPr>
        <p:spPr>
          <a:xfrm>
            <a:off x="3765762" y="5680670"/>
            <a:ext cx="127000" cy="127000"/>
          </a:xfrm>
          <a:prstGeom prst="roundRect">
            <a:avLst>
              <a:gd name="adj" fmla="val 25000"/>
            </a:avLst>
          </a:prstGeom>
          <a:noFill/>
          <a:ln w="12700">
            <a:solidFill>
              <a:srgbClr val="A6A3C6"/>
            </a:solidFill>
            <a:prstDash val="dash"/>
          </a:ln>
        </p:spPr>
      </p:sp>
      <p:sp>
        <p:nvSpPr>
          <p:cNvPr id="104" name="Text 102"/>
          <p:cNvSpPr/>
          <p:nvPr/>
        </p:nvSpPr>
        <p:spPr>
          <a:xfrm>
            <a:off x="3962612" y="5646440"/>
            <a:ext cx="1533525"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aucun pod : coupure</a:t>
            </a:r>
            <a:endParaRPr lang="en-US" sz="1100" dirty="0"/>
          </a:p>
        </p:txBody>
      </p:sp>
      <p:pic>
        <p:nvPicPr>
          <p:cNvPr id="105"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06" name="Text 103"/>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07" name="Image 1" descr="Parcours : module 12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12 · DÉMO DU JOUR 3</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Blue/green avec un Service</a:t>
            </a:r>
            <a:endParaRPr lang="en-US" sz="2800" dirty="0"/>
          </a:p>
        </p:txBody>
      </p:sp>
      <p:sp>
        <p:nvSpPr>
          <p:cNvPr id="4" name="Shape 2"/>
          <p:cNvSpPr/>
          <p:nvPr/>
        </p:nvSpPr>
        <p:spPr>
          <a:xfrm>
            <a:off x="812800" y="1531640"/>
            <a:ext cx="6375400" cy="736600"/>
          </a:xfrm>
          <a:prstGeom prst="roundRect">
            <a:avLst>
              <a:gd name="adj" fmla="val 15517"/>
            </a:avLst>
          </a:prstGeom>
          <a:solidFill>
            <a:srgbClr val="0B0748"/>
          </a:solidFill>
          <a:ln/>
        </p:spPr>
      </p:sp>
      <p:sp>
        <p:nvSpPr>
          <p:cNvPr id="5" name="Text 3"/>
          <p:cNvSpPr/>
          <p:nvPr/>
        </p:nvSpPr>
        <p:spPr>
          <a:xfrm>
            <a:off x="2925202" y="1658640"/>
            <a:ext cx="2150491"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5F4F9"/>
                </a:solidFill>
                <a:latin typeface="Sora" pitchFamily="34" charset="0"/>
                <a:ea typeface="Sora" pitchFamily="34" charset="-122"/>
                <a:cs typeface="Sora" pitchFamily="34" charset="-120"/>
              </a:rPr>
              <a:t>Service podinfo-bg</a:t>
            </a:r>
            <a:endParaRPr lang="en-US" sz="1400" dirty="0"/>
          </a:p>
        </p:txBody>
      </p:sp>
      <p:sp>
        <p:nvSpPr>
          <p:cNvPr id="6" name="Text 4"/>
          <p:cNvSpPr/>
          <p:nvPr/>
        </p:nvSpPr>
        <p:spPr>
          <a:xfrm>
            <a:off x="1988820" y="1945680"/>
            <a:ext cx="4023360" cy="22098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FFB08F"/>
                </a:solidFill>
                <a:latin typeface="JetBrains Mono" pitchFamily="49" charset="0"/>
                <a:ea typeface="JetBrains Mono" pitchFamily="49" charset="-122"/>
                <a:cs typeface="JetBrains Mono" pitchFamily="49" charset="-120"/>
              </a:rPr>
              <a:t>selector: app: podinfo-bg, version: blue</a:t>
            </a:r>
            <a:endParaRPr lang="en-US" sz="1100" dirty="0"/>
          </a:p>
        </p:txBody>
      </p:sp>
      <p:pic>
        <p:nvPicPr>
          <p:cNvPr id="7" name="Image 0" descr="arrow-down">    </p:cNvPr>
          <p:cNvPicPr>
            <a:picLocks noChangeAspect="1"/>
          </p:cNvPicPr>
          <p:nvPr/>
        </p:nvPicPr>
        <p:blipFill>
          <a:blip r:embed="rId1"/>
          <a:srcRect l="0" r="0" t="0" b="0"/>
          <a:stretch/>
        </p:blipFill>
        <p:spPr>
          <a:xfrm>
            <a:off x="2286000" y="2357140"/>
            <a:ext cx="165100" cy="279400"/>
          </a:xfrm>
          <a:prstGeom prst="rect">
            <a:avLst/>
          </a:prstGeom>
        </p:spPr>
      </p:pic>
      <p:sp>
        <p:nvSpPr>
          <p:cNvPr id="8" name="Shape 5"/>
          <p:cNvSpPr/>
          <p:nvPr/>
        </p:nvSpPr>
        <p:spPr>
          <a:xfrm>
            <a:off x="819150" y="2719090"/>
            <a:ext cx="3098800" cy="1045422"/>
          </a:xfrm>
          <a:prstGeom prst="roundRect">
            <a:avLst>
              <a:gd name="adj" fmla="val 10326"/>
            </a:avLst>
          </a:prstGeom>
          <a:solidFill>
            <a:srgbClr val="FDFDFF"/>
          </a:solidFill>
          <a:ln w="12700">
            <a:solidFill>
              <a:srgbClr val="0B0748"/>
            </a:solidFill>
            <a:prstDash val="solid"/>
          </a:ln>
        </p:spPr>
      </p:sp>
      <p:sp>
        <p:nvSpPr>
          <p:cNvPr id="9" name="Text 6"/>
          <p:cNvSpPr/>
          <p:nvPr/>
        </p:nvSpPr>
        <p:spPr>
          <a:xfrm>
            <a:off x="972291" y="2846884"/>
            <a:ext cx="2876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podinfo-blue</a:t>
            </a:r>
            <a:endParaRPr lang="en-US" sz="1200" dirty="0"/>
          </a:p>
        </p:txBody>
      </p:sp>
      <p:sp>
        <p:nvSpPr>
          <p:cNvPr id="10" name="Shape 7"/>
          <p:cNvSpPr/>
          <p:nvPr/>
        </p:nvSpPr>
        <p:spPr>
          <a:xfrm>
            <a:off x="972291" y="3123605"/>
            <a:ext cx="254000" cy="254000"/>
          </a:xfrm>
          <a:prstGeom prst="roundRect">
            <a:avLst>
              <a:gd name="adj" fmla="val 22500"/>
            </a:avLst>
          </a:prstGeom>
          <a:solidFill>
            <a:srgbClr val="0B0748"/>
          </a:solidFill>
          <a:ln/>
        </p:spPr>
      </p:sp>
      <p:sp>
        <p:nvSpPr>
          <p:cNvPr id="11" name="Shape 8"/>
          <p:cNvSpPr/>
          <p:nvPr/>
        </p:nvSpPr>
        <p:spPr>
          <a:xfrm>
            <a:off x="1289791" y="3123605"/>
            <a:ext cx="254000" cy="254000"/>
          </a:xfrm>
          <a:prstGeom prst="roundRect">
            <a:avLst>
              <a:gd name="adj" fmla="val 22500"/>
            </a:avLst>
          </a:prstGeom>
          <a:solidFill>
            <a:srgbClr val="0B0748"/>
          </a:solidFill>
          <a:ln/>
        </p:spPr>
      </p:sp>
      <p:sp>
        <p:nvSpPr>
          <p:cNvPr id="12" name="Shape 9"/>
          <p:cNvSpPr/>
          <p:nvPr/>
        </p:nvSpPr>
        <p:spPr>
          <a:xfrm>
            <a:off x="1607291" y="3123605"/>
            <a:ext cx="254000" cy="254000"/>
          </a:xfrm>
          <a:prstGeom prst="roundRect">
            <a:avLst>
              <a:gd name="adj" fmla="val 22500"/>
            </a:avLst>
          </a:prstGeom>
          <a:solidFill>
            <a:srgbClr val="0B0748"/>
          </a:solidFill>
          <a:ln/>
        </p:spPr>
      </p:sp>
      <p:sp>
        <p:nvSpPr>
          <p:cNvPr id="13" name="Text 10"/>
          <p:cNvSpPr/>
          <p:nvPr/>
        </p:nvSpPr>
        <p:spPr>
          <a:xfrm>
            <a:off x="972291" y="3441303"/>
            <a:ext cx="2876294"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F3C6B"/>
                </a:solidFill>
                <a:latin typeface="JetBrains Mono" pitchFamily="49" charset="0"/>
                <a:ea typeface="JetBrains Mono" pitchFamily="49" charset="-122"/>
                <a:cs typeface="JetBrains Mono" pitchFamily="49" charset="-120"/>
              </a:rPr>
              <a:t>version: blue · 6.7.0</a:t>
            </a:r>
            <a:endParaRPr lang="en-US" sz="1100" dirty="0"/>
          </a:p>
        </p:txBody>
      </p:sp>
      <p:pic>
        <p:nvPicPr>
          <p:cNvPr id="14" name="Image 1" descr="arrow-down">    </p:cNvPr>
          <p:cNvPicPr>
            <a:picLocks noChangeAspect="1"/>
          </p:cNvPicPr>
          <p:nvPr/>
        </p:nvPicPr>
        <p:blipFill>
          <a:blip r:embed="rId2"/>
          <a:srcRect l="0" r="0" t="0" b="0"/>
          <a:stretch/>
        </p:blipFill>
        <p:spPr>
          <a:xfrm>
            <a:off x="5549900" y="2357140"/>
            <a:ext cx="165100" cy="279400"/>
          </a:xfrm>
          <a:prstGeom prst="rect">
            <a:avLst/>
          </a:prstGeom>
        </p:spPr>
      </p:pic>
      <p:sp>
        <p:nvSpPr>
          <p:cNvPr id="15" name="Shape 11"/>
          <p:cNvSpPr/>
          <p:nvPr/>
        </p:nvSpPr>
        <p:spPr>
          <a:xfrm>
            <a:off x="4083050" y="2719090"/>
            <a:ext cx="3098800" cy="1045422"/>
          </a:xfrm>
          <a:prstGeom prst="roundRect">
            <a:avLst>
              <a:gd name="adj" fmla="val 10326"/>
            </a:avLst>
          </a:prstGeom>
          <a:solidFill>
            <a:srgbClr val="FDFDFF"/>
          </a:solidFill>
          <a:ln w="12700">
            <a:solidFill>
              <a:srgbClr val="A6A3C6"/>
            </a:solidFill>
            <a:prstDash val="dash"/>
          </a:ln>
        </p:spPr>
      </p:sp>
      <p:sp>
        <p:nvSpPr>
          <p:cNvPr id="16" name="Text 12"/>
          <p:cNvSpPr/>
          <p:nvPr/>
        </p:nvSpPr>
        <p:spPr>
          <a:xfrm>
            <a:off x="4236191" y="2846884"/>
            <a:ext cx="2876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podinfo-green</a:t>
            </a:r>
            <a:endParaRPr lang="en-US" sz="1200" dirty="0"/>
          </a:p>
        </p:txBody>
      </p:sp>
      <p:sp>
        <p:nvSpPr>
          <p:cNvPr id="17" name="Shape 13"/>
          <p:cNvSpPr/>
          <p:nvPr/>
        </p:nvSpPr>
        <p:spPr>
          <a:xfrm>
            <a:off x="4236191" y="3123605"/>
            <a:ext cx="254000" cy="254000"/>
          </a:xfrm>
          <a:prstGeom prst="roundRect">
            <a:avLst>
              <a:gd name="adj" fmla="val 22500"/>
            </a:avLst>
          </a:prstGeom>
          <a:solidFill>
            <a:srgbClr val="E25A2C"/>
          </a:solidFill>
          <a:ln/>
        </p:spPr>
      </p:sp>
      <p:sp>
        <p:nvSpPr>
          <p:cNvPr id="18" name="Shape 14"/>
          <p:cNvSpPr/>
          <p:nvPr/>
        </p:nvSpPr>
        <p:spPr>
          <a:xfrm>
            <a:off x="4553691" y="3123605"/>
            <a:ext cx="254000" cy="254000"/>
          </a:xfrm>
          <a:prstGeom prst="roundRect">
            <a:avLst>
              <a:gd name="adj" fmla="val 22500"/>
            </a:avLst>
          </a:prstGeom>
          <a:solidFill>
            <a:srgbClr val="E25A2C"/>
          </a:solidFill>
          <a:ln/>
        </p:spPr>
      </p:sp>
      <p:sp>
        <p:nvSpPr>
          <p:cNvPr id="19" name="Shape 15"/>
          <p:cNvSpPr/>
          <p:nvPr/>
        </p:nvSpPr>
        <p:spPr>
          <a:xfrm>
            <a:off x="4871191" y="3123605"/>
            <a:ext cx="254000" cy="254000"/>
          </a:xfrm>
          <a:prstGeom prst="roundRect">
            <a:avLst>
              <a:gd name="adj" fmla="val 22500"/>
            </a:avLst>
          </a:prstGeom>
          <a:solidFill>
            <a:srgbClr val="E25A2C"/>
          </a:solidFill>
          <a:ln/>
        </p:spPr>
      </p:sp>
      <p:sp>
        <p:nvSpPr>
          <p:cNvPr id="20" name="Text 16"/>
          <p:cNvSpPr/>
          <p:nvPr/>
        </p:nvSpPr>
        <p:spPr>
          <a:xfrm>
            <a:off x="4236191" y="3441303"/>
            <a:ext cx="2876294"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F3C6B"/>
                </a:solidFill>
                <a:latin typeface="JetBrains Mono" pitchFamily="49" charset="0"/>
                <a:ea typeface="JetBrains Mono" pitchFamily="49" charset="-122"/>
                <a:cs typeface="JetBrains Mono" pitchFamily="49" charset="-120"/>
              </a:rPr>
              <a:t>version: green · 6.7.1</a:t>
            </a:r>
            <a:endParaRPr lang="en-US" sz="1100" dirty="0"/>
          </a:p>
        </p:txBody>
      </p:sp>
      <p:sp>
        <p:nvSpPr>
          <p:cNvPr id="21" name="Text 17"/>
          <p:cNvSpPr/>
          <p:nvPr/>
        </p:nvSpPr>
        <p:spPr>
          <a:xfrm>
            <a:off x="812800" y="3859709"/>
            <a:ext cx="65666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La bascule consiste à changer le sélecteur du Service ; le retour aussi.</a:t>
            </a:r>
            <a:endParaRPr lang="en-US" sz="1300" dirty="0"/>
          </a:p>
        </p:txBody>
      </p:sp>
      <p:sp>
        <p:nvSpPr>
          <p:cNvPr id="22" name="Text 18"/>
          <p:cNvSpPr/>
          <p:nvPr/>
        </p:nvSpPr>
        <p:spPr>
          <a:xfrm>
            <a:off x="7442200" y="1531640"/>
            <a:ext cx="3937000" cy="3472180"/>
          </a:xfrm>
          <a:prstGeom prst="roundRect">
            <a:avLst>
              <a:gd name="adj" fmla="val 2926"/>
            </a:avLst>
          </a:prstGeom>
          <a:solidFill>
            <a:srgbClr val="0B0748"/>
          </a:solidFill>
          <a:ln/>
        </p:spPr>
        <p:txBody>
          <a:bodyPr wrap="none" lIns="148042" tIns="97242" rIns="40600" bIns="97242" rtlCol="0" anchor="ctr">
            <a:normAutofit/>
          </a:bodyPr>
          <a:lstStyle/>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apiVersion: v1</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kind: Service</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name: podinfo-bg</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spec:</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type: NodePort</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selector:</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app: podinfo-bg</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version: blue</a:t>
            </a: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9A96D0"/>
                </a:solidFill>
                <a:latin typeface="JetBrains Mono" pitchFamily="49" charset="0"/>
                <a:ea typeface="JetBrains Mono" pitchFamily="49" charset="-122"/>
                <a:cs typeface="JetBrains Mono" pitchFamily="49" charset="-120"/>
              </a:rPr>
              <a:t># qui reçoit le trafic</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ports:</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 port: 9898</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targetPort: 9898</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nodePort: 30081</a:t>
            </a:r>
            <a:endParaRPr lang="en-US" sz="1100" dirty="0"/>
          </a:p>
        </p:txBody>
      </p:sp>
      <p:sp>
        <p:nvSpPr>
          <p:cNvPr id="23" name="Text 19"/>
          <p:cNvSpPr/>
          <p:nvPr/>
        </p:nvSpPr>
        <p:spPr>
          <a:xfrm>
            <a:off x="812800" y="5194300"/>
            <a:ext cx="10566400" cy="647700"/>
          </a:xfrm>
          <a:prstGeom prst="roundRect">
            <a:avLst>
              <a:gd name="adj" fmla="val 15686"/>
            </a:avLst>
          </a:prstGeom>
          <a:solidFill>
            <a:srgbClr val="0B0748"/>
          </a:solidFill>
          <a:ln/>
        </p:spPr>
        <p:txBody>
          <a:bodyPr wrap="none" lIns="148042" tIns="71842" rIns="0" bIns="71842" rtlCol="0" anchor="ctr">
            <a:normAutofit/>
          </a:bodyPr>
          <a:lstStyle/>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kubectl patch service podinfo-bg -p '{"spec":{"selector":{"app":"podinfo-bg","version":"green"}}}' </a:t>
            </a:r>
            <a:r>
              <a:rPr lang="en-US" sz="1100" dirty="0">
                <a:solidFill>
                  <a:srgbClr val="9A96D0"/>
                </a:solidFill>
                <a:latin typeface="JetBrains Mono" pitchFamily="49" charset="0"/>
                <a:ea typeface="JetBrains Mono" pitchFamily="49" charset="-122"/>
                <a:cs typeface="JetBrains Mono" pitchFamily="49" charset="-120"/>
              </a:rPr>
              <a:t># bascule</a:t>
            </a:r>
            <a:endParaRPr lang="en-US" sz="1100" dirty="0"/>
          </a:p>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kubectl patch service podinfo-bg -p '{"spec":{"selector":{"app":"podinfo-bg","version":"blue"}}}'   </a:t>
            </a:r>
            <a:r>
              <a:rPr lang="en-US" sz="1100" dirty="0">
                <a:solidFill>
                  <a:srgbClr val="9A96D0"/>
                </a:solidFill>
                <a:latin typeface="JetBrains Mono" pitchFamily="49" charset="0"/>
                <a:ea typeface="JetBrains Mono" pitchFamily="49" charset="-122"/>
                <a:cs typeface="JetBrains Mono" pitchFamily="49" charset="-120"/>
              </a:rPr>
              <a:t># retour</a:t>
            </a:r>
            <a:endParaRPr lang="en-US" sz="1100" dirty="0"/>
          </a:p>
        </p:txBody>
      </p:sp>
      <p:pic>
        <p:nvPicPr>
          <p:cNvPr id="24" name="Image 2" descr="preencoded.png">    </p:cNvPr>
          <p:cNvPicPr>
            <a:picLocks noChangeAspect="1"/>
          </p:cNvPicPr>
          <p:nvPr/>
        </p:nvPicPr>
        <p:blipFill>
          <a:blip r:embed="rId3"/>
          <a:srcRect l="0" r="0" t="-35" b="-35"/>
          <a:stretch/>
        </p:blipFill>
        <p:spPr>
          <a:xfrm>
            <a:off x="812800" y="6299200"/>
            <a:ext cx="152400" cy="152506"/>
          </a:xfrm>
          <a:prstGeom prst="rect">
            <a:avLst/>
          </a:prstGeom>
        </p:spPr>
      </p:pic>
      <p:sp>
        <p:nvSpPr>
          <p:cNvPr id="25" name="Text 2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6" name="Image 3" descr="Parcours : module 12 sur 16">    </p:cNvPr>
          <p:cNvPicPr>
            <a:picLocks noChangeAspect="1"/>
          </p:cNvPicPr>
          <p:nvPr/>
        </p:nvPicPr>
        <p:blipFill>
          <a:blip r:embed="rId4"/>
          <a:srcRect l="0" r="0" t="-35" b="-35"/>
          <a:stretch/>
        </p:blipFill>
        <p:spPr>
          <a:xfrm>
            <a:off x="9207500" y="6299200"/>
            <a:ext cx="2171700" cy="152506"/>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12 · LABELS, ANNOTATIONS, DÉPLOIEMENTS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Canary : une petite part du trafic</a:t>
            </a:r>
            <a:endParaRPr lang="en-US" sz="2800" dirty="0"/>
          </a:p>
        </p:txBody>
      </p:sp>
      <p:sp>
        <p:nvSpPr>
          <p:cNvPr id="4" name="Shape 2"/>
          <p:cNvSpPr/>
          <p:nvPr/>
        </p:nvSpPr>
        <p:spPr>
          <a:xfrm>
            <a:off x="812800" y="2296120"/>
            <a:ext cx="5816600" cy="459634"/>
          </a:xfrm>
          <a:prstGeom prst="roundRect">
            <a:avLst>
              <a:gd name="adj" fmla="val 24868"/>
            </a:avLst>
          </a:prstGeom>
          <a:solidFill>
            <a:srgbClr val="0B0748"/>
          </a:solidFill>
          <a:ln/>
        </p:spPr>
      </p:sp>
      <p:sp>
        <p:nvSpPr>
          <p:cNvPr id="5" name="Text 3"/>
          <p:cNvSpPr/>
          <p:nvPr/>
        </p:nvSpPr>
        <p:spPr>
          <a:xfrm>
            <a:off x="977900" y="2410420"/>
            <a:ext cx="76538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4F9"/>
                </a:solidFill>
                <a:latin typeface="Sora" pitchFamily="34" charset="0"/>
                <a:ea typeface="Sora" pitchFamily="34" charset="-122"/>
                <a:cs typeface="Sora" pitchFamily="34" charset="-120"/>
              </a:rPr>
              <a:t>Service</a:t>
            </a:r>
            <a:endParaRPr lang="en-US" sz="1300" dirty="0"/>
          </a:p>
        </p:txBody>
      </p:sp>
      <p:sp>
        <p:nvSpPr>
          <p:cNvPr id="6" name="Text 4"/>
          <p:cNvSpPr/>
          <p:nvPr/>
        </p:nvSpPr>
        <p:spPr>
          <a:xfrm>
            <a:off x="1743287" y="2428280"/>
            <a:ext cx="221284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FB08F"/>
                </a:solidFill>
                <a:latin typeface="JetBrains Mono" pitchFamily="49" charset="0"/>
                <a:ea typeface="JetBrains Mono" pitchFamily="49" charset="-122"/>
                <a:cs typeface="JetBrains Mono" pitchFamily="49" charset="-120"/>
              </a:rPr>
              <a:t>selector: app: podinfo</a:t>
            </a:r>
            <a:endParaRPr lang="en-US" sz="1100" dirty="0"/>
          </a:p>
        </p:txBody>
      </p:sp>
      <p:sp>
        <p:nvSpPr>
          <p:cNvPr id="7" name="Shape 5"/>
          <p:cNvSpPr/>
          <p:nvPr/>
        </p:nvSpPr>
        <p:spPr>
          <a:xfrm>
            <a:off x="812800" y="2895600"/>
            <a:ext cx="406400" cy="406400"/>
          </a:xfrm>
          <a:prstGeom prst="roundRect">
            <a:avLst>
              <a:gd name="adj" fmla="val 21875"/>
            </a:avLst>
          </a:prstGeom>
          <a:solidFill>
            <a:srgbClr val="0B0748"/>
          </a:solidFill>
          <a:ln/>
        </p:spPr>
      </p:sp>
      <p:sp>
        <p:nvSpPr>
          <p:cNvPr id="8" name="Shape 6"/>
          <p:cNvSpPr/>
          <p:nvPr/>
        </p:nvSpPr>
        <p:spPr>
          <a:xfrm>
            <a:off x="1282700" y="2895600"/>
            <a:ext cx="406400" cy="406400"/>
          </a:xfrm>
          <a:prstGeom prst="roundRect">
            <a:avLst>
              <a:gd name="adj" fmla="val 21875"/>
            </a:avLst>
          </a:prstGeom>
          <a:solidFill>
            <a:srgbClr val="0B0748"/>
          </a:solidFill>
          <a:ln/>
        </p:spPr>
      </p:sp>
      <p:sp>
        <p:nvSpPr>
          <p:cNvPr id="9" name="Shape 7"/>
          <p:cNvSpPr/>
          <p:nvPr/>
        </p:nvSpPr>
        <p:spPr>
          <a:xfrm>
            <a:off x="1752600" y="2895600"/>
            <a:ext cx="406400" cy="406400"/>
          </a:xfrm>
          <a:prstGeom prst="roundRect">
            <a:avLst>
              <a:gd name="adj" fmla="val 21875"/>
            </a:avLst>
          </a:prstGeom>
          <a:solidFill>
            <a:srgbClr val="0B0748"/>
          </a:solidFill>
          <a:ln/>
        </p:spPr>
      </p:sp>
      <p:sp>
        <p:nvSpPr>
          <p:cNvPr id="10" name="Shape 8"/>
          <p:cNvSpPr/>
          <p:nvPr/>
        </p:nvSpPr>
        <p:spPr>
          <a:xfrm>
            <a:off x="2222500" y="2895600"/>
            <a:ext cx="406400" cy="406400"/>
          </a:xfrm>
          <a:prstGeom prst="roundRect">
            <a:avLst>
              <a:gd name="adj" fmla="val 21875"/>
            </a:avLst>
          </a:prstGeom>
          <a:solidFill>
            <a:srgbClr val="0B0748"/>
          </a:solidFill>
          <a:ln/>
        </p:spPr>
      </p:sp>
      <p:sp>
        <p:nvSpPr>
          <p:cNvPr id="11" name="Shape 9"/>
          <p:cNvSpPr/>
          <p:nvPr/>
        </p:nvSpPr>
        <p:spPr>
          <a:xfrm>
            <a:off x="2692400" y="2895600"/>
            <a:ext cx="406400" cy="406400"/>
          </a:xfrm>
          <a:prstGeom prst="roundRect">
            <a:avLst>
              <a:gd name="adj" fmla="val 21875"/>
            </a:avLst>
          </a:prstGeom>
          <a:solidFill>
            <a:srgbClr val="0B0748"/>
          </a:solidFill>
          <a:ln/>
        </p:spPr>
      </p:sp>
      <p:sp>
        <p:nvSpPr>
          <p:cNvPr id="12" name="Shape 10"/>
          <p:cNvSpPr/>
          <p:nvPr/>
        </p:nvSpPr>
        <p:spPr>
          <a:xfrm>
            <a:off x="3162300" y="2895600"/>
            <a:ext cx="406400" cy="406400"/>
          </a:xfrm>
          <a:prstGeom prst="roundRect">
            <a:avLst>
              <a:gd name="adj" fmla="val 21875"/>
            </a:avLst>
          </a:prstGeom>
          <a:solidFill>
            <a:srgbClr val="0B0748"/>
          </a:solidFill>
          <a:ln/>
        </p:spPr>
      </p:sp>
      <p:sp>
        <p:nvSpPr>
          <p:cNvPr id="13" name="Shape 11"/>
          <p:cNvSpPr/>
          <p:nvPr/>
        </p:nvSpPr>
        <p:spPr>
          <a:xfrm>
            <a:off x="3632200" y="2895600"/>
            <a:ext cx="406400" cy="406400"/>
          </a:xfrm>
          <a:prstGeom prst="roundRect">
            <a:avLst>
              <a:gd name="adj" fmla="val 21875"/>
            </a:avLst>
          </a:prstGeom>
          <a:solidFill>
            <a:srgbClr val="0B0748"/>
          </a:solidFill>
          <a:ln/>
        </p:spPr>
      </p:sp>
      <p:sp>
        <p:nvSpPr>
          <p:cNvPr id="14" name="Shape 12"/>
          <p:cNvSpPr/>
          <p:nvPr/>
        </p:nvSpPr>
        <p:spPr>
          <a:xfrm>
            <a:off x="4102100" y="2895600"/>
            <a:ext cx="406400" cy="406400"/>
          </a:xfrm>
          <a:prstGeom prst="roundRect">
            <a:avLst>
              <a:gd name="adj" fmla="val 21875"/>
            </a:avLst>
          </a:prstGeom>
          <a:solidFill>
            <a:srgbClr val="0B0748"/>
          </a:solidFill>
          <a:ln/>
        </p:spPr>
      </p:sp>
      <p:sp>
        <p:nvSpPr>
          <p:cNvPr id="15" name="Shape 13"/>
          <p:cNvSpPr/>
          <p:nvPr/>
        </p:nvSpPr>
        <p:spPr>
          <a:xfrm>
            <a:off x="4572000" y="2895600"/>
            <a:ext cx="406400" cy="406400"/>
          </a:xfrm>
          <a:prstGeom prst="roundRect">
            <a:avLst>
              <a:gd name="adj" fmla="val 21875"/>
            </a:avLst>
          </a:prstGeom>
          <a:solidFill>
            <a:srgbClr val="0B0748"/>
          </a:solidFill>
          <a:ln/>
        </p:spPr>
      </p:sp>
      <p:sp>
        <p:nvSpPr>
          <p:cNvPr id="16" name="Shape 14"/>
          <p:cNvSpPr/>
          <p:nvPr/>
        </p:nvSpPr>
        <p:spPr>
          <a:xfrm>
            <a:off x="5041900" y="2895600"/>
            <a:ext cx="406400" cy="406400"/>
          </a:xfrm>
          <a:prstGeom prst="roundRect">
            <a:avLst>
              <a:gd name="adj" fmla="val 21875"/>
            </a:avLst>
          </a:prstGeom>
          <a:solidFill>
            <a:srgbClr val="E25A2C"/>
          </a:solidFill>
          <a:ln/>
        </p:spPr>
      </p:sp>
      <p:sp>
        <p:nvSpPr>
          <p:cNvPr id="17" name="Text 15"/>
          <p:cNvSpPr/>
          <p:nvPr/>
        </p:nvSpPr>
        <p:spPr>
          <a:xfrm>
            <a:off x="812800" y="3441700"/>
            <a:ext cx="5991098"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0B0748"/>
                </a:solidFill>
                <a:latin typeface="IBM Plex Sans" pitchFamily="34" charset="0"/>
                <a:ea typeface="IBM Plex Sans" pitchFamily="34" charset="-122"/>
                <a:cs typeface="IBM Plex Sans" pitchFamily="34" charset="-120"/>
              </a:rPr>
              <a:t>podinfo-stable</a:t>
            </a:r>
            <a:r>
              <a:rPr lang="en-US" sz="1250" dirty="0">
                <a:solidFill>
                  <a:srgbClr val="3F3C6B"/>
                </a:solidFill>
                <a:latin typeface="IBM Plex Sans" pitchFamily="34" charset="0"/>
                <a:ea typeface="IBM Plex Sans" pitchFamily="34" charset="-122"/>
                <a:cs typeface="IBM Plex Sans" pitchFamily="34" charset="-120"/>
              </a:rPr>
              <a:t> : 9 réplicas, labels app: podinfo, piste: stable</a:t>
            </a:r>
            <a:endParaRPr lang="en-US" sz="1250" dirty="0"/>
          </a:p>
        </p:txBody>
      </p:sp>
      <p:sp>
        <p:nvSpPr>
          <p:cNvPr id="18" name="Text 16"/>
          <p:cNvSpPr/>
          <p:nvPr/>
        </p:nvSpPr>
        <p:spPr>
          <a:xfrm>
            <a:off x="812800" y="3702050"/>
            <a:ext cx="5991098"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IBM Plex Sans" pitchFamily="34" charset="0"/>
                <a:ea typeface="IBM Plex Sans" pitchFamily="34" charset="-122"/>
                <a:cs typeface="IBM Plex Sans" pitchFamily="34" charset="-120"/>
              </a:rPr>
              <a:t>podinfo-canary</a:t>
            </a:r>
            <a:r>
              <a:rPr lang="en-US" sz="1250" dirty="0">
                <a:solidFill>
                  <a:srgbClr val="3F3C6B"/>
                </a:solidFill>
                <a:latin typeface="IBM Plex Sans" pitchFamily="34" charset="0"/>
                <a:ea typeface="IBM Plex Sans" pitchFamily="34" charset="-122"/>
                <a:cs typeface="IBM Plex Sans" pitchFamily="34" charset="-120"/>
              </a:rPr>
              <a:t> : 1 réplica, labels app: podinfo, piste: canary</a:t>
            </a:r>
            <a:endParaRPr lang="en-US" sz="1250" dirty="0"/>
          </a:p>
        </p:txBody>
      </p:sp>
      <p:sp>
        <p:nvSpPr>
          <p:cNvPr id="19" name="Text 17"/>
          <p:cNvSpPr/>
          <p:nvPr/>
        </p:nvSpPr>
        <p:spPr>
          <a:xfrm>
            <a:off x="812800" y="4064000"/>
            <a:ext cx="5991098" cy="66802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0B0748"/>
                </a:solidFill>
                <a:latin typeface="Sora" pitchFamily="34" charset="0"/>
                <a:ea typeface="Sora" pitchFamily="34" charset="-122"/>
                <a:cs typeface="Sora" pitchFamily="34" charset="-120"/>
              </a:rPr>
              <a:t>≈ 10 % des requêtes</a:t>
            </a:r>
            <a:endParaRPr lang="en-US" sz="2200" dirty="0"/>
          </a:p>
          <a:p>
            <a:pPr algn="l" indent="0" marL="0">
              <a:lnSpc>
                <a:spcPts val="2530"/>
              </a:lnSpc>
              <a:buNone/>
            </a:pPr>
            <a:r>
              <a:rPr lang="en-US" sz="2200" b="1" dirty="0">
                <a:solidFill>
                  <a:srgbClr val="0B0748"/>
                </a:solidFill>
                <a:latin typeface="Sora" pitchFamily="34" charset="0"/>
                <a:ea typeface="Sora" pitchFamily="34" charset="-122"/>
                <a:cs typeface="Sora" pitchFamily="34" charset="-120"/>
              </a:rPr>
              <a:t>vers la version canary</a:t>
            </a:r>
            <a:endParaRPr lang="en-US" sz="2200" dirty="0"/>
          </a:p>
        </p:txBody>
      </p:sp>
      <p:sp>
        <p:nvSpPr>
          <p:cNvPr id="20" name="Text 18"/>
          <p:cNvSpPr/>
          <p:nvPr/>
        </p:nvSpPr>
        <p:spPr>
          <a:xfrm>
            <a:off x="812800" y="4846340"/>
            <a:ext cx="6121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Limite : la proportion suit le nombre de pods, 1 sur 10 au mieux avec 10 pods.</a:t>
            </a:r>
            <a:endParaRPr lang="en-US" sz="1300" dirty="0"/>
          </a:p>
        </p:txBody>
      </p:sp>
      <p:sp>
        <p:nvSpPr>
          <p:cNvPr id="21" name="Text 19"/>
          <p:cNvSpPr/>
          <p:nvPr/>
        </p:nvSpPr>
        <p:spPr>
          <a:xfrm>
            <a:off x="6934200" y="1531640"/>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UN POURCENTAGE PRÉCIS : LA GATEWAY API</a:t>
            </a:r>
            <a:endParaRPr lang="en-US" sz="1200" dirty="0"/>
          </a:p>
        </p:txBody>
      </p:sp>
      <p:sp>
        <p:nvSpPr>
          <p:cNvPr id="22" name="Text 20"/>
          <p:cNvSpPr/>
          <p:nvPr/>
        </p:nvSpPr>
        <p:spPr>
          <a:xfrm>
            <a:off x="6934200" y="1821160"/>
            <a:ext cx="4445000" cy="3036888"/>
          </a:xfrm>
          <a:prstGeom prst="roundRect">
            <a:avLst>
              <a:gd name="adj" fmla="val 3346"/>
            </a:avLst>
          </a:prstGeom>
          <a:solidFill>
            <a:srgbClr val="0B0748"/>
          </a:solidFill>
          <a:ln/>
        </p:spPr>
        <p:txBody>
          <a:bodyPr wrap="none" lIns="148042" tIns="71842" rIns="25360" bIns="71842" rtlCol="0" anchor="ctr">
            <a:normAutofit/>
          </a:bodyPr>
          <a:lstStyle/>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apiVersion: gateway.networking.k8s.io/v1</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kind: HTTPRoute</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name: podinfo</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spec:</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parentRefs:</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 name: passerelle-principale</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rules:</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 backendRefs:</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 name: podinfo-stable</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port: 9898</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weight: 95</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 name: podinfo-canary</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port: 9898</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weight: 5</a:t>
            </a:r>
            <a:endParaRPr lang="en-US" sz="1100" dirty="0"/>
          </a:p>
        </p:txBody>
      </p:sp>
      <p:sp>
        <p:nvSpPr>
          <p:cNvPr id="23" name="Text 21"/>
          <p:cNvSpPr/>
          <p:nvPr/>
        </p:nvSpPr>
        <p:spPr>
          <a:xfrm>
            <a:off x="6934200" y="4934347"/>
            <a:ext cx="45783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Augmentation progressive et retour arrière automatiques sur indicateurs : Argo Rollouts ou Flagger.</a:t>
            </a:r>
            <a:endParaRPr lang="en-US" sz="1200" dirty="0"/>
          </a:p>
        </p:txBody>
      </p:sp>
      <p:pic>
        <p:nvPicPr>
          <p:cNvPr id="24"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25" name="Text 22"/>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6" name="Image 1" descr="Parcours : module 12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BF0E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TRAVAUX PRATIQUES · À FAIRE MAINTENANT</a:t>
            </a:r>
            <a:endParaRPr lang="en-US" sz="1200" dirty="0"/>
          </a:p>
        </p:txBody>
      </p:sp>
      <p:sp>
        <p:nvSpPr>
          <p:cNvPr id="3" name="Text 1"/>
          <p:cNvSpPr/>
          <p:nvPr/>
        </p:nvSpPr>
        <p:spPr>
          <a:xfrm>
            <a:off x="812800" y="1127720"/>
            <a:ext cx="3008630" cy="1054100"/>
          </a:xfrm>
          <a:prstGeom prst="rect">
            <a:avLst/>
          </a:prstGeom>
          <a:noFill/>
          <a:ln/>
        </p:spPr>
        <p:txBody>
          <a:bodyPr wrap="square" lIns="0" tIns="0" rIns="0" bIns="0" rtlCol="0" anchor="t">
            <a:normAutofit/>
          </a:bodyPr>
          <a:lstStyle/>
          <a:p>
            <a:pPr algn="l" indent="0" marL="0">
              <a:lnSpc>
                <a:spcPts val="8100"/>
              </a:lnSpc>
              <a:buNone/>
            </a:pPr>
            <a:r>
              <a:rPr lang="en-US" sz="9000" b="1" spc="-300" kern="0" dirty="0">
                <a:solidFill>
                  <a:srgbClr val="E25A2C"/>
                </a:solidFill>
                <a:latin typeface="Sora" pitchFamily="34" charset="0"/>
                <a:ea typeface="Sora" pitchFamily="34" charset="-122"/>
                <a:cs typeface="Sora" pitchFamily="34" charset="-120"/>
              </a:rPr>
              <a:t>TP8</a:t>
            </a:r>
            <a:endParaRPr lang="en-US" sz="9000" dirty="0"/>
          </a:p>
        </p:txBody>
      </p:sp>
      <p:pic>
        <p:nvPicPr>
          <p:cNvPr id="4" name="Image 0" descr="Clock">    </p:cNvPr>
          <p:cNvPicPr>
            <a:picLocks noChangeAspect="1"/>
          </p:cNvPicPr>
          <p:nvPr/>
        </p:nvPicPr>
        <p:blipFill>
          <a:blip r:embed="rId1"/>
          <a:srcRect l="0" r="0" t="0" b="0"/>
          <a:stretch/>
        </p:blipFill>
        <p:spPr>
          <a:xfrm>
            <a:off x="812800" y="2467570"/>
            <a:ext cx="254000" cy="254000"/>
          </a:xfrm>
          <a:prstGeom prst="rect">
            <a:avLst/>
          </a:prstGeom>
        </p:spPr>
      </p:pic>
      <p:sp>
        <p:nvSpPr>
          <p:cNvPr id="5" name="Text 2"/>
          <p:cNvSpPr/>
          <p:nvPr/>
        </p:nvSpPr>
        <p:spPr>
          <a:xfrm>
            <a:off x="1181100" y="2461220"/>
            <a:ext cx="1477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Jour 3 · 09:25</a:t>
            </a:r>
            <a:endParaRPr lang="en-US" sz="1500" dirty="0"/>
          </a:p>
        </p:txBody>
      </p:sp>
      <p:pic>
        <p:nvPicPr>
          <p:cNvPr id="6" name="Image 1" descr="Activity">    </p:cNvPr>
          <p:cNvPicPr>
            <a:picLocks noChangeAspect="1"/>
          </p:cNvPicPr>
          <p:nvPr/>
        </p:nvPicPr>
        <p:blipFill>
          <a:blip r:embed="rId2"/>
          <a:srcRect l="0" r="0" t="0" b="0"/>
          <a:stretch/>
        </p:blipFill>
        <p:spPr>
          <a:xfrm>
            <a:off x="812800" y="2835870"/>
            <a:ext cx="254000" cy="254000"/>
          </a:xfrm>
          <a:prstGeom prst="rect">
            <a:avLst/>
          </a:prstGeom>
        </p:spPr>
      </p:pic>
      <p:sp>
        <p:nvSpPr>
          <p:cNvPr id="7" name="Text 3"/>
          <p:cNvSpPr/>
          <p:nvPr/>
        </p:nvSpPr>
        <p:spPr>
          <a:xfrm>
            <a:off x="1181100" y="2829520"/>
            <a:ext cx="11889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45 minutes</a:t>
            </a:r>
            <a:endParaRPr lang="en-US" sz="1500" dirty="0"/>
          </a:p>
        </p:txBody>
      </p:sp>
      <p:pic>
        <p:nvPicPr>
          <p:cNvPr id="8" name="Image 2" descr="Book">    </p:cNvPr>
          <p:cNvPicPr>
            <a:picLocks noChangeAspect="1"/>
          </p:cNvPicPr>
          <p:nvPr/>
        </p:nvPicPr>
        <p:blipFill>
          <a:blip r:embed="rId3"/>
          <a:srcRect l="0" r="0" t="-340" b="-340"/>
          <a:stretch/>
        </p:blipFill>
        <p:spPr>
          <a:xfrm>
            <a:off x="812800" y="3319760"/>
            <a:ext cx="233362" cy="254000"/>
          </a:xfrm>
          <a:prstGeom prst="rect">
            <a:avLst/>
          </a:prstGeom>
        </p:spPr>
      </p:pic>
      <p:sp>
        <p:nvSpPr>
          <p:cNvPr id="9" name="Text 4"/>
          <p:cNvSpPr/>
          <p:nvPr/>
        </p:nvSpPr>
        <p:spPr>
          <a:xfrm>
            <a:off x="1160463" y="3197820"/>
            <a:ext cx="26505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Sections 11.1 à 11.6 et 12.1 à 12.3</a:t>
            </a:r>
            <a:endParaRPr lang="en-US" sz="1400" dirty="0"/>
          </a:p>
        </p:txBody>
      </p:sp>
      <p:sp>
        <p:nvSpPr>
          <p:cNvPr id="10" name="Text 5"/>
          <p:cNvSpPr/>
          <p:nvPr>
            <p:ph type="title"/>
          </p:nvPr>
        </p:nvSpPr>
        <p:spPr>
          <a:xfrm>
            <a:off x="4191000" y="1127720"/>
            <a:ext cx="7403846"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Quotas et labels</a:t>
            </a:r>
            <a:endParaRPr lang="en-US" sz="2800" dirty="0"/>
          </a:p>
        </p:txBody>
      </p:sp>
      <p:sp>
        <p:nvSpPr>
          <p:cNvPr id="11" name="Text 6"/>
          <p:cNvSpPr/>
          <p:nvPr/>
        </p:nvSpPr>
        <p:spPr>
          <a:xfrm>
            <a:off x="4191000" y="1722140"/>
            <a:ext cx="7403846"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F3C6B"/>
                </a:solidFill>
                <a:latin typeface="IBM Plex Sans" pitchFamily="34" charset="0"/>
                <a:ea typeface="IBM Plex Sans" pitchFamily="34" charset="-122"/>
                <a:cs typeface="IBM Plex Sans" pitchFamily="34" charset="-120"/>
              </a:rPr>
              <a:t>Encadrer un namespace d'équipe avec ResourceQuota et LimitRange, provoquer un OOMKilled, puis poser labels et annotations sur le fil rouge. La bascule blue/green est montrée en démo juste avant.</a:t>
            </a:r>
            <a:endParaRPr lang="en-US" sz="1500" dirty="0"/>
          </a:p>
        </p:txBody>
      </p:sp>
      <p:sp>
        <p:nvSpPr>
          <p:cNvPr id="12" name="Shape 7"/>
          <p:cNvSpPr/>
          <p:nvPr/>
        </p:nvSpPr>
        <p:spPr>
          <a:xfrm>
            <a:off x="4194175" y="4627066"/>
            <a:ext cx="7181850" cy="1211792"/>
          </a:xfrm>
          <a:prstGeom prst="roundRect">
            <a:avLst>
              <a:gd name="adj" fmla="val 10218"/>
            </a:avLst>
          </a:prstGeom>
          <a:solidFill>
            <a:srgbClr val="FDFDFF"/>
          </a:solidFill>
          <a:ln w="6350">
            <a:solidFill>
              <a:srgbClr val="EBDDD2"/>
            </a:solidFill>
            <a:prstDash val="solid"/>
          </a:ln>
        </p:spPr>
      </p:sp>
      <p:pic>
        <p:nvPicPr>
          <p:cNvPr id="13" name="Image 3" descr="CheckCircle">    </p:cNvPr>
          <p:cNvPicPr>
            <a:picLocks noChangeAspect="1"/>
          </p:cNvPicPr>
          <p:nvPr/>
        </p:nvPicPr>
        <p:blipFill>
          <a:blip r:embed="rId4"/>
          <a:srcRect l="0" r="0" t="0" b="0"/>
          <a:stretch/>
        </p:blipFill>
        <p:spPr>
          <a:xfrm>
            <a:off x="4452091" y="4834235"/>
            <a:ext cx="355600" cy="355600"/>
          </a:xfrm>
          <a:prstGeom prst="rect">
            <a:avLst/>
          </a:prstGeom>
        </p:spPr>
      </p:pic>
      <p:sp>
        <p:nvSpPr>
          <p:cNvPr id="14" name="Text 8"/>
          <p:cNvSpPr/>
          <p:nvPr/>
        </p:nvSpPr>
        <p:spPr>
          <a:xfrm>
            <a:off x="4985491" y="4834235"/>
            <a:ext cx="63165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POINT DE CONTRÔLE</a:t>
            </a:r>
            <a:endParaRPr lang="en-US" sz="1200" dirty="0"/>
          </a:p>
        </p:txBody>
      </p:sp>
      <p:sp>
        <p:nvSpPr>
          <p:cNvPr id="15" name="Text 9"/>
          <p:cNvSpPr/>
          <p:nvPr/>
        </p:nvSpPr>
        <p:spPr>
          <a:xfrm>
            <a:off x="4985491" y="5098455"/>
            <a:ext cx="631659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Expliquer pourquoi le déploiement plafonne à 8 pods (calcul de la section 11.6).</a:t>
            </a:r>
            <a:endParaRPr lang="en-US" sz="1500" dirty="0"/>
          </a:p>
        </p:txBody>
      </p:sp>
      <p:pic>
        <p:nvPicPr>
          <p:cNvPr id="16" name="Image 4" descr="preencoded.png">    </p:cNvPr>
          <p:cNvPicPr>
            <a:picLocks noChangeAspect="1"/>
          </p:cNvPicPr>
          <p:nvPr/>
        </p:nvPicPr>
        <p:blipFill>
          <a:blip r:embed="rId5"/>
          <a:srcRect l="0" r="0" t="-35" b="-35"/>
          <a:stretch/>
        </p:blipFill>
        <p:spPr>
          <a:xfrm>
            <a:off x="812800" y="6299200"/>
            <a:ext cx="152400" cy="152506"/>
          </a:xfrm>
          <a:prstGeom prst="rect">
            <a:avLst/>
          </a:prstGeom>
        </p:spPr>
      </p:pic>
      <p:sp>
        <p:nvSpPr>
          <p:cNvPr id="17" name="Text 1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5" descr="Parcours : module 12 sur 16">    </p:cNvPr>
          <p:cNvPicPr>
            <a:picLocks noChangeAspect="1"/>
          </p:cNvPicPr>
          <p:nvPr/>
        </p:nvPicPr>
        <p:blipFill>
          <a:blip r:embed="rId6"/>
          <a:srcRect l="0" r="0" t="-35" b="-35"/>
          <a:stretch/>
        </p:blipFill>
        <p:spPr>
          <a:xfrm>
            <a:off x="9207500" y="6299200"/>
            <a:ext cx="2171700" cy="152506"/>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12 · BILAN</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40"/>
            <a:ext cx="6138333"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40"/>
            <a:ext cx="228600" cy="228600"/>
          </a:xfrm>
          <a:prstGeom prst="rect">
            <a:avLst/>
          </a:prstGeom>
        </p:spPr>
      </p:pic>
      <p:sp>
        <p:nvSpPr>
          <p:cNvPr id="6" name="Text 3"/>
          <p:cNvSpPr/>
          <p:nvPr/>
        </p:nvSpPr>
        <p:spPr>
          <a:xfrm>
            <a:off x="1511300" y="1874540"/>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Labels pour identifier et sélectionner, annotations pour documenter et configurer des outils.</a:t>
            </a:r>
            <a:endParaRPr lang="en-US" sz="1500" dirty="0"/>
          </a:p>
        </p:txBody>
      </p:sp>
      <p:pic>
        <p:nvPicPr>
          <p:cNvPr id="7" name="Image 1" descr="Check">    </p:cNvPr>
          <p:cNvPicPr>
            <a:picLocks noChangeAspect="1"/>
          </p:cNvPicPr>
          <p:nvPr/>
        </p:nvPicPr>
        <p:blipFill>
          <a:blip r:embed="rId2"/>
          <a:srcRect l="0" r="0" t="0" b="0"/>
          <a:stretch/>
        </p:blipFill>
        <p:spPr>
          <a:xfrm>
            <a:off x="1143000" y="2585740"/>
            <a:ext cx="228600" cy="228600"/>
          </a:xfrm>
          <a:prstGeom prst="rect">
            <a:avLst/>
          </a:prstGeom>
        </p:spPr>
      </p:pic>
      <p:sp>
        <p:nvSpPr>
          <p:cNvPr id="8" name="Text 4"/>
          <p:cNvSpPr/>
          <p:nvPr/>
        </p:nvSpPr>
        <p:spPr>
          <a:xfrm>
            <a:off x="1511300" y="2585740"/>
            <a:ext cx="526292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Adoptez les labels recommandés app.kubernetes.io/*.</a:t>
            </a:r>
            <a:endParaRPr lang="en-US" sz="1500" dirty="0"/>
          </a:p>
        </p:txBody>
      </p:sp>
      <p:pic>
        <p:nvPicPr>
          <p:cNvPr id="9" name="Image 2" descr="Check">    </p:cNvPr>
          <p:cNvPicPr>
            <a:picLocks noChangeAspect="1"/>
          </p:cNvPicPr>
          <p:nvPr/>
        </p:nvPicPr>
        <p:blipFill>
          <a:blip r:embed="rId3"/>
          <a:srcRect l="0" r="0" t="0" b="0"/>
          <a:stretch/>
        </p:blipFill>
        <p:spPr>
          <a:xfrm>
            <a:off x="1143000" y="3030240"/>
            <a:ext cx="228600" cy="228600"/>
          </a:xfrm>
          <a:prstGeom prst="rect">
            <a:avLst/>
          </a:prstGeom>
        </p:spPr>
      </p:pic>
      <p:sp>
        <p:nvSpPr>
          <p:cNvPr id="10" name="Text 5"/>
          <p:cNvSpPr/>
          <p:nvPr/>
        </p:nvSpPr>
        <p:spPr>
          <a:xfrm>
            <a:off x="1511300" y="3030240"/>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Le sélecteur d'un Deployment est définitif : minimal, stable, sans version.</a:t>
            </a:r>
            <a:endParaRPr lang="en-US" sz="1500" dirty="0"/>
          </a:p>
        </p:txBody>
      </p:sp>
      <p:pic>
        <p:nvPicPr>
          <p:cNvPr id="11" name="Image 3" descr="Check">    </p:cNvPr>
          <p:cNvPicPr>
            <a:picLocks noChangeAspect="1"/>
          </p:cNvPicPr>
          <p:nvPr/>
        </p:nvPicPr>
        <p:blipFill>
          <a:blip r:embed="rId4"/>
          <a:srcRect l="0" r="0" t="0" b="0"/>
          <a:stretch/>
        </p:blipFill>
        <p:spPr>
          <a:xfrm>
            <a:off x="1143000" y="3741440"/>
            <a:ext cx="228600" cy="228600"/>
          </a:xfrm>
          <a:prstGeom prst="rect">
            <a:avLst/>
          </a:prstGeom>
        </p:spPr>
      </p:pic>
      <p:sp>
        <p:nvSpPr>
          <p:cNvPr id="12" name="Text 6"/>
          <p:cNvSpPr/>
          <p:nvPr/>
        </p:nvSpPr>
        <p:spPr>
          <a:xfrm>
            <a:off x="1511300" y="3741440"/>
            <a:ext cx="5262922" cy="825394"/>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Blue/green = changer le sélecteur d'un Service ; canary = partager un label entre deux Deployments, ou pondérer avec la Gateway API.</a:t>
            </a:r>
            <a:endParaRPr lang="en-US" sz="1500" dirty="0"/>
          </a:p>
        </p:txBody>
      </p:sp>
      <p:sp>
        <p:nvSpPr>
          <p:cNvPr id="13" name="Shape 7"/>
          <p:cNvSpPr/>
          <p:nvPr/>
        </p:nvSpPr>
        <p:spPr>
          <a:xfrm>
            <a:off x="7157508" y="1598315"/>
            <a:ext cx="4218517" cy="4240530"/>
          </a:xfrm>
          <a:prstGeom prst="roundRect">
            <a:avLst>
              <a:gd name="adj" fmla="val 3537"/>
            </a:avLst>
          </a:prstGeom>
          <a:solidFill>
            <a:srgbClr val="FDFDFF"/>
          </a:solidFill>
          <a:ln w="6350">
            <a:solidFill>
              <a:srgbClr val="E1DFEE"/>
            </a:solidFill>
            <a:prstDash val="solid"/>
          </a:ln>
        </p:spPr>
      </p:sp>
      <p:sp>
        <p:nvSpPr>
          <p:cNvPr id="14" name="Text 8"/>
          <p:cNvSpPr/>
          <p:nvPr/>
        </p:nvSpPr>
        <p:spPr>
          <a:xfrm>
            <a:off x="7440824" y="1856284"/>
            <a:ext cx="376144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5" name="Text 9"/>
          <p:cNvSpPr/>
          <p:nvPr/>
        </p:nvSpPr>
        <p:spPr>
          <a:xfrm>
            <a:off x="7440824" y="2196703"/>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1</a:t>
            </a:r>
            <a:endParaRPr lang="en-US" sz="1250" dirty="0"/>
          </a:p>
        </p:txBody>
      </p:sp>
      <p:sp>
        <p:nvSpPr>
          <p:cNvPr id="16" name="Text 10"/>
          <p:cNvSpPr/>
          <p:nvPr/>
        </p:nvSpPr>
        <p:spPr>
          <a:xfrm>
            <a:off x="7720224" y="2196703"/>
            <a:ext cx="3473659"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Pourquoi ne faut-il pas mettre version: "6.7.0" dans le sélecteur d'un Deployment ?</a:t>
            </a:r>
            <a:endParaRPr lang="en-US" sz="1250" dirty="0"/>
          </a:p>
        </p:txBody>
      </p:sp>
      <p:sp>
        <p:nvSpPr>
          <p:cNvPr id="17" name="Text 11"/>
          <p:cNvSpPr/>
          <p:nvPr/>
        </p:nvSpPr>
        <p:spPr>
          <a:xfrm>
            <a:off x="7440824" y="2768203"/>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2</a:t>
            </a:r>
            <a:endParaRPr lang="en-US" sz="1250" dirty="0"/>
          </a:p>
        </p:txBody>
      </p:sp>
      <p:sp>
        <p:nvSpPr>
          <p:cNvPr id="18" name="Text 12"/>
          <p:cNvSpPr/>
          <p:nvPr/>
        </p:nvSpPr>
        <p:spPr>
          <a:xfrm>
            <a:off x="7720224" y="2768203"/>
            <a:ext cx="3473659"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Que se passe-t-il si vous changez le label app d'un pod géré par un ReplicaSet ?</a:t>
            </a:r>
            <a:endParaRPr lang="en-US" sz="1250" dirty="0"/>
          </a:p>
        </p:txBody>
      </p:sp>
      <p:sp>
        <p:nvSpPr>
          <p:cNvPr id="19" name="Text 13"/>
          <p:cNvSpPr/>
          <p:nvPr/>
        </p:nvSpPr>
        <p:spPr>
          <a:xfrm>
            <a:off x="7440824" y="3339703"/>
            <a:ext cx="228600" cy="6921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3</a:t>
            </a:r>
            <a:endParaRPr lang="en-US" sz="1250" dirty="0"/>
          </a:p>
        </p:txBody>
      </p:sp>
      <p:sp>
        <p:nvSpPr>
          <p:cNvPr id="20" name="Text 14"/>
          <p:cNvSpPr/>
          <p:nvPr/>
        </p:nvSpPr>
        <p:spPr>
          <a:xfrm>
            <a:off x="7720224" y="3339703"/>
            <a:ext cx="3473659"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Écrivez le sélecteur en ligne de commande pour les pods dont environnement vaut recette ou prod et qui n'ont pas le label obsolete.</a:t>
            </a:r>
            <a:endParaRPr lang="en-US" sz="1250" dirty="0"/>
          </a:p>
        </p:txBody>
      </p:sp>
      <p:sp>
        <p:nvSpPr>
          <p:cNvPr id="21" name="Text 15"/>
          <p:cNvSpPr/>
          <p:nvPr/>
        </p:nvSpPr>
        <p:spPr>
          <a:xfrm>
            <a:off x="7440824" y="4133453"/>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4</a:t>
            </a:r>
            <a:endParaRPr lang="en-US" sz="1250" dirty="0"/>
          </a:p>
        </p:txBody>
      </p:sp>
      <p:sp>
        <p:nvSpPr>
          <p:cNvPr id="22" name="Text 16"/>
          <p:cNvSpPr/>
          <p:nvPr/>
        </p:nvSpPr>
        <p:spPr>
          <a:xfrm>
            <a:off x="7720224" y="4133453"/>
            <a:ext cx="3473659"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Quel est l'inconvénient principal d'un déploiement blue/green ?</a:t>
            </a:r>
            <a:endParaRPr lang="en-US" sz="1250" dirty="0"/>
          </a:p>
        </p:txBody>
      </p:sp>
      <p:pic>
        <p:nvPicPr>
          <p:cNvPr id="23" name="Image 4" descr="preencoded.png">    </p:cNvPr>
          <p:cNvPicPr>
            <a:picLocks noChangeAspect="1"/>
          </p:cNvPicPr>
          <p:nvPr/>
        </p:nvPicPr>
        <p:blipFill>
          <a:blip r:embed="rId5"/>
          <a:srcRect l="0" r="0" t="-35" b="-35"/>
          <a:stretch/>
        </p:blipFill>
        <p:spPr>
          <a:xfrm>
            <a:off x="812800" y="6299200"/>
            <a:ext cx="152400" cy="152506"/>
          </a:xfrm>
          <a:prstGeom prst="rect">
            <a:avLst/>
          </a:prstGeom>
        </p:spPr>
      </p:pic>
      <p:sp>
        <p:nvSpPr>
          <p:cNvPr id="24" name="Text 17"/>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5" descr="Parcours : module 12 sur 16">    </p:cNvPr>
          <p:cNvPicPr>
            <a:picLocks noChangeAspect="1"/>
          </p:cNvPicPr>
          <p:nvPr/>
        </p:nvPicPr>
        <p:blipFill>
          <a:blip r:embed="rId6"/>
          <a:srcRect l="0" r="0" t="-35" b="-35"/>
          <a:stretch/>
        </p:blipFill>
        <p:spPr>
          <a:xfrm>
            <a:off x="9207500" y="6299200"/>
            <a:ext cx="2171700" cy="152506"/>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3 · ENCADRER, SÉCURISER, FAIRE GRANDIR</a:t>
            </a:r>
            <a:endParaRPr lang="en-US" sz="1200" dirty="0"/>
          </a:p>
        </p:txBody>
      </p:sp>
      <p:sp>
        <p:nvSpPr>
          <p:cNvPr id="3" name="Text 1"/>
          <p:cNvSpPr/>
          <p:nvPr/>
        </p:nvSpPr>
        <p:spPr>
          <a:xfrm>
            <a:off x="812800" y="1076920"/>
            <a:ext cx="1493520"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13</a:t>
            </a:r>
            <a:endParaRPr lang="en-US" sz="10000" dirty="0"/>
          </a:p>
        </p:txBody>
      </p:sp>
      <p:sp>
        <p:nvSpPr>
          <p:cNvPr id="4" name="Text 2"/>
          <p:cNvSpPr/>
          <p:nvPr>
            <p:ph type="title"/>
          </p:nvPr>
        </p:nvSpPr>
        <p:spPr>
          <a:xfrm>
            <a:off x="2413000" y="1127720"/>
            <a:ext cx="9235186" cy="5588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Contrôleurs, opérateurs et Helm</a:t>
            </a:r>
            <a:endParaRPr lang="en-US" sz="4000" dirty="0"/>
          </a:p>
        </p:txBody>
      </p:sp>
      <p:sp>
        <p:nvSpPr>
          <p:cNvPr id="5" name="Text 3"/>
          <p:cNvSpPr/>
          <p:nvPr/>
        </p:nvSpPr>
        <p:spPr>
          <a:xfrm>
            <a:off x="2413000" y="1813520"/>
            <a:ext cx="923518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Une CRD ajoute un type d'objet à l'API, un contrôleur le fait vivre : ensemble, ils forment un opérateur. Helm empaquette et installe des applications ; on installe souvent un opérateur avec Helm.</a:t>
            </a:r>
            <a:endParaRPr lang="en-US" sz="1500" dirty="0"/>
          </a:p>
        </p:txBody>
      </p:sp>
      <p:sp>
        <p:nvSpPr>
          <p:cNvPr id="6" name="Text 4"/>
          <p:cNvSpPr/>
          <p:nvPr/>
        </p:nvSpPr>
        <p:spPr>
          <a:xfrm>
            <a:off x="2413000" y="2499320"/>
            <a:ext cx="3498533"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TP9 · Helm et cert-manager · J3 10:25 · guidé</a:t>
            </a:r>
            <a:endParaRPr lang="en-US" sz="1200" dirty="0"/>
          </a:p>
        </p:txBody>
      </p:sp>
      <p:pic>
        <p:nvPicPr>
          <p:cNvPr id="7" name="Image 0" descr="Parcours de la formation : module 13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848"/>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13 · CONTRÔLEURS, OPÉRATEURS ET HELM</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patron contrôleur</a:t>
            </a:r>
            <a:endParaRPr lang="en-US" sz="2800" dirty="0"/>
          </a:p>
        </p:txBody>
      </p:sp>
      <p:sp>
        <p:nvSpPr>
          <p:cNvPr id="4" name="Text 2"/>
          <p:cNvSpPr/>
          <p:nvPr/>
        </p:nvSpPr>
        <p:spPr>
          <a:xfrm>
            <a:off x="812800" y="1569740"/>
            <a:ext cx="4578350" cy="825394"/>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Un programme qui surveille des objets via l'API server et agit pour que la réalité corresponde à leur spec.</a:t>
            </a:r>
            <a:endParaRPr lang="en-US" sz="1500" dirty="0"/>
          </a:p>
        </p:txBody>
      </p:sp>
      <p:sp>
        <p:nvSpPr>
          <p:cNvPr id="5" name="Text 3"/>
          <p:cNvSpPr/>
          <p:nvPr/>
        </p:nvSpPr>
        <p:spPr>
          <a:xfrm>
            <a:off x="812800" y="2573040"/>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TROIS PROPRIÉTÉS LE RENDENT ROBUSTE</a:t>
            </a:r>
            <a:endParaRPr lang="en-US" sz="1200" dirty="0"/>
          </a:p>
        </p:txBody>
      </p:sp>
      <p:sp>
        <p:nvSpPr>
          <p:cNvPr id="6" name="Text 4"/>
          <p:cNvSpPr/>
          <p:nvPr/>
        </p:nvSpPr>
        <p:spPr>
          <a:xfrm>
            <a:off x="812800" y="2938760"/>
            <a:ext cx="159491"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E25A2C"/>
                </a:solidFill>
                <a:latin typeface="Sora" pitchFamily="34" charset="0"/>
                <a:ea typeface="Sora" pitchFamily="34" charset="-122"/>
                <a:cs typeface="Sora" pitchFamily="34" charset="-120"/>
              </a:rPr>
              <a:t>1</a:t>
            </a:r>
            <a:endParaRPr lang="en-US" sz="2000" dirty="0"/>
          </a:p>
        </p:txBody>
      </p:sp>
      <p:sp>
        <p:nvSpPr>
          <p:cNvPr id="7" name="Text 5"/>
          <p:cNvSpPr/>
          <p:nvPr/>
        </p:nvSpPr>
        <p:spPr>
          <a:xfrm>
            <a:off x="1048491" y="2938760"/>
            <a:ext cx="433558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B0748"/>
                </a:solidFill>
                <a:latin typeface="Sora" pitchFamily="34" charset="0"/>
                <a:ea typeface="Sora" pitchFamily="34" charset="-122"/>
                <a:cs typeface="Sora" pitchFamily="34" charset="-120"/>
              </a:rPr>
              <a:t>Réagit à un état</a:t>
            </a:r>
            <a:endParaRPr lang="en-US" sz="1500" dirty="0"/>
          </a:p>
        </p:txBody>
      </p:sp>
      <p:sp>
        <p:nvSpPr>
          <p:cNvPr id="8" name="Text 6"/>
          <p:cNvSpPr/>
          <p:nvPr/>
        </p:nvSpPr>
        <p:spPr>
          <a:xfrm>
            <a:off x="1048491" y="3202285"/>
            <a:ext cx="433558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pas à un événement : s'il manque une notification, il corrige au passage suivant.</a:t>
            </a:r>
            <a:endParaRPr lang="en-US" sz="1300" dirty="0"/>
          </a:p>
        </p:txBody>
      </p:sp>
      <p:sp>
        <p:nvSpPr>
          <p:cNvPr id="9" name="Text 7"/>
          <p:cNvSpPr/>
          <p:nvPr/>
        </p:nvSpPr>
        <p:spPr>
          <a:xfrm>
            <a:off x="812800" y="3816945"/>
            <a:ext cx="211349"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E25A2C"/>
                </a:solidFill>
                <a:latin typeface="Sora" pitchFamily="34" charset="0"/>
                <a:ea typeface="Sora" pitchFamily="34" charset="-122"/>
                <a:cs typeface="Sora" pitchFamily="34" charset="-120"/>
              </a:rPr>
              <a:t>2</a:t>
            </a:r>
            <a:endParaRPr lang="en-US" sz="2000" dirty="0"/>
          </a:p>
        </p:txBody>
      </p:sp>
      <p:sp>
        <p:nvSpPr>
          <p:cNvPr id="10" name="Text 8"/>
          <p:cNvSpPr/>
          <p:nvPr/>
        </p:nvSpPr>
        <p:spPr>
          <a:xfrm>
            <a:off x="1100349" y="3816945"/>
            <a:ext cx="428217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B0748"/>
                </a:solidFill>
                <a:latin typeface="Sora" pitchFamily="34" charset="0"/>
                <a:ea typeface="Sora" pitchFamily="34" charset="-122"/>
                <a:cs typeface="Sora" pitchFamily="34" charset="-120"/>
              </a:rPr>
              <a:t>Idempotent</a:t>
            </a:r>
            <a:endParaRPr lang="en-US" sz="1500" dirty="0"/>
          </a:p>
        </p:txBody>
      </p:sp>
      <p:sp>
        <p:nvSpPr>
          <p:cNvPr id="11" name="Text 9"/>
          <p:cNvSpPr/>
          <p:nvPr/>
        </p:nvSpPr>
        <p:spPr>
          <a:xfrm>
            <a:off x="1100349" y="4080470"/>
            <a:ext cx="428217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rejouer ses actions ne crée pas de doublon.</a:t>
            </a:r>
            <a:endParaRPr lang="en-US" sz="1300" dirty="0"/>
          </a:p>
        </p:txBody>
      </p:sp>
      <p:sp>
        <p:nvSpPr>
          <p:cNvPr id="12" name="Text 10"/>
          <p:cNvSpPr/>
          <p:nvPr/>
        </p:nvSpPr>
        <p:spPr>
          <a:xfrm>
            <a:off x="812800" y="4464050"/>
            <a:ext cx="211349"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E25A2C"/>
                </a:solidFill>
                <a:latin typeface="Sora" pitchFamily="34" charset="0"/>
                <a:ea typeface="Sora" pitchFamily="34" charset="-122"/>
                <a:cs typeface="Sora" pitchFamily="34" charset="-120"/>
              </a:rPr>
              <a:t>3</a:t>
            </a:r>
            <a:endParaRPr lang="en-US" sz="2000" dirty="0"/>
          </a:p>
        </p:txBody>
      </p:sp>
      <p:sp>
        <p:nvSpPr>
          <p:cNvPr id="13" name="Text 11"/>
          <p:cNvSpPr/>
          <p:nvPr/>
        </p:nvSpPr>
        <p:spPr>
          <a:xfrm>
            <a:off x="1100349" y="4464050"/>
            <a:ext cx="428217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B0748"/>
                </a:solidFill>
                <a:latin typeface="Sora" pitchFamily="34" charset="0"/>
                <a:ea typeface="Sora" pitchFamily="34" charset="-122"/>
                <a:cs typeface="Sora" pitchFamily="34" charset="-120"/>
              </a:rPr>
              <a:t>Écrit le résultat</a:t>
            </a:r>
            <a:endParaRPr lang="en-US" sz="1500" dirty="0"/>
          </a:p>
        </p:txBody>
      </p:sp>
      <p:sp>
        <p:nvSpPr>
          <p:cNvPr id="14" name="Text 12"/>
          <p:cNvSpPr/>
          <p:nvPr/>
        </p:nvSpPr>
        <p:spPr>
          <a:xfrm>
            <a:off x="1100349" y="4727575"/>
            <a:ext cx="428217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dans le status de l'objet, que vous pouvez lire.</a:t>
            </a:r>
            <a:endParaRPr lang="en-US" sz="1300" dirty="0"/>
          </a:p>
        </p:txBody>
      </p:sp>
      <p:sp>
        <p:nvSpPr>
          <p:cNvPr id="15" name="Text 13"/>
          <p:cNvSpPr/>
          <p:nvPr/>
        </p:nvSpPr>
        <p:spPr>
          <a:xfrm>
            <a:off x="5613400" y="1569740"/>
            <a:ext cx="593877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LES CONTRÔLEURS INTÉGRÉS</a:t>
            </a:r>
            <a:endParaRPr lang="en-US" sz="1200" dirty="0"/>
          </a:p>
        </p:txBody>
      </p:sp>
      <p:sp>
        <p:nvSpPr>
          <p:cNvPr id="16" name="Shape 14"/>
          <p:cNvSpPr/>
          <p:nvPr/>
        </p:nvSpPr>
        <p:spPr>
          <a:xfrm>
            <a:off x="5613400" y="1884660"/>
            <a:ext cx="5765800" cy="3177117"/>
          </a:xfrm>
          <a:prstGeom prst="rect">
            <a:avLst/>
          </a:prstGeom>
          <a:solidFill>
            <a:srgbClr val="FDFDFF"/>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20491" y="1891751"/>
          <a:ext cx="5758709" cy="3170343"/>
        </p:xfrm>
        <a:graphic>
          <a:graphicData uri="http://schemas.openxmlformats.org/drawingml/2006/table">
            <a:tbl>
              <a:tblPr/>
              <a:tblGrid>
                <a:gridCol w="1612439"/>
                <a:gridCol w="2073135"/>
                <a:gridCol w="2073135"/>
              </a:tblGrid>
              <a:tr h="353801">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Contrôleur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Surveille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Agit sur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Deployment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Deployments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ReplicaSets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85047">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ReplicaSet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ReplicaSets, pods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Pods (création, suppression)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Job, CronJob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Jobs, CronJobs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Pods, Jobs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85047">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Node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Battements de cœur des nœuds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Conditions, taints, évictions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EndpointSlice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Services, pods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EndpointSlices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85047">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Namespace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Namespaces en suppression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Tous les objets du namespace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pic>
        <p:nvPicPr>
          <p:cNvPr id="18" name="Image 0" descr="preencoded.png">    </p:cNvPr>
          <p:cNvPicPr>
            <a:picLocks noChangeAspect="1"/>
          </p:cNvPicPr>
          <p:nvPr/>
        </p:nvPicPr>
        <p:blipFill>
          <a:blip r:embed="rId1"/>
          <a:srcRect l="0" r="0" t="-35" b="-35"/>
          <a:stretch/>
        </p:blipFill>
        <p:spPr>
          <a:xfrm>
            <a:off x="812800" y="6299398"/>
            <a:ext cx="152400" cy="152506"/>
          </a:xfrm>
          <a:prstGeom prst="rect">
            <a:avLst/>
          </a:prstGeom>
        </p:spPr>
      </p:pic>
      <p:sp>
        <p:nvSpPr>
          <p:cNvPr id="19" name="Text 15"/>
          <p:cNvSpPr/>
          <p:nvPr/>
        </p:nvSpPr>
        <p:spPr>
          <a:xfrm>
            <a:off x="1066800" y="6299398"/>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0" name="Image 1" descr="Parcours : module 13 sur 16">    </p:cNvPr>
          <p:cNvPicPr>
            <a:picLocks noChangeAspect="1"/>
          </p:cNvPicPr>
          <p:nvPr/>
        </p:nvPicPr>
        <p:blipFill>
          <a:blip r:embed="rId2"/>
          <a:srcRect l="0" r="0" t="-35" b="-35"/>
          <a:stretch/>
        </p:blipFill>
        <p:spPr>
          <a:xfrm>
            <a:off x="9207500" y="6299398"/>
            <a:ext cx="2171700" cy="152506"/>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13 · CONTRÔLEURS, OPÉRATEURS ET HELM</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Propriété, cascade et finalizers</a:t>
            </a:r>
            <a:endParaRPr lang="en-US" sz="2800" dirty="0"/>
          </a:p>
        </p:txBody>
      </p:sp>
      <p:sp>
        <p:nvSpPr>
          <p:cNvPr id="4" name="Text 2"/>
          <p:cNvSpPr/>
          <p:nvPr/>
        </p:nvSpPr>
        <p:spPr>
          <a:xfrm>
            <a:off x="812800" y="1569740"/>
            <a:ext cx="716838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PROPRIÉTÉ ET SUPPRESSION EN CASCADE</a:t>
            </a:r>
            <a:endParaRPr lang="en-US" sz="1200" dirty="0"/>
          </a:p>
        </p:txBody>
      </p:sp>
      <p:sp>
        <p:nvSpPr>
          <p:cNvPr id="5" name="Text 3"/>
          <p:cNvSpPr/>
          <p:nvPr/>
        </p:nvSpPr>
        <p:spPr>
          <a:xfrm>
            <a:off x="812800" y="1897360"/>
            <a:ext cx="7168388" cy="512233"/>
          </a:xfrm>
          <a:prstGeom prst="rect">
            <a:avLst/>
          </a:prstGeom>
          <a:noFill/>
          <a:ln/>
        </p:spPr>
        <p:txBody>
          <a:bodyPr wrap="square" lIns="0" tIns="0" rIns="0" bIns="0" rtlCol="0" anchor="t">
            <a:normAutofit/>
          </a:bodyPr>
          <a:lstStyle/>
          <a:p>
            <a:pPr algn="l" indent="0" marL="0">
              <a:lnSpc>
                <a:spcPts val="1917"/>
              </a:lnSpc>
              <a:buNone/>
            </a:pPr>
            <a:r>
              <a:rPr lang="en-US" sz="1350" dirty="0">
                <a:solidFill>
                  <a:srgbClr val="0B0748"/>
                </a:solidFill>
                <a:latin typeface="IBM Plex Sans" pitchFamily="34" charset="0"/>
                <a:ea typeface="IBM Plex Sans" pitchFamily="34" charset="-122"/>
                <a:cs typeface="IBM Plex Sans" pitchFamily="34" charset="-120"/>
              </a:rPr>
              <a:t>Un objet créé par un contrôleur porte une référence à son propriétaire. Supprimer le propriétaire supprime ses dépendants.</a:t>
            </a:r>
            <a:endParaRPr lang="en-US" sz="1350" dirty="0"/>
          </a:p>
        </p:txBody>
      </p:sp>
      <p:sp>
        <p:nvSpPr>
          <p:cNvPr id="6" name="Shape 4"/>
          <p:cNvSpPr/>
          <p:nvPr/>
        </p:nvSpPr>
        <p:spPr>
          <a:xfrm>
            <a:off x="812800" y="2817515"/>
            <a:ext cx="4064000" cy="655320"/>
          </a:xfrm>
          <a:prstGeom prst="roundRect">
            <a:avLst>
              <a:gd name="adj" fmla="val 15504"/>
            </a:avLst>
          </a:prstGeom>
          <a:solidFill>
            <a:srgbClr val="0B0748"/>
          </a:solidFill>
          <a:ln/>
        </p:spPr>
      </p:sp>
      <p:sp>
        <p:nvSpPr>
          <p:cNvPr id="7" name="Text 5"/>
          <p:cNvSpPr/>
          <p:nvPr/>
        </p:nvSpPr>
        <p:spPr>
          <a:xfrm>
            <a:off x="2171065" y="2919115"/>
            <a:ext cx="134747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5F4F9"/>
                </a:solidFill>
                <a:latin typeface="Sora" pitchFamily="34" charset="0"/>
                <a:ea typeface="Sora" pitchFamily="34" charset="-122"/>
                <a:cs typeface="Sora" pitchFamily="34" charset="-120"/>
              </a:rPr>
              <a:t>Deployment</a:t>
            </a:r>
            <a:endParaRPr lang="en-US" sz="1400" dirty="0"/>
          </a:p>
        </p:txBody>
      </p:sp>
      <p:sp>
        <p:nvSpPr>
          <p:cNvPr id="8" name="Text 6"/>
          <p:cNvSpPr/>
          <p:nvPr/>
        </p:nvSpPr>
        <p:spPr>
          <a:xfrm>
            <a:off x="2705100" y="3193455"/>
            <a:ext cx="2794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FFB08F"/>
                </a:solidFill>
                <a:latin typeface="JetBrains Mono" pitchFamily="49" charset="0"/>
                <a:ea typeface="JetBrains Mono" pitchFamily="49" charset="-122"/>
                <a:cs typeface="JetBrains Mono" pitchFamily="49" charset="-120"/>
              </a:rPr>
              <a:t>web</a:t>
            </a:r>
            <a:endParaRPr lang="en-US" sz="1000" dirty="0"/>
          </a:p>
        </p:txBody>
      </p:sp>
      <p:pic>
        <p:nvPicPr>
          <p:cNvPr id="9" name="Image 0" descr="arrow-down">    </p:cNvPr>
          <p:cNvPicPr>
            <a:picLocks noChangeAspect="1"/>
          </p:cNvPicPr>
          <p:nvPr/>
        </p:nvPicPr>
        <p:blipFill>
          <a:blip r:embed="rId1"/>
          <a:srcRect l="0" r="0" t="0" b="0"/>
          <a:stretch/>
        </p:blipFill>
        <p:spPr>
          <a:xfrm>
            <a:off x="2768600" y="3536355"/>
            <a:ext cx="152400" cy="228600"/>
          </a:xfrm>
          <a:prstGeom prst="rect">
            <a:avLst/>
          </a:prstGeom>
        </p:spPr>
      </p:pic>
      <p:sp>
        <p:nvSpPr>
          <p:cNvPr id="10" name="Shape 7"/>
          <p:cNvSpPr/>
          <p:nvPr/>
        </p:nvSpPr>
        <p:spPr>
          <a:xfrm>
            <a:off x="819150" y="3834805"/>
            <a:ext cx="4051300" cy="656802"/>
          </a:xfrm>
          <a:prstGeom prst="roundRect">
            <a:avLst>
              <a:gd name="adj" fmla="val 14502"/>
            </a:avLst>
          </a:prstGeom>
          <a:solidFill>
            <a:srgbClr val="FDFDFF"/>
          </a:solidFill>
          <a:ln w="12700">
            <a:solidFill>
              <a:srgbClr val="0B0748"/>
            </a:solidFill>
            <a:prstDash val="solid"/>
          </a:ln>
        </p:spPr>
      </p:sp>
      <p:sp>
        <p:nvSpPr>
          <p:cNvPr id="11" name="Text 8"/>
          <p:cNvSpPr/>
          <p:nvPr/>
        </p:nvSpPr>
        <p:spPr>
          <a:xfrm>
            <a:off x="2249297" y="3937198"/>
            <a:ext cx="1191006"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B0748"/>
                </a:solidFill>
                <a:latin typeface="Sora" pitchFamily="34" charset="0"/>
                <a:ea typeface="Sora" pitchFamily="34" charset="-122"/>
                <a:cs typeface="Sora" pitchFamily="34" charset="-120"/>
              </a:rPr>
              <a:t>ReplicaSet</a:t>
            </a:r>
            <a:endParaRPr lang="en-US" sz="1400" dirty="0"/>
          </a:p>
        </p:txBody>
      </p:sp>
      <p:sp>
        <p:nvSpPr>
          <p:cNvPr id="12" name="Text 9"/>
          <p:cNvSpPr/>
          <p:nvPr/>
        </p:nvSpPr>
        <p:spPr>
          <a:xfrm>
            <a:off x="1564640" y="4211538"/>
            <a:ext cx="256032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6B6890"/>
                </a:solidFill>
                <a:latin typeface="JetBrains Mono" pitchFamily="49" charset="0"/>
                <a:ea typeface="JetBrains Mono" pitchFamily="49" charset="-122"/>
                <a:cs typeface="JetBrains Mono" pitchFamily="49" charset="-120"/>
              </a:rPr>
              <a:t>ownerReferences → Deployment</a:t>
            </a:r>
            <a:endParaRPr lang="en-US" sz="1000" dirty="0"/>
          </a:p>
        </p:txBody>
      </p:sp>
      <p:pic>
        <p:nvPicPr>
          <p:cNvPr id="13" name="Image 1" descr="arrow-down">    </p:cNvPr>
          <p:cNvPicPr>
            <a:picLocks noChangeAspect="1"/>
          </p:cNvPicPr>
          <p:nvPr/>
        </p:nvPicPr>
        <p:blipFill>
          <a:blip r:embed="rId2"/>
          <a:srcRect l="0" r="0" t="0" b="0"/>
          <a:stretch/>
        </p:blipFill>
        <p:spPr>
          <a:xfrm>
            <a:off x="2768600" y="4561384"/>
            <a:ext cx="152400" cy="228600"/>
          </a:xfrm>
          <a:prstGeom prst="rect">
            <a:avLst/>
          </a:prstGeom>
        </p:spPr>
      </p:pic>
      <p:sp>
        <p:nvSpPr>
          <p:cNvPr id="14" name="Shape 10"/>
          <p:cNvSpPr/>
          <p:nvPr/>
        </p:nvSpPr>
        <p:spPr>
          <a:xfrm>
            <a:off x="924877" y="4859834"/>
            <a:ext cx="1220682" cy="656802"/>
          </a:xfrm>
          <a:prstGeom prst="roundRect">
            <a:avLst>
              <a:gd name="adj" fmla="val 14502"/>
            </a:avLst>
          </a:prstGeom>
          <a:solidFill>
            <a:srgbClr val="FDFDFF"/>
          </a:solidFill>
          <a:ln w="12700">
            <a:solidFill>
              <a:srgbClr val="0B0748"/>
            </a:solidFill>
            <a:prstDash val="solid"/>
          </a:ln>
        </p:spPr>
      </p:sp>
      <p:sp>
        <p:nvSpPr>
          <p:cNvPr id="15" name="Text 11"/>
          <p:cNvSpPr/>
          <p:nvPr/>
        </p:nvSpPr>
        <p:spPr>
          <a:xfrm>
            <a:off x="1318821" y="4962327"/>
            <a:ext cx="432689"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B0748"/>
                </a:solidFill>
                <a:latin typeface="Sora" pitchFamily="34" charset="0"/>
                <a:ea typeface="Sora" pitchFamily="34" charset="-122"/>
                <a:cs typeface="Sora" pitchFamily="34" charset="-120"/>
              </a:rPr>
              <a:t>Pod</a:t>
            </a:r>
            <a:endParaRPr lang="en-US" sz="1400" dirty="0"/>
          </a:p>
        </p:txBody>
      </p:sp>
      <p:sp>
        <p:nvSpPr>
          <p:cNvPr id="16" name="Text 12"/>
          <p:cNvSpPr/>
          <p:nvPr/>
        </p:nvSpPr>
        <p:spPr>
          <a:xfrm>
            <a:off x="1078018" y="5236666"/>
            <a:ext cx="1061191"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6890"/>
                </a:solidFill>
                <a:latin typeface="JetBrains Mono" pitchFamily="49" charset="0"/>
                <a:ea typeface="JetBrains Mono" pitchFamily="49" charset="-122"/>
                <a:cs typeface="JetBrains Mono" pitchFamily="49" charset="-120"/>
              </a:rPr>
              <a:t>→ ReplicaSet</a:t>
            </a:r>
            <a:endParaRPr lang="en-US" sz="1000" dirty="0"/>
          </a:p>
        </p:txBody>
      </p:sp>
      <p:sp>
        <p:nvSpPr>
          <p:cNvPr id="17" name="Shape 13"/>
          <p:cNvSpPr/>
          <p:nvPr/>
        </p:nvSpPr>
        <p:spPr>
          <a:xfrm>
            <a:off x="2234459" y="4859834"/>
            <a:ext cx="1220682" cy="656802"/>
          </a:xfrm>
          <a:prstGeom prst="roundRect">
            <a:avLst>
              <a:gd name="adj" fmla="val 14502"/>
            </a:avLst>
          </a:prstGeom>
          <a:solidFill>
            <a:srgbClr val="FDFDFF"/>
          </a:solidFill>
          <a:ln w="12700">
            <a:solidFill>
              <a:srgbClr val="0B0748"/>
            </a:solidFill>
            <a:prstDash val="solid"/>
          </a:ln>
        </p:spPr>
      </p:sp>
      <p:sp>
        <p:nvSpPr>
          <p:cNvPr id="18" name="Text 14"/>
          <p:cNvSpPr/>
          <p:nvPr/>
        </p:nvSpPr>
        <p:spPr>
          <a:xfrm>
            <a:off x="2628403" y="4962327"/>
            <a:ext cx="432689"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B0748"/>
                </a:solidFill>
                <a:latin typeface="Sora" pitchFamily="34" charset="0"/>
                <a:ea typeface="Sora" pitchFamily="34" charset="-122"/>
                <a:cs typeface="Sora" pitchFamily="34" charset="-120"/>
              </a:rPr>
              <a:t>Pod</a:t>
            </a:r>
            <a:endParaRPr lang="en-US" sz="1400" dirty="0"/>
          </a:p>
        </p:txBody>
      </p:sp>
      <p:sp>
        <p:nvSpPr>
          <p:cNvPr id="19" name="Text 15"/>
          <p:cNvSpPr/>
          <p:nvPr/>
        </p:nvSpPr>
        <p:spPr>
          <a:xfrm>
            <a:off x="2387600" y="5236666"/>
            <a:ext cx="1061191"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6890"/>
                </a:solidFill>
                <a:latin typeface="JetBrains Mono" pitchFamily="49" charset="0"/>
                <a:ea typeface="JetBrains Mono" pitchFamily="49" charset="-122"/>
                <a:cs typeface="JetBrains Mono" pitchFamily="49" charset="-120"/>
              </a:rPr>
              <a:t>→ ReplicaSet</a:t>
            </a:r>
            <a:endParaRPr lang="en-US" sz="1000" dirty="0"/>
          </a:p>
        </p:txBody>
      </p:sp>
      <p:sp>
        <p:nvSpPr>
          <p:cNvPr id="20" name="Shape 16"/>
          <p:cNvSpPr/>
          <p:nvPr/>
        </p:nvSpPr>
        <p:spPr>
          <a:xfrm>
            <a:off x="3544041" y="4859834"/>
            <a:ext cx="1220682" cy="656802"/>
          </a:xfrm>
          <a:prstGeom prst="roundRect">
            <a:avLst>
              <a:gd name="adj" fmla="val 14502"/>
            </a:avLst>
          </a:prstGeom>
          <a:solidFill>
            <a:srgbClr val="FDFDFF"/>
          </a:solidFill>
          <a:ln w="12700">
            <a:solidFill>
              <a:srgbClr val="0B0748"/>
            </a:solidFill>
            <a:prstDash val="solid"/>
          </a:ln>
        </p:spPr>
      </p:sp>
      <p:sp>
        <p:nvSpPr>
          <p:cNvPr id="21" name="Text 17"/>
          <p:cNvSpPr/>
          <p:nvPr/>
        </p:nvSpPr>
        <p:spPr>
          <a:xfrm>
            <a:off x="3937984" y="4962327"/>
            <a:ext cx="432689"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B0748"/>
                </a:solidFill>
                <a:latin typeface="Sora" pitchFamily="34" charset="0"/>
                <a:ea typeface="Sora" pitchFamily="34" charset="-122"/>
                <a:cs typeface="Sora" pitchFamily="34" charset="-120"/>
              </a:rPr>
              <a:t>Pod</a:t>
            </a:r>
            <a:endParaRPr lang="en-US" sz="1400" dirty="0"/>
          </a:p>
        </p:txBody>
      </p:sp>
      <p:sp>
        <p:nvSpPr>
          <p:cNvPr id="22" name="Text 18"/>
          <p:cNvSpPr/>
          <p:nvPr/>
        </p:nvSpPr>
        <p:spPr>
          <a:xfrm>
            <a:off x="3697182" y="5236666"/>
            <a:ext cx="1061191"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6890"/>
                </a:solidFill>
                <a:latin typeface="JetBrains Mono" pitchFamily="49" charset="0"/>
                <a:ea typeface="JetBrains Mono" pitchFamily="49" charset="-122"/>
                <a:cs typeface="JetBrains Mono" pitchFamily="49" charset="-120"/>
              </a:rPr>
              <a:t>→ ReplicaSet</a:t>
            </a:r>
            <a:endParaRPr lang="en-US" sz="1000" dirty="0"/>
          </a:p>
        </p:txBody>
      </p:sp>
      <p:sp>
        <p:nvSpPr>
          <p:cNvPr id="23" name="Text 19"/>
          <p:cNvSpPr/>
          <p:nvPr/>
        </p:nvSpPr>
        <p:spPr>
          <a:xfrm>
            <a:off x="5054600" y="3452118"/>
            <a:ext cx="279933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Effacer un Deployment efface ses ReplicaSets et ses pods.</a:t>
            </a:r>
            <a:endParaRPr lang="en-US" sz="1300" dirty="0"/>
          </a:p>
        </p:txBody>
      </p:sp>
      <p:sp>
        <p:nvSpPr>
          <p:cNvPr id="24" name="Text 20"/>
          <p:cNvSpPr/>
          <p:nvPr/>
        </p:nvSpPr>
        <p:spPr>
          <a:xfrm>
            <a:off x="5054600" y="4003278"/>
            <a:ext cx="2717800" cy="582930"/>
          </a:xfrm>
          <a:prstGeom prst="roundRect">
            <a:avLst>
              <a:gd name="adj" fmla="val 17429"/>
            </a:avLst>
          </a:prstGeom>
          <a:solidFill>
            <a:srgbClr val="ECEAF6"/>
          </a:solidFill>
          <a:ln/>
        </p:spPr>
        <p:txBody>
          <a:bodyPr wrap="none" lIns="97242" tIns="46442" rIns="23328" bIns="46442" rtlCol="0" anchor="ctr">
            <a:normAutofit/>
          </a:bodyPr>
          <a:lstStyle/>
          <a:p>
            <a:pPr algn="l" indent="0" marL="0">
              <a:lnSpc>
                <a:spcPts val="1595"/>
              </a:lnSpc>
              <a:buNone/>
            </a:pPr>
            <a:r>
              <a:rPr lang="en-US" sz="1100" dirty="0">
                <a:solidFill>
                  <a:srgbClr val="0B0748"/>
                </a:solidFill>
                <a:latin typeface="JetBrains Mono" pitchFamily="49" charset="0"/>
                <a:ea typeface="JetBrains Mono" pitchFamily="49" charset="-122"/>
                <a:cs typeface="JetBrains Mono" pitchFamily="49" charset="-120"/>
              </a:rPr>
              <a:t>kubectl delete deployment web \</a:t>
            </a:r>
            <a:endParaRPr lang="en-US" sz="1100" dirty="0"/>
          </a:p>
          <a:p>
            <a:pPr algn="l" indent="0" marL="0">
              <a:lnSpc>
                <a:spcPts val="1595"/>
              </a:lnSpc>
              <a:buNone/>
            </a:pPr>
            <a:r>
              <a:rPr lang="en-US" sz="1100" dirty="0">
                <a:solidFill>
                  <a:srgbClr val="0B0748"/>
                </a:solidFill>
                <a:latin typeface="JetBrains Mono" pitchFamily="49" charset="0"/>
                <a:ea typeface="JetBrains Mono" pitchFamily="49" charset="-122"/>
                <a:cs typeface="JetBrains Mono" pitchFamily="49" charset="-120"/>
              </a:rPr>
              <a:t>  --cascade=orphan</a:t>
            </a:r>
            <a:endParaRPr lang="en-US" sz="1100" dirty="0"/>
          </a:p>
        </p:txBody>
      </p:sp>
      <p:sp>
        <p:nvSpPr>
          <p:cNvPr id="25" name="Text 21"/>
          <p:cNvSpPr/>
          <p:nvPr/>
        </p:nvSpPr>
        <p:spPr>
          <a:xfrm>
            <a:off x="5054600" y="4675088"/>
            <a:ext cx="27993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conserve les dépendants.</a:t>
            </a:r>
            <a:endParaRPr lang="en-US" sz="1200" dirty="0"/>
          </a:p>
        </p:txBody>
      </p:sp>
      <p:sp>
        <p:nvSpPr>
          <p:cNvPr id="26" name="Shape 22"/>
          <p:cNvSpPr/>
          <p:nvPr/>
        </p:nvSpPr>
        <p:spPr>
          <a:xfrm>
            <a:off x="8077200" y="1569740"/>
            <a:ext cx="3302000" cy="4272280"/>
          </a:xfrm>
          <a:prstGeom prst="roundRect">
            <a:avLst>
              <a:gd name="adj" fmla="val 4615"/>
            </a:avLst>
          </a:prstGeom>
          <a:solidFill>
            <a:srgbClr val="0B0748"/>
          </a:solidFill>
          <a:ln/>
        </p:spPr>
      </p:sp>
      <p:sp>
        <p:nvSpPr>
          <p:cNvPr id="27" name="Text 23"/>
          <p:cNvSpPr/>
          <p:nvPr/>
        </p:nvSpPr>
        <p:spPr>
          <a:xfrm>
            <a:off x="8305800" y="1798340"/>
            <a:ext cx="293014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FINALIZERS</a:t>
            </a:r>
            <a:endParaRPr lang="en-US" sz="1200" dirty="0"/>
          </a:p>
        </p:txBody>
      </p:sp>
      <p:sp>
        <p:nvSpPr>
          <p:cNvPr id="28" name="Text 24"/>
          <p:cNvSpPr/>
          <p:nvPr/>
        </p:nvSpPr>
        <p:spPr>
          <a:xfrm>
            <a:off x="8305800" y="2113260"/>
            <a:ext cx="2930144" cy="999067"/>
          </a:xfrm>
          <a:prstGeom prst="rect">
            <a:avLst/>
          </a:prstGeom>
          <a:noFill/>
          <a:ln/>
        </p:spPr>
        <p:txBody>
          <a:bodyPr wrap="square" lIns="0" tIns="0" rIns="0" bIns="0" rtlCol="0" anchor="t">
            <a:normAutofit/>
          </a:bodyPr>
          <a:lstStyle/>
          <a:p>
            <a:pPr algn="l" indent="0" marL="0">
              <a:lnSpc>
                <a:spcPts val="1917"/>
              </a:lnSpc>
              <a:buNone/>
            </a:pPr>
            <a:r>
              <a:rPr lang="en-US" sz="1350" dirty="0">
                <a:solidFill>
                  <a:srgbClr val="ECEAFF"/>
                </a:solidFill>
                <a:latin typeface="IBM Plex Sans" pitchFamily="34" charset="0"/>
                <a:ea typeface="IBM Plex Sans" pitchFamily="34" charset="-122"/>
                <a:cs typeface="IBM Plex Sans" pitchFamily="34" charset="-120"/>
              </a:rPr>
              <a:t>Un objet peut porter des </a:t>
            </a:r>
            <a:r>
              <a:rPr lang="en-US" sz="1350" b="1" dirty="0">
                <a:solidFill>
                  <a:srgbClr val="ECEAFF"/>
                </a:solidFill>
                <a:latin typeface="IBM Plex Sans" pitchFamily="34" charset="0"/>
                <a:ea typeface="IBM Plex Sans" pitchFamily="34" charset="-122"/>
                <a:cs typeface="IBM Plex Sans" pitchFamily="34" charset="-120"/>
              </a:rPr>
              <a:t>finalizers</a:t>
            </a:r>
            <a:r>
              <a:rPr lang="en-US" sz="1350" dirty="0">
                <a:solidFill>
                  <a:srgbClr val="ECEAFF"/>
                </a:solidFill>
                <a:latin typeface="IBM Plex Sans" pitchFamily="34" charset="0"/>
                <a:ea typeface="IBM Plex Sans" pitchFamily="34" charset="-122"/>
                <a:cs typeface="IBM Plex Sans" pitchFamily="34" charset="-120"/>
              </a:rPr>
              <a:t> : sa suppression est différée jusqu'à ce que les contrôleurs concernés aient terminé leur nettoyage.</a:t>
            </a:r>
            <a:endParaRPr lang="en-US" sz="1350" dirty="0"/>
          </a:p>
        </p:txBody>
      </p:sp>
      <p:sp>
        <p:nvSpPr>
          <p:cNvPr id="29" name="Text 25"/>
          <p:cNvSpPr/>
          <p:nvPr/>
        </p:nvSpPr>
        <p:spPr>
          <a:xfrm>
            <a:off x="8305800" y="3188593"/>
            <a:ext cx="2930144"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B9B6E8"/>
                </a:solidFill>
                <a:latin typeface="IBM Plex Sans" pitchFamily="34" charset="0"/>
                <a:ea typeface="IBM Plex Sans" pitchFamily="34" charset="-122"/>
                <a:cs typeface="IBM Plex Sans" pitchFamily="34" charset="-120"/>
              </a:rPr>
              <a:t>Exemple : libérer un disque Cloud.</a:t>
            </a:r>
            <a:endParaRPr lang="en-US" sz="1250" dirty="0"/>
          </a:p>
        </p:txBody>
      </p:sp>
      <p:sp>
        <p:nvSpPr>
          <p:cNvPr id="30" name="Shape 26"/>
          <p:cNvSpPr/>
          <p:nvPr/>
        </p:nvSpPr>
        <p:spPr>
          <a:xfrm>
            <a:off x="8305800" y="4434880"/>
            <a:ext cx="2844800" cy="1178560"/>
          </a:xfrm>
          <a:prstGeom prst="roundRect">
            <a:avLst>
              <a:gd name="adj" fmla="val 7543"/>
            </a:avLst>
          </a:prstGeom>
          <a:solidFill>
            <a:srgbClr val="1D1870"/>
          </a:solidFill>
          <a:ln/>
        </p:spPr>
      </p:sp>
      <p:pic>
        <p:nvPicPr>
          <p:cNvPr id="31" name="Image 2" descr="Warning">    </p:cNvPr>
          <p:cNvPicPr>
            <a:picLocks noChangeAspect="1"/>
          </p:cNvPicPr>
          <p:nvPr/>
        </p:nvPicPr>
        <p:blipFill>
          <a:blip r:embed="rId3"/>
          <a:srcRect l="0" r="0" t="0" b="0"/>
          <a:stretch/>
        </p:blipFill>
        <p:spPr>
          <a:xfrm>
            <a:off x="8458200" y="4561880"/>
            <a:ext cx="228600" cy="228600"/>
          </a:xfrm>
          <a:prstGeom prst="rect">
            <a:avLst/>
          </a:prstGeom>
        </p:spPr>
      </p:pic>
      <p:sp>
        <p:nvSpPr>
          <p:cNvPr id="32" name="Text 27"/>
          <p:cNvSpPr/>
          <p:nvPr/>
        </p:nvSpPr>
        <p:spPr>
          <a:xfrm>
            <a:off x="8788400" y="4561880"/>
            <a:ext cx="2276094" cy="9499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Un objet bloqué en suppression a souvent un finalizer dont le contrôleur a disparu.</a:t>
            </a:r>
            <a:endParaRPr lang="en-US" sz="1300" dirty="0"/>
          </a:p>
        </p:txBody>
      </p:sp>
      <p:pic>
        <p:nvPicPr>
          <p:cNvPr id="33" name="Image 3" descr="preencoded.png">    </p:cNvPr>
          <p:cNvPicPr>
            <a:picLocks noChangeAspect="1"/>
          </p:cNvPicPr>
          <p:nvPr/>
        </p:nvPicPr>
        <p:blipFill>
          <a:blip r:embed="rId4"/>
          <a:srcRect l="0" r="0" t="-35" b="-35"/>
          <a:stretch/>
        </p:blipFill>
        <p:spPr>
          <a:xfrm>
            <a:off x="812800" y="6299200"/>
            <a:ext cx="152400" cy="152506"/>
          </a:xfrm>
          <a:prstGeom prst="rect">
            <a:avLst/>
          </a:prstGeom>
        </p:spPr>
      </p:pic>
      <p:sp>
        <p:nvSpPr>
          <p:cNvPr id="34" name="Text 28"/>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5" name="Image 4" descr="Parcours : module 13 sur 16">    </p:cNvPr>
          <p:cNvPicPr>
            <a:picLocks noChangeAspect="1"/>
          </p:cNvPicPr>
          <p:nvPr/>
        </p:nvPicPr>
        <p:blipFill>
          <a:blip r:embed="rId5"/>
          <a:srcRect l="0" r="0" t="-35" b="-35"/>
          <a:stretch/>
        </p:blipFill>
        <p:spPr>
          <a:xfrm>
            <a:off x="9207500" y="6299200"/>
            <a:ext cx="2171700" cy="152506"/>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13 · CONTRÔLEURS, OPÉRATEURS ET HELM</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Étendre l'API avec une CRD</a:t>
            </a:r>
            <a:endParaRPr lang="en-US" sz="2800" dirty="0"/>
          </a:p>
        </p:txBody>
      </p:sp>
      <p:sp>
        <p:nvSpPr>
          <p:cNvPr id="4" name="Text 2"/>
          <p:cNvSpPr/>
          <p:nvPr/>
        </p:nvSpPr>
        <p:spPr>
          <a:xfrm>
            <a:off x="812800" y="1493540"/>
            <a:ext cx="10883392"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3F3C6B"/>
                </a:solidFill>
                <a:latin typeface="IBM Plex Sans" pitchFamily="34" charset="0"/>
                <a:ea typeface="IBM Plex Sans" pitchFamily="34" charset="-122"/>
                <a:cs typeface="IBM Plex Sans" pitchFamily="34" charset="-120"/>
              </a:rPr>
              <a:t>Une </a:t>
            </a:r>
            <a:r>
              <a:rPr lang="en-US" sz="1250" b="1" dirty="0">
                <a:solidFill>
                  <a:srgbClr val="3F3C6B"/>
                </a:solidFill>
                <a:latin typeface="IBM Plex Sans" pitchFamily="34" charset="0"/>
                <a:ea typeface="IBM Plex Sans" pitchFamily="34" charset="-122"/>
                <a:cs typeface="IBM Plex Sans" pitchFamily="34" charset="-120"/>
              </a:rPr>
              <a:t>CustomResourceDefinition</a:t>
            </a:r>
            <a:r>
              <a:rPr lang="en-US" sz="1250" dirty="0">
                <a:solidFill>
                  <a:srgbClr val="3F3C6B"/>
                </a:solidFill>
                <a:latin typeface="IBM Plex Sans" pitchFamily="34" charset="0"/>
                <a:ea typeface="IBM Plex Sans" pitchFamily="34" charset="-122"/>
                <a:cs typeface="IBM Plex Sans" pitchFamily="34" charset="-120"/>
              </a:rPr>
              <a:t> déclare un nouveau type d'objet. L'API server le stocke, le valide selon son schéma et le sert comme un type natif : kubectl get, RBAC, watch.</a:t>
            </a:r>
            <a:endParaRPr lang="en-US" sz="1250" dirty="0"/>
          </a:p>
        </p:txBody>
      </p:sp>
      <p:sp>
        <p:nvSpPr>
          <p:cNvPr id="5" name="Text 3"/>
          <p:cNvSpPr/>
          <p:nvPr/>
        </p:nvSpPr>
        <p:spPr>
          <a:xfrm>
            <a:off x="812800" y="2084090"/>
            <a:ext cx="5461000" cy="3757930"/>
          </a:xfrm>
          <a:prstGeom prst="roundRect">
            <a:avLst>
              <a:gd name="adj" fmla="val 2704"/>
            </a:avLst>
          </a:prstGeom>
          <a:solidFill>
            <a:srgbClr val="0B0748"/>
          </a:solidFill>
          <a:ln/>
        </p:spPr>
        <p:txBody>
          <a:bodyPr wrap="none" lIns="135342" tIns="71842" rIns="0" bIns="71842" rtlCol="0" anchor="ctr">
            <a:normAutofit/>
          </a:bodyPr>
          <a:lstStyle/>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apiVersion: apiextensions.k8s.io/v1</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kind: </a:t>
            </a:r>
            <a:r>
              <a:rPr lang="en-US" sz="1000" dirty="0">
                <a:solidFill>
                  <a:srgbClr val="FFB08F"/>
                </a:solidFill>
                <a:latin typeface="JetBrains Mono" pitchFamily="49" charset="0"/>
                <a:ea typeface="JetBrains Mono" pitchFamily="49" charset="-122"/>
                <a:cs typeface="JetBrains Mono" pitchFamily="49" charset="-120"/>
              </a:rPr>
              <a:t>CustomResourceDefinition</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metadata:</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name: sauvegardes.formation.exemple.fr  </a:t>
            </a:r>
            <a:r>
              <a:rPr lang="en-US" sz="1000" dirty="0">
                <a:solidFill>
                  <a:srgbClr val="9A96D0"/>
                </a:solidFill>
                <a:latin typeface="JetBrains Mono" pitchFamily="49" charset="0"/>
                <a:ea typeface="JetBrains Mono" pitchFamily="49" charset="-122"/>
                <a:cs typeface="JetBrains Mono" pitchFamily="49" charset="-120"/>
              </a:rPr>
              <a:t># &lt;pluriel&gt;.&lt;groupe&gt;</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spec:</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group: formation.exemple.fr</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scope: Namespaced</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names:</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kind: Sauvegarde</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plural: sauvegardes</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singular: sauvegarde</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shortNames: ["svg"]</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versions:</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 name: v1</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served: true</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storage: true</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schema:</a:t>
            </a:r>
            <a:endParaRPr lang="en-US" sz="1000" dirty="0"/>
          </a:p>
          <a:p>
            <a:pPr algn="l" indent="0" marL="0">
              <a:lnSpc>
                <a:spcPts val="1280"/>
              </a:lnSpc>
              <a:buNone/>
            </a:pPr>
            <a:r>
              <a:rPr lang="en-US" sz="1000" dirty="0">
                <a:solidFill>
                  <a:srgbClr val="ECEAFF"/>
                </a:solidFill>
                <a:latin typeface="JetBrains Mono" pitchFamily="49" charset="0"/>
                <a:ea typeface="JetBrains Mono" pitchFamily="49" charset="-122"/>
                <a:cs typeface="JetBrains Mono" pitchFamily="49" charset="-120"/>
              </a:rPr>
              <a:t>      openAPIV3Schema: …                  </a:t>
            </a:r>
            <a:r>
              <a:rPr lang="en-US" sz="1000" dirty="0">
                <a:solidFill>
                  <a:srgbClr val="9A96D0"/>
                </a:solidFill>
                <a:latin typeface="JetBrains Mono" pitchFamily="49" charset="0"/>
                <a:ea typeface="JetBrains Mono" pitchFamily="49" charset="-122"/>
                <a:cs typeface="JetBrains Mono" pitchFamily="49" charset="-120"/>
              </a:rPr>
              <a:t># schéma de validation</a:t>
            </a:r>
            <a:endParaRPr lang="en-US" sz="1000" dirty="0"/>
          </a:p>
          <a:p>
            <a:pPr algn="l" indent="0" marL="0">
              <a:lnSpc>
                <a:spcPts val="1280"/>
              </a:lnSpc>
              <a:buNone/>
            </a:pPr>
            <a:r>
              <a:rPr lang="en-US" sz="1000" dirty="0">
                <a:solidFill>
                  <a:srgbClr val="9A96D0"/>
                </a:solidFill>
                <a:latin typeface="JetBrains Mono" pitchFamily="49" charset="0"/>
                <a:ea typeface="JetBrains Mono" pitchFamily="49" charset="-122"/>
                <a:cs typeface="JetBrains Mono" pitchFamily="49" charset="-120"/>
              </a:rPr>
              <a:t>#  spec.base, spec.planification : chaînes, requises</a:t>
            </a:r>
            <a:endParaRPr lang="en-US" sz="1000" dirty="0"/>
          </a:p>
          <a:p>
            <a:pPr algn="l" indent="0" marL="0">
              <a:lnSpc>
                <a:spcPts val="1280"/>
              </a:lnSpc>
              <a:buNone/>
            </a:pPr>
            <a:r>
              <a:rPr lang="en-US" sz="1000" dirty="0">
                <a:solidFill>
                  <a:srgbClr val="9A96D0"/>
                </a:solidFill>
                <a:latin typeface="JetBrains Mono" pitchFamily="49" charset="0"/>
                <a:ea typeface="JetBrains Mono" pitchFamily="49" charset="-122"/>
                <a:cs typeface="JetBrains Mono" pitchFamily="49" charset="-120"/>
              </a:rPr>
              <a:t>#  spec.retention : entier, minimum 1</a:t>
            </a:r>
            <a:endParaRPr lang="en-US" sz="1000" dirty="0"/>
          </a:p>
        </p:txBody>
      </p:sp>
      <p:sp>
        <p:nvSpPr>
          <p:cNvPr id="6" name="Text 4"/>
          <p:cNvSpPr/>
          <p:nvPr/>
        </p:nvSpPr>
        <p:spPr>
          <a:xfrm>
            <a:off x="6477000" y="2084090"/>
            <a:ext cx="4902200" cy="1737995"/>
          </a:xfrm>
          <a:prstGeom prst="roundRect">
            <a:avLst>
              <a:gd name="adj" fmla="val 5846"/>
            </a:avLst>
          </a:prstGeom>
          <a:solidFill>
            <a:srgbClr val="0B0748"/>
          </a:solidFill>
          <a:ln/>
        </p:spPr>
        <p:txBody>
          <a:bodyPr wrap="none" lIns="122642" tIns="46442" rIns="0" bIns="46442" rtlCol="0" anchor="ctr">
            <a:normAutofit/>
          </a:bodyPr>
          <a:lstStyle/>
          <a:p>
            <a:pPr algn="l" indent="0" marL="0">
              <a:lnSpc>
                <a:spcPts val="1365"/>
              </a:lnSpc>
              <a:buNone/>
            </a:pPr>
            <a:r>
              <a:rPr lang="en-US" sz="1050" dirty="0">
                <a:solidFill>
                  <a:srgbClr val="9A96D0"/>
                </a:solidFill>
                <a:latin typeface="JetBrains Mono" pitchFamily="49" charset="0"/>
                <a:ea typeface="JetBrains Mono" pitchFamily="49" charset="-122"/>
                <a:cs typeface="JetBrains Mono" pitchFamily="49" charset="-120"/>
              </a:rPr>
              <a:t># un objet du nouveau type</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apiVersion: formation.exemple.fr/v1</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kind: </a:t>
            </a:r>
            <a:r>
              <a:rPr lang="en-US" sz="1050" dirty="0">
                <a:solidFill>
                  <a:srgbClr val="FFB08F"/>
                </a:solidFill>
                <a:latin typeface="JetBrains Mono" pitchFamily="49" charset="0"/>
                <a:ea typeface="JetBrains Mono" pitchFamily="49" charset="-122"/>
                <a:cs typeface="JetBrains Mono" pitchFamily="49" charset="-120"/>
              </a:rPr>
              <a:t>Sauvegarde</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metadata:</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name: base-diffusion</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spec:</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base: diffusion</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planification: "0 3 * * *"</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retention: 7</a:t>
            </a:r>
            <a:endParaRPr lang="en-US" sz="1050" dirty="0"/>
          </a:p>
        </p:txBody>
      </p:sp>
      <p:sp>
        <p:nvSpPr>
          <p:cNvPr id="7" name="Text 5"/>
          <p:cNvSpPr/>
          <p:nvPr/>
        </p:nvSpPr>
        <p:spPr>
          <a:xfrm>
            <a:off x="6477000" y="3911005"/>
            <a:ext cx="4902200" cy="872490"/>
          </a:xfrm>
          <a:prstGeom prst="roundRect">
            <a:avLst>
              <a:gd name="adj" fmla="val 11645"/>
            </a:avLst>
          </a:prstGeom>
          <a:solidFill>
            <a:srgbClr val="ECEAF6"/>
          </a:solidFill>
          <a:ln/>
        </p:spPr>
        <p:txBody>
          <a:bodyPr wrap="none" lIns="109942" tIns="33742" rIns="0" bIns="33742" rtlCol="0" anchor="ctr">
            <a:normAutofit/>
          </a:bodyPr>
          <a:lstStyle/>
          <a:p>
            <a:pPr algn="l" indent="0" marL="0">
              <a:lnSpc>
                <a:spcPts val="1418"/>
              </a:lnSpc>
              <a:buNone/>
            </a:pPr>
            <a:r>
              <a:rPr lang="en-US" sz="1050" dirty="0">
                <a:solidFill>
                  <a:srgbClr val="0B0748"/>
                </a:solidFill>
                <a:latin typeface="JetBrains Mono" pitchFamily="49" charset="0"/>
                <a:ea typeface="JetBrains Mono" pitchFamily="49" charset="-122"/>
                <a:cs typeface="JetBrains Mono" pitchFamily="49" charset="-120"/>
              </a:rPr>
              <a:t>kubectl apply -f crd-sauvegarde.yaml</a:t>
            </a:r>
            <a:endParaRPr lang="en-US" sz="1050" dirty="0"/>
          </a:p>
          <a:p>
            <a:pPr algn="l" indent="0" marL="0">
              <a:lnSpc>
                <a:spcPts val="1418"/>
              </a:lnSpc>
              <a:buNone/>
            </a:pPr>
            <a:r>
              <a:rPr lang="en-US" sz="1050" dirty="0">
                <a:solidFill>
                  <a:srgbClr val="0B0748"/>
                </a:solidFill>
                <a:latin typeface="JetBrains Mono" pitchFamily="49" charset="0"/>
                <a:ea typeface="JetBrains Mono" pitchFamily="49" charset="-122"/>
                <a:cs typeface="JetBrains Mono" pitchFamily="49" charset="-120"/>
              </a:rPr>
              <a:t>kubectl apply -f sauvegarde-diffusion.yaml</a:t>
            </a:r>
            <a:endParaRPr lang="en-US" sz="1050" dirty="0"/>
          </a:p>
          <a:p>
            <a:pPr algn="l" indent="0" marL="0">
              <a:lnSpc>
                <a:spcPts val="1418"/>
              </a:lnSpc>
              <a:buNone/>
            </a:pPr>
            <a:r>
              <a:rPr lang="en-US" sz="1050" dirty="0">
                <a:solidFill>
                  <a:srgbClr val="0B0748"/>
                </a:solidFill>
                <a:latin typeface="JetBrains Mono" pitchFamily="49" charset="0"/>
                <a:ea typeface="JetBrains Mono" pitchFamily="49" charset="-122"/>
                <a:cs typeface="JetBrains Mono" pitchFamily="49" charset="-120"/>
              </a:rPr>
              <a:t>kubectl get sauvegardes          </a:t>
            </a:r>
            <a:r>
              <a:rPr lang="en-US" sz="1050" dirty="0">
                <a:solidFill>
                  <a:srgbClr val="6B6890"/>
                </a:solidFill>
                <a:latin typeface="JetBrains Mono" pitchFamily="49" charset="0"/>
                <a:ea typeface="JetBrains Mono" pitchFamily="49" charset="-122"/>
                <a:cs typeface="JetBrains Mono" pitchFamily="49" charset="-120"/>
              </a:rPr>
              <a:t># ou : kubectl get svg</a:t>
            </a:r>
            <a:endParaRPr lang="en-US" sz="1050" dirty="0"/>
          </a:p>
          <a:p>
            <a:pPr algn="l" indent="0" marL="0">
              <a:lnSpc>
                <a:spcPts val="1418"/>
              </a:lnSpc>
              <a:buNone/>
            </a:pPr>
            <a:r>
              <a:rPr lang="en-US" sz="1050" dirty="0">
                <a:solidFill>
                  <a:srgbClr val="0B0748"/>
                </a:solidFill>
                <a:latin typeface="JetBrains Mono" pitchFamily="49" charset="0"/>
                <a:ea typeface="JetBrains Mono" pitchFamily="49" charset="-122"/>
                <a:cs typeface="JetBrains Mono" pitchFamily="49" charset="-120"/>
              </a:rPr>
              <a:t>kubectl explain sauvegarde.spec  </a:t>
            </a:r>
            <a:r>
              <a:rPr lang="en-US" sz="1050" dirty="0">
                <a:solidFill>
                  <a:srgbClr val="6B6890"/>
                </a:solidFill>
                <a:latin typeface="JetBrains Mono" pitchFamily="49" charset="0"/>
                <a:ea typeface="JetBrains Mono" pitchFamily="49" charset="-122"/>
                <a:cs typeface="JetBrains Mono" pitchFamily="49" charset="-120"/>
              </a:rPr>
              <a:t># doc issue du schéma</a:t>
            </a:r>
            <a:endParaRPr lang="en-US" sz="1050" dirty="0"/>
          </a:p>
        </p:txBody>
      </p:sp>
      <p:sp>
        <p:nvSpPr>
          <p:cNvPr id="8" name="Text 6"/>
          <p:cNvSpPr/>
          <p:nvPr/>
        </p:nvSpPr>
        <p:spPr>
          <a:xfrm>
            <a:off x="6477000" y="5192812"/>
            <a:ext cx="4902200" cy="649182"/>
          </a:xfrm>
          <a:prstGeom prst="roundRect">
            <a:avLst>
              <a:gd name="adj" fmla="val 15650"/>
            </a:avLst>
          </a:prstGeom>
          <a:solidFill>
            <a:srgbClr val="FCE6DC"/>
          </a:solidFill>
          <a:ln/>
        </p:spPr>
        <p:txBody>
          <a:bodyPr wrap="square" lIns="122642" tIns="84542" rIns="0" bIns="59142" rtlCol="0" anchor="t">
            <a:normAutofit/>
          </a:bodyPr>
          <a:lstStyle/>
          <a:p>
            <a:pPr algn="l" indent="0" marL="0">
              <a:lnSpc>
                <a:spcPts val="1656"/>
              </a:lnSpc>
              <a:buNone/>
            </a:pPr>
            <a:r>
              <a:rPr lang="en-US" sz="1200" dirty="0">
                <a:solidFill>
                  <a:srgbClr val="0B0748"/>
                </a:solidFill>
                <a:latin typeface="IBM Plex Sans" pitchFamily="34" charset="0"/>
                <a:ea typeface="IBM Plex Sans" pitchFamily="34" charset="-122"/>
                <a:cs typeface="IBM Plex Sans" pitchFamily="34" charset="-120"/>
              </a:rPr>
              <a:t>Une CRD seule ne fait que </a:t>
            </a:r>
            <a:r>
              <a:rPr lang="en-US" sz="1200" b="1" dirty="0">
                <a:solidFill>
                  <a:srgbClr val="0B0748"/>
                </a:solidFill>
                <a:latin typeface="IBM Plex Sans" pitchFamily="34" charset="0"/>
                <a:ea typeface="IBM Plex Sans" pitchFamily="34" charset="-122"/>
                <a:cs typeface="IBM Plex Sans" pitchFamily="34" charset="-120"/>
              </a:rPr>
              <a:t>stocker</a:t>
            </a:r>
            <a:r>
              <a:rPr lang="en-US" sz="1200" dirty="0">
                <a:solidFill>
                  <a:srgbClr val="0B0748"/>
                </a:solidFill>
                <a:latin typeface="IBM Plex Sans" pitchFamily="34" charset="0"/>
                <a:ea typeface="IBM Plex Sans" pitchFamily="34" charset="-122"/>
                <a:cs typeface="IBM Plex Sans" pitchFamily="34" charset="-120"/>
              </a:rPr>
              <a:t> : rien ne sauvegarde réellement la base. Il faut un contrôleur qui lise ces objets et agisse.</a:t>
            </a:r>
            <a:endParaRPr lang="en-US" sz="1200" dirty="0"/>
          </a:p>
        </p:txBody>
      </p:sp>
      <p:pic>
        <p:nvPicPr>
          <p:cNvPr id="9"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0" name="Text 7"/>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1" name="Image 1" descr="Parcours : module 13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13 · CONTRÔLEURS, OPÉRATEURS ET HELM</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opérateurs</a:t>
            </a:r>
            <a:endParaRPr lang="en-US" sz="2800" dirty="0"/>
          </a:p>
        </p:txBody>
      </p:sp>
      <p:sp>
        <p:nvSpPr>
          <p:cNvPr id="4" name="Text 2"/>
          <p:cNvSpPr/>
          <p:nvPr/>
        </p:nvSpPr>
        <p:spPr>
          <a:xfrm>
            <a:off x="812800" y="1569740"/>
            <a:ext cx="145806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0748"/>
                </a:solidFill>
                <a:latin typeface="Sora" pitchFamily="34" charset="0"/>
                <a:ea typeface="Sora" pitchFamily="34" charset="-122"/>
                <a:cs typeface="Sora" pitchFamily="34" charset="-120"/>
              </a:rPr>
              <a:t>Opérateur</a:t>
            </a:r>
            <a:endParaRPr lang="en-US" sz="2000" dirty="0"/>
          </a:p>
        </p:txBody>
      </p:sp>
      <p:sp>
        <p:nvSpPr>
          <p:cNvPr id="5" name="Text 3"/>
          <p:cNvSpPr/>
          <p:nvPr/>
        </p:nvSpPr>
        <p:spPr>
          <a:xfrm>
            <a:off x="2270866" y="1569740"/>
            <a:ext cx="20066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6A3C6"/>
                </a:solidFill>
                <a:latin typeface="Sora" pitchFamily="34" charset="0"/>
                <a:ea typeface="Sora" pitchFamily="34" charset="-122"/>
                <a:cs typeface="Sora" pitchFamily="34" charset="-120"/>
              </a:rPr>
              <a:t>=</a:t>
            </a:r>
            <a:endParaRPr lang="en-US" sz="2000" dirty="0"/>
          </a:p>
        </p:txBody>
      </p:sp>
      <p:sp>
        <p:nvSpPr>
          <p:cNvPr id="6" name="Text 4"/>
          <p:cNvSpPr/>
          <p:nvPr/>
        </p:nvSpPr>
        <p:spPr>
          <a:xfrm>
            <a:off x="2535026" y="1572220"/>
            <a:ext cx="663681" cy="350520"/>
          </a:xfrm>
          <a:prstGeom prst="roundRect">
            <a:avLst>
              <a:gd name="adj" fmla="val 21739"/>
            </a:avLst>
          </a:prstGeom>
          <a:solidFill>
            <a:srgbClr val="ECEAF6"/>
          </a:solidFill>
          <a:ln/>
        </p:spPr>
        <p:txBody>
          <a:bodyPr wrap="none" lIns="0" tIns="0" rIns="0" bIns="0" rtlCol="0" anchor="ctr">
            <a:normAutofit/>
          </a:bodyPr>
          <a:lstStyle/>
          <a:p>
            <a:pPr algn="ctr" indent="0" marL="0">
              <a:lnSpc>
                <a:spcPts val="1960"/>
              </a:lnSpc>
              <a:buNone/>
            </a:pPr>
            <a:r>
              <a:rPr lang="en-US" sz="1400" b="1" dirty="0">
                <a:solidFill>
                  <a:srgbClr val="0B0748"/>
                </a:solidFill>
                <a:latin typeface="Sora" pitchFamily="34" charset="0"/>
                <a:ea typeface="Sora" pitchFamily="34" charset="-122"/>
                <a:cs typeface="Sora" pitchFamily="34" charset="-120"/>
              </a:rPr>
              <a:t>CRD</a:t>
            </a:r>
            <a:endParaRPr lang="en-US" sz="1400" dirty="0"/>
          </a:p>
        </p:txBody>
      </p:sp>
      <p:sp>
        <p:nvSpPr>
          <p:cNvPr id="7" name="Text 5"/>
          <p:cNvSpPr/>
          <p:nvPr/>
        </p:nvSpPr>
        <p:spPr>
          <a:xfrm>
            <a:off x="3313007" y="1569740"/>
            <a:ext cx="20066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6A3C6"/>
                </a:solidFill>
                <a:latin typeface="Sora" pitchFamily="34" charset="0"/>
                <a:ea typeface="Sora" pitchFamily="34" charset="-122"/>
                <a:cs typeface="Sora" pitchFamily="34" charset="-120"/>
              </a:rPr>
              <a:t>+</a:t>
            </a:r>
            <a:endParaRPr lang="en-US" sz="2000" dirty="0"/>
          </a:p>
        </p:txBody>
      </p:sp>
      <p:sp>
        <p:nvSpPr>
          <p:cNvPr id="8" name="Text 6"/>
          <p:cNvSpPr/>
          <p:nvPr/>
        </p:nvSpPr>
        <p:spPr>
          <a:xfrm>
            <a:off x="3577167" y="1572220"/>
            <a:ext cx="1221634" cy="350520"/>
          </a:xfrm>
          <a:prstGeom prst="roundRect">
            <a:avLst>
              <a:gd name="adj" fmla="val 21739"/>
            </a:avLst>
          </a:prstGeom>
          <a:solidFill>
            <a:srgbClr val="0B0748"/>
          </a:solidFill>
          <a:ln/>
        </p:spPr>
        <p:txBody>
          <a:bodyPr wrap="none" lIns="0" tIns="0" rIns="0" bIns="0" rtlCol="0" anchor="ctr">
            <a:normAutofit/>
          </a:bodyPr>
          <a:lstStyle/>
          <a:p>
            <a:pPr algn="ctr" indent="0" marL="0">
              <a:lnSpc>
                <a:spcPts val="1960"/>
              </a:lnSpc>
              <a:buNone/>
            </a:pPr>
            <a:r>
              <a:rPr lang="en-US" sz="1400" b="1" dirty="0">
                <a:solidFill>
                  <a:srgbClr val="F5F4F9"/>
                </a:solidFill>
                <a:latin typeface="Sora" pitchFamily="34" charset="0"/>
                <a:ea typeface="Sora" pitchFamily="34" charset="-122"/>
                <a:cs typeface="Sora" pitchFamily="34" charset="-120"/>
              </a:rPr>
              <a:t>contrôleur</a:t>
            </a:r>
            <a:endParaRPr lang="en-US" sz="1400" dirty="0"/>
          </a:p>
        </p:txBody>
      </p:sp>
      <p:sp>
        <p:nvSpPr>
          <p:cNvPr id="9" name="Text 7"/>
          <p:cNvSpPr/>
          <p:nvPr/>
        </p:nvSpPr>
        <p:spPr>
          <a:xfrm>
            <a:off x="812800" y="2065040"/>
            <a:ext cx="4578350" cy="755650"/>
          </a:xfrm>
          <a:prstGeom prst="rect">
            <a:avLst/>
          </a:prstGeom>
          <a:noFill/>
          <a:ln/>
        </p:spPr>
        <p:txBody>
          <a:bodyPr wrap="square" lIns="0" tIns="0" rIns="0" bIns="0" rtlCol="0" anchor="t">
            <a:normAutofit/>
          </a:bodyPr>
          <a:lstStyle/>
          <a:p>
            <a:pPr algn="l" indent="0" marL="0">
              <a:lnSpc>
                <a:spcPts val="1917"/>
              </a:lnSpc>
              <a:buNone/>
            </a:pPr>
            <a:r>
              <a:rPr lang="en-US" sz="1350" dirty="0">
                <a:solidFill>
                  <a:srgbClr val="3F3C6B"/>
                </a:solidFill>
                <a:latin typeface="IBM Plex Sans" pitchFamily="34" charset="0"/>
                <a:ea typeface="IBM Plex Sans" pitchFamily="34" charset="-122"/>
                <a:cs typeface="IBM Plex Sans" pitchFamily="34" charset="-120"/>
              </a:rPr>
              <a:t>Le contrôleur code le savoir-faire d'un administrateur expérimenté du logiciel : installer, configurer, mettre à jour, sauvegarder, basculer en cas de panne.</a:t>
            </a:r>
            <a:endParaRPr lang="en-US" sz="1350" dirty="0"/>
          </a:p>
        </p:txBody>
      </p:sp>
      <p:sp>
        <p:nvSpPr>
          <p:cNvPr id="10" name="Shape 8"/>
          <p:cNvSpPr/>
          <p:nvPr/>
        </p:nvSpPr>
        <p:spPr>
          <a:xfrm>
            <a:off x="828675" y="4708525"/>
            <a:ext cx="0" cy="1133475"/>
          </a:xfrm>
          <a:prstGeom prst="line">
            <a:avLst/>
          </a:prstGeom>
          <a:noFill/>
          <a:ln w="31750">
            <a:solidFill>
              <a:srgbClr val="E25A2C"/>
            </a:solidFill>
            <a:prstDash val="solid"/>
          </a:ln>
        </p:spPr>
      </p:sp>
      <p:sp>
        <p:nvSpPr>
          <p:cNvPr id="11" name="Text 9"/>
          <p:cNvSpPr/>
          <p:nvPr/>
        </p:nvSpPr>
        <p:spPr>
          <a:xfrm>
            <a:off x="1006263" y="4746625"/>
            <a:ext cx="4379083" cy="79692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0B0748"/>
                </a:solidFill>
                <a:latin typeface="Sora" pitchFamily="34" charset="0"/>
                <a:ea typeface="Sora" pitchFamily="34" charset="-122"/>
                <a:cs typeface="Sora" pitchFamily="34" charset="-120"/>
              </a:rPr>
              <a:t>« Je veux un cluster PostgreSQL de 3 instances avec une sauvegarde quotidienne. »</a:t>
            </a:r>
            <a:endParaRPr lang="en-US" sz="1500" dirty="0"/>
          </a:p>
        </p:txBody>
      </p:sp>
      <p:sp>
        <p:nvSpPr>
          <p:cNvPr id="12" name="Text 10"/>
          <p:cNvSpPr/>
          <p:nvPr/>
        </p:nvSpPr>
        <p:spPr>
          <a:xfrm>
            <a:off x="1006263" y="5581650"/>
            <a:ext cx="4379083"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6B6890"/>
                </a:solidFill>
                <a:latin typeface="IBM Plex Sans" pitchFamily="34" charset="0"/>
                <a:ea typeface="IBM Plex Sans" pitchFamily="34" charset="-122"/>
                <a:cs typeface="IBM Plex Sans" pitchFamily="34" charset="-120"/>
              </a:rPr>
              <a:t>Vous le déclarez ; l'opérateur s'occupe du reste.</a:t>
            </a:r>
            <a:endParaRPr lang="en-US" sz="1250" dirty="0"/>
          </a:p>
        </p:txBody>
      </p:sp>
      <p:sp>
        <p:nvSpPr>
          <p:cNvPr id="13" name="Text 11"/>
          <p:cNvSpPr/>
          <p:nvPr/>
        </p:nvSpPr>
        <p:spPr>
          <a:xfrm>
            <a:off x="5613400" y="1569740"/>
            <a:ext cx="593877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EXEMPLES</a:t>
            </a:r>
            <a:endParaRPr lang="en-US" sz="1200" dirty="0"/>
          </a:p>
        </p:txBody>
      </p:sp>
      <p:sp>
        <p:nvSpPr>
          <p:cNvPr id="14" name="Shape 12"/>
          <p:cNvSpPr/>
          <p:nvPr/>
        </p:nvSpPr>
        <p:spPr>
          <a:xfrm>
            <a:off x="5613400" y="1884660"/>
            <a:ext cx="5765800" cy="3408257"/>
          </a:xfrm>
          <a:prstGeom prst="rect">
            <a:avLst/>
          </a:prstGeom>
          <a:solidFill>
            <a:srgbClr val="FDFDFF"/>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20491" y="1891751"/>
          <a:ext cx="5758709" cy="3401589"/>
        </p:xfrm>
        <a:graphic>
          <a:graphicData uri="http://schemas.openxmlformats.org/drawingml/2006/table">
            <a:tbl>
              <a:tblPr/>
              <a:tblGrid>
                <a:gridCol w="1612439"/>
                <a:gridCol w="1727613"/>
                <a:gridCol w="2418658"/>
              </a:tblGrid>
              <a:tr h="353801">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Opérateur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Logiciel géré</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Ressources personnalisées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585047">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Tigera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Calico (vu au module 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Installation, APIServer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85047">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cert-manager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Certificats TLS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Issuer, ClusterIssuer, Certificate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585047">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CloudNativePG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PostgreSQL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Cluster, Backup, ScheduledBackup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85047">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Prometheus Operator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Supervision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Prometheus, ServiceMonitor, PrometheusRule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Strimzi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Apache Kafka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Kafka, KafkaTopic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Rook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Stockage Ceph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CephCluster, CephBlockPool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pic>
        <p:nvPicPr>
          <p:cNvPr id="16"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7" name="Text 13"/>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1" descr="Parcours : module 13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13 · CONTRÔLEURS, OPÉRATEURS ET HELM</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Choisir un opérateur</a:t>
            </a:r>
            <a:endParaRPr lang="en-US" sz="2800" dirty="0"/>
          </a:p>
        </p:txBody>
      </p:sp>
      <p:sp>
        <p:nvSpPr>
          <p:cNvPr id="4" name="Text 2"/>
          <p:cNvSpPr/>
          <p:nvPr/>
        </p:nvSpPr>
        <p:spPr>
          <a:xfrm>
            <a:off x="812800" y="1569740"/>
            <a:ext cx="69329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LES CINQ NIVEAUX DE MATURITÉ · OPERATOR FRAMEWORK</a:t>
            </a:r>
            <a:endParaRPr lang="en-US" sz="1200" dirty="0"/>
          </a:p>
        </p:txBody>
      </p:sp>
      <p:sp>
        <p:nvSpPr>
          <p:cNvPr id="5" name="Shape 3"/>
          <p:cNvSpPr/>
          <p:nvPr/>
        </p:nvSpPr>
        <p:spPr>
          <a:xfrm>
            <a:off x="812800" y="4826000"/>
            <a:ext cx="1285240" cy="1016000"/>
          </a:xfrm>
          <a:prstGeom prst="roundRect">
            <a:avLst>
              <a:gd name="adj" fmla="val 10000"/>
            </a:avLst>
          </a:prstGeom>
          <a:solidFill>
            <a:srgbClr val="ECEAF6"/>
          </a:solidFill>
          <a:ln/>
        </p:spPr>
      </p:sp>
      <p:sp>
        <p:nvSpPr>
          <p:cNvPr id="6" name="Text 4"/>
          <p:cNvSpPr/>
          <p:nvPr/>
        </p:nvSpPr>
        <p:spPr>
          <a:xfrm>
            <a:off x="939800" y="4940300"/>
            <a:ext cx="1082040"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E25A2C"/>
                </a:solidFill>
                <a:latin typeface="Sora" pitchFamily="34" charset="0"/>
                <a:ea typeface="Sora" pitchFamily="34" charset="-122"/>
                <a:cs typeface="Sora" pitchFamily="34" charset="-120"/>
              </a:rPr>
              <a:t>1</a:t>
            </a:r>
            <a:endParaRPr lang="en-US" sz="2000" dirty="0"/>
          </a:p>
        </p:txBody>
      </p:sp>
      <p:sp>
        <p:nvSpPr>
          <p:cNvPr id="7" name="Text 5"/>
          <p:cNvSpPr/>
          <p:nvPr/>
        </p:nvSpPr>
        <p:spPr>
          <a:xfrm>
            <a:off x="939800" y="5245298"/>
            <a:ext cx="1082040" cy="405130"/>
          </a:xfrm>
          <a:prstGeom prst="rect">
            <a:avLst/>
          </a:prstGeom>
          <a:noFill/>
          <a:ln/>
        </p:spPr>
        <p:txBody>
          <a:bodyPr wrap="square" lIns="0" tIns="0" rIns="0" bIns="0" rtlCol="0" anchor="t">
            <a:normAutofit/>
          </a:bodyPr>
          <a:lstStyle/>
          <a:p>
            <a:pPr algn="l" indent="0" marL="0">
              <a:lnSpc>
                <a:spcPts val="1495"/>
              </a:lnSpc>
              <a:buNone/>
            </a:pPr>
            <a:r>
              <a:rPr lang="en-US" sz="1150" dirty="0">
                <a:solidFill>
                  <a:srgbClr val="0B0748"/>
                </a:solidFill>
                <a:latin typeface="IBM Plex Sans" pitchFamily="34" charset="0"/>
                <a:ea typeface="IBM Plex Sans" pitchFamily="34" charset="-122"/>
                <a:cs typeface="IBM Plex Sans" pitchFamily="34" charset="-120"/>
              </a:rPr>
              <a:t>Installation simple</a:t>
            </a:r>
            <a:endParaRPr lang="en-US" sz="1150" dirty="0"/>
          </a:p>
        </p:txBody>
      </p:sp>
      <p:sp>
        <p:nvSpPr>
          <p:cNvPr id="8" name="Shape 6"/>
          <p:cNvSpPr/>
          <p:nvPr/>
        </p:nvSpPr>
        <p:spPr>
          <a:xfrm>
            <a:off x="2174240" y="4470400"/>
            <a:ext cx="1285240" cy="1371600"/>
          </a:xfrm>
          <a:prstGeom prst="roundRect">
            <a:avLst>
              <a:gd name="adj" fmla="val 7905"/>
            </a:avLst>
          </a:prstGeom>
          <a:solidFill>
            <a:srgbClr val="D9D6EE"/>
          </a:solidFill>
          <a:ln/>
        </p:spPr>
      </p:sp>
      <p:sp>
        <p:nvSpPr>
          <p:cNvPr id="9" name="Text 7"/>
          <p:cNvSpPr/>
          <p:nvPr/>
        </p:nvSpPr>
        <p:spPr>
          <a:xfrm>
            <a:off x="2301240" y="4584700"/>
            <a:ext cx="1082040"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E25A2C"/>
                </a:solidFill>
                <a:latin typeface="Sora" pitchFamily="34" charset="0"/>
                <a:ea typeface="Sora" pitchFamily="34" charset="-122"/>
                <a:cs typeface="Sora" pitchFamily="34" charset="-120"/>
              </a:rPr>
              <a:t>2</a:t>
            </a:r>
            <a:endParaRPr lang="en-US" sz="2000" dirty="0"/>
          </a:p>
        </p:txBody>
      </p:sp>
      <p:sp>
        <p:nvSpPr>
          <p:cNvPr id="10" name="Text 8"/>
          <p:cNvSpPr/>
          <p:nvPr/>
        </p:nvSpPr>
        <p:spPr>
          <a:xfrm>
            <a:off x="2301240" y="4889500"/>
            <a:ext cx="1082040" cy="405130"/>
          </a:xfrm>
          <a:prstGeom prst="rect">
            <a:avLst/>
          </a:prstGeom>
          <a:noFill/>
          <a:ln/>
        </p:spPr>
        <p:txBody>
          <a:bodyPr wrap="square" lIns="0" tIns="0" rIns="0" bIns="0" rtlCol="0" anchor="t">
            <a:normAutofit/>
          </a:bodyPr>
          <a:lstStyle/>
          <a:p>
            <a:pPr algn="l" indent="0" marL="0">
              <a:lnSpc>
                <a:spcPts val="1495"/>
              </a:lnSpc>
              <a:buNone/>
            </a:pPr>
            <a:r>
              <a:rPr lang="en-US" sz="1150" dirty="0">
                <a:solidFill>
                  <a:srgbClr val="0B0748"/>
                </a:solidFill>
                <a:latin typeface="IBM Plex Sans" pitchFamily="34" charset="0"/>
                <a:ea typeface="IBM Plex Sans" pitchFamily="34" charset="-122"/>
                <a:cs typeface="IBM Plex Sans" pitchFamily="34" charset="-120"/>
              </a:rPr>
              <a:t>Mises à jour transparentes</a:t>
            </a:r>
            <a:endParaRPr lang="en-US" sz="1150" dirty="0"/>
          </a:p>
        </p:txBody>
      </p:sp>
      <p:sp>
        <p:nvSpPr>
          <p:cNvPr id="11" name="Shape 9"/>
          <p:cNvSpPr/>
          <p:nvPr/>
        </p:nvSpPr>
        <p:spPr>
          <a:xfrm>
            <a:off x="3535680" y="4114800"/>
            <a:ext cx="1285240" cy="1727200"/>
          </a:xfrm>
          <a:prstGeom prst="roundRect">
            <a:avLst>
              <a:gd name="adj" fmla="val 7905"/>
            </a:avLst>
          </a:prstGeom>
          <a:solidFill>
            <a:srgbClr val="B9B6E8"/>
          </a:solidFill>
          <a:ln/>
        </p:spPr>
      </p:sp>
      <p:sp>
        <p:nvSpPr>
          <p:cNvPr id="12" name="Text 10"/>
          <p:cNvSpPr/>
          <p:nvPr/>
        </p:nvSpPr>
        <p:spPr>
          <a:xfrm>
            <a:off x="3662680" y="4229100"/>
            <a:ext cx="1082040"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E25A2C"/>
                </a:solidFill>
                <a:latin typeface="Sora" pitchFamily="34" charset="0"/>
                <a:ea typeface="Sora" pitchFamily="34" charset="-122"/>
                <a:cs typeface="Sora" pitchFamily="34" charset="-120"/>
              </a:rPr>
              <a:t>3</a:t>
            </a:r>
            <a:endParaRPr lang="en-US" sz="2000" dirty="0"/>
          </a:p>
        </p:txBody>
      </p:sp>
      <p:sp>
        <p:nvSpPr>
          <p:cNvPr id="13" name="Text 11"/>
          <p:cNvSpPr/>
          <p:nvPr/>
        </p:nvSpPr>
        <p:spPr>
          <a:xfrm>
            <a:off x="3662680" y="4533900"/>
            <a:ext cx="1082040" cy="784860"/>
          </a:xfrm>
          <a:prstGeom prst="rect">
            <a:avLst/>
          </a:prstGeom>
          <a:noFill/>
          <a:ln/>
        </p:spPr>
        <p:txBody>
          <a:bodyPr wrap="square" lIns="0" tIns="0" rIns="0" bIns="0" rtlCol="0" anchor="t">
            <a:normAutofit/>
          </a:bodyPr>
          <a:lstStyle/>
          <a:p>
            <a:pPr algn="l" indent="0" marL="0">
              <a:lnSpc>
                <a:spcPts val="1495"/>
              </a:lnSpc>
              <a:buNone/>
            </a:pPr>
            <a:r>
              <a:rPr lang="en-US" sz="1150" dirty="0">
                <a:solidFill>
                  <a:srgbClr val="0B0748"/>
                </a:solidFill>
                <a:latin typeface="IBM Plex Sans" pitchFamily="34" charset="0"/>
                <a:ea typeface="IBM Plex Sans" pitchFamily="34" charset="-122"/>
                <a:cs typeface="IBM Plex Sans" pitchFamily="34" charset="-120"/>
              </a:rPr>
              <a:t>Cycle de vie complet : sauvegarde, restauration</a:t>
            </a:r>
            <a:endParaRPr lang="en-US" sz="1150" dirty="0"/>
          </a:p>
        </p:txBody>
      </p:sp>
      <p:sp>
        <p:nvSpPr>
          <p:cNvPr id="14" name="Shape 12"/>
          <p:cNvSpPr/>
          <p:nvPr/>
        </p:nvSpPr>
        <p:spPr>
          <a:xfrm>
            <a:off x="4897120" y="3759200"/>
            <a:ext cx="1285240" cy="2082800"/>
          </a:xfrm>
          <a:prstGeom prst="roundRect">
            <a:avLst>
              <a:gd name="adj" fmla="val 7905"/>
            </a:avLst>
          </a:prstGeom>
          <a:solidFill>
            <a:srgbClr val="1D1870"/>
          </a:solidFill>
          <a:ln/>
        </p:spPr>
      </p:sp>
      <p:sp>
        <p:nvSpPr>
          <p:cNvPr id="15" name="Text 13"/>
          <p:cNvSpPr/>
          <p:nvPr/>
        </p:nvSpPr>
        <p:spPr>
          <a:xfrm>
            <a:off x="5024120" y="3873500"/>
            <a:ext cx="1082040"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FF8F66"/>
                </a:solidFill>
                <a:latin typeface="Sora" pitchFamily="34" charset="0"/>
                <a:ea typeface="Sora" pitchFamily="34" charset="-122"/>
                <a:cs typeface="Sora" pitchFamily="34" charset="-120"/>
              </a:rPr>
              <a:t>4</a:t>
            </a:r>
            <a:endParaRPr lang="en-US" sz="2000" dirty="0"/>
          </a:p>
        </p:txBody>
      </p:sp>
      <p:sp>
        <p:nvSpPr>
          <p:cNvPr id="16" name="Text 14"/>
          <p:cNvSpPr/>
          <p:nvPr/>
        </p:nvSpPr>
        <p:spPr>
          <a:xfrm>
            <a:off x="5024120" y="4178300"/>
            <a:ext cx="1082040" cy="405130"/>
          </a:xfrm>
          <a:prstGeom prst="rect">
            <a:avLst/>
          </a:prstGeom>
          <a:noFill/>
          <a:ln/>
        </p:spPr>
        <p:txBody>
          <a:bodyPr wrap="square" lIns="0" tIns="0" rIns="0" bIns="0" rtlCol="0" anchor="t">
            <a:normAutofit/>
          </a:bodyPr>
          <a:lstStyle/>
          <a:p>
            <a:pPr algn="l" indent="0" marL="0">
              <a:lnSpc>
                <a:spcPts val="1495"/>
              </a:lnSpc>
              <a:buNone/>
            </a:pPr>
            <a:r>
              <a:rPr lang="en-US" sz="1150" dirty="0">
                <a:solidFill>
                  <a:srgbClr val="ECEAFF"/>
                </a:solidFill>
                <a:latin typeface="IBM Plex Sans" pitchFamily="34" charset="0"/>
                <a:ea typeface="IBM Plex Sans" pitchFamily="34" charset="-122"/>
                <a:cs typeface="IBM Plex Sans" pitchFamily="34" charset="-120"/>
              </a:rPr>
              <a:t>Supervision approfondie</a:t>
            </a:r>
            <a:endParaRPr lang="en-US" sz="1150" dirty="0"/>
          </a:p>
        </p:txBody>
      </p:sp>
      <p:sp>
        <p:nvSpPr>
          <p:cNvPr id="17" name="Shape 15"/>
          <p:cNvSpPr/>
          <p:nvPr/>
        </p:nvSpPr>
        <p:spPr>
          <a:xfrm>
            <a:off x="6258560" y="3403600"/>
            <a:ext cx="1285240" cy="2438400"/>
          </a:xfrm>
          <a:prstGeom prst="roundRect">
            <a:avLst>
              <a:gd name="adj" fmla="val 7905"/>
            </a:avLst>
          </a:prstGeom>
          <a:solidFill>
            <a:srgbClr val="0B0748"/>
          </a:solidFill>
          <a:ln/>
        </p:spPr>
      </p:sp>
      <p:sp>
        <p:nvSpPr>
          <p:cNvPr id="18" name="Text 16"/>
          <p:cNvSpPr/>
          <p:nvPr/>
        </p:nvSpPr>
        <p:spPr>
          <a:xfrm>
            <a:off x="6385560" y="3517900"/>
            <a:ext cx="1082040"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FF8F66"/>
                </a:solidFill>
                <a:latin typeface="Sora" pitchFamily="34" charset="0"/>
                <a:ea typeface="Sora" pitchFamily="34" charset="-122"/>
                <a:cs typeface="Sora" pitchFamily="34" charset="-120"/>
              </a:rPr>
              <a:t>5</a:t>
            </a:r>
            <a:endParaRPr lang="en-US" sz="2000" dirty="0"/>
          </a:p>
        </p:txBody>
      </p:sp>
      <p:sp>
        <p:nvSpPr>
          <p:cNvPr id="19" name="Text 17"/>
          <p:cNvSpPr/>
          <p:nvPr/>
        </p:nvSpPr>
        <p:spPr>
          <a:xfrm>
            <a:off x="6385560" y="3822700"/>
            <a:ext cx="1082040" cy="974725"/>
          </a:xfrm>
          <a:prstGeom prst="rect">
            <a:avLst/>
          </a:prstGeom>
          <a:noFill/>
          <a:ln/>
        </p:spPr>
        <p:txBody>
          <a:bodyPr wrap="square" lIns="0" tIns="0" rIns="0" bIns="0" rtlCol="0" anchor="t">
            <a:normAutofit/>
          </a:bodyPr>
          <a:lstStyle/>
          <a:p>
            <a:pPr algn="l" indent="0" marL="0">
              <a:lnSpc>
                <a:spcPts val="1495"/>
              </a:lnSpc>
              <a:buNone/>
            </a:pPr>
            <a:r>
              <a:rPr lang="en-US" sz="1150" dirty="0">
                <a:solidFill>
                  <a:srgbClr val="ECEAFF"/>
                </a:solidFill>
                <a:latin typeface="IBM Plex Sans" pitchFamily="34" charset="0"/>
                <a:ea typeface="IBM Plex Sans" pitchFamily="34" charset="-122"/>
                <a:cs typeface="IBM Plex Sans" pitchFamily="34" charset="-120"/>
              </a:rPr>
              <a:t>Pilotage automatique : ajustements et réparations autonomes</a:t>
            </a:r>
            <a:endParaRPr lang="en-US" sz="1150" dirty="0"/>
          </a:p>
        </p:txBody>
      </p:sp>
      <p:sp>
        <p:nvSpPr>
          <p:cNvPr id="20" name="Shape 18"/>
          <p:cNvSpPr/>
          <p:nvPr/>
        </p:nvSpPr>
        <p:spPr>
          <a:xfrm>
            <a:off x="7826375" y="1572915"/>
            <a:ext cx="3549650" cy="1674072"/>
          </a:xfrm>
          <a:prstGeom prst="roundRect">
            <a:avLst>
              <a:gd name="adj" fmla="val 7397"/>
            </a:avLst>
          </a:prstGeom>
          <a:solidFill>
            <a:srgbClr val="FDFDFF"/>
          </a:solidFill>
          <a:ln w="6350">
            <a:solidFill>
              <a:srgbClr val="E1DFEE"/>
            </a:solidFill>
            <a:prstDash val="solid"/>
          </a:ln>
        </p:spPr>
      </p:sp>
      <p:sp>
        <p:nvSpPr>
          <p:cNvPr id="21" name="Text 19"/>
          <p:cNvSpPr/>
          <p:nvPr/>
        </p:nvSpPr>
        <p:spPr>
          <a:xfrm>
            <a:off x="8020791" y="1741984"/>
            <a:ext cx="32556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OÙ LES TROUVER</a:t>
            </a:r>
            <a:endParaRPr lang="en-US" sz="1200" dirty="0"/>
          </a:p>
        </p:txBody>
      </p:sp>
      <p:sp>
        <p:nvSpPr>
          <p:cNvPr id="22" name="Text 20"/>
          <p:cNvSpPr/>
          <p:nvPr/>
        </p:nvSpPr>
        <p:spPr>
          <a:xfrm>
            <a:off x="8020791" y="2006203"/>
            <a:ext cx="325564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OperatorHub.io et Artifact Hub.</a:t>
            </a:r>
            <a:endParaRPr lang="en-US" sz="1300" dirty="0"/>
          </a:p>
        </p:txBody>
      </p:sp>
      <p:sp>
        <p:nvSpPr>
          <p:cNvPr id="23" name="Text 21"/>
          <p:cNvSpPr/>
          <p:nvPr/>
        </p:nvSpPr>
        <p:spPr>
          <a:xfrm>
            <a:off x="8020791" y="2351584"/>
            <a:ext cx="32556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POUR EN ÉCRIRE</a:t>
            </a:r>
            <a:endParaRPr lang="en-US" sz="1200" dirty="0"/>
          </a:p>
        </p:txBody>
      </p:sp>
      <p:sp>
        <p:nvSpPr>
          <p:cNvPr id="24" name="Text 22"/>
          <p:cNvSpPr/>
          <p:nvPr/>
        </p:nvSpPr>
        <p:spPr>
          <a:xfrm>
            <a:off x="8020791" y="2615803"/>
            <a:ext cx="32556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Kubebuilder ou Operator SDK (Go), kopf (Python).</a:t>
            </a:r>
            <a:endParaRPr lang="en-US" sz="1300" dirty="0"/>
          </a:p>
        </p:txBody>
      </p:sp>
      <p:sp>
        <p:nvSpPr>
          <p:cNvPr id="25" name="Shape 23"/>
          <p:cNvSpPr/>
          <p:nvPr/>
        </p:nvSpPr>
        <p:spPr>
          <a:xfrm>
            <a:off x="7823200" y="3377109"/>
            <a:ext cx="3556000" cy="2464858"/>
          </a:xfrm>
          <a:prstGeom prst="roundRect">
            <a:avLst>
              <a:gd name="adj" fmla="val 5152"/>
            </a:avLst>
          </a:prstGeom>
          <a:solidFill>
            <a:srgbClr val="0B0748"/>
          </a:solidFill>
          <a:ln/>
        </p:spPr>
      </p:sp>
      <p:sp>
        <p:nvSpPr>
          <p:cNvPr id="26" name="Text 24"/>
          <p:cNvSpPr/>
          <p:nvPr/>
        </p:nvSpPr>
        <p:spPr>
          <a:xfrm>
            <a:off x="8013700" y="3542209"/>
            <a:ext cx="32702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AVANT D'ADOPTER UN OPÉRATEUR</a:t>
            </a:r>
            <a:endParaRPr lang="en-US" sz="1200" dirty="0"/>
          </a:p>
        </p:txBody>
      </p:sp>
      <p:sp>
        <p:nvSpPr>
          <p:cNvPr id="27" name="Text 25"/>
          <p:cNvSpPr/>
          <p:nvPr/>
        </p:nvSpPr>
        <p:spPr>
          <a:xfrm>
            <a:off x="8013700" y="3819128"/>
            <a:ext cx="3270250" cy="1152525"/>
          </a:xfrm>
          <a:prstGeom prst="rect">
            <a:avLst/>
          </a:prstGeom>
          <a:noFill/>
          <a:ln/>
        </p:spPr>
        <p:txBody>
          <a:bodyPr wrap="square" lIns="0" tIns="0" rIns="0" bIns="0" rtlCol="0" anchor="t">
            <a:normAutofit/>
          </a:bodyPr>
          <a:lstStyle/>
          <a:p>
            <a:pPr algn="l" indent="0" marL="0">
              <a:lnSpc>
                <a:spcPts val="1775"/>
              </a:lnSpc>
              <a:buNone/>
            </a:pPr>
            <a:r>
              <a:rPr lang="en-US" sz="1250" dirty="0">
                <a:solidFill>
                  <a:srgbClr val="ECEAFF"/>
                </a:solidFill>
                <a:latin typeface="IBM Plex Sans" pitchFamily="34" charset="0"/>
                <a:ea typeface="IBM Plex Sans" pitchFamily="34" charset="-122"/>
                <a:cs typeface="IBM Plex Sans" pitchFamily="34" charset="-120"/>
              </a:rPr>
              <a:t>Vérifiez sa maturité, sa communauté et les droits qu'il demande : il tourne souvent avec des permissions étendues sur tout le cluster, et devient un composant de plus à maintenir.</a:t>
            </a:r>
            <a:endParaRPr lang="en-US" sz="1250" dirty="0"/>
          </a:p>
        </p:txBody>
      </p:sp>
      <p:pic>
        <p:nvPicPr>
          <p:cNvPr id="28"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29" name="Text 26"/>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0" name="Image 1" descr="Parcours : module 13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13 · EXEMPLE DU TP9</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cert-manager, un opérateur en action</a:t>
            </a:r>
            <a:endParaRPr lang="en-US" sz="2800" dirty="0"/>
          </a:p>
        </p:txBody>
      </p:sp>
      <p:sp>
        <p:nvSpPr>
          <p:cNvPr id="4" name="Text 2"/>
          <p:cNvSpPr/>
          <p:nvPr/>
        </p:nvSpPr>
        <p:spPr>
          <a:xfrm>
            <a:off x="812800" y="1531640"/>
            <a:ext cx="5207000" cy="4310380"/>
          </a:xfrm>
          <a:prstGeom prst="roundRect">
            <a:avLst>
              <a:gd name="adj" fmla="val 2357"/>
            </a:avLst>
          </a:prstGeom>
          <a:solidFill>
            <a:srgbClr val="0B0748"/>
          </a:solidFill>
          <a:ln/>
        </p:spPr>
        <p:txBody>
          <a:bodyPr wrap="none" lIns="135342" tIns="71842" rIns="0" bIns="71842" rtlCol="0" anchor="ctr">
            <a:normAutofit/>
          </a:bodyPr>
          <a:lstStyle/>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apiVersion: cert-manager.io/v1</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kind: </a:t>
            </a:r>
            <a:r>
              <a:rPr lang="en-US" sz="1050" dirty="0">
                <a:solidFill>
                  <a:srgbClr val="FFB08F"/>
                </a:solidFill>
                <a:latin typeface="JetBrains Mono" pitchFamily="49" charset="0"/>
                <a:ea typeface="JetBrains Mono" pitchFamily="49" charset="-122"/>
                <a:cs typeface="JetBrains Mono" pitchFamily="49" charset="-120"/>
              </a:rPr>
              <a:t>ClusterIssuer</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metadata:</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name: autosigne</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spec:</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selfSigned: {}  </a:t>
            </a:r>
            <a:r>
              <a:rPr lang="en-US" sz="1050" dirty="0">
                <a:solidFill>
                  <a:srgbClr val="9A96D0"/>
                </a:solidFill>
                <a:latin typeface="JetBrains Mono" pitchFamily="49" charset="0"/>
                <a:ea typeface="JetBrains Mono" pitchFamily="49" charset="-122"/>
                <a:cs typeface="JetBrains Mono" pitchFamily="49" charset="-120"/>
              </a:rPr>
              <a:t># en production : acme ou autorité interne</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apiVersion: cert-manager.io/v1</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kind: </a:t>
            </a:r>
            <a:r>
              <a:rPr lang="en-US" sz="1050" dirty="0">
                <a:solidFill>
                  <a:srgbClr val="FFB08F"/>
                </a:solidFill>
                <a:latin typeface="JetBrains Mono" pitchFamily="49" charset="0"/>
                <a:ea typeface="JetBrains Mono" pitchFamily="49" charset="-122"/>
                <a:cs typeface="JetBrains Mono" pitchFamily="49" charset="-120"/>
              </a:rPr>
              <a:t>Certificate</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metadata:</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name: podinfo-tls</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namespace: fil-rouge</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spec:</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secretName: podinfo-tls</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dnsNames:</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 podinfo.fil-rouge.svc.cluster.local</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issuerRef:</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name: autosigne</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kind: </a:t>
            </a:r>
            <a:r>
              <a:rPr lang="en-US" sz="1050" dirty="0">
                <a:solidFill>
                  <a:srgbClr val="FFB08F"/>
                </a:solidFill>
                <a:latin typeface="JetBrains Mono" pitchFamily="49" charset="0"/>
                <a:ea typeface="JetBrains Mono" pitchFamily="49" charset="-122"/>
                <a:cs typeface="JetBrains Mono" pitchFamily="49" charset="-120"/>
              </a:rPr>
              <a:t>ClusterIssuer</a:t>
            </a:r>
            <a:endParaRPr lang="en-US" sz="1050" dirty="0"/>
          </a:p>
        </p:txBody>
      </p:sp>
      <p:sp>
        <p:nvSpPr>
          <p:cNvPr id="5" name="Text 3"/>
          <p:cNvSpPr/>
          <p:nvPr/>
        </p:nvSpPr>
        <p:spPr>
          <a:xfrm>
            <a:off x="6273800" y="1531640"/>
            <a:ext cx="5258562" cy="512233"/>
          </a:xfrm>
          <a:prstGeom prst="rect">
            <a:avLst/>
          </a:prstGeom>
          <a:noFill/>
          <a:ln/>
        </p:spPr>
        <p:txBody>
          <a:bodyPr wrap="square" lIns="0" tIns="0" rIns="0" bIns="0" rtlCol="0" anchor="t">
            <a:normAutofit/>
          </a:bodyPr>
          <a:lstStyle/>
          <a:p>
            <a:pPr algn="l" indent="0" marL="0">
              <a:lnSpc>
                <a:spcPts val="1917"/>
              </a:lnSpc>
              <a:buNone/>
            </a:pPr>
            <a:r>
              <a:rPr lang="en-US" sz="1350" dirty="0">
                <a:solidFill>
                  <a:srgbClr val="0B0748"/>
                </a:solidFill>
                <a:latin typeface="IBM Plex Sans" pitchFamily="34" charset="0"/>
                <a:ea typeface="IBM Plex Sans" pitchFamily="34" charset="-122"/>
                <a:cs typeface="IBM Plex Sans" pitchFamily="34" charset="-120"/>
              </a:rPr>
              <a:t>cert-manager délivre et renouvelle des certificats TLS. Vous décrivez l'autorité et le certificat voulu ; il produit le Secret.</a:t>
            </a:r>
            <a:endParaRPr lang="en-US" sz="1350" dirty="0"/>
          </a:p>
        </p:txBody>
      </p:sp>
      <p:sp>
        <p:nvSpPr>
          <p:cNvPr id="6" name="Shape 4"/>
          <p:cNvSpPr/>
          <p:nvPr/>
        </p:nvSpPr>
        <p:spPr>
          <a:xfrm>
            <a:off x="6280150" y="2164457"/>
            <a:ext cx="1480397" cy="656802"/>
          </a:xfrm>
          <a:prstGeom prst="roundRect">
            <a:avLst>
              <a:gd name="adj" fmla="val 14502"/>
            </a:avLst>
          </a:prstGeom>
          <a:solidFill>
            <a:srgbClr val="FDFDFF"/>
          </a:solidFill>
          <a:ln w="12700">
            <a:solidFill>
              <a:srgbClr val="0B0748"/>
            </a:solidFill>
            <a:prstDash val="solid"/>
          </a:ln>
        </p:spPr>
      </p:sp>
      <p:sp>
        <p:nvSpPr>
          <p:cNvPr id="7" name="Text 5"/>
          <p:cNvSpPr/>
          <p:nvPr/>
        </p:nvSpPr>
        <p:spPr>
          <a:xfrm>
            <a:off x="6410748" y="2266950"/>
            <a:ext cx="134344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Sora" pitchFamily="34" charset="0"/>
                <a:ea typeface="Sora" pitchFamily="34" charset="-122"/>
                <a:cs typeface="Sora" pitchFamily="34" charset="-120"/>
              </a:rPr>
              <a:t>ClusterIssuer</a:t>
            </a:r>
            <a:endParaRPr lang="en-US" sz="1400" dirty="0"/>
          </a:p>
        </p:txBody>
      </p:sp>
      <p:sp>
        <p:nvSpPr>
          <p:cNvPr id="8" name="Text 6"/>
          <p:cNvSpPr/>
          <p:nvPr/>
        </p:nvSpPr>
        <p:spPr>
          <a:xfrm>
            <a:off x="6563148" y="2541290"/>
            <a:ext cx="9144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6B6890"/>
                </a:solidFill>
                <a:latin typeface="JetBrains Mono" pitchFamily="49" charset="0"/>
                <a:ea typeface="JetBrains Mono" pitchFamily="49" charset="-122"/>
                <a:cs typeface="JetBrains Mono" pitchFamily="49" charset="-120"/>
              </a:rPr>
              <a:t>l'autorité</a:t>
            </a:r>
            <a:endParaRPr lang="en-US" sz="1000" dirty="0"/>
          </a:p>
        </p:txBody>
      </p:sp>
      <p:sp>
        <p:nvSpPr>
          <p:cNvPr id="9" name="Shape 7"/>
          <p:cNvSpPr/>
          <p:nvPr/>
        </p:nvSpPr>
        <p:spPr>
          <a:xfrm>
            <a:off x="6280150" y="2910185"/>
            <a:ext cx="1480397" cy="834707"/>
          </a:xfrm>
          <a:prstGeom prst="roundRect">
            <a:avLst>
              <a:gd name="adj" fmla="val 11411"/>
            </a:avLst>
          </a:prstGeom>
          <a:solidFill>
            <a:srgbClr val="FDFDFF"/>
          </a:solidFill>
          <a:ln w="12700">
            <a:solidFill>
              <a:srgbClr val="0B0748"/>
            </a:solidFill>
            <a:prstDash val="solid"/>
          </a:ln>
        </p:spPr>
      </p:sp>
      <p:sp>
        <p:nvSpPr>
          <p:cNvPr id="10" name="Text 8"/>
          <p:cNvSpPr/>
          <p:nvPr/>
        </p:nvSpPr>
        <p:spPr>
          <a:xfrm>
            <a:off x="6430063" y="3012678"/>
            <a:ext cx="1180465"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B0748"/>
                </a:solidFill>
                <a:latin typeface="Sora" pitchFamily="34" charset="0"/>
                <a:ea typeface="Sora" pitchFamily="34" charset="-122"/>
                <a:cs typeface="Sora" pitchFamily="34" charset="-120"/>
              </a:rPr>
              <a:t>Certificate</a:t>
            </a:r>
            <a:endParaRPr lang="en-US" sz="1400" dirty="0"/>
          </a:p>
        </p:txBody>
      </p:sp>
      <p:sp>
        <p:nvSpPr>
          <p:cNvPr id="11" name="Text 9"/>
          <p:cNvSpPr/>
          <p:nvPr/>
        </p:nvSpPr>
        <p:spPr>
          <a:xfrm>
            <a:off x="6433291" y="3287018"/>
            <a:ext cx="1224915"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6890"/>
                </a:solidFill>
                <a:latin typeface="JetBrains Mono" pitchFamily="49" charset="0"/>
                <a:ea typeface="JetBrains Mono" pitchFamily="49" charset="-122"/>
                <a:cs typeface="JetBrains Mono" pitchFamily="49" charset="-120"/>
              </a:rPr>
              <a:t>le certificat voulu</a:t>
            </a:r>
            <a:endParaRPr lang="en-US" sz="1000" dirty="0"/>
          </a:p>
        </p:txBody>
      </p:sp>
      <p:pic>
        <p:nvPicPr>
          <p:cNvPr id="12" name="Image 0" descr="arrow-right">    </p:cNvPr>
          <p:cNvPicPr>
            <a:picLocks noChangeAspect="1"/>
          </p:cNvPicPr>
          <p:nvPr/>
        </p:nvPicPr>
        <p:blipFill>
          <a:blip r:embed="rId1"/>
          <a:srcRect l="0" r="0" t="-296" b="-296"/>
          <a:stretch/>
        </p:blipFill>
        <p:spPr>
          <a:xfrm>
            <a:off x="7868496" y="2884785"/>
            <a:ext cx="214630" cy="139700"/>
          </a:xfrm>
          <a:prstGeom prst="rect">
            <a:avLst/>
          </a:prstGeom>
        </p:spPr>
      </p:pic>
      <p:sp>
        <p:nvSpPr>
          <p:cNvPr id="13" name="Shape 10"/>
          <p:cNvSpPr/>
          <p:nvPr/>
        </p:nvSpPr>
        <p:spPr>
          <a:xfrm>
            <a:off x="8184727" y="2502495"/>
            <a:ext cx="1372023" cy="904240"/>
          </a:xfrm>
          <a:prstGeom prst="roundRect">
            <a:avLst>
              <a:gd name="adj" fmla="val 11236"/>
            </a:avLst>
          </a:prstGeom>
          <a:solidFill>
            <a:srgbClr val="0B0748"/>
          </a:solidFill>
          <a:ln/>
        </p:spPr>
      </p:sp>
      <p:sp>
        <p:nvSpPr>
          <p:cNvPr id="14" name="Text 11"/>
          <p:cNvSpPr/>
          <p:nvPr/>
        </p:nvSpPr>
        <p:spPr>
          <a:xfrm>
            <a:off x="8337127" y="2604095"/>
            <a:ext cx="1118023"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4F9"/>
                </a:solidFill>
                <a:latin typeface="Sora" pitchFamily="34" charset="0"/>
                <a:ea typeface="Sora" pitchFamily="34" charset="-122"/>
                <a:cs typeface="Sora" pitchFamily="34" charset="-120"/>
              </a:rPr>
              <a:t>cert-manager</a:t>
            </a:r>
            <a:endParaRPr lang="en-US" sz="1400" dirty="0"/>
          </a:p>
        </p:txBody>
      </p:sp>
      <p:sp>
        <p:nvSpPr>
          <p:cNvPr id="15" name="Text 12"/>
          <p:cNvSpPr/>
          <p:nvPr/>
        </p:nvSpPr>
        <p:spPr>
          <a:xfrm>
            <a:off x="8413538" y="3127375"/>
            <a:ext cx="9144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FFB08F"/>
                </a:solidFill>
                <a:latin typeface="JetBrains Mono" pitchFamily="49" charset="0"/>
                <a:ea typeface="JetBrains Mono" pitchFamily="49" charset="-122"/>
                <a:cs typeface="JetBrains Mono" pitchFamily="49" charset="-120"/>
              </a:rPr>
              <a:t>contrôleur</a:t>
            </a:r>
            <a:endParaRPr lang="en-US" sz="1000" dirty="0"/>
          </a:p>
        </p:txBody>
      </p:sp>
      <p:pic>
        <p:nvPicPr>
          <p:cNvPr id="16" name="Image 1" descr="arrow-right">    </p:cNvPr>
          <p:cNvPicPr>
            <a:picLocks noChangeAspect="1"/>
          </p:cNvPicPr>
          <p:nvPr/>
        </p:nvPicPr>
        <p:blipFill>
          <a:blip r:embed="rId2"/>
          <a:srcRect l="0" r="0" t="-296" b="-296"/>
          <a:stretch/>
        </p:blipFill>
        <p:spPr>
          <a:xfrm>
            <a:off x="9658350" y="2884785"/>
            <a:ext cx="214630" cy="139700"/>
          </a:xfrm>
          <a:prstGeom prst="rect">
            <a:avLst/>
          </a:prstGeom>
        </p:spPr>
      </p:pic>
      <p:sp>
        <p:nvSpPr>
          <p:cNvPr id="17" name="Shape 13"/>
          <p:cNvSpPr/>
          <p:nvPr/>
        </p:nvSpPr>
        <p:spPr>
          <a:xfrm>
            <a:off x="9980930" y="2330450"/>
            <a:ext cx="1391920" cy="834707"/>
          </a:xfrm>
          <a:prstGeom prst="roundRect">
            <a:avLst>
              <a:gd name="adj" fmla="val 11411"/>
            </a:avLst>
          </a:prstGeom>
          <a:solidFill>
            <a:srgbClr val="FDFDFF"/>
          </a:solidFill>
          <a:ln w="12700">
            <a:solidFill>
              <a:srgbClr val="0B0748"/>
            </a:solidFill>
            <a:prstDash val="solid"/>
          </a:ln>
        </p:spPr>
      </p:sp>
      <p:sp>
        <p:nvSpPr>
          <p:cNvPr id="18" name="Text 14"/>
          <p:cNvSpPr/>
          <p:nvPr/>
        </p:nvSpPr>
        <p:spPr>
          <a:xfrm>
            <a:off x="10317491" y="2432645"/>
            <a:ext cx="718693"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B0748"/>
                </a:solidFill>
                <a:latin typeface="Sora" pitchFamily="34" charset="0"/>
                <a:ea typeface="Sora" pitchFamily="34" charset="-122"/>
                <a:cs typeface="Sora" pitchFamily="34" charset="-120"/>
              </a:rPr>
              <a:t>Secret</a:t>
            </a:r>
            <a:endParaRPr lang="en-US" sz="1400" dirty="0"/>
          </a:p>
        </p:txBody>
      </p:sp>
      <p:sp>
        <p:nvSpPr>
          <p:cNvPr id="19" name="Text 15"/>
          <p:cNvSpPr/>
          <p:nvPr/>
        </p:nvSpPr>
        <p:spPr>
          <a:xfrm>
            <a:off x="10134071" y="2706985"/>
            <a:ext cx="1136438"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6890"/>
                </a:solidFill>
                <a:latin typeface="JetBrains Mono" pitchFamily="49" charset="0"/>
                <a:ea typeface="JetBrains Mono" pitchFamily="49" charset="-122"/>
                <a:cs typeface="JetBrains Mono" pitchFamily="49" charset="-120"/>
              </a:rPr>
              <a:t>kubernetes.io/tls</a:t>
            </a:r>
            <a:endParaRPr lang="en-US" sz="1000" dirty="0"/>
          </a:p>
        </p:txBody>
      </p:sp>
      <p:sp>
        <p:nvSpPr>
          <p:cNvPr id="20" name="Text 16"/>
          <p:cNvSpPr/>
          <p:nvPr/>
        </p:nvSpPr>
        <p:spPr>
          <a:xfrm>
            <a:off x="9949180" y="3222228"/>
            <a:ext cx="1455420" cy="388620"/>
          </a:xfrm>
          <a:prstGeom prst="rect">
            <a:avLst/>
          </a:prstGeom>
          <a:noFill/>
          <a:ln/>
        </p:spPr>
        <p:txBody>
          <a:bodyPr wrap="square" lIns="0" tIns="0" rIns="0" bIns="0" rtlCol="0" anchor="t">
            <a:normAutofit/>
          </a:bodyPr>
          <a:lstStyle/>
          <a:p>
            <a:pPr algn="ctr" indent="0" marL="0">
              <a:lnSpc>
                <a:spcPts val="1430"/>
              </a:lnSpc>
              <a:buNone/>
            </a:pPr>
            <a:r>
              <a:rPr lang="en-US" sz="1100" dirty="0">
                <a:solidFill>
                  <a:srgbClr val="6B6890"/>
                </a:solidFill>
                <a:latin typeface="IBM Plex Sans" pitchFamily="34" charset="0"/>
                <a:ea typeface="IBM Plex Sans" pitchFamily="34" charset="-122"/>
                <a:cs typeface="IBM Plex Sans" pitchFamily="34" charset="-120"/>
              </a:rPr>
              <a:t>renouvelé avant expiration</a:t>
            </a:r>
            <a:endParaRPr lang="en-US" sz="1100" dirty="0"/>
          </a:p>
        </p:txBody>
      </p:sp>
      <p:sp>
        <p:nvSpPr>
          <p:cNvPr id="21" name="Shape 17"/>
          <p:cNvSpPr/>
          <p:nvPr/>
        </p:nvSpPr>
        <p:spPr>
          <a:xfrm>
            <a:off x="6273800" y="4231680"/>
            <a:ext cx="5105400" cy="1610360"/>
          </a:xfrm>
          <a:prstGeom prst="roundRect">
            <a:avLst>
              <a:gd name="adj" fmla="val 7886"/>
            </a:avLst>
          </a:prstGeom>
          <a:solidFill>
            <a:srgbClr val="0B0748"/>
          </a:solidFill>
          <a:ln/>
        </p:spPr>
      </p:sp>
      <p:sp>
        <p:nvSpPr>
          <p:cNvPr id="22" name="Text 18"/>
          <p:cNvSpPr/>
          <p:nvPr/>
        </p:nvSpPr>
        <p:spPr>
          <a:xfrm>
            <a:off x="6477000" y="4396780"/>
            <a:ext cx="483997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L'EXPÉRIENCE DU TP9</a:t>
            </a:r>
            <a:endParaRPr lang="en-US" sz="1200" dirty="0"/>
          </a:p>
        </p:txBody>
      </p:sp>
      <p:sp>
        <p:nvSpPr>
          <p:cNvPr id="23" name="Text 19"/>
          <p:cNvSpPr/>
          <p:nvPr/>
        </p:nvSpPr>
        <p:spPr>
          <a:xfrm>
            <a:off x="6477000" y="4673600"/>
            <a:ext cx="4839970"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5F4F9"/>
                </a:solidFill>
                <a:latin typeface="Sora" pitchFamily="34" charset="0"/>
                <a:ea typeface="Sora" pitchFamily="34" charset="-122"/>
                <a:cs typeface="Sora" pitchFamily="34" charset="-120"/>
              </a:rPr>
              <a:t>Supprimez le Secret podinfo-tls : quelques secondes plus tard, il est recréé.</a:t>
            </a:r>
            <a:endParaRPr lang="en-US" sz="1500" dirty="0"/>
          </a:p>
        </p:txBody>
      </p:sp>
      <p:sp>
        <p:nvSpPr>
          <p:cNvPr id="24" name="Text 20"/>
          <p:cNvSpPr/>
          <p:nvPr/>
        </p:nvSpPr>
        <p:spPr>
          <a:xfrm>
            <a:off x="6477000" y="5232400"/>
            <a:ext cx="4839970"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B9B6E8"/>
                </a:solidFill>
                <a:latin typeface="IBM Plex Sans" pitchFamily="34" charset="0"/>
                <a:ea typeface="IBM Plex Sans" pitchFamily="34" charset="-122"/>
                <a:cs typeface="IBM Plex Sans" pitchFamily="34" charset="-120"/>
              </a:rPr>
              <a:t>C'est la réconciliation du module 2, appliquée par un contrôleur qui ne fait pas partie de Kubernetes.</a:t>
            </a:r>
            <a:endParaRPr lang="en-US" sz="1250" dirty="0"/>
          </a:p>
        </p:txBody>
      </p:sp>
      <p:pic>
        <p:nvPicPr>
          <p:cNvPr id="25" name="Image 2" descr="preencoded.png">    </p:cNvPr>
          <p:cNvPicPr>
            <a:picLocks noChangeAspect="1"/>
          </p:cNvPicPr>
          <p:nvPr/>
        </p:nvPicPr>
        <p:blipFill>
          <a:blip r:embed="rId3"/>
          <a:srcRect l="0" r="0" t="-35" b="-35"/>
          <a:stretch/>
        </p:blipFill>
        <p:spPr>
          <a:xfrm>
            <a:off x="812800" y="6299200"/>
            <a:ext cx="152400" cy="152506"/>
          </a:xfrm>
          <a:prstGeom prst="rect">
            <a:avLst/>
          </a:prstGeom>
        </p:spPr>
      </p:pic>
      <p:sp>
        <p:nvSpPr>
          <p:cNvPr id="26" name="Text 21"/>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7" name="Image 3" descr="Parcours : module 13 sur 16">    </p:cNvPr>
          <p:cNvPicPr>
            <a:picLocks noChangeAspect="1"/>
          </p:cNvPicPr>
          <p:nvPr/>
        </p:nvPicPr>
        <p:blipFill>
          <a:blip r:embed="rId4"/>
          <a:srcRect l="0" r="0" t="-35" b="-35"/>
          <a:stretch/>
        </p:blipFill>
        <p:spPr>
          <a:xfrm>
            <a:off x="9207500" y="6299200"/>
            <a:ext cx="2171700" cy="152506"/>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13 · CONTRÔLEURS, OPÉRATEURS ET HELM</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Helm, le gestionnaire de paquets</a:t>
            </a:r>
            <a:endParaRPr lang="en-US" sz="2800" dirty="0"/>
          </a:p>
        </p:txBody>
      </p:sp>
      <p:sp>
        <p:nvSpPr>
          <p:cNvPr id="4" name="Text 2"/>
          <p:cNvSpPr/>
          <p:nvPr/>
        </p:nvSpPr>
        <p:spPr>
          <a:xfrm>
            <a:off x="812800" y="15189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Helm installe une application complète (Deployments, Services, ConfigMaps, RBAC…) en une commande, avec des paramètres.</a:t>
            </a:r>
            <a:endParaRPr lang="en-US" sz="1400" dirty="0"/>
          </a:p>
        </p:txBody>
      </p:sp>
      <p:sp>
        <p:nvSpPr>
          <p:cNvPr id="5" name="Text 3"/>
          <p:cNvSpPr/>
          <p:nvPr/>
        </p:nvSpPr>
        <p:spPr>
          <a:xfrm>
            <a:off x="812800" y="1945680"/>
            <a:ext cx="559866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VOCABULAIRE</a:t>
            </a:r>
            <a:endParaRPr lang="en-US" sz="1200" dirty="0"/>
          </a:p>
        </p:txBody>
      </p:sp>
      <p:sp>
        <p:nvSpPr>
          <p:cNvPr id="6" name="Shape 4"/>
          <p:cNvSpPr/>
          <p:nvPr/>
        </p:nvSpPr>
        <p:spPr>
          <a:xfrm>
            <a:off x="812800" y="2841307"/>
            <a:ext cx="5435600" cy="0"/>
          </a:xfrm>
          <a:prstGeom prst="line">
            <a:avLst/>
          </a:prstGeom>
          <a:noFill/>
          <a:ln w="6350">
            <a:solidFill>
              <a:srgbClr val="E1DFEE"/>
            </a:solidFill>
            <a:prstDash val="solid"/>
          </a:ln>
        </p:spPr>
      </p:sp>
      <p:sp>
        <p:nvSpPr>
          <p:cNvPr id="7" name="Text 5"/>
          <p:cNvSpPr/>
          <p:nvPr/>
        </p:nvSpPr>
        <p:spPr>
          <a:xfrm>
            <a:off x="812800" y="2273300"/>
            <a:ext cx="1130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Sora" pitchFamily="34" charset="0"/>
                <a:ea typeface="Sora" pitchFamily="34" charset="-122"/>
                <a:cs typeface="Sora" pitchFamily="34" charset="-120"/>
              </a:rPr>
              <a:t>Chart</a:t>
            </a:r>
            <a:endParaRPr lang="en-US" sz="1500" dirty="0"/>
          </a:p>
        </p:txBody>
      </p:sp>
      <p:sp>
        <p:nvSpPr>
          <p:cNvPr id="8" name="Text 6"/>
          <p:cNvSpPr/>
          <p:nvPr/>
        </p:nvSpPr>
        <p:spPr>
          <a:xfrm>
            <a:off x="2044700" y="2292747"/>
            <a:ext cx="4329811" cy="481118"/>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3F3C6B"/>
                </a:solidFill>
                <a:latin typeface="IBM Plex Sans" pitchFamily="34" charset="0"/>
                <a:ea typeface="IBM Plex Sans" pitchFamily="34" charset="-122"/>
                <a:cs typeface="IBM Plex Sans" pitchFamily="34" charset="-120"/>
              </a:rPr>
              <a:t>Paquet : des modèles de manifestes et leurs valeurs par défaut</a:t>
            </a:r>
            <a:endParaRPr lang="en-US" sz="1300" dirty="0"/>
          </a:p>
        </p:txBody>
      </p:sp>
      <p:sp>
        <p:nvSpPr>
          <p:cNvPr id="9" name="Shape 7"/>
          <p:cNvSpPr/>
          <p:nvPr/>
        </p:nvSpPr>
        <p:spPr>
          <a:xfrm>
            <a:off x="812800" y="3526909"/>
            <a:ext cx="5435600" cy="0"/>
          </a:xfrm>
          <a:prstGeom prst="line">
            <a:avLst/>
          </a:prstGeom>
          <a:noFill/>
          <a:ln w="6350">
            <a:solidFill>
              <a:srgbClr val="E1DFEE"/>
            </a:solidFill>
            <a:prstDash val="solid"/>
          </a:ln>
        </p:spPr>
      </p:sp>
      <p:sp>
        <p:nvSpPr>
          <p:cNvPr id="10" name="Text 8"/>
          <p:cNvSpPr/>
          <p:nvPr/>
        </p:nvSpPr>
        <p:spPr>
          <a:xfrm>
            <a:off x="812800" y="2958902"/>
            <a:ext cx="1130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Sora" pitchFamily="34" charset="0"/>
                <a:ea typeface="Sora" pitchFamily="34" charset="-122"/>
                <a:cs typeface="Sora" pitchFamily="34" charset="-120"/>
              </a:rPr>
              <a:t>Values</a:t>
            </a:r>
            <a:endParaRPr lang="en-US" sz="1500" dirty="0"/>
          </a:p>
        </p:txBody>
      </p:sp>
      <p:sp>
        <p:nvSpPr>
          <p:cNvPr id="11" name="Text 9"/>
          <p:cNvSpPr/>
          <p:nvPr/>
        </p:nvSpPr>
        <p:spPr>
          <a:xfrm>
            <a:off x="2044700" y="2978348"/>
            <a:ext cx="4329811" cy="481118"/>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3F3C6B"/>
                </a:solidFill>
                <a:latin typeface="IBM Plex Sans" pitchFamily="34" charset="0"/>
                <a:ea typeface="IBM Plex Sans" pitchFamily="34" charset="-122"/>
                <a:cs typeface="IBM Plex Sans" pitchFamily="34" charset="-120"/>
              </a:rPr>
              <a:t>Paramètres qui remplissent les modèles (values.yaml, -f, --set)</a:t>
            </a:r>
            <a:endParaRPr lang="en-US" sz="1300" dirty="0"/>
          </a:p>
        </p:txBody>
      </p:sp>
      <p:sp>
        <p:nvSpPr>
          <p:cNvPr id="12" name="Shape 10"/>
          <p:cNvSpPr/>
          <p:nvPr/>
        </p:nvSpPr>
        <p:spPr>
          <a:xfrm>
            <a:off x="812800" y="4003821"/>
            <a:ext cx="5435600" cy="0"/>
          </a:xfrm>
          <a:prstGeom prst="line">
            <a:avLst/>
          </a:prstGeom>
          <a:noFill/>
          <a:ln w="6350">
            <a:solidFill>
              <a:srgbClr val="E1DFEE"/>
            </a:solidFill>
            <a:prstDash val="solid"/>
          </a:ln>
        </p:spPr>
      </p:sp>
      <p:sp>
        <p:nvSpPr>
          <p:cNvPr id="13" name="Text 11"/>
          <p:cNvSpPr/>
          <p:nvPr/>
        </p:nvSpPr>
        <p:spPr>
          <a:xfrm>
            <a:off x="812800" y="3644305"/>
            <a:ext cx="1130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Sora" pitchFamily="34" charset="0"/>
                <a:ea typeface="Sora" pitchFamily="34" charset="-122"/>
                <a:cs typeface="Sora" pitchFamily="34" charset="-120"/>
              </a:rPr>
              <a:t>Release</a:t>
            </a:r>
            <a:endParaRPr lang="en-US" sz="1500" dirty="0"/>
          </a:p>
        </p:txBody>
      </p:sp>
      <p:sp>
        <p:nvSpPr>
          <p:cNvPr id="14" name="Text 12"/>
          <p:cNvSpPr/>
          <p:nvPr/>
        </p:nvSpPr>
        <p:spPr>
          <a:xfrm>
            <a:off x="2044700" y="3663752"/>
            <a:ext cx="4329811" cy="253259"/>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3F3C6B"/>
                </a:solidFill>
                <a:latin typeface="IBM Plex Sans" pitchFamily="34" charset="0"/>
                <a:ea typeface="IBM Plex Sans" pitchFamily="34" charset="-122"/>
                <a:cs typeface="IBM Plex Sans" pitchFamily="34" charset="-120"/>
              </a:rPr>
              <a:t>Une installation d'un chart dans un cluster, avec un nom</a:t>
            </a:r>
            <a:endParaRPr lang="en-US" sz="1300" dirty="0"/>
          </a:p>
        </p:txBody>
      </p:sp>
      <p:sp>
        <p:nvSpPr>
          <p:cNvPr id="15" name="Shape 13"/>
          <p:cNvSpPr/>
          <p:nvPr/>
        </p:nvSpPr>
        <p:spPr>
          <a:xfrm>
            <a:off x="812800" y="4689356"/>
            <a:ext cx="5435600" cy="0"/>
          </a:xfrm>
          <a:prstGeom prst="line">
            <a:avLst/>
          </a:prstGeom>
          <a:noFill/>
          <a:ln w="6350">
            <a:solidFill>
              <a:srgbClr val="E1DFEE"/>
            </a:solidFill>
            <a:prstDash val="solid"/>
          </a:ln>
        </p:spPr>
      </p:sp>
      <p:sp>
        <p:nvSpPr>
          <p:cNvPr id="16" name="Text 14"/>
          <p:cNvSpPr/>
          <p:nvPr/>
        </p:nvSpPr>
        <p:spPr>
          <a:xfrm>
            <a:off x="812800" y="4121348"/>
            <a:ext cx="1130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Sora" pitchFamily="34" charset="0"/>
                <a:ea typeface="Sora" pitchFamily="34" charset="-122"/>
                <a:cs typeface="Sora" pitchFamily="34" charset="-120"/>
              </a:rPr>
              <a:t>Révision</a:t>
            </a:r>
            <a:endParaRPr lang="en-US" sz="1500" dirty="0"/>
          </a:p>
        </p:txBody>
      </p:sp>
      <p:sp>
        <p:nvSpPr>
          <p:cNvPr id="17" name="Text 15"/>
          <p:cNvSpPr/>
          <p:nvPr/>
        </p:nvSpPr>
        <p:spPr>
          <a:xfrm>
            <a:off x="2044700" y="4140795"/>
            <a:ext cx="4329811" cy="481118"/>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3F3C6B"/>
                </a:solidFill>
                <a:latin typeface="IBM Plex Sans" pitchFamily="34" charset="0"/>
                <a:ea typeface="IBM Plex Sans" pitchFamily="34" charset="-122"/>
                <a:cs typeface="IBM Plex Sans" pitchFamily="34" charset="-120"/>
              </a:rPr>
              <a:t>Chaque installation ou mise à jour d'une release, permettant le retour arrière</a:t>
            </a:r>
            <a:endParaRPr lang="en-US" sz="1300" dirty="0"/>
          </a:p>
        </p:txBody>
      </p:sp>
      <p:sp>
        <p:nvSpPr>
          <p:cNvPr id="18" name="Shape 16"/>
          <p:cNvSpPr/>
          <p:nvPr/>
        </p:nvSpPr>
        <p:spPr>
          <a:xfrm>
            <a:off x="812800" y="5166267"/>
            <a:ext cx="5435600" cy="0"/>
          </a:xfrm>
          <a:prstGeom prst="line">
            <a:avLst/>
          </a:prstGeom>
          <a:noFill/>
          <a:ln w="6350">
            <a:solidFill>
              <a:srgbClr val="E1DFEE"/>
            </a:solidFill>
            <a:prstDash val="solid"/>
          </a:ln>
        </p:spPr>
      </p:sp>
      <p:sp>
        <p:nvSpPr>
          <p:cNvPr id="19" name="Text 17"/>
          <p:cNvSpPr/>
          <p:nvPr/>
        </p:nvSpPr>
        <p:spPr>
          <a:xfrm>
            <a:off x="812800" y="4806752"/>
            <a:ext cx="1130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Sora" pitchFamily="34" charset="0"/>
                <a:ea typeface="Sora" pitchFamily="34" charset="-122"/>
                <a:cs typeface="Sora" pitchFamily="34" charset="-120"/>
              </a:rPr>
              <a:t>Dépôt</a:t>
            </a:r>
            <a:endParaRPr lang="en-US" sz="1500" dirty="0"/>
          </a:p>
        </p:txBody>
      </p:sp>
      <p:sp>
        <p:nvSpPr>
          <p:cNvPr id="20" name="Text 18"/>
          <p:cNvSpPr/>
          <p:nvPr/>
        </p:nvSpPr>
        <p:spPr>
          <a:xfrm>
            <a:off x="2044700" y="4826198"/>
            <a:ext cx="4329811" cy="253259"/>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3F3C6B"/>
                </a:solidFill>
                <a:latin typeface="IBM Plex Sans" pitchFamily="34" charset="0"/>
                <a:ea typeface="IBM Plex Sans" pitchFamily="34" charset="-122"/>
                <a:cs typeface="IBM Plex Sans" pitchFamily="34" charset="-120"/>
              </a:rPr>
              <a:t>Serveur qui publie des charts (HTTP ou registre OCI)</a:t>
            </a:r>
            <a:endParaRPr lang="en-US" sz="1300" dirty="0"/>
          </a:p>
        </p:txBody>
      </p:sp>
      <p:sp>
        <p:nvSpPr>
          <p:cNvPr id="21" name="Text 19"/>
          <p:cNvSpPr/>
          <p:nvPr/>
        </p:nvSpPr>
        <p:spPr>
          <a:xfrm>
            <a:off x="6553200" y="1945680"/>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STRUCTURE D'UN CHART</a:t>
            </a:r>
            <a:endParaRPr lang="en-US" sz="1200" dirty="0"/>
          </a:p>
        </p:txBody>
      </p:sp>
      <p:sp>
        <p:nvSpPr>
          <p:cNvPr id="22" name="Text 20"/>
          <p:cNvSpPr/>
          <p:nvPr/>
        </p:nvSpPr>
        <p:spPr>
          <a:xfrm>
            <a:off x="6553200" y="2247900"/>
            <a:ext cx="4826000" cy="3594100"/>
          </a:xfrm>
          <a:prstGeom prst="roundRect">
            <a:avLst>
              <a:gd name="adj" fmla="val 2827"/>
            </a:avLst>
          </a:prstGeom>
          <a:solidFill>
            <a:srgbClr val="0B0748"/>
          </a:solidFill>
          <a:ln/>
        </p:spPr>
        <p:txBody>
          <a:bodyPr wrap="none" lIns="148042" tIns="109942" rIns="13930" bIns="109942" rtlCol="0" anchor="ctr">
            <a:normAutofit/>
          </a:bodyPr>
          <a:lstStyle/>
          <a:p>
            <a:pPr algn="l" indent="0" marL="0">
              <a:lnSpc>
                <a:spcPts val="1725"/>
              </a:lnSpc>
              <a:buNone/>
            </a:pPr>
            <a:r>
              <a:rPr lang="en-US" sz="1150" dirty="0">
                <a:solidFill>
                  <a:srgbClr val="ECEAFF"/>
                </a:solidFill>
                <a:latin typeface="JetBrains Mono" pitchFamily="49" charset="0"/>
                <a:ea typeface="JetBrains Mono" pitchFamily="49" charset="-122"/>
                <a:cs typeface="JetBrains Mono" pitchFamily="49" charset="-120"/>
              </a:rPr>
              <a:t>mon-app/</a:t>
            </a:r>
            <a:endParaRPr lang="en-US" sz="1150" dirty="0"/>
          </a:p>
          <a:p>
            <a:pPr algn="l" indent="0" marL="0">
              <a:lnSpc>
                <a:spcPts val="1725"/>
              </a:lnSpc>
              <a:buNone/>
            </a:pPr>
            <a:r>
              <a:rPr lang="en-US" sz="1150" dirty="0">
                <a:solidFill>
                  <a:srgbClr val="ECEAFF"/>
                </a:solidFill>
                <a:latin typeface="JetBrains Mono" pitchFamily="49" charset="0"/>
                <a:ea typeface="JetBrains Mono" pitchFamily="49" charset="-122"/>
                <a:cs typeface="JetBrains Mono" pitchFamily="49" charset="-120"/>
              </a:rPr>
              <a:t>├── Chart.yaml        </a:t>
            </a:r>
            <a:r>
              <a:rPr lang="en-US" sz="1150" dirty="0">
                <a:solidFill>
                  <a:srgbClr val="9A96D0"/>
                </a:solidFill>
                <a:latin typeface="JetBrains Mono" pitchFamily="49" charset="0"/>
                <a:ea typeface="JetBrains Mono" pitchFamily="49" charset="-122"/>
                <a:cs typeface="JetBrains Mono" pitchFamily="49" charset="-120"/>
              </a:rPr>
              <a:t># nom et versions</a:t>
            </a:r>
            <a:endParaRPr lang="en-US" sz="1150" dirty="0"/>
          </a:p>
          <a:p>
            <a:pPr algn="l" indent="0" marL="0">
              <a:lnSpc>
                <a:spcPts val="1725"/>
              </a:lnSpc>
              <a:buNone/>
            </a:pPr>
            <a:r>
              <a:rPr lang="en-US" sz="1150" dirty="0">
                <a:solidFill>
                  <a:srgbClr val="ECEAFF"/>
                </a:solidFill>
                <a:latin typeface="JetBrains Mono" pitchFamily="49" charset="0"/>
                <a:ea typeface="JetBrains Mono" pitchFamily="49" charset="-122"/>
                <a:cs typeface="JetBrains Mono" pitchFamily="49" charset="-120"/>
              </a:rPr>
              <a:t>├── values.yaml       </a:t>
            </a:r>
            <a:r>
              <a:rPr lang="en-US" sz="1150" dirty="0">
                <a:solidFill>
                  <a:srgbClr val="9A96D0"/>
                </a:solidFill>
                <a:latin typeface="JetBrains Mono" pitchFamily="49" charset="0"/>
                <a:ea typeface="JetBrains Mono" pitchFamily="49" charset="-122"/>
                <a:cs typeface="JetBrains Mono" pitchFamily="49" charset="-120"/>
              </a:rPr>
              <a:t># valeurs par défaut</a:t>
            </a:r>
            <a:endParaRPr lang="en-US" sz="1150" dirty="0"/>
          </a:p>
          <a:p>
            <a:pPr algn="l" indent="0" marL="0">
              <a:lnSpc>
                <a:spcPts val="1725"/>
              </a:lnSpc>
              <a:buNone/>
            </a:pPr>
            <a:r>
              <a:rPr lang="en-US" sz="1150" dirty="0">
                <a:solidFill>
                  <a:srgbClr val="ECEAFF"/>
                </a:solidFill>
                <a:latin typeface="JetBrains Mono" pitchFamily="49" charset="0"/>
                <a:ea typeface="JetBrains Mono" pitchFamily="49" charset="-122"/>
                <a:cs typeface="JetBrains Mono" pitchFamily="49" charset="-120"/>
              </a:rPr>
              <a:t>└── templates/</a:t>
            </a:r>
            <a:endParaRPr lang="en-US" sz="1150" dirty="0"/>
          </a:p>
          <a:p>
            <a:pPr algn="l" indent="0" marL="0">
              <a:lnSpc>
                <a:spcPts val="1725"/>
              </a:lnSpc>
              <a:buNone/>
            </a:pPr>
            <a:r>
              <a:rPr lang="en-US" sz="1150" dirty="0">
                <a:solidFill>
                  <a:srgbClr val="ECEAFF"/>
                </a:solidFill>
                <a:latin typeface="JetBrains Mono" pitchFamily="49" charset="0"/>
                <a:ea typeface="JetBrains Mono" pitchFamily="49" charset="-122"/>
                <a:cs typeface="JetBrains Mono" pitchFamily="49" charset="-120"/>
              </a:rPr>
              <a:t>    ├── deployment.yaml </a:t>
            </a:r>
            <a:r>
              <a:rPr lang="en-US" sz="1150" dirty="0">
                <a:solidFill>
                  <a:srgbClr val="9A96D0"/>
                </a:solidFill>
                <a:latin typeface="JetBrains Mono" pitchFamily="49" charset="0"/>
                <a:ea typeface="JetBrains Mono" pitchFamily="49" charset="-122"/>
                <a:cs typeface="JetBrains Mono" pitchFamily="49" charset="-120"/>
              </a:rPr>
              <a:t># modèles à variables</a:t>
            </a:r>
            <a:endParaRPr lang="en-US" sz="1150" dirty="0"/>
          </a:p>
          <a:p>
            <a:pPr algn="l" indent="0" marL="0">
              <a:lnSpc>
                <a:spcPts val="1725"/>
              </a:lnSpc>
              <a:buNone/>
            </a:pPr>
            <a:r>
              <a:rPr lang="en-US" sz="1150" dirty="0">
                <a:solidFill>
                  <a:srgbClr val="ECEAFF"/>
                </a:solidFill>
                <a:latin typeface="JetBrains Mono" pitchFamily="49" charset="0"/>
                <a:ea typeface="JetBrains Mono" pitchFamily="49" charset="-122"/>
                <a:cs typeface="JetBrains Mono" pitchFamily="49" charset="-120"/>
              </a:rPr>
              <a:t>                        </a:t>
            </a:r>
            <a:r>
              <a:rPr lang="en-US" sz="1150" dirty="0">
                <a:solidFill>
                  <a:srgbClr val="9A96D0"/>
                </a:solidFill>
                <a:latin typeface="JetBrains Mono" pitchFamily="49" charset="0"/>
                <a:ea typeface="JetBrains Mono" pitchFamily="49" charset="-122"/>
                <a:cs typeface="JetBrains Mono" pitchFamily="49" charset="-120"/>
              </a:rPr>
              <a:t># {{ .Values.replicaCount }}</a:t>
            </a:r>
            <a:endParaRPr lang="en-US" sz="1150" dirty="0"/>
          </a:p>
          <a:p>
            <a:pPr algn="l" indent="0" marL="0">
              <a:lnSpc>
                <a:spcPts val="1725"/>
              </a:lnSpc>
              <a:buNone/>
            </a:pPr>
            <a:r>
              <a:rPr lang="en-US" sz="1150" dirty="0">
                <a:solidFill>
                  <a:srgbClr val="ECEAFF"/>
                </a:solidFill>
                <a:latin typeface="JetBrains Mono" pitchFamily="49" charset="0"/>
                <a:ea typeface="JetBrains Mono" pitchFamily="49" charset="-122"/>
                <a:cs typeface="JetBrains Mono" pitchFamily="49" charset="-120"/>
              </a:rPr>
              <a:t>    ├── service.yaml</a:t>
            </a:r>
            <a:endParaRPr lang="en-US" sz="1150" dirty="0"/>
          </a:p>
          <a:p>
            <a:pPr algn="l" indent="0" marL="0">
              <a:lnSpc>
                <a:spcPts val="1725"/>
              </a:lnSpc>
              <a:buNone/>
            </a:pPr>
            <a:r>
              <a:rPr lang="en-US" sz="1150" dirty="0">
                <a:solidFill>
                  <a:srgbClr val="ECEAFF"/>
                </a:solidFill>
                <a:latin typeface="JetBrains Mono" pitchFamily="49" charset="0"/>
                <a:ea typeface="JetBrains Mono" pitchFamily="49" charset="-122"/>
                <a:cs typeface="JetBrains Mono" pitchFamily="49" charset="-120"/>
              </a:rPr>
              <a:t>    └── _helpers.tpl</a:t>
            </a:r>
            <a:endParaRPr lang="en-US" sz="1150" dirty="0"/>
          </a:p>
        </p:txBody>
      </p:sp>
      <p:pic>
        <p:nvPicPr>
          <p:cNvPr id="23"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24" name="Text 21"/>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1" descr="Parcours : module 13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13 · CONTRÔLEURS, OPÉRATEURS ET HELM</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Helm en pratique</a:t>
            </a:r>
            <a:endParaRPr lang="en-US" sz="2800" dirty="0"/>
          </a:p>
        </p:txBody>
      </p:sp>
      <p:sp>
        <p:nvSpPr>
          <p:cNvPr id="4" name="Text 2"/>
          <p:cNvSpPr/>
          <p:nvPr/>
        </p:nvSpPr>
        <p:spPr>
          <a:xfrm>
            <a:off x="812800" y="1531640"/>
            <a:ext cx="10566400" cy="2684780"/>
          </a:xfrm>
          <a:prstGeom prst="roundRect">
            <a:avLst>
              <a:gd name="adj" fmla="val 3784"/>
            </a:avLst>
          </a:prstGeom>
          <a:solidFill>
            <a:srgbClr val="0B0748"/>
          </a:solidFill>
          <a:ln/>
        </p:spPr>
        <p:txBody>
          <a:bodyPr wrap="none" lIns="160742" tIns="84542" rIns="0" bIns="84542" rtlCol="0" anchor="ctr">
            <a:normAutofit/>
          </a:bodyPr>
          <a:lstStyle/>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helm repo add jetstack https://charts.jetstack.io       </a:t>
            </a:r>
            <a:r>
              <a:rPr lang="en-US" sz="1100" dirty="0">
                <a:solidFill>
                  <a:srgbClr val="9A96D0"/>
                </a:solidFill>
                <a:latin typeface="JetBrains Mono" pitchFamily="49" charset="0"/>
                <a:ea typeface="JetBrains Mono" pitchFamily="49" charset="-122"/>
                <a:cs typeface="JetBrains Mono" pitchFamily="49" charset="-120"/>
              </a:rPr>
              <a:t># déclarer un dépôt</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helm repo update</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helm search repo cert-manager</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helm show values jetstack/cert-manager &gt; valeurs.yaml   </a:t>
            </a:r>
            <a:r>
              <a:rPr lang="en-US" sz="1100" dirty="0">
                <a:solidFill>
                  <a:srgbClr val="9A96D0"/>
                </a:solidFill>
                <a:latin typeface="JetBrains Mono" pitchFamily="49" charset="0"/>
                <a:ea typeface="JetBrains Mono" pitchFamily="49" charset="-122"/>
                <a:cs typeface="JetBrains Mono" pitchFamily="49" charset="-120"/>
              </a:rPr>
              <a:t># paramètres disponibles</a:t>
            </a:r>
            <a:endParaRPr lang="en-US" sz="1100" dirty="0"/>
          </a:p>
          <a:p>
            <a:pPr algn="l" indent="0" marL="0">
              <a:lnSpc>
                <a:spcPts val="1595"/>
              </a:lnSpc>
              <a:buNone/>
            </a:pPr>
            <a:r>
              <a:rPr lang="en-US" sz="1100" dirty="0">
                <a:solidFill>
                  <a:srgbClr val="FFB08F"/>
                </a:solidFill>
                <a:latin typeface="JetBrains Mono" pitchFamily="49" charset="0"/>
                <a:ea typeface="JetBrains Mono" pitchFamily="49" charset="-122"/>
                <a:cs typeface="JetBrains Mono" pitchFamily="49" charset="-120"/>
              </a:rPr>
              <a:t>helm install</a:t>
            </a:r>
            <a:r>
              <a:rPr lang="en-US" sz="1100" dirty="0">
                <a:solidFill>
                  <a:srgbClr val="ECEAFF"/>
                </a:solidFill>
                <a:latin typeface="JetBrains Mono" pitchFamily="49" charset="0"/>
                <a:ea typeface="JetBrains Mono" pitchFamily="49" charset="-122"/>
                <a:cs typeface="JetBrains Mono" pitchFamily="49" charset="-120"/>
              </a:rPr>
              <a:t> cert-manager jetstack/cert-manager -n cert-manager --create-namespace --set crds.enabled=true</a:t>
            </a:r>
            <a:endParaRPr lang="en-US" sz="1100" dirty="0"/>
          </a:p>
          <a:p>
            <a:pPr algn="l" indent="0" marL="0">
              <a:lnSpc>
                <a:spcPts val="1595"/>
              </a:lnSpc>
              <a:buNone/>
            </a:pPr>
            <a:r>
              <a:rPr lang="en-US" sz="1100" dirty="0">
                <a:solidFill>
                  <a:srgbClr val="9A96D0"/>
                </a:solidFill>
                <a:latin typeface="JetBrains Mono" pitchFamily="49" charset="0"/>
                <a:ea typeface="JetBrains Mono" pitchFamily="49" charset="-122"/>
                <a:cs typeface="JetBrains Mono" pitchFamily="49" charset="-120"/>
              </a:rPr>
              <a:t># installer ou mettre à jour :</a:t>
            </a:r>
            <a:endParaRPr lang="en-US" sz="1100" dirty="0"/>
          </a:p>
          <a:p>
            <a:pPr algn="l" indent="0" marL="0">
              <a:lnSpc>
                <a:spcPts val="1595"/>
              </a:lnSpc>
              <a:buNone/>
            </a:pPr>
            <a:r>
              <a:rPr lang="en-US" sz="1100" dirty="0">
                <a:solidFill>
                  <a:srgbClr val="FFB08F"/>
                </a:solidFill>
                <a:latin typeface="JetBrains Mono" pitchFamily="49" charset="0"/>
                <a:ea typeface="JetBrains Mono" pitchFamily="49" charset="-122"/>
                <a:cs typeface="JetBrains Mono" pitchFamily="49" charset="-120"/>
              </a:rPr>
              <a:t>helm upgrade --install</a:t>
            </a:r>
            <a:r>
              <a:rPr lang="en-US" sz="1100" dirty="0">
                <a:solidFill>
                  <a:srgbClr val="ECEAFF"/>
                </a:solidFill>
                <a:latin typeface="JetBrains Mono" pitchFamily="49" charset="0"/>
                <a:ea typeface="JetBrains Mono" pitchFamily="49" charset="-122"/>
                <a:cs typeface="JetBrains Mono" pitchFamily="49" charset="-120"/>
              </a:rPr>
              <a:t> cert-manager jetstack/cert-manager -n cert-manager -f valeurs.yaml</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helm list -A                                            </a:t>
            </a:r>
            <a:r>
              <a:rPr lang="en-US" sz="1100" dirty="0">
                <a:solidFill>
                  <a:srgbClr val="9A96D0"/>
                </a:solidFill>
                <a:latin typeface="JetBrains Mono" pitchFamily="49" charset="0"/>
                <a:ea typeface="JetBrains Mono" pitchFamily="49" charset="-122"/>
                <a:cs typeface="JetBrains Mono" pitchFamily="49" charset="-120"/>
              </a:rPr>
              <a:t># releases installées</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helm history cert-manager -n cert-manager</a:t>
            </a:r>
            <a:endParaRPr lang="en-US" sz="1100" dirty="0"/>
          </a:p>
          <a:p>
            <a:pPr algn="l" indent="0" marL="0">
              <a:lnSpc>
                <a:spcPts val="1595"/>
              </a:lnSpc>
              <a:buNone/>
            </a:pPr>
            <a:r>
              <a:rPr lang="en-US" sz="1100" dirty="0">
                <a:solidFill>
                  <a:srgbClr val="FFB08F"/>
                </a:solidFill>
                <a:latin typeface="JetBrains Mono" pitchFamily="49" charset="0"/>
                <a:ea typeface="JetBrains Mono" pitchFamily="49" charset="-122"/>
                <a:cs typeface="JetBrains Mono" pitchFamily="49" charset="-120"/>
              </a:rPr>
              <a:t>helm rollback</a:t>
            </a:r>
            <a:r>
              <a:rPr lang="en-US" sz="1100" dirty="0">
                <a:solidFill>
                  <a:srgbClr val="ECEAFF"/>
                </a:solidFill>
                <a:latin typeface="JetBrains Mono" pitchFamily="49" charset="0"/>
                <a:ea typeface="JetBrains Mono" pitchFamily="49" charset="-122"/>
                <a:cs typeface="JetBrains Mono" pitchFamily="49" charset="-120"/>
              </a:rPr>
              <a:t> cert-manager 1 -n cert-manager</a:t>
            </a:r>
            <a:endParaRPr lang="en-US" sz="1100" dirty="0"/>
          </a:p>
          <a:p>
            <a:pPr algn="l" indent="0" marL="0">
              <a:lnSpc>
                <a:spcPts val="1595"/>
              </a:lnSpc>
              <a:buNone/>
            </a:pPr>
            <a:r>
              <a:rPr lang="en-US" sz="1100" dirty="0">
                <a:solidFill>
                  <a:srgbClr val="FFB08F"/>
                </a:solidFill>
                <a:latin typeface="JetBrains Mono" pitchFamily="49" charset="0"/>
                <a:ea typeface="JetBrains Mono" pitchFamily="49" charset="-122"/>
                <a:cs typeface="JetBrains Mono" pitchFamily="49" charset="-120"/>
              </a:rPr>
              <a:t>helm template</a:t>
            </a:r>
            <a:r>
              <a:rPr lang="en-US" sz="1100" dirty="0">
                <a:solidFill>
                  <a:srgbClr val="ECEAFF"/>
                </a:solidFill>
                <a:latin typeface="JetBrains Mono" pitchFamily="49" charset="0"/>
                <a:ea typeface="JetBrains Mono" pitchFamily="49" charset="-122"/>
                <a:cs typeface="JetBrains Mono" pitchFamily="49" charset="-120"/>
              </a:rPr>
              <a:t> cert-manager jetstack/cert-manager        </a:t>
            </a:r>
            <a:r>
              <a:rPr lang="en-US" sz="1100" dirty="0">
                <a:solidFill>
                  <a:srgbClr val="9A96D0"/>
                </a:solidFill>
                <a:latin typeface="JetBrains Mono" pitchFamily="49" charset="0"/>
                <a:ea typeface="JetBrains Mono" pitchFamily="49" charset="-122"/>
                <a:cs typeface="JetBrains Mono" pitchFamily="49" charset="-120"/>
              </a:rPr>
              <a:t># afficher les manifestes sans installer</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helm uninstall cert-manager -n cert-manager</a:t>
            </a:r>
            <a:endParaRPr lang="en-US" sz="1100" dirty="0"/>
          </a:p>
        </p:txBody>
      </p:sp>
      <p:sp>
        <p:nvSpPr>
          <p:cNvPr id="5" name="Shape 3"/>
          <p:cNvSpPr/>
          <p:nvPr/>
        </p:nvSpPr>
        <p:spPr>
          <a:xfrm>
            <a:off x="815975" y="4410075"/>
            <a:ext cx="7105650" cy="1428750"/>
          </a:xfrm>
          <a:prstGeom prst="roundRect">
            <a:avLst>
              <a:gd name="adj" fmla="val 8667"/>
            </a:avLst>
          </a:prstGeom>
          <a:solidFill>
            <a:srgbClr val="FDFDFF"/>
          </a:solidFill>
          <a:ln w="6350">
            <a:solidFill>
              <a:srgbClr val="E1DFEE"/>
            </a:solidFill>
            <a:prstDash val="solid"/>
          </a:ln>
        </p:spPr>
      </p:sp>
      <p:pic>
        <p:nvPicPr>
          <p:cNvPr id="6" name="Image 0" descr="Verified">    </p:cNvPr>
          <p:cNvPicPr>
            <a:picLocks noChangeAspect="1"/>
          </p:cNvPicPr>
          <p:nvPr/>
        </p:nvPicPr>
        <p:blipFill>
          <a:blip r:embed="rId1"/>
          <a:srcRect l="0" r="0" t="0" b="0"/>
          <a:stretch/>
        </p:blipFill>
        <p:spPr>
          <a:xfrm>
            <a:off x="1010391" y="4566543"/>
            <a:ext cx="254000" cy="254000"/>
          </a:xfrm>
          <a:prstGeom prst="rect">
            <a:avLst/>
          </a:prstGeom>
        </p:spPr>
      </p:pic>
      <p:sp>
        <p:nvSpPr>
          <p:cNvPr id="7" name="Text 4"/>
          <p:cNvSpPr/>
          <p:nvPr/>
        </p:nvSpPr>
        <p:spPr>
          <a:xfrm>
            <a:off x="1010391" y="4884043"/>
            <a:ext cx="691832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Bonne pratique</a:t>
            </a:r>
            <a:endParaRPr lang="en-US" sz="1400" dirty="0"/>
          </a:p>
        </p:txBody>
      </p:sp>
      <p:sp>
        <p:nvSpPr>
          <p:cNvPr id="8" name="Text 5"/>
          <p:cNvSpPr/>
          <p:nvPr/>
        </p:nvSpPr>
        <p:spPr>
          <a:xfrm>
            <a:off x="1010391" y="5169793"/>
            <a:ext cx="69183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Versionnez vos fichiers de values dans Git et fixez la version du chart (--version) : helm upgrade sans version installe la dernière publiée, peut-être incompatible.</a:t>
            </a:r>
            <a:endParaRPr lang="en-US" sz="1250" dirty="0"/>
          </a:p>
        </p:txBody>
      </p:sp>
      <p:sp>
        <p:nvSpPr>
          <p:cNvPr id="9" name="Shape 6"/>
          <p:cNvSpPr/>
          <p:nvPr/>
        </p:nvSpPr>
        <p:spPr>
          <a:xfrm>
            <a:off x="8080375" y="4410075"/>
            <a:ext cx="3295650" cy="1428750"/>
          </a:xfrm>
          <a:prstGeom prst="roundRect">
            <a:avLst>
              <a:gd name="adj" fmla="val 8667"/>
            </a:avLst>
          </a:prstGeom>
          <a:solidFill>
            <a:srgbClr val="FDFDFF"/>
          </a:solidFill>
          <a:ln w="6350">
            <a:solidFill>
              <a:srgbClr val="E1DFEE"/>
            </a:solidFill>
            <a:prstDash val="solid"/>
          </a:ln>
        </p:spPr>
      </p:sp>
      <p:pic>
        <p:nvPicPr>
          <p:cNvPr id="10" name="Image 1" descr="Lightbulb">    </p:cNvPr>
          <p:cNvPicPr>
            <a:picLocks noChangeAspect="1"/>
          </p:cNvPicPr>
          <p:nvPr/>
        </p:nvPicPr>
        <p:blipFill>
          <a:blip r:embed="rId2"/>
          <a:srcRect l="0" r="0" t="0" b="0"/>
          <a:stretch/>
        </p:blipFill>
        <p:spPr>
          <a:xfrm>
            <a:off x="8274791" y="4566543"/>
            <a:ext cx="254000" cy="254000"/>
          </a:xfrm>
          <a:prstGeom prst="rect">
            <a:avLst/>
          </a:prstGeom>
        </p:spPr>
      </p:pic>
      <p:sp>
        <p:nvSpPr>
          <p:cNvPr id="11" name="Text 7"/>
          <p:cNvSpPr/>
          <p:nvPr/>
        </p:nvSpPr>
        <p:spPr>
          <a:xfrm>
            <a:off x="8274791" y="4884043"/>
            <a:ext cx="299402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Helm 4</a:t>
            </a:r>
            <a:endParaRPr lang="en-US" sz="1400" dirty="0"/>
          </a:p>
        </p:txBody>
      </p:sp>
      <p:sp>
        <p:nvSpPr>
          <p:cNvPr id="12" name="Text 8"/>
          <p:cNvSpPr/>
          <p:nvPr/>
        </p:nvSpPr>
        <p:spPr>
          <a:xfrm>
            <a:off x="8274791" y="5169793"/>
            <a:ext cx="2994023"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Sorti fin 2025 ; les commandes ci-dessus sont les mêmes qu'avec Helm 3.</a:t>
            </a:r>
            <a:endParaRPr lang="en-US" sz="1250" dirty="0"/>
          </a:p>
        </p:txBody>
      </p:sp>
      <p:pic>
        <p:nvPicPr>
          <p:cNvPr id="13" name="Image 2" descr="preencoded.png">    </p:cNvPr>
          <p:cNvPicPr>
            <a:picLocks noChangeAspect="1"/>
          </p:cNvPicPr>
          <p:nvPr/>
        </p:nvPicPr>
        <p:blipFill>
          <a:blip r:embed="rId3"/>
          <a:srcRect l="0" r="0" t="-35" b="-35"/>
          <a:stretch/>
        </p:blipFill>
        <p:spPr>
          <a:xfrm>
            <a:off x="812800" y="6299200"/>
            <a:ext cx="152400" cy="152506"/>
          </a:xfrm>
          <a:prstGeom prst="rect">
            <a:avLst/>
          </a:prstGeom>
        </p:spPr>
      </p:pic>
      <p:sp>
        <p:nvSpPr>
          <p:cNvPr id="14" name="Text 9"/>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5" name="Image 3" descr="Parcours : module 13 sur 16">    </p:cNvPr>
          <p:cNvPicPr>
            <a:picLocks noChangeAspect="1"/>
          </p:cNvPicPr>
          <p:nvPr/>
        </p:nvPicPr>
        <p:blipFill>
          <a:blip r:embed="rId4"/>
          <a:srcRect l="0" r="0" t="-35" b="-35"/>
          <a:stretch/>
        </p:blipFill>
        <p:spPr>
          <a:xfrm>
            <a:off x="9207500" y="6299200"/>
            <a:ext cx="2171700" cy="152506"/>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13 · CONTRÔLEURS, OPÉRATEURS ET HELM</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Helm, Kustomize ou opérateur ?</a:t>
            </a:r>
            <a:endParaRPr lang="en-US" sz="2800" dirty="0"/>
          </a:p>
        </p:txBody>
      </p:sp>
      <p:sp>
        <p:nvSpPr>
          <p:cNvPr id="4" name="Shape 2"/>
          <p:cNvSpPr/>
          <p:nvPr/>
        </p:nvSpPr>
        <p:spPr>
          <a:xfrm>
            <a:off x="815975" y="1572915"/>
            <a:ext cx="3418840" cy="3740150"/>
          </a:xfrm>
          <a:prstGeom prst="roundRect">
            <a:avLst>
              <a:gd name="adj" fmla="val 3622"/>
            </a:avLst>
          </a:prstGeom>
          <a:solidFill>
            <a:srgbClr val="FDFDFF"/>
          </a:solidFill>
          <a:ln w="6350">
            <a:solidFill>
              <a:srgbClr val="E1DFEE"/>
            </a:solidFill>
            <a:prstDash val="solid"/>
          </a:ln>
        </p:spPr>
      </p:sp>
      <p:sp>
        <p:nvSpPr>
          <p:cNvPr id="5" name="Text 3"/>
          <p:cNvSpPr/>
          <p:nvPr/>
        </p:nvSpPr>
        <p:spPr>
          <a:xfrm>
            <a:off x="1048491" y="1792784"/>
            <a:ext cx="3042423"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0B0748"/>
                </a:solidFill>
                <a:latin typeface="Sora" pitchFamily="34" charset="0"/>
                <a:ea typeface="Sora" pitchFamily="34" charset="-122"/>
                <a:cs typeface="Sora" pitchFamily="34" charset="-120"/>
              </a:rPr>
              <a:t>Kustomize</a:t>
            </a:r>
            <a:endParaRPr lang="en-US" sz="2000" dirty="0"/>
          </a:p>
        </p:txBody>
      </p:sp>
      <p:sp>
        <p:nvSpPr>
          <p:cNvPr id="6" name="Text 4"/>
          <p:cNvSpPr/>
          <p:nvPr/>
        </p:nvSpPr>
        <p:spPr>
          <a:xfrm>
            <a:off x="1048491" y="2199184"/>
            <a:ext cx="3042423"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6890"/>
                </a:solidFill>
                <a:latin typeface="IBM Plex Sans" pitchFamily="34" charset="0"/>
                <a:ea typeface="IBM Plex Sans" pitchFamily="34" charset="-122"/>
                <a:cs typeface="IBM Plex Sans" pitchFamily="34" charset="-120"/>
              </a:rPr>
              <a:t>PRINCIPE</a:t>
            </a:r>
            <a:endParaRPr lang="en-US" sz="1100" dirty="0"/>
          </a:p>
        </p:txBody>
      </p:sp>
      <p:sp>
        <p:nvSpPr>
          <p:cNvPr id="7" name="Text 5"/>
          <p:cNvSpPr/>
          <p:nvPr/>
        </p:nvSpPr>
        <p:spPr>
          <a:xfrm>
            <a:off x="1048491" y="2483743"/>
            <a:ext cx="304242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Superposer des correctifs sur des manifestes simples, sans modèles.</a:t>
            </a:r>
            <a:endParaRPr lang="en-US" sz="1400" dirty="0"/>
          </a:p>
        </p:txBody>
      </p:sp>
      <p:sp>
        <p:nvSpPr>
          <p:cNvPr id="8" name="Text 6"/>
          <p:cNvSpPr/>
          <p:nvPr/>
        </p:nvSpPr>
        <p:spPr>
          <a:xfrm>
            <a:off x="1048491" y="4311055"/>
            <a:ext cx="3042423"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IDÉAL POUR</a:t>
            </a:r>
            <a:endParaRPr lang="en-US" sz="1100" dirty="0"/>
          </a:p>
        </p:txBody>
      </p:sp>
      <p:sp>
        <p:nvSpPr>
          <p:cNvPr id="9" name="Text 7"/>
          <p:cNvSpPr/>
          <p:nvPr/>
        </p:nvSpPr>
        <p:spPr>
          <a:xfrm>
            <a:off x="1048491" y="4595515"/>
            <a:ext cx="3042423"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IBM Plex Sans" pitchFamily="34" charset="0"/>
                <a:ea typeface="IBM Plex Sans" pitchFamily="34" charset="-122"/>
                <a:cs typeface="IBM Plex Sans" pitchFamily="34" charset="-120"/>
              </a:rPr>
              <a:t>Vos applications, déclinées par environnement.</a:t>
            </a:r>
            <a:endParaRPr lang="en-US" sz="1400" dirty="0"/>
          </a:p>
        </p:txBody>
      </p:sp>
      <p:sp>
        <p:nvSpPr>
          <p:cNvPr id="10" name="Shape 8"/>
          <p:cNvSpPr/>
          <p:nvPr/>
        </p:nvSpPr>
        <p:spPr>
          <a:xfrm>
            <a:off x="4393565" y="1572915"/>
            <a:ext cx="3418946" cy="3740150"/>
          </a:xfrm>
          <a:prstGeom prst="roundRect">
            <a:avLst>
              <a:gd name="adj" fmla="val 3622"/>
            </a:avLst>
          </a:prstGeom>
          <a:solidFill>
            <a:srgbClr val="FDFDFF"/>
          </a:solidFill>
          <a:ln w="6350">
            <a:solidFill>
              <a:srgbClr val="E1DFEE"/>
            </a:solidFill>
            <a:prstDash val="solid"/>
          </a:ln>
        </p:spPr>
      </p:sp>
      <p:sp>
        <p:nvSpPr>
          <p:cNvPr id="11" name="Text 9"/>
          <p:cNvSpPr/>
          <p:nvPr/>
        </p:nvSpPr>
        <p:spPr>
          <a:xfrm>
            <a:off x="4626081" y="1792784"/>
            <a:ext cx="3042532"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0B0748"/>
                </a:solidFill>
                <a:latin typeface="Sora" pitchFamily="34" charset="0"/>
                <a:ea typeface="Sora" pitchFamily="34" charset="-122"/>
                <a:cs typeface="Sora" pitchFamily="34" charset="-120"/>
              </a:rPr>
              <a:t>Helm</a:t>
            </a:r>
            <a:endParaRPr lang="en-US" sz="2000" dirty="0"/>
          </a:p>
        </p:txBody>
      </p:sp>
      <p:sp>
        <p:nvSpPr>
          <p:cNvPr id="12" name="Text 10"/>
          <p:cNvSpPr/>
          <p:nvPr/>
        </p:nvSpPr>
        <p:spPr>
          <a:xfrm>
            <a:off x="4626081" y="2199184"/>
            <a:ext cx="3042532"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6890"/>
                </a:solidFill>
                <a:latin typeface="IBM Plex Sans" pitchFamily="34" charset="0"/>
                <a:ea typeface="IBM Plex Sans" pitchFamily="34" charset="-122"/>
                <a:cs typeface="IBM Plex Sans" pitchFamily="34" charset="-120"/>
              </a:rPr>
              <a:t>PRINCIPE</a:t>
            </a:r>
            <a:endParaRPr lang="en-US" sz="1100" dirty="0"/>
          </a:p>
        </p:txBody>
      </p:sp>
      <p:sp>
        <p:nvSpPr>
          <p:cNvPr id="13" name="Text 11"/>
          <p:cNvSpPr/>
          <p:nvPr/>
        </p:nvSpPr>
        <p:spPr>
          <a:xfrm>
            <a:off x="4626081" y="2483743"/>
            <a:ext cx="304253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Modèles paramétrables, versionnés et distribués.</a:t>
            </a:r>
            <a:endParaRPr lang="en-US" sz="1400" dirty="0"/>
          </a:p>
        </p:txBody>
      </p:sp>
      <p:sp>
        <p:nvSpPr>
          <p:cNvPr id="14" name="Text 12"/>
          <p:cNvSpPr/>
          <p:nvPr/>
        </p:nvSpPr>
        <p:spPr>
          <a:xfrm>
            <a:off x="4626081" y="4311055"/>
            <a:ext cx="3042532"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IDÉAL POUR</a:t>
            </a:r>
            <a:endParaRPr lang="en-US" sz="1100" dirty="0"/>
          </a:p>
        </p:txBody>
      </p:sp>
      <p:sp>
        <p:nvSpPr>
          <p:cNvPr id="15" name="Text 13"/>
          <p:cNvSpPr/>
          <p:nvPr/>
        </p:nvSpPr>
        <p:spPr>
          <a:xfrm>
            <a:off x="4626081" y="4595515"/>
            <a:ext cx="304253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IBM Plex Sans" pitchFamily="34" charset="0"/>
                <a:ea typeface="IBM Plex Sans" pitchFamily="34" charset="-122"/>
                <a:cs typeface="IBM Plex Sans" pitchFamily="34" charset="-120"/>
              </a:rPr>
              <a:t>Installer des logiciels tiers, distribuer une application.</a:t>
            </a:r>
            <a:endParaRPr lang="en-US" sz="1400" dirty="0"/>
          </a:p>
        </p:txBody>
      </p:sp>
      <p:sp>
        <p:nvSpPr>
          <p:cNvPr id="16" name="Shape 14"/>
          <p:cNvSpPr/>
          <p:nvPr/>
        </p:nvSpPr>
        <p:spPr>
          <a:xfrm>
            <a:off x="7968086" y="1569740"/>
            <a:ext cx="3411114" cy="3746500"/>
          </a:xfrm>
          <a:prstGeom prst="roundRect">
            <a:avLst>
              <a:gd name="adj" fmla="val 3723"/>
            </a:avLst>
          </a:prstGeom>
          <a:solidFill>
            <a:srgbClr val="0B0748"/>
          </a:solidFill>
          <a:ln/>
        </p:spPr>
      </p:sp>
      <p:sp>
        <p:nvSpPr>
          <p:cNvPr id="17" name="Text 15"/>
          <p:cNvSpPr/>
          <p:nvPr/>
        </p:nvSpPr>
        <p:spPr>
          <a:xfrm>
            <a:off x="8196686" y="1785640"/>
            <a:ext cx="3042532"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F8F66"/>
                </a:solidFill>
                <a:latin typeface="Sora" pitchFamily="34" charset="0"/>
                <a:ea typeface="Sora" pitchFamily="34" charset="-122"/>
                <a:cs typeface="Sora" pitchFamily="34" charset="-120"/>
              </a:rPr>
              <a:t>Opérateur</a:t>
            </a:r>
            <a:endParaRPr lang="en-US" sz="2000" dirty="0"/>
          </a:p>
        </p:txBody>
      </p:sp>
      <p:sp>
        <p:nvSpPr>
          <p:cNvPr id="18" name="Text 16"/>
          <p:cNvSpPr/>
          <p:nvPr/>
        </p:nvSpPr>
        <p:spPr>
          <a:xfrm>
            <a:off x="8196686" y="2192040"/>
            <a:ext cx="3042532"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9B6E8"/>
                </a:solidFill>
                <a:latin typeface="IBM Plex Sans" pitchFamily="34" charset="0"/>
                <a:ea typeface="IBM Plex Sans" pitchFamily="34" charset="-122"/>
                <a:cs typeface="IBM Plex Sans" pitchFamily="34" charset="-120"/>
              </a:rPr>
              <a:t>PRINCIPE</a:t>
            </a:r>
            <a:endParaRPr lang="en-US" sz="1100" dirty="0"/>
          </a:p>
        </p:txBody>
      </p:sp>
      <p:sp>
        <p:nvSpPr>
          <p:cNvPr id="19" name="Text 17"/>
          <p:cNvSpPr/>
          <p:nvPr/>
        </p:nvSpPr>
        <p:spPr>
          <a:xfrm>
            <a:off x="8196686" y="2476500"/>
            <a:ext cx="304253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F"/>
                </a:solidFill>
                <a:latin typeface="IBM Plex Sans" pitchFamily="34" charset="0"/>
                <a:ea typeface="IBM Plex Sans" pitchFamily="34" charset="-122"/>
                <a:cs typeface="IBM Plex Sans" pitchFamily="34" charset="-120"/>
              </a:rPr>
              <a:t>Un contrôleur qui exploite en continu.</a:t>
            </a:r>
            <a:endParaRPr lang="en-US" sz="1400" dirty="0"/>
          </a:p>
        </p:txBody>
      </p:sp>
      <p:sp>
        <p:nvSpPr>
          <p:cNvPr id="20" name="Text 18"/>
          <p:cNvSpPr/>
          <p:nvPr/>
        </p:nvSpPr>
        <p:spPr>
          <a:xfrm>
            <a:off x="8196686" y="4069060"/>
            <a:ext cx="3042532"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FF8F66"/>
                </a:solidFill>
                <a:latin typeface="IBM Plex Sans" pitchFamily="34" charset="0"/>
                <a:ea typeface="IBM Plex Sans" pitchFamily="34" charset="-122"/>
                <a:cs typeface="IBM Plex Sans" pitchFamily="34" charset="-120"/>
              </a:rPr>
              <a:t>IDÉAL POUR</a:t>
            </a:r>
            <a:endParaRPr lang="en-US" sz="1100" dirty="0"/>
          </a:p>
        </p:txBody>
      </p:sp>
      <p:sp>
        <p:nvSpPr>
          <p:cNvPr id="21" name="Text 19"/>
          <p:cNvSpPr/>
          <p:nvPr/>
        </p:nvSpPr>
        <p:spPr>
          <a:xfrm>
            <a:off x="8196686" y="4353520"/>
            <a:ext cx="3042532"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4F9"/>
                </a:solidFill>
                <a:latin typeface="IBM Plex Sans" pitchFamily="34" charset="0"/>
                <a:ea typeface="IBM Plex Sans" pitchFamily="34" charset="-122"/>
                <a:cs typeface="IBM Plex Sans" pitchFamily="34" charset="-120"/>
              </a:rPr>
              <a:t>Logiciels avec état et opérations complexes : bases de données, files de messages.</a:t>
            </a:r>
            <a:endParaRPr lang="en-US" sz="1400" dirty="0"/>
          </a:p>
        </p:txBody>
      </p:sp>
      <p:sp>
        <p:nvSpPr>
          <p:cNvPr id="22" name="Text 20"/>
          <p:cNvSpPr/>
          <p:nvPr/>
        </p:nvSpPr>
        <p:spPr>
          <a:xfrm>
            <a:off x="654304" y="5544840"/>
            <a:ext cx="10883392" cy="322580"/>
          </a:xfrm>
          <a:prstGeom prst="rect">
            <a:avLst/>
          </a:prstGeom>
          <a:noFill/>
          <a:ln/>
        </p:spPr>
        <p:txBody>
          <a:bodyPr wrap="square" lIns="0" tIns="0" rIns="0" bIns="0" rtlCol="0" anchor="t">
            <a:normAutofit/>
          </a:bodyPr>
          <a:lstStyle/>
          <a:p>
            <a:pPr algn="ctr" indent="0" marL="0">
              <a:lnSpc>
                <a:spcPts val="2340"/>
              </a:lnSpc>
              <a:buNone/>
            </a:pPr>
            <a:r>
              <a:rPr lang="en-US" sz="1800" b="1" dirty="0">
                <a:solidFill>
                  <a:srgbClr val="0B0748"/>
                </a:solidFill>
                <a:latin typeface="Sora" pitchFamily="34" charset="0"/>
                <a:ea typeface="Sora" pitchFamily="34" charset="-122"/>
                <a:cs typeface="Sora" pitchFamily="34" charset="-120"/>
              </a:rPr>
              <a:t>Helm installe une fois ; un opérateur surveille et agit en permanence.</a:t>
            </a:r>
            <a:endParaRPr lang="en-US" sz="1800" dirty="0"/>
          </a:p>
        </p:txBody>
      </p:sp>
      <p:pic>
        <p:nvPicPr>
          <p:cNvPr id="23"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24" name="Text 21"/>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1" descr="Parcours : module 13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BF0E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TRAVAUX PRATIQUES · À FAIRE MAINTENANT</a:t>
            </a:r>
            <a:endParaRPr lang="en-US" sz="1200" dirty="0"/>
          </a:p>
        </p:txBody>
      </p:sp>
      <p:sp>
        <p:nvSpPr>
          <p:cNvPr id="3" name="Text 1"/>
          <p:cNvSpPr/>
          <p:nvPr/>
        </p:nvSpPr>
        <p:spPr>
          <a:xfrm>
            <a:off x="812800" y="1127720"/>
            <a:ext cx="3008630" cy="1054100"/>
          </a:xfrm>
          <a:prstGeom prst="rect">
            <a:avLst/>
          </a:prstGeom>
          <a:noFill/>
          <a:ln/>
        </p:spPr>
        <p:txBody>
          <a:bodyPr wrap="square" lIns="0" tIns="0" rIns="0" bIns="0" rtlCol="0" anchor="t">
            <a:normAutofit/>
          </a:bodyPr>
          <a:lstStyle/>
          <a:p>
            <a:pPr algn="l" indent="0" marL="0">
              <a:lnSpc>
                <a:spcPts val="8100"/>
              </a:lnSpc>
              <a:buNone/>
            </a:pPr>
            <a:r>
              <a:rPr lang="en-US" sz="9000" b="1" spc="-300" kern="0" dirty="0">
                <a:solidFill>
                  <a:srgbClr val="E25A2C"/>
                </a:solidFill>
                <a:latin typeface="Sora" pitchFamily="34" charset="0"/>
                <a:ea typeface="Sora" pitchFamily="34" charset="-122"/>
                <a:cs typeface="Sora" pitchFamily="34" charset="-120"/>
              </a:rPr>
              <a:t>TP9</a:t>
            </a:r>
            <a:endParaRPr lang="en-US" sz="9000" dirty="0"/>
          </a:p>
        </p:txBody>
      </p:sp>
      <p:pic>
        <p:nvPicPr>
          <p:cNvPr id="4" name="Image 0" descr="Clock">    </p:cNvPr>
          <p:cNvPicPr>
            <a:picLocks noChangeAspect="1"/>
          </p:cNvPicPr>
          <p:nvPr/>
        </p:nvPicPr>
        <p:blipFill>
          <a:blip r:embed="rId1"/>
          <a:srcRect l="0" r="0" t="0" b="0"/>
          <a:stretch/>
        </p:blipFill>
        <p:spPr>
          <a:xfrm>
            <a:off x="812800" y="2467570"/>
            <a:ext cx="254000" cy="254000"/>
          </a:xfrm>
          <a:prstGeom prst="rect">
            <a:avLst/>
          </a:prstGeom>
        </p:spPr>
      </p:pic>
      <p:sp>
        <p:nvSpPr>
          <p:cNvPr id="5" name="Text 2"/>
          <p:cNvSpPr/>
          <p:nvPr/>
        </p:nvSpPr>
        <p:spPr>
          <a:xfrm>
            <a:off x="1181100" y="2461220"/>
            <a:ext cx="1477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Jour 3 · 10:25</a:t>
            </a:r>
            <a:endParaRPr lang="en-US" sz="1500" dirty="0"/>
          </a:p>
        </p:txBody>
      </p:sp>
      <p:pic>
        <p:nvPicPr>
          <p:cNvPr id="6" name="Image 1" descr="Activity">    </p:cNvPr>
          <p:cNvPicPr>
            <a:picLocks noChangeAspect="1"/>
          </p:cNvPicPr>
          <p:nvPr/>
        </p:nvPicPr>
        <p:blipFill>
          <a:blip r:embed="rId2"/>
          <a:srcRect l="0" r="0" t="0" b="0"/>
          <a:stretch/>
        </p:blipFill>
        <p:spPr>
          <a:xfrm>
            <a:off x="812800" y="2835870"/>
            <a:ext cx="254000" cy="254000"/>
          </a:xfrm>
          <a:prstGeom prst="rect">
            <a:avLst/>
          </a:prstGeom>
        </p:spPr>
      </p:pic>
      <p:sp>
        <p:nvSpPr>
          <p:cNvPr id="7" name="Text 3"/>
          <p:cNvSpPr/>
          <p:nvPr/>
        </p:nvSpPr>
        <p:spPr>
          <a:xfrm>
            <a:off x="1181100" y="2829520"/>
            <a:ext cx="189522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30 minutes, guidé</a:t>
            </a:r>
            <a:endParaRPr lang="en-US" sz="1500" dirty="0"/>
          </a:p>
        </p:txBody>
      </p:sp>
      <p:pic>
        <p:nvPicPr>
          <p:cNvPr id="8" name="Image 2" descr="Book">    </p:cNvPr>
          <p:cNvPicPr>
            <a:picLocks noChangeAspect="1"/>
          </p:cNvPicPr>
          <p:nvPr/>
        </p:nvPicPr>
        <p:blipFill>
          <a:blip r:embed="rId3"/>
          <a:srcRect l="0" r="0" t="0" b="0"/>
          <a:stretch/>
        </p:blipFill>
        <p:spPr>
          <a:xfrm>
            <a:off x="812800" y="3197820"/>
            <a:ext cx="254000" cy="254000"/>
          </a:xfrm>
          <a:prstGeom prst="rect">
            <a:avLst/>
          </a:prstGeom>
        </p:spPr>
      </p:pic>
      <p:sp>
        <p:nvSpPr>
          <p:cNvPr id="9" name="Text 4"/>
          <p:cNvSpPr/>
          <p:nvPr/>
        </p:nvSpPr>
        <p:spPr>
          <a:xfrm>
            <a:off x="1181100" y="3200400"/>
            <a:ext cx="20482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Sections 13.4 et 13.5</a:t>
            </a:r>
            <a:endParaRPr lang="en-US" sz="1400" dirty="0"/>
          </a:p>
        </p:txBody>
      </p:sp>
      <p:sp>
        <p:nvSpPr>
          <p:cNvPr id="10" name="Text 5"/>
          <p:cNvSpPr/>
          <p:nvPr>
            <p:ph type="title"/>
          </p:nvPr>
        </p:nvSpPr>
        <p:spPr>
          <a:xfrm>
            <a:off x="4191000" y="1127720"/>
            <a:ext cx="7403846"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Helm et cert-manager</a:t>
            </a:r>
            <a:endParaRPr lang="en-US" sz="2800" dirty="0"/>
          </a:p>
        </p:txBody>
      </p:sp>
      <p:sp>
        <p:nvSpPr>
          <p:cNvPr id="11" name="Text 6"/>
          <p:cNvSpPr/>
          <p:nvPr/>
        </p:nvSpPr>
        <p:spPr>
          <a:xfrm>
            <a:off x="4191000" y="1722140"/>
            <a:ext cx="7403846"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F3C6B"/>
                </a:solidFill>
                <a:latin typeface="IBM Plex Sans" pitchFamily="34" charset="0"/>
                <a:ea typeface="IBM Plex Sans" pitchFamily="34" charset="-122"/>
                <a:cs typeface="IBM Plex Sans" pitchFamily="34" charset="-120"/>
              </a:rPr>
              <a:t>Installer Helm, déployer cert-manager, émettre un certificat et observer sa réconciliation ; prise en main de k9s.</a:t>
            </a:r>
            <a:endParaRPr lang="en-US" sz="1600" dirty="0"/>
          </a:p>
        </p:txBody>
      </p:sp>
      <p:sp>
        <p:nvSpPr>
          <p:cNvPr id="12" name="Shape 7"/>
          <p:cNvSpPr/>
          <p:nvPr/>
        </p:nvSpPr>
        <p:spPr>
          <a:xfrm>
            <a:off x="4194175" y="4627066"/>
            <a:ext cx="7181850" cy="1211792"/>
          </a:xfrm>
          <a:prstGeom prst="roundRect">
            <a:avLst>
              <a:gd name="adj" fmla="val 10218"/>
            </a:avLst>
          </a:prstGeom>
          <a:solidFill>
            <a:srgbClr val="FDFDFF"/>
          </a:solidFill>
          <a:ln w="6350">
            <a:solidFill>
              <a:srgbClr val="EBDDD2"/>
            </a:solidFill>
            <a:prstDash val="solid"/>
          </a:ln>
        </p:spPr>
      </p:sp>
      <p:pic>
        <p:nvPicPr>
          <p:cNvPr id="13" name="Image 3" descr="CheckCircle">    </p:cNvPr>
          <p:cNvPicPr>
            <a:picLocks noChangeAspect="1"/>
          </p:cNvPicPr>
          <p:nvPr/>
        </p:nvPicPr>
        <p:blipFill>
          <a:blip r:embed="rId4"/>
          <a:srcRect l="0" r="0" t="0" b="0"/>
          <a:stretch/>
        </p:blipFill>
        <p:spPr>
          <a:xfrm>
            <a:off x="4452091" y="4834235"/>
            <a:ext cx="355600" cy="355600"/>
          </a:xfrm>
          <a:prstGeom prst="rect">
            <a:avLst/>
          </a:prstGeom>
        </p:spPr>
      </p:pic>
      <p:sp>
        <p:nvSpPr>
          <p:cNvPr id="14" name="Text 8"/>
          <p:cNvSpPr/>
          <p:nvPr/>
        </p:nvSpPr>
        <p:spPr>
          <a:xfrm>
            <a:off x="4985491" y="4834235"/>
            <a:ext cx="63165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POINT DE CONTRÔLE</a:t>
            </a:r>
            <a:endParaRPr lang="en-US" sz="1200" dirty="0"/>
          </a:p>
        </p:txBody>
      </p:sp>
      <p:sp>
        <p:nvSpPr>
          <p:cNvPr id="15" name="Text 9"/>
          <p:cNvSpPr/>
          <p:nvPr/>
        </p:nvSpPr>
        <p:spPr>
          <a:xfrm>
            <a:off x="4985491" y="5098455"/>
            <a:ext cx="631659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Le Certificate est READY True et son Secret réapparaît après suppression.</a:t>
            </a:r>
            <a:endParaRPr lang="en-US" sz="1500" dirty="0"/>
          </a:p>
        </p:txBody>
      </p:sp>
      <p:pic>
        <p:nvPicPr>
          <p:cNvPr id="16" name="Image 4" descr="preencoded.png">    </p:cNvPr>
          <p:cNvPicPr>
            <a:picLocks noChangeAspect="1"/>
          </p:cNvPicPr>
          <p:nvPr/>
        </p:nvPicPr>
        <p:blipFill>
          <a:blip r:embed="rId5"/>
          <a:srcRect l="0" r="0" t="-35" b="-35"/>
          <a:stretch/>
        </p:blipFill>
        <p:spPr>
          <a:xfrm>
            <a:off x="812800" y="6299200"/>
            <a:ext cx="152400" cy="152506"/>
          </a:xfrm>
          <a:prstGeom prst="rect">
            <a:avLst/>
          </a:prstGeom>
        </p:spPr>
      </p:pic>
      <p:sp>
        <p:nvSpPr>
          <p:cNvPr id="17" name="Text 1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5" descr="Parcours : module 13 sur 16">    </p:cNvPr>
          <p:cNvPicPr>
            <a:picLocks noChangeAspect="1"/>
          </p:cNvPicPr>
          <p:nvPr/>
        </p:nvPicPr>
        <p:blipFill>
          <a:blip r:embed="rId6"/>
          <a:srcRect l="0" r="0" t="-35" b="-35"/>
          <a:stretch/>
        </p:blipFill>
        <p:spPr>
          <a:xfrm>
            <a:off x="9207500" y="6299200"/>
            <a:ext cx="2171700" cy="152506"/>
          </a:xfrm>
          <a:prstGeom prst="rect">
            <a:avLst/>
          </a:prstGeom>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13 · BILAN</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40"/>
            <a:ext cx="6138333"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40"/>
            <a:ext cx="228600" cy="228600"/>
          </a:xfrm>
          <a:prstGeom prst="rect">
            <a:avLst/>
          </a:prstGeom>
        </p:spPr>
      </p:pic>
      <p:sp>
        <p:nvSpPr>
          <p:cNvPr id="6" name="Text 3"/>
          <p:cNvSpPr/>
          <p:nvPr/>
        </p:nvSpPr>
        <p:spPr>
          <a:xfrm>
            <a:off x="1511300" y="1874540"/>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Un contrôleur observe, compare, agit, et écrit le résultat dans status.</a:t>
            </a:r>
            <a:endParaRPr lang="en-US" sz="1500" dirty="0"/>
          </a:p>
        </p:txBody>
      </p:sp>
      <p:pic>
        <p:nvPicPr>
          <p:cNvPr id="7" name="Image 1" descr="Check">    </p:cNvPr>
          <p:cNvPicPr>
            <a:picLocks noChangeAspect="1"/>
          </p:cNvPicPr>
          <p:nvPr/>
        </p:nvPicPr>
        <p:blipFill>
          <a:blip r:embed="rId2"/>
          <a:srcRect l="0" r="0" t="0" b="0"/>
          <a:stretch/>
        </p:blipFill>
        <p:spPr>
          <a:xfrm>
            <a:off x="1143000" y="2585740"/>
            <a:ext cx="228600" cy="228600"/>
          </a:xfrm>
          <a:prstGeom prst="rect">
            <a:avLst/>
          </a:prstGeom>
        </p:spPr>
      </p:pic>
      <p:sp>
        <p:nvSpPr>
          <p:cNvPr id="8" name="Text 4"/>
          <p:cNvSpPr/>
          <p:nvPr/>
        </p:nvSpPr>
        <p:spPr>
          <a:xfrm>
            <a:off x="1511300" y="2585740"/>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Une CRD ajoute un type à l'API ; sans contrôleur, elle ne fait que stocker.</a:t>
            </a:r>
            <a:endParaRPr lang="en-US" sz="1500" dirty="0"/>
          </a:p>
        </p:txBody>
      </p:sp>
      <p:pic>
        <p:nvPicPr>
          <p:cNvPr id="9" name="Image 2" descr="Check">    </p:cNvPr>
          <p:cNvPicPr>
            <a:picLocks noChangeAspect="1"/>
          </p:cNvPicPr>
          <p:nvPr/>
        </p:nvPicPr>
        <p:blipFill>
          <a:blip r:embed="rId3"/>
          <a:srcRect l="0" r="0" t="0" b="0"/>
          <a:stretch/>
        </p:blipFill>
        <p:spPr>
          <a:xfrm>
            <a:off x="1143000" y="3296940"/>
            <a:ext cx="228600" cy="228600"/>
          </a:xfrm>
          <a:prstGeom prst="rect">
            <a:avLst/>
          </a:prstGeom>
        </p:spPr>
      </p:pic>
      <p:sp>
        <p:nvSpPr>
          <p:cNvPr id="10" name="Text 5"/>
          <p:cNvSpPr/>
          <p:nvPr/>
        </p:nvSpPr>
        <p:spPr>
          <a:xfrm>
            <a:off x="1511300" y="3296940"/>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Opérateur = CRD + contrôleur qui automatise l'exploitation d'un logiciel. Vous en utilisez déjà un : Tigera.</a:t>
            </a:r>
            <a:endParaRPr lang="en-US" sz="1500" dirty="0"/>
          </a:p>
        </p:txBody>
      </p:sp>
      <p:pic>
        <p:nvPicPr>
          <p:cNvPr id="11" name="Image 3" descr="Check">    </p:cNvPr>
          <p:cNvPicPr>
            <a:picLocks noChangeAspect="1"/>
          </p:cNvPicPr>
          <p:nvPr/>
        </p:nvPicPr>
        <p:blipFill>
          <a:blip r:embed="rId4"/>
          <a:srcRect l="0" r="0" t="0" b="0"/>
          <a:stretch/>
        </p:blipFill>
        <p:spPr>
          <a:xfrm>
            <a:off x="1143000" y="4008140"/>
            <a:ext cx="228600" cy="228600"/>
          </a:xfrm>
          <a:prstGeom prst="rect">
            <a:avLst/>
          </a:prstGeom>
        </p:spPr>
      </p:pic>
      <p:sp>
        <p:nvSpPr>
          <p:cNvPr id="12" name="Text 6"/>
          <p:cNvSpPr/>
          <p:nvPr/>
        </p:nvSpPr>
        <p:spPr>
          <a:xfrm>
            <a:off x="1511300" y="4008140"/>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Helm empaquette et installe ; fixez les versions de charts et versionnez vos values.</a:t>
            </a:r>
            <a:endParaRPr lang="en-US" sz="1500" dirty="0"/>
          </a:p>
        </p:txBody>
      </p:sp>
      <p:sp>
        <p:nvSpPr>
          <p:cNvPr id="13" name="Shape 7"/>
          <p:cNvSpPr/>
          <p:nvPr/>
        </p:nvSpPr>
        <p:spPr>
          <a:xfrm>
            <a:off x="7157508" y="1598315"/>
            <a:ext cx="4218517" cy="4240530"/>
          </a:xfrm>
          <a:prstGeom prst="roundRect">
            <a:avLst>
              <a:gd name="adj" fmla="val 3537"/>
            </a:avLst>
          </a:prstGeom>
          <a:solidFill>
            <a:srgbClr val="FDFDFF"/>
          </a:solidFill>
          <a:ln w="6350">
            <a:solidFill>
              <a:srgbClr val="E1DFEE"/>
            </a:solidFill>
            <a:prstDash val="solid"/>
          </a:ln>
        </p:spPr>
      </p:sp>
      <p:sp>
        <p:nvSpPr>
          <p:cNvPr id="14" name="Text 8"/>
          <p:cNvSpPr/>
          <p:nvPr/>
        </p:nvSpPr>
        <p:spPr>
          <a:xfrm>
            <a:off x="7440824" y="1856284"/>
            <a:ext cx="376144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5" name="Text 9"/>
          <p:cNvSpPr/>
          <p:nvPr/>
        </p:nvSpPr>
        <p:spPr>
          <a:xfrm>
            <a:off x="7440824" y="2196703"/>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1</a:t>
            </a:r>
            <a:endParaRPr lang="en-US" sz="1300" dirty="0"/>
          </a:p>
        </p:txBody>
      </p:sp>
      <p:sp>
        <p:nvSpPr>
          <p:cNvPr id="16" name="Text 10"/>
          <p:cNvSpPr/>
          <p:nvPr/>
        </p:nvSpPr>
        <p:spPr>
          <a:xfrm>
            <a:off x="7720224" y="2196703"/>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Pourquoi un objet peut-il rester indéfiniment en état de suppression ?</a:t>
            </a:r>
            <a:endParaRPr lang="en-US" sz="1300" dirty="0"/>
          </a:p>
        </p:txBody>
      </p:sp>
      <p:sp>
        <p:nvSpPr>
          <p:cNvPr id="17" name="Text 11"/>
          <p:cNvSpPr/>
          <p:nvPr/>
        </p:nvSpPr>
        <p:spPr>
          <a:xfrm>
            <a:off x="7440824" y="2785963"/>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2</a:t>
            </a:r>
            <a:endParaRPr lang="en-US" sz="1300" dirty="0"/>
          </a:p>
        </p:txBody>
      </p:sp>
      <p:sp>
        <p:nvSpPr>
          <p:cNvPr id="18" name="Text 12"/>
          <p:cNvSpPr/>
          <p:nvPr/>
        </p:nvSpPr>
        <p:spPr>
          <a:xfrm>
            <a:off x="7720224" y="2785963"/>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Vous créez une CRD et des objets de ce type, mais rien ne se passe. Pourquoi ?</a:t>
            </a:r>
            <a:endParaRPr lang="en-US" sz="1300" dirty="0"/>
          </a:p>
        </p:txBody>
      </p:sp>
      <p:sp>
        <p:nvSpPr>
          <p:cNvPr id="19" name="Text 13"/>
          <p:cNvSpPr/>
          <p:nvPr/>
        </p:nvSpPr>
        <p:spPr>
          <a:xfrm>
            <a:off x="7440824" y="3375223"/>
            <a:ext cx="22860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3</a:t>
            </a:r>
            <a:endParaRPr lang="en-US" sz="1300" dirty="0"/>
          </a:p>
        </p:txBody>
      </p:sp>
      <p:sp>
        <p:nvSpPr>
          <p:cNvPr id="20" name="Text 14"/>
          <p:cNvSpPr/>
          <p:nvPr/>
        </p:nvSpPr>
        <p:spPr>
          <a:xfrm>
            <a:off x="7720224" y="3375223"/>
            <a:ext cx="347365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Quelle différence de fonctionnement entre un chart Helm et un opérateur pour gérer une base PostgreSQL ?</a:t>
            </a:r>
            <a:endParaRPr lang="en-US" sz="1300" dirty="0"/>
          </a:p>
        </p:txBody>
      </p:sp>
      <p:sp>
        <p:nvSpPr>
          <p:cNvPr id="21" name="Text 15"/>
          <p:cNvSpPr/>
          <p:nvPr/>
        </p:nvSpPr>
        <p:spPr>
          <a:xfrm>
            <a:off x="7440824" y="4195663"/>
            <a:ext cx="22860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4</a:t>
            </a:r>
            <a:endParaRPr lang="en-US" sz="1300" dirty="0"/>
          </a:p>
        </p:txBody>
      </p:sp>
      <p:sp>
        <p:nvSpPr>
          <p:cNvPr id="22" name="Text 16"/>
          <p:cNvSpPr/>
          <p:nvPr/>
        </p:nvSpPr>
        <p:spPr>
          <a:xfrm>
            <a:off x="7720224" y="4195663"/>
            <a:ext cx="347365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Quelle commande permet de voir les manifestes qu'un chart va créer, sans rien installer ?</a:t>
            </a:r>
            <a:endParaRPr lang="en-US" sz="1300" dirty="0"/>
          </a:p>
        </p:txBody>
      </p:sp>
      <p:pic>
        <p:nvPicPr>
          <p:cNvPr id="23" name="Image 4" descr="preencoded.png">    </p:cNvPr>
          <p:cNvPicPr>
            <a:picLocks noChangeAspect="1"/>
          </p:cNvPicPr>
          <p:nvPr/>
        </p:nvPicPr>
        <p:blipFill>
          <a:blip r:embed="rId5"/>
          <a:srcRect l="0" r="0" t="-35" b="-35"/>
          <a:stretch/>
        </p:blipFill>
        <p:spPr>
          <a:xfrm>
            <a:off x="812800" y="6299200"/>
            <a:ext cx="152400" cy="152506"/>
          </a:xfrm>
          <a:prstGeom prst="rect">
            <a:avLst/>
          </a:prstGeom>
        </p:spPr>
      </p:pic>
      <p:sp>
        <p:nvSpPr>
          <p:cNvPr id="24" name="Text 17"/>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5" descr="Parcours : module 13 sur 16">    </p:cNvPr>
          <p:cNvPicPr>
            <a:picLocks noChangeAspect="1"/>
          </p:cNvPicPr>
          <p:nvPr/>
        </p:nvPicPr>
        <p:blipFill>
          <a:blip r:embed="rId6"/>
          <a:srcRect l="0" r="0" t="-35" b="-35"/>
          <a:stretch/>
        </p:blipFill>
        <p:spPr>
          <a:xfrm>
            <a:off x="9207500" y="6299200"/>
            <a:ext cx="2171700" cy="152506"/>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3 · ENCADRER, SÉCURISER, FAIRE GRANDIR</a:t>
            </a:r>
            <a:endParaRPr lang="en-US" sz="1200" dirty="0"/>
          </a:p>
        </p:txBody>
      </p:sp>
      <p:sp>
        <p:nvSpPr>
          <p:cNvPr id="3" name="Text 1"/>
          <p:cNvSpPr/>
          <p:nvPr/>
        </p:nvSpPr>
        <p:spPr>
          <a:xfrm>
            <a:off x="812800" y="1076920"/>
            <a:ext cx="1554480"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14</a:t>
            </a:r>
            <a:endParaRPr lang="en-US" sz="10000" dirty="0"/>
          </a:p>
        </p:txBody>
      </p:sp>
      <p:sp>
        <p:nvSpPr>
          <p:cNvPr id="4" name="Text 2"/>
          <p:cNvSpPr/>
          <p:nvPr>
            <p:ph type="title"/>
          </p:nvPr>
        </p:nvSpPr>
        <p:spPr>
          <a:xfrm>
            <a:off x="2463800" y="1127720"/>
            <a:ext cx="9728200" cy="5588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Autoscaling des pods et des nœuds</a:t>
            </a:r>
            <a:endParaRPr lang="en-US" sz="4000" dirty="0"/>
          </a:p>
        </p:txBody>
      </p:sp>
      <p:sp>
        <p:nvSpPr>
          <p:cNvPr id="5" name="Text 3"/>
          <p:cNvSpPr/>
          <p:nvPr/>
        </p:nvSpPr>
        <p:spPr>
          <a:xfrm>
            <a:off x="2463800" y="1813520"/>
            <a:ext cx="918286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Trois axes : le nombre de pods (HPA), leur taille (VPA) et le nombre de nœuds (Cluster Autoscaler, Karpenter). Tous reposent sur des requests bien déclarées et des métriques fiables.</a:t>
            </a:r>
            <a:endParaRPr lang="en-US" sz="1500" dirty="0"/>
          </a:p>
        </p:txBody>
      </p:sp>
      <p:sp>
        <p:nvSpPr>
          <p:cNvPr id="6" name="Text 4"/>
          <p:cNvSpPr/>
          <p:nvPr/>
        </p:nvSpPr>
        <p:spPr>
          <a:xfrm>
            <a:off x="2463800" y="2499320"/>
            <a:ext cx="1823402"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TP10 · HPA · J3 11:15</a:t>
            </a:r>
            <a:endParaRPr lang="en-US" sz="1200" dirty="0"/>
          </a:p>
        </p:txBody>
      </p:sp>
      <p:pic>
        <p:nvPicPr>
          <p:cNvPr id="7" name="Image 0" descr="Parcours de la formation : module 14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14 · AUTOSCALING</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Trois axes de mise à l'échelle</a:t>
            </a:r>
            <a:endParaRPr lang="en-US" sz="2800" dirty="0"/>
          </a:p>
        </p:txBody>
      </p:sp>
      <p:sp>
        <p:nvSpPr>
          <p:cNvPr id="4" name="Shape 2"/>
          <p:cNvSpPr/>
          <p:nvPr/>
        </p:nvSpPr>
        <p:spPr>
          <a:xfrm>
            <a:off x="815975" y="1572915"/>
            <a:ext cx="2530475" cy="4265930"/>
          </a:xfrm>
          <a:prstGeom prst="roundRect">
            <a:avLst>
              <a:gd name="adj" fmla="val 4893"/>
            </a:avLst>
          </a:prstGeom>
          <a:solidFill>
            <a:srgbClr val="FDFDFF"/>
          </a:solidFill>
          <a:ln w="6350">
            <a:solidFill>
              <a:srgbClr val="E1DFEE"/>
            </a:solidFill>
            <a:prstDash val="solid"/>
          </a:ln>
        </p:spPr>
      </p:sp>
      <p:sp>
        <p:nvSpPr>
          <p:cNvPr id="5" name="Shape 3"/>
          <p:cNvSpPr/>
          <p:nvPr/>
        </p:nvSpPr>
        <p:spPr>
          <a:xfrm>
            <a:off x="1010391" y="1983284"/>
            <a:ext cx="190500" cy="190500"/>
          </a:xfrm>
          <a:prstGeom prst="roundRect">
            <a:avLst>
              <a:gd name="adj" fmla="val 23333"/>
            </a:avLst>
          </a:prstGeom>
          <a:solidFill>
            <a:srgbClr val="0B0748"/>
          </a:solidFill>
          <a:ln/>
        </p:spPr>
      </p:sp>
      <p:sp>
        <p:nvSpPr>
          <p:cNvPr id="6" name="Shape 4"/>
          <p:cNvSpPr/>
          <p:nvPr/>
        </p:nvSpPr>
        <p:spPr>
          <a:xfrm>
            <a:off x="1251691" y="1983284"/>
            <a:ext cx="190500" cy="190500"/>
          </a:xfrm>
          <a:prstGeom prst="roundRect">
            <a:avLst>
              <a:gd name="adj" fmla="val 23333"/>
            </a:avLst>
          </a:prstGeom>
          <a:solidFill>
            <a:srgbClr val="0B0748"/>
          </a:solidFill>
          <a:ln/>
        </p:spPr>
      </p:sp>
      <p:sp>
        <p:nvSpPr>
          <p:cNvPr id="7" name="Text 5"/>
          <p:cNvSpPr/>
          <p:nvPr/>
        </p:nvSpPr>
        <p:spPr>
          <a:xfrm>
            <a:off x="1531091" y="1907084"/>
            <a:ext cx="241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6A3C6"/>
                </a:solidFill>
                <a:latin typeface="IBM Plex Sans" pitchFamily="34" charset="0"/>
                <a:ea typeface="IBM Plex Sans" pitchFamily="34" charset="-122"/>
                <a:cs typeface="IBM Plex Sans" pitchFamily="34" charset="-120"/>
              </a:rPr>
              <a:t>→</a:t>
            </a:r>
            <a:endParaRPr lang="en-US" sz="1500" dirty="0"/>
          </a:p>
        </p:txBody>
      </p:sp>
      <p:sp>
        <p:nvSpPr>
          <p:cNvPr id="8" name="Shape 6"/>
          <p:cNvSpPr/>
          <p:nvPr/>
        </p:nvSpPr>
        <p:spPr>
          <a:xfrm>
            <a:off x="1810491" y="1983284"/>
            <a:ext cx="190500" cy="190500"/>
          </a:xfrm>
          <a:prstGeom prst="roundRect">
            <a:avLst>
              <a:gd name="adj" fmla="val 23333"/>
            </a:avLst>
          </a:prstGeom>
          <a:solidFill>
            <a:srgbClr val="E25A2C"/>
          </a:solidFill>
          <a:ln/>
        </p:spPr>
      </p:sp>
      <p:sp>
        <p:nvSpPr>
          <p:cNvPr id="9" name="Shape 7"/>
          <p:cNvSpPr/>
          <p:nvPr/>
        </p:nvSpPr>
        <p:spPr>
          <a:xfrm>
            <a:off x="2051791" y="1983284"/>
            <a:ext cx="190500" cy="190500"/>
          </a:xfrm>
          <a:prstGeom prst="roundRect">
            <a:avLst>
              <a:gd name="adj" fmla="val 23333"/>
            </a:avLst>
          </a:prstGeom>
          <a:solidFill>
            <a:srgbClr val="E25A2C"/>
          </a:solidFill>
          <a:ln/>
        </p:spPr>
      </p:sp>
      <p:sp>
        <p:nvSpPr>
          <p:cNvPr id="10" name="Shape 8"/>
          <p:cNvSpPr/>
          <p:nvPr/>
        </p:nvSpPr>
        <p:spPr>
          <a:xfrm>
            <a:off x="2293091" y="1983284"/>
            <a:ext cx="190500" cy="190500"/>
          </a:xfrm>
          <a:prstGeom prst="roundRect">
            <a:avLst>
              <a:gd name="adj" fmla="val 23333"/>
            </a:avLst>
          </a:prstGeom>
          <a:solidFill>
            <a:srgbClr val="E25A2C"/>
          </a:solidFill>
          <a:ln/>
        </p:spPr>
      </p:sp>
      <p:sp>
        <p:nvSpPr>
          <p:cNvPr id="11" name="Shape 9"/>
          <p:cNvSpPr/>
          <p:nvPr/>
        </p:nvSpPr>
        <p:spPr>
          <a:xfrm>
            <a:off x="2534391" y="1983284"/>
            <a:ext cx="190500" cy="190500"/>
          </a:xfrm>
          <a:prstGeom prst="roundRect">
            <a:avLst>
              <a:gd name="adj" fmla="val 23333"/>
            </a:avLst>
          </a:prstGeom>
          <a:solidFill>
            <a:srgbClr val="E25A2C"/>
          </a:solidFill>
          <a:ln/>
        </p:spPr>
      </p:sp>
      <p:sp>
        <p:nvSpPr>
          <p:cNvPr id="12" name="Text 10"/>
          <p:cNvSpPr/>
          <p:nvPr/>
        </p:nvSpPr>
        <p:spPr>
          <a:xfrm>
            <a:off x="1010391" y="2275384"/>
            <a:ext cx="2205893"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B0748"/>
                </a:solidFill>
                <a:latin typeface="Sora" pitchFamily="34" charset="0"/>
                <a:ea typeface="Sora" pitchFamily="34" charset="-122"/>
                <a:cs typeface="Sora" pitchFamily="34" charset="-120"/>
              </a:rPr>
              <a:t>Horizontal</a:t>
            </a:r>
            <a:endParaRPr lang="en-US" sz="1700" dirty="0"/>
          </a:p>
        </p:txBody>
      </p:sp>
      <p:sp>
        <p:nvSpPr>
          <p:cNvPr id="13" name="Text 11"/>
          <p:cNvSpPr/>
          <p:nvPr/>
        </p:nvSpPr>
        <p:spPr>
          <a:xfrm>
            <a:off x="1010391" y="2646859"/>
            <a:ext cx="2205893"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890"/>
                </a:solidFill>
                <a:latin typeface="IBM Plex Sans" pitchFamily="34" charset="0"/>
                <a:ea typeface="IBM Plex Sans" pitchFamily="34" charset="-122"/>
                <a:cs typeface="IBM Plex Sans" pitchFamily="34" charset="-120"/>
              </a:rPr>
              <a:t>HorizontalPodAutoscaler (HPA), intégré</a:t>
            </a:r>
            <a:endParaRPr lang="en-US" sz="1200" dirty="0"/>
          </a:p>
        </p:txBody>
      </p:sp>
      <p:sp>
        <p:nvSpPr>
          <p:cNvPr id="14" name="Shape 12"/>
          <p:cNvSpPr/>
          <p:nvPr/>
        </p:nvSpPr>
        <p:spPr>
          <a:xfrm>
            <a:off x="1010391" y="4527352"/>
            <a:ext cx="2141643" cy="0"/>
          </a:xfrm>
          <a:prstGeom prst="line">
            <a:avLst/>
          </a:prstGeom>
          <a:noFill/>
          <a:ln w="6350">
            <a:solidFill>
              <a:srgbClr val="E1DFEE"/>
            </a:solidFill>
            <a:prstDash val="solid"/>
          </a:ln>
        </p:spPr>
      </p:sp>
      <p:sp>
        <p:nvSpPr>
          <p:cNvPr id="15" name="Text 13"/>
          <p:cNvSpPr/>
          <p:nvPr/>
        </p:nvSpPr>
        <p:spPr>
          <a:xfrm>
            <a:off x="1010391" y="4607322"/>
            <a:ext cx="2205893"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CE QUI CHANGE</a:t>
            </a:r>
            <a:endParaRPr lang="en-US" sz="1000" dirty="0"/>
          </a:p>
        </p:txBody>
      </p:sp>
      <p:sp>
        <p:nvSpPr>
          <p:cNvPr id="16" name="Text 14"/>
          <p:cNvSpPr/>
          <p:nvPr/>
        </p:nvSpPr>
        <p:spPr>
          <a:xfrm>
            <a:off x="1010391" y="4810522"/>
            <a:ext cx="2205893"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B0748"/>
                </a:solidFill>
                <a:latin typeface="IBM Plex Sans" pitchFamily="34" charset="0"/>
                <a:ea typeface="IBM Plex Sans" pitchFamily="34" charset="-122"/>
                <a:cs typeface="IBM Plex Sans" pitchFamily="34" charset="-120"/>
              </a:rPr>
              <a:t>Nombre de réplicas</a:t>
            </a:r>
            <a:endParaRPr lang="en-US" sz="1300" dirty="0"/>
          </a:p>
        </p:txBody>
      </p:sp>
      <p:sp>
        <p:nvSpPr>
          <p:cNvPr id="17" name="Shape 15"/>
          <p:cNvSpPr/>
          <p:nvPr/>
        </p:nvSpPr>
        <p:spPr>
          <a:xfrm>
            <a:off x="1010391" y="5138241"/>
            <a:ext cx="2141643" cy="0"/>
          </a:xfrm>
          <a:prstGeom prst="line">
            <a:avLst/>
          </a:prstGeom>
          <a:noFill/>
          <a:ln w="6350">
            <a:solidFill>
              <a:srgbClr val="E1DFEE"/>
            </a:solidFill>
            <a:prstDash val="solid"/>
          </a:ln>
        </p:spPr>
      </p:sp>
      <p:sp>
        <p:nvSpPr>
          <p:cNvPr id="18" name="Text 16"/>
          <p:cNvSpPr/>
          <p:nvPr/>
        </p:nvSpPr>
        <p:spPr>
          <a:xfrm>
            <a:off x="1010391" y="5218410"/>
            <a:ext cx="2205893"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DÉLAI TYPIQUE</a:t>
            </a:r>
            <a:endParaRPr lang="en-US" sz="1000" dirty="0"/>
          </a:p>
        </p:txBody>
      </p:sp>
      <p:sp>
        <p:nvSpPr>
          <p:cNvPr id="19" name="Text 17"/>
          <p:cNvSpPr/>
          <p:nvPr/>
        </p:nvSpPr>
        <p:spPr>
          <a:xfrm>
            <a:off x="1010391" y="5421610"/>
            <a:ext cx="220589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0748"/>
                </a:solidFill>
                <a:latin typeface="IBM Plex Sans" pitchFamily="34" charset="0"/>
                <a:ea typeface="IBM Plex Sans" pitchFamily="34" charset="-122"/>
                <a:cs typeface="IBM Plex Sans" pitchFamily="34" charset="-120"/>
              </a:rPr>
              <a:t>Secondes à une minute</a:t>
            </a:r>
            <a:endParaRPr lang="en-US" sz="1300" dirty="0"/>
          </a:p>
        </p:txBody>
      </p:sp>
      <p:sp>
        <p:nvSpPr>
          <p:cNvPr id="20" name="Shape 18"/>
          <p:cNvSpPr/>
          <p:nvPr/>
        </p:nvSpPr>
        <p:spPr>
          <a:xfrm>
            <a:off x="3492500" y="1572915"/>
            <a:ext cx="2530475" cy="4265930"/>
          </a:xfrm>
          <a:prstGeom prst="roundRect">
            <a:avLst>
              <a:gd name="adj" fmla="val 4893"/>
            </a:avLst>
          </a:prstGeom>
          <a:solidFill>
            <a:srgbClr val="FDFDFF"/>
          </a:solidFill>
          <a:ln w="6350">
            <a:solidFill>
              <a:srgbClr val="E1DFEE"/>
            </a:solidFill>
            <a:prstDash val="solid"/>
          </a:ln>
        </p:spPr>
      </p:sp>
      <p:sp>
        <p:nvSpPr>
          <p:cNvPr id="21" name="Shape 19"/>
          <p:cNvSpPr/>
          <p:nvPr/>
        </p:nvSpPr>
        <p:spPr>
          <a:xfrm>
            <a:off x="3686916" y="1983284"/>
            <a:ext cx="190500" cy="190500"/>
          </a:xfrm>
          <a:prstGeom prst="roundRect">
            <a:avLst>
              <a:gd name="adj" fmla="val 23333"/>
            </a:avLst>
          </a:prstGeom>
          <a:solidFill>
            <a:srgbClr val="0B0748"/>
          </a:solidFill>
          <a:ln/>
        </p:spPr>
      </p:sp>
      <p:sp>
        <p:nvSpPr>
          <p:cNvPr id="22" name="Text 20"/>
          <p:cNvSpPr/>
          <p:nvPr/>
        </p:nvSpPr>
        <p:spPr>
          <a:xfrm>
            <a:off x="3966316" y="1907084"/>
            <a:ext cx="241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6A3C6"/>
                </a:solidFill>
                <a:latin typeface="IBM Plex Sans" pitchFamily="34" charset="0"/>
                <a:ea typeface="IBM Plex Sans" pitchFamily="34" charset="-122"/>
                <a:cs typeface="IBM Plex Sans" pitchFamily="34" charset="-120"/>
              </a:rPr>
              <a:t>→</a:t>
            </a:r>
            <a:endParaRPr lang="en-US" sz="1500" dirty="0"/>
          </a:p>
        </p:txBody>
      </p:sp>
      <p:sp>
        <p:nvSpPr>
          <p:cNvPr id="23" name="Shape 21"/>
          <p:cNvSpPr/>
          <p:nvPr/>
        </p:nvSpPr>
        <p:spPr>
          <a:xfrm>
            <a:off x="4245716" y="1818184"/>
            <a:ext cx="355600" cy="355600"/>
          </a:xfrm>
          <a:prstGeom prst="roundRect">
            <a:avLst>
              <a:gd name="adj" fmla="val 12500"/>
            </a:avLst>
          </a:prstGeom>
          <a:solidFill>
            <a:srgbClr val="E25A2C"/>
          </a:solidFill>
          <a:ln/>
        </p:spPr>
      </p:sp>
      <p:sp>
        <p:nvSpPr>
          <p:cNvPr id="24" name="Text 22"/>
          <p:cNvSpPr/>
          <p:nvPr/>
        </p:nvSpPr>
        <p:spPr>
          <a:xfrm>
            <a:off x="3686916" y="2275384"/>
            <a:ext cx="2205893"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B0748"/>
                </a:solidFill>
                <a:latin typeface="Sora" pitchFamily="34" charset="0"/>
                <a:ea typeface="Sora" pitchFamily="34" charset="-122"/>
                <a:cs typeface="Sora" pitchFamily="34" charset="-120"/>
              </a:rPr>
              <a:t>Vertical</a:t>
            </a:r>
            <a:endParaRPr lang="en-US" sz="1700" dirty="0"/>
          </a:p>
        </p:txBody>
      </p:sp>
      <p:sp>
        <p:nvSpPr>
          <p:cNvPr id="25" name="Text 23"/>
          <p:cNvSpPr/>
          <p:nvPr/>
        </p:nvSpPr>
        <p:spPr>
          <a:xfrm>
            <a:off x="3686916" y="2646859"/>
            <a:ext cx="2205893"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890"/>
                </a:solidFill>
                <a:latin typeface="IBM Plex Sans" pitchFamily="34" charset="0"/>
                <a:ea typeface="IBM Plex Sans" pitchFamily="34" charset="-122"/>
                <a:cs typeface="IBM Plex Sans" pitchFamily="34" charset="-120"/>
              </a:rPr>
              <a:t>VerticalPodAutoscaler (VPA), à installer</a:t>
            </a:r>
            <a:endParaRPr lang="en-US" sz="1200" dirty="0"/>
          </a:p>
        </p:txBody>
      </p:sp>
      <p:sp>
        <p:nvSpPr>
          <p:cNvPr id="26" name="Shape 24"/>
          <p:cNvSpPr/>
          <p:nvPr/>
        </p:nvSpPr>
        <p:spPr>
          <a:xfrm>
            <a:off x="3686916" y="4304407"/>
            <a:ext cx="2141643" cy="0"/>
          </a:xfrm>
          <a:prstGeom prst="line">
            <a:avLst/>
          </a:prstGeom>
          <a:noFill/>
          <a:ln w="6350">
            <a:solidFill>
              <a:srgbClr val="E1DFEE"/>
            </a:solidFill>
            <a:prstDash val="solid"/>
          </a:ln>
        </p:spPr>
      </p:sp>
      <p:sp>
        <p:nvSpPr>
          <p:cNvPr id="27" name="Text 25"/>
          <p:cNvSpPr/>
          <p:nvPr/>
        </p:nvSpPr>
        <p:spPr>
          <a:xfrm>
            <a:off x="3686916" y="4384477"/>
            <a:ext cx="2205893"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CE QUI CHANGE</a:t>
            </a:r>
            <a:endParaRPr lang="en-US" sz="1000" dirty="0"/>
          </a:p>
        </p:txBody>
      </p:sp>
      <p:sp>
        <p:nvSpPr>
          <p:cNvPr id="28" name="Text 26"/>
          <p:cNvSpPr/>
          <p:nvPr/>
        </p:nvSpPr>
        <p:spPr>
          <a:xfrm>
            <a:off x="3686916" y="4587677"/>
            <a:ext cx="2205893"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B0748"/>
                </a:solidFill>
                <a:latin typeface="IBM Plex Sans" pitchFamily="34" charset="0"/>
                <a:ea typeface="IBM Plex Sans" pitchFamily="34" charset="-122"/>
                <a:cs typeface="IBM Plex Sans" pitchFamily="34" charset="-120"/>
              </a:rPr>
              <a:t>Requests et limits des pods</a:t>
            </a:r>
            <a:endParaRPr lang="en-US" sz="1300" dirty="0"/>
          </a:p>
        </p:txBody>
      </p:sp>
      <p:sp>
        <p:nvSpPr>
          <p:cNvPr id="29" name="Shape 27"/>
          <p:cNvSpPr/>
          <p:nvPr/>
        </p:nvSpPr>
        <p:spPr>
          <a:xfrm>
            <a:off x="3686916" y="4915297"/>
            <a:ext cx="2141643" cy="0"/>
          </a:xfrm>
          <a:prstGeom prst="line">
            <a:avLst/>
          </a:prstGeom>
          <a:noFill/>
          <a:ln w="6350">
            <a:solidFill>
              <a:srgbClr val="E1DFEE"/>
            </a:solidFill>
            <a:prstDash val="solid"/>
          </a:ln>
        </p:spPr>
      </p:sp>
      <p:sp>
        <p:nvSpPr>
          <p:cNvPr id="30" name="Text 28"/>
          <p:cNvSpPr/>
          <p:nvPr/>
        </p:nvSpPr>
        <p:spPr>
          <a:xfrm>
            <a:off x="3686916" y="4995565"/>
            <a:ext cx="2205893"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DÉLAI TYPIQUE</a:t>
            </a:r>
            <a:endParaRPr lang="en-US" sz="1000" dirty="0"/>
          </a:p>
        </p:txBody>
      </p:sp>
      <p:sp>
        <p:nvSpPr>
          <p:cNvPr id="31" name="Text 29"/>
          <p:cNvSpPr/>
          <p:nvPr/>
        </p:nvSpPr>
        <p:spPr>
          <a:xfrm>
            <a:off x="3686916" y="5198765"/>
            <a:ext cx="220589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0748"/>
                </a:solidFill>
                <a:latin typeface="IBM Plex Sans" pitchFamily="34" charset="0"/>
                <a:ea typeface="IBM Plex Sans" pitchFamily="34" charset="-122"/>
                <a:cs typeface="IBM Plex Sans" pitchFamily="34" charset="-120"/>
              </a:rPr>
              <a:t>Au prochain redémarrage du pod, ou en place</a:t>
            </a:r>
            <a:endParaRPr lang="en-US" sz="1300" dirty="0"/>
          </a:p>
        </p:txBody>
      </p:sp>
      <p:sp>
        <p:nvSpPr>
          <p:cNvPr id="32" name="Shape 30"/>
          <p:cNvSpPr/>
          <p:nvPr/>
        </p:nvSpPr>
        <p:spPr>
          <a:xfrm>
            <a:off x="6169025" y="1572915"/>
            <a:ext cx="2530475" cy="4265930"/>
          </a:xfrm>
          <a:prstGeom prst="roundRect">
            <a:avLst>
              <a:gd name="adj" fmla="val 4893"/>
            </a:avLst>
          </a:prstGeom>
          <a:solidFill>
            <a:srgbClr val="FDFDFF"/>
          </a:solidFill>
          <a:ln w="6350">
            <a:solidFill>
              <a:srgbClr val="E1DFEE"/>
            </a:solidFill>
            <a:prstDash val="solid"/>
          </a:ln>
        </p:spPr>
      </p:sp>
      <p:sp>
        <p:nvSpPr>
          <p:cNvPr id="33" name="Shape 31"/>
          <p:cNvSpPr/>
          <p:nvPr/>
        </p:nvSpPr>
        <p:spPr>
          <a:xfrm>
            <a:off x="6369791" y="1989634"/>
            <a:ext cx="177800" cy="177800"/>
          </a:xfrm>
          <a:prstGeom prst="roundRect">
            <a:avLst>
              <a:gd name="adj" fmla="val 21429"/>
            </a:avLst>
          </a:prstGeom>
          <a:noFill/>
          <a:ln w="12700">
            <a:solidFill>
              <a:srgbClr val="A6A3C6"/>
            </a:solidFill>
            <a:prstDash val="dash"/>
          </a:ln>
        </p:spPr>
      </p:sp>
      <p:sp>
        <p:nvSpPr>
          <p:cNvPr id="34" name="Text 32"/>
          <p:cNvSpPr/>
          <p:nvPr/>
        </p:nvSpPr>
        <p:spPr>
          <a:xfrm>
            <a:off x="6642841" y="1907084"/>
            <a:ext cx="241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6A3C6"/>
                </a:solidFill>
                <a:latin typeface="IBM Plex Sans" pitchFamily="34" charset="0"/>
                <a:ea typeface="IBM Plex Sans" pitchFamily="34" charset="-122"/>
                <a:cs typeface="IBM Plex Sans" pitchFamily="34" charset="-120"/>
              </a:rPr>
              <a:t>→</a:t>
            </a:r>
            <a:endParaRPr lang="en-US" sz="1500" dirty="0"/>
          </a:p>
        </p:txBody>
      </p:sp>
      <p:sp>
        <p:nvSpPr>
          <p:cNvPr id="35" name="Shape 33"/>
          <p:cNvSpPr/>
          <p:nvPr/>
        </p:nvSpPr>
        <p:spPr>
          <a:xfrm>
            <a:off x="6922241" y="1983284"/>
            <a:ext cx="190500" cy="190500"/>
          </a:xfrm>
          <a:prstGeom prst="roundRect">
            <a:avLst>
              <a:gd name="adj" fmla="val 23333"/>
            </a:avLst>
          </a:prstGeom>
          <a:solidFill>
            <a:srgbClr val="E25A2C"/>
          </a:solidFill>
          <a:ln/>
        </p:spPr>
      </p:sp>
      <p:sp>
        <p:nvSpPr>
          <p:cNvPr id="36" name="Shape 34"/>
          <p:cNvSpPr/>
          <p:nvPr/>
        </p:nvSpPr>
        <p:spPr>
          <a:xfrm>
            <a:off x="7163541" y="1983284"/>
            <a:ext cx="190500" cy="190500"/>
          </a:xfrm>
          <a:prstGeom prst="roundRect">
            <a:avLst>
              <a:gd name="adj" fmla="val 23333"/>
            </a:avLst>
          </a:prstGeom>
          <a:solidFill>
            <a:srgbClr val="E25A2C"/>
          </a:solidFill>
          <a:ln/>
        </p:spPr>
      </p:sp>
      <p:sp>
        <p:nvSpPr>
          <p:cNvPr id="37" name="Shape 35"/>
          <p:cNvSpPr/>
          <p:nvPr/>
        </p:nvSpPr>
        <p:spPr>
          <a:xfrm>
            <a:off x="7404841" y="1983284"/>
            <a:ext cx="190500" cy="190500"/>
          </a:xfrm>
          <a:prstGeom prst="roundRect">
            <a:avLst>
              <a:gd name="adj" fmla="val 23333"/>
            </a:avLst>
          </a:prstGeom>
          <a:solidFill>
            <a:srgbClr val="E25A2C"/>
          </a:solidFill>
          <a:ln/>
        </p:spPr>
      </p:sp>
      <p:sp>
        <p:nvSpPr>
          <p:cNvPr id="38" name="Text 36"/>
          <p:cNvSpPr/>
          <p:nvPr/>
        </p:nvSpPr>
        <p:spPr>
          <a:xfrm>
            <a:off x="6363441" y="2275384"/>
            <a:ext cx="2205893"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B0748"/>
                </a:solidFill>
                <a:latin typeface="Sora" pitchFamily="34" charset="0"/>
                <a:ea typeface="Sora" pitchFamily="34" charset="-122"/>
                <a:cs typeface="Sora" pitchFamily="34" charset="-120"/>
              </a:rPr>
              <a:t>Événementiel</a:t>
            </a:r>
            <a:endParaRPr lang="en-US" sz="1700" dirty="0"/>
          </a:p>
        </p:txBody>
      </p:sp>
      <p:sp>
        <p:nvSpPr>
          <p:cNvPr id="39" name="Text 37"/>
          <p:cNvSpPr/>
          <p:nvPr/>
        </p:nvSpPr>
        <p:spPr>
          <a:xfrm>
            <a:off x="6363441" y="2646859"/>
            <a:ext cx="2205893"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890"/>
                </a:solidFill>
                <a:latin typeface="IBM Plex Sans" pitchFamily="34" charset="0"/>
                <a:ea typeface="IBM Plex Sans" pitchFamily="34" charset="-122"/>
                <a:cs typeface="IBM Plex Sans" pitchFamily="34" charset="-120"/>
              </a:rPr>
              <a:t>KEDA, à installer</a:t>
            </a:r>
            <a:endParaRPr lang="en-US" sz="1200" dirty="0"/>
          </a:p>
        </p:txBody>
      </p:sp>
      <p:sp>
        <p:nvSpPr>
          <p:cNvPr id="40" name="Shape 38"/>
          <p:cNvSpPr/>
          <p:nvPr/>
        </p:nvSpPr>
        <p:spPr>
          <a:xfrm>
            <a:off x="6363441" y="4081562"/>
            <a:ext cx="2141643" cy="0"/>
          </a:xfrm>
          <a:prstGeom prst="line">
            <a:avLst/>
          </a:prstGeom>
          <a:noFill/>
          <a:ln w="6350">
            <a:solidFill>
              <a:srgbClr val="E1DFEE"/>
            </a:solidFill>
            <a:prstDash val="solid"/>
          </a:ln>
        </p:spPr>
      </p:sp>
      <p:sp>
        <p:nvSpPr>
          <p:cNvPr id="41" name="Text 39"/>
          <p:cNvSpPr/>
          <p:nvPr/>
        </p:nvSpPr>
        <p:spPr>
          <a:xfrm>
            <a:off x="6363441" y="4161532"/>
            <a:ext cx="2205893"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CE QUI CHANGE</a:t>
            </a:r>
            <a:endParaRPr lang="en-US" sz="1000" dirty="0"/>
          </a:p>
        </p:txBody>
      </p:sp>
      <p:sp>
        <p:nvSpPr>
          <p:cNvPr id="42" name="Text 40"/>
          <p:cNvSpPr/>
          <p:nvPr/>
        </p:nvSpPr>
        <p:spPr>
          <a:xfrm>
            <a:off x="6363441" y="4364732"/>
            <a:ext cx="2205893"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B0748"/>
                </a:solidFill>
                <a:latin typeface="IBM Plex Sans" pitchFamily="34" charset="0"/>
                <a:ea typeface="IBM Plex Sans" pitchFamily="34" charset="-122"/>
                <a:cs typeface="IBM Plex Sans" pitchFamily="34" charset="-120"/>
              </a:rPr>
              <a:t>Nombre de réplicas, jusqu'à zéro, selon une source externe</a:t>
            </a:r>
            <a:endParaRPr lang="en-US" sz="1300" dirty="0"/>
          </a:p>
        </p:txBody>
      </p:sp>
      <p:sp>
        <p:nvSpPr>
          <p:cNvPr id="43" name="Shape 41"/>
          <p:cNvSpPr/>
          <p:nvPr/>
        </p:nvSpPr>
        <p:spPr>
          <a:xfrm>
            <a:off x="6363441" y="5138241"/>
            <a:ext cx="2141643" cy="0"/>
          </a:xfrm>
          <a:prstGeom prst="line">
            <a:avLst/>
          </a:prstGeom>
          <a:noFill/>
          <a:ln w="6350">
            <a:solidFill>
              <a:srgbClr val="E1DFEE"/>
            </a:solidFill>
            <a:prstDash val="solid"/>
          </a:ln>
        </p:spPr>
      </p:sp>
      <p:sp>
        <p:nvSpPr>
          <p:cNvPr id="44" name="Text 42"/>
          <p:cNvSpPr/>
          <p:nvPr/>
        </p:nvSpPr>
        <p:spPr>
          <a:xfrm>
            <a:off x="6363441" y="5218410"/>
            <a:ext cx="2205893"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DÉLAI TYPIQUE</a:t>
            </a:r>
            <a:endParaRPr lang="en-US" sz="1000" dirty="0"/>
          </a:p>
        </p:txBody>
      </p:sp>
      <p:sp>
        <p:nvSpPr>
          <p:cNvPr id="45" name="Text 43"/>
          <p:cNvSpPr/>
          <p:nvPr/>
        </p:nvSpPr>
        <p:spPr>
          <a:xfrm>
            <a:off x="6363441" y="5421610"/>
            <a:ext cx="220589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0748"/>
                </a:solidFill>
                <a:latin typeface="IBM Plex Sans" pitchFamily="34" charset="0"/>
                <a:ea typeface="IBM Plex Sans" pitchFamily="34" charset="-122"/>
                <a:cs typeface="IBM Plex Sans" pitchFamily="34" charset="-120"/>
              </a:rPr>
              <a:t>Secondes</a:t>
            </a:r>
            <a:endParaRPr lang="en-US" sz="1300" dirty="0"/>
          </a:p>
        </p:txBody>
      </p:sp>
      <p:sp>
        <p:nvSpPr>
          <p:cNvPr id="46" name="Shape 44"/>
          <p:cNvSpPr/>
          <p:nvPr/>
        </p:nvSpPr>
        <p:spPr>
          <a:xfrm>
            <a:off x="8845550" y="1572915"/>
            <a:ext cx="2530475" cy="4265930"/>
          </a:xfrm>
          <a:prstGeom prst="roundRect">
            <a:avLst>
              <a:gd name="adj" fmla="val 4893"/>
            </a:avLst>
          </a:prstGeom>
          <a:solidFill>
            <a:srgbClr val="FDFDFF"/>
          </a:solidFill>
          <a:ln w="6350">
            <a:solidFill>
              <a:srgbClr val="E1DFEE"/>
            </a:solidFill>
            <a:prstDash val="solid"/>
          </a:ln>
        </p:spPr>
      </p:sp>
      <p:sp>
        <p:nvSpPr>
          <p:cNvPr id="47" name="Shape 45"/>
          <p:cNvSpPr/>
          <p:nvPr/>
        </p:nvSpPr>
        <p:spPr>
          <a:xfrm>
            <a:off x="9049491" y="1827709"/>
            <a:ext cx="336550" cy="336550"/>
          </a:xfrm>
          <a:prstGeom prst="roundRect">
            <a:avLst>
              <a:gd name="adj" fmla="val 16038"/>
            </a:avLst>
          </a:prstGeom>
          <a:noFill/>
          <a:ln w="19050">
            <a:solidFill>
              <a:srgbClr val="0B0748"/>
            </a:solidFill>
            <a:prstDash val="solid"/>
          </a:ln>
        </p:spPr>
      </p:sp>
      <p:sp>
        <p:nvSpPr>
          <p:cNvPr id="48" name="Text 46"/>
          <p:cNvSpPr/>
          <p:nvPr/>
        </p:nvSpPr>
        <p:spPr>
          <a:xfrm>
            <a:off x="9484466" y="1907084"/>
            <a:ext cx="241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6A3C6"/>
                </a:solidFill>
                <a:latin typeface="IBM Plex Sans" pitchFamily="34" charset="0"/>
                <a:ea typeface="IBM Plex Sans" pitchFamily="34" charset="-122"/>
                <a:cs typeface="IBM Plex Sans" pitchFamily="34" charset="-120"/>
              </a:rPr>
              <a:t>→</a:t>
            </a:r>
            <a:endParaRPr lang="en-US" sz="1500" dirty="0"/>
          </a:p>
        </p:txBody>
      </p:sp>
      <p:sp>
        <p:nvSpPr>
          <p:cNvPr id="49" name="Shape 47"/>
          <p:cNvSpPr/>
          <p:nvPr/>
        </p:nvSpPr>
        <p:spPr>
          <a:xfrm>
            <a:off x="9773391" y="1827709"/>
            <a:ext cx="336550" cy="336550"/>
          </a:xfrm>
          <a:prstGeom prst="roundRect">
            <a:avLst>
              <a:gd name="adj" fmla="val 16038"/>
            </a:avLst>
          </a:prstGeom>
          <a:noFill/>
          <a:ln w="19050">
            <a:solidFill>
              <a:srgbClr val="0B0748"/>
            </a:solidFill>
            <a:prstDash val="solid"/>
          </a:ln>
        </p:spPr>
      </p:sp>
      <p:sp>
        <p:nvSpPr>
          <p:cNvPr id="50" name="Shape 48"/>
          <p:cNvSpPr/>
          <p:nvPr/>
        </p:nvSpPr>
        <p:spPr>
          <a:xfrm>
            <a:off x="10179791" y="1827709"/>
            <a:ext cx="336550" cy="336550"/>
          </a:xfrm>
          <a:prstGeom prst="roundRect">
            <a:avLst>
              <a:gd name="adj" fmla="val 16038"/>
            </a:avLst>
          </a:prstGeom>
          <a:noFill/>
          <a:ln w="19050">
            <a:solidFill>
              <a:srgbClr val="E25A2C"/>
            </a:solidFill>
            <a:prstDash val="solid"/>
          </a:ln>
        </p:spPr>
      </p:sp>
      <p:sp>
        <p:nvSpPr>
          <p:cNvPr id="51" name="Text 49"/>
          <p:cNvSpPr/>
          <p:nvPr/>
        </p:nvSpPr>
        <p:spPr>
          <a:xfrm>
            <a:off x="9039966" y="2275384"/>
            <a:ext cx="2205893"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B0748"/>
                </a:solidFill>
                <a:latin typeface="Sora" pitchFamily="34" charset="0"/>
                <a:ea typeface="Sora" pitchFamily="34" charset="-122"/>
                <a:cs typeface="Sora" pitchFamily="34" charset="-120"/>
              </a:rPr>
              <a:t>Cluster</a:t>
            </a:r>
            <a:endParaRPr lang="en-US" sz="1700" dirty="0"/>
          </a:p>
        </p:txBody>
      </p:sp>
      <p:sp>
        <p:nvSpPr>
          <p:cNvPr id="52" name="Text 50"/>
          <p:cNvSpPr/>
          <p:nvPr/>
        </p:nvSpPr>
        <p:spPr>
          <a:xfrm>
            <a:off x="9039966" y="2646859"/>
            <a:ext cx="2205893"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890"/>
                </a:solidFill>
                <a:latin typeface="IBM Plex Sans" pitchFamily="34" charset="0"/>
                <a:ea typeface="IBM Plex Sans" pitchFamily="34" charset="-122"/>
                <a:cs typeface="IBM Plex Sans" pitchFamily="34" charset="-120"/>
              </a:rPr>
              <a:t>Cluster Autoscaler, Karpenter</a:t>
            </a:r>
            <a:endParaRPr lang="en-US" sz="1200" dirty="0"/>
          </a:p>
        </p:txBody>
      </p:sp>
      <p:sp>
        <p:nvSpPr>
          <p:cNvPr id="53" name="Shape 51"/>
          <p:cNvSpPr/>
          <p:nvPr/>
        </p:nvSpPr>
        <p:spPr>
          <a:xfrm>
            <a:off x="9039966" y="4527352"/>
            <a:ext cx="2141643" cy="0"/>
          </a:xfrm>
          <a:prstGeom prst="line">
            <a:avLst/>
          </a:prstGeom>
          <a:noFill/>
          <a:ln w="6350">
            <a:solidFill>
              <a:srgbClr val="E1DFEE"/>
            </a:solidFill>
            <a:prstDash val="solid"/>
          </a:ln>
        </p:spPr>
      </p:sp>
      <p:sp>
        <p:nvSpPr>
          <p:cNvPr id="54" name="Text 52"/>
          <p:cNvSpPr/>
          <p:nvPr/>
        </p:nvSpPr>
        <p:spPr>
          <a:xfrm>
            <a:off x="9039966" y="4607322"/>
            <a:ext cx="2205893"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CE QUI CHANGE</a:t>
            </a:r>
            <a:endParaRPr lang="en-US" sz="1000" dirty="0"/>
          </a:p>
        </p:txBody>
      </p:sp>
      <p:sp>
        <p:nvSpPr>
          <p:cNvPr id="55" name="Text 53"/>
          <p:cNvSpPr/>
          <p:nvPr/>
        </p:nvSpPr>
        <p:spPr>
          <a:xfrm>
            <a:off x="9039966" y="4810522"/>
            <a:ext cx="2205893"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B0748"/>
                </a:solidFill>
                <a:latin typeface="IBM Plex Sans" pitchFamily="34" charset="0"/>
                <a:ea typeface="IBM Plex Sans" pitchFamily="34" charset="-122"/>
                <a:cs typeface="IBM Plex Sans" pitchFamily="34" charset="-120"/>
              </a:rPr>
              <a:t>Nombre de nœuds</a:t>
            </a:r>
            <a:endParaRPr lang="en-US" sz="1300" dirty="0"/>
          </a:p>
        </p:txBody>
      </p:sp>
      <p:sp>
        <p:nvSpPr>
          <p:cNvPr id="56" name="Shape 54"/>
          <p:cNvSpPr/>
          <p:nvPr/>
        </p:nvSpPr>
        <p:spPr>
          <a:xfrm>
            <a:off x="9039966" y="5138241"/>
            <a:ext cx="2141643" cy="0"/>
          </a:xfrm>
          <a:prstGeom prst="line">
            <a:avLst/>
          </a:prstGeom>
          <a:noFill/>
          <a:ln w="6350">
            <a:solidFill>
              <a:srgbClr val="E1DFEE"/>
            </a:solidFill>
            <a:prstDash val="solid"/>
          </a:ln>
        </p:spPr>
      </p:sp>
      <p:sp>
        <p:nvSpPr>
          <p:cNvPr id="57" name="Text 55"/>
          <p:cNvSpPr/>
          <p:nvPr/>
        </p:nvSpPr>
        <p:spPr>
          <a:xfrm>
            <a:off x="9039966" y="5218410"/>
            <a:ext cx="2205893"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DÉLAI TYPIQUE</a:t>
            </a:r>
            <a:endParaRPr lang="en-US" sz="1000" dirty="0"/>
          </a:p>
        </p:txBody>
      </p:sp>
      <p:sp>
        <p:nvSpPr>
          <p:cNvPr id="58" name="Text 56"/>
          <p:cNvSpPr/>
          <p:nvPr/>
        </p:nvSpPr>
        <p:spPr>
          <a:xfrm>
            <a:off x="9039966" y="5421610"/>
            <a:ext cx="220589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0748"/>
                </a:solidFill>
                <a:latin typeface="IBM Plex Sans" pitchFamily="34" charset="0"/>
                <a:ea typeface="IBM Plex Sans" pitchFamily="34" charset="-122"/>
                <a:cs typeface="IBM Plex Sans" pitchFamily="34" charset="-120"/>
              </a:rPr>
              <a:t>Minutes</a:t>
            </a:r>
            <a:endParaRPr lang="en-US" sz="1300" dirty="0"/>
          </a:p>
        </p:txBody>
      </p:sp>
      <p:pic>
        <p:nvPicPr>
          <p:cNvPr id="59"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60" name="Text 57"/>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61" name="Image 1" descr="Parcours : module 14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14 · AUTOSCALING</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calcul du HorizontalPodAutoscaler</a:t>
            </a:r>
            <a:endParaRPr lang="en-US" sz="2800" dirty="0"/>
          </a:p>
        </p:txBody>
      </p:sp>
      <p:sp>
        <p:nvSpPr>
          <p:cNvPr id="4" name="Text 2"/>
          <p:cNvSpPr/>
          <p:nvPr/>
        </p:nvSpPr>
        <p:spPr>
          <a:xfrm>
            <a:off x="812800" y="1780580"/>
            <a:ext cx="2331191" cy="416666"/>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25A2C"/>
                </a:solidFill>
                <a:latin typeface="Sora" pitchFamily="34" charset="0"/>
                <a:ea typeface="Sora" pitchFamily="34" charset="-122"/>
                <a:cs typeface="Sora" pitchFamily="34" charset="-120"/>
              </a:rPr>
              <a:t>réplicas voulus</a:t>
            </a:r>
            <a:endParaRPr lang="en-US" sz="2200" dirty="0"/>
          </a:p>
        </p:txBody>
      </p:sp>
      <p:sp>
        <p:nvSpPr>
          <p:cNvPr id="5" name="Text 3"/>
          <p:cNvSpPr/>
          <p:nvPr/>
        </p:nvSpPr>
        <p:spPr>
          <a:xfrm>
            <a:off x="3143991" y="1780580"/>
            <a:ext cx="215688" cy="416666"/>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6A3C6"/>
                </a:solidFill>
                <a:latin typeface="Sora" pitchFamily="34" charset="0"/>
                <a:ea typeface="Sora" pitchFamily="34" charset="-122"/>
                <a:cs typeface="Sora" pitchFamily="34" charset="-120"/>
              </a:rPr>
              <a:t>=</a:t>
            </a:r>
            <a:endParaRPr lang="en-US" sz="2200" dirty="0"/>
          </a:p>
        </p:txBody>
      </p:sp>
      <p:sp>
        <p:nvSpPr>
          <p:cNvPr id="6" name="Text 4"/>
          <p:cNvSpPr/>
          <p:nvPr/>
        </p:nvSpPr>
        <p:spPr>
          <a:xfrm>
            <a:off x="3486679" y="1780580"/>
            <a:ext cx="2431415" cy="416666"/>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B0748"/>
                </a:solidFill>
                <a:latin typeface="Sora" pitchFamily="34" charset="0"/>
                <a:ea typeface="Sora" pitchFamily="34" charset="-122"/>
                <a:cs typeface="Sora" pitchFamily="34" charset="-120"/>
              </a:rPr>
              <a:t>réplicas actuels</a:t>
            </a:r>
            <a:endParaRPr lang="en-US" sz="2200" dirty="0"/>
          </a:p>
        </p:txBody>
      </p:sp>
      <p:sp>
        <p:nvSpPr>
          <p:cNvPr id="7" name="Text 5"/>
          <p:cNvSpPr/>
          <p:nvPr/>
        </p:nvSpPr>
        <p:spPr>
          <a:xfrm>
            <a:off x="5918094" y="1780580"/>
            <a:ext cx="215688" cy="416666"/>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6A3C6"/>
                </a:solidFill>
                <a:latin typeface="Sora" pitchFamily="34" charset="0"/>
                <a:ea typeface="Sora" pitchFamily="34" charset="-122"/>
                <a:cs typeface="Sora" pitchFamily="34" charset="-120"/>
              </a:rPr>
              <a:t>×</a:t>
            </a:r>
            <a:endParaRPr lang="en-US" sz="2200" dirty="0"/>
          </a:p>
        </p:txBody>
      </p:sp>
      <p:sp>
        <p:nvSpPr>
          <p:cNvPr id="8" name="Text 6"/>
          <p:cNvSpPr/>
          <p:nvPr/>
        </p:nvSpPr>
        <p:spPr>
          <a:xfrm>
            <a:off x="6260783" y="1569740"/>
            <a:ext cx="223551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0748"/>
                </a:solidFill>
                <a:latin typeface="Sora" pitchFamily="34" charset="0"/>
                <a:ea typeface="Sora" pitchFamily="34" charset="-122"/>
                <a:cs typeface="Sora" pitchFamily="34" charset="-120"/>
              </a:rPr>
              <a:t>valeur mesurée</a:t>
            </a:r>
            <a:endParaRPr lang="en-US" sz="2000" dirty="0"/>
          </a:p>
        </p:txBody>
      </p:sp>
      <p:sp>
        <p:nvSpPr>
          <p:cNvPr id="9" name="Shape 7"/>
          <p:cNvSpPr/>
          <p:nvPr/>
        </p:nvSpPr>
        <p:spPr>
          <a:xfrm>
            <a:off x="6260783" y="1963440"/>
            <a:ext cx="1981517" cy="25400"/>
          </a:xfrm>
          <a:prstGeom prst="roundRect">
            <a:avLst>
              <a:gd name="adj" fmla="val 50000"/>
            </a:avLst>
          </a:prstGeom>
          <a:solidFill>
            <a:srgbClr val="0B0748"/>
          </a:solidFill>
          <a:ln/>
        </p:spPr>
      </p:sp>
      <p:sp>
        <p:nvSpPr>
          <p:cNvPr id="10" name="Text 8"/>
          <p:cNvSpPr/>
          <p:nvPr/>
        </p:nvSpPr>
        <p:spPr>
          <a:xfrm>
            <a:off x="6349143" y="2026940"/>
            <a:ext cx="1804797"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0B0748"/>
                </a:solidFill>
                <a:latin typeface="Sora" pitchFamily="34" charset="0"/>
                <a:ea typeface="Sora" pitchFamily="34" charset="-122"/>
                <a:cs typeface="Sora" pitchFamily="34" charset="-120"/>
              </a:rPr>
              <a:t>valeur cible</a:t>
            </a:r>
            <a:endParaRPr lang="en-US" sz="2000" dirty="0"/>
          </a:p>
        </p:txBody>
      </p:sp>
      <p:sp>
        <p:nvSpPr>
          <p:cNvPr id="11" name="Text 9"/>
          <p:cNvSpPr/>
          <p:nvPr/>
        </p:nvSpPr>
        <p:spPr>
          <a:xfrm>
            <a:off x="8496300" y="1761530"/>
            <a:ext cx="1313603"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6B6890"/>
                </a:solidFill>
                <a:latin typeface="IBM Plex Sans" pitchFamily="34" charset="0"/>
                <a:ea typeface="IBM Plex Sans" pitchFamily="34" charset="-122"/>
                <a:cs typeface="IBM Plex Sans" pitchFamily="34" charset="-120"/>
              </a:rPr>
              <a:t>arrondi à</a:t>
            </a:r>
            <a:endParaRPr lang="en-US" sz="1300" dirty="0"/>
          </a:p>
          <a:p>
            <a:pPr algn="l" indent="0" marL="0">
              <a:lnSpc>
                <a:spcPts val="1690"/>
              </a:lnSpc>
              <a:buNone/>
            </a:pPr>
            <a:r>
              <a:rPr lang="en-US" sz="1300" dirty="0">
                <a:solidFill>
                  <a:srgbClr val="6B6890"/>
                </a:solidFill>
                <a:latin typeface="IBM Plex Sans" pitchFamily="34" charset="0"/>
                <a:ea typeface="IBM Plex Sans" pitchFamily="34" charset="-122"/>
                <a:cs typeface="IBM Plex Sans" pitchFamily="34" charset="-120"/>
              </a:rPr>
              <a:t>l'entier supérieur</a:t>
            </a:r>
            <a:endParaRPr lang="en-US" sz="1300" dirty="0"/>
          </a:p>
        </p:txBody>
      </p:sp>
      <p:sp>
        <p:nvSpPr>
          <p:cNvPr id="12" name="Shape 10"/>
          <p:cNvSpPr/>
          <p:nvPr/>
        </p:nvSpPr>
        <p:spPr>
          <a:xfrm>
            <a:off x="812800" y="2611140"/>
            <a:ext cx="10566400" cy="1099820"/>
          </a:xfrm>
          <a:prstGeom prst="roundRect">
            <a:avLst>
              <a:gd name="adj" fmla="val 12702"/>
            </a:avLst>
          </a:prstGeom>
          <a:solidFill>
            <a:srgbClr val="0B0748"/>
          </a:solidFill>
          <a:ln/>
        </p:spPr>
      </p:sp>
      <p:sp>
        <p:nvSpPr>
          <p:cNvPr id="13" name="Text 11"/>
          <p:cNvSpPr/>
          <p:nvPr/>
        </p:nvSpPr>
        <p:spPr>
          <a:xfrm>
            <a:off x="1041400" y="2788940"/>
            <a:ext cx="248539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EXEMPLE</a:t>
            </a:r>
            <a:endParaRPr lang="en-US" sz="1200" dirty="0"/>
          </a:p>
        </p:txBody>
      </p:sp>
      <p:sp>
        <p:nvSpPr>
          <p:cNvPr id="14" name="Text 12"/>
          <p:cNvSpPr/>
          <p:nvPr/>
        </p:nvSpPr>
        <p:spPr>
          <a:xfrm>
            <a:off x="1041400" y="3053060"/>
            <a:ext cx="248539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CEAFF"/>
                </a:solidFill>
                <a:latin typeface="IBM Plex Sans" pitchFamily="34" charset="0"/>
                <a:ea typeface="IBM Plex Sans" pitchFamily="34" charset="-122"/>
                <a:cs typeface="IBM Plex Sans" pitchFamily="34" charset="-120"/>
              </a:rPr>
              <a:t>2 réplicas à 90 % de CPU,</a:t>
            </a:r>
            <a:endParaRPr lang="en-US" sz="1400" dirty="0"/>
          </a:p>
          <a:p>
            <a:pPr algn="l" indent="0" marL="0">
              <a:lnSpc>
                <a:spcPts val="1890"/>
              </a:lnSpc>
              <a:buNone/>
            </a:pPr>
            <a:r>
              <a:rPr lang="en-US" sz="1400" dirty="0">
                <a:solidFill>
                  <a:srgbClr val="ECEAFF"/>
                </a:solidFill>
                <a:latin typeface="IBM Plex Sans" pitchFamily="34" charset="0"/>
                <a:ea typeface="IBM Plex Sans" pitchFamily="34" charset="-122"/>
                <a:cs typeface="IBM Plex Sans" pitchFamily="34" charset="-120"/>
              </a:rPr>
              <a:t>cible 50 %</a:t>
            </a:r>
            <a:endParaRPr lang="en-US" sz="1400" dirty="0"/>
          </a:p>
        </p:txBody>
      </p:sp>
      <p:sp>
        <p:nvSpPr>
          <p:cNvPr id="15" name="Text 13"/>
          <p:cNvSpPr/>
          <p:nvPr/>
        </p:nvSpPr>
        <p:spPr>
          <a:xfrm>
            <a:off x="3708400" y="2876550"/>
            <a:ext cx="3461596"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5F4F9"/>
                </a:solidFill>
                <a:latin typeface="Sora" pitchFamily="34" charset="0"/>
                <a:ea typeface="Sora" pitchFamily="34" charset="-122"/>
                <a:cs typeface="Sora" pitchFamily="34" charset="-120"/>
              </a:rPr>
              <a:t>2 × 90 / 50 = 3,6</a:t>
            </a:r>
            <a:endParaRPr lang="en-US" sz="3200" dirty="0"/>
          </a:p>
        </p:txBody>
      </p:sp>
      <p:sp>
        <p:nvSpPr>
          <p:cNvPr id="16" name="Text 14"/>
          <p:cNvSpPr/>
          <p:nvPr/>
        </p:nvSpPr>
        <p:spPr>
          <a:xfrm>
            <a:off x="7169996" y="2947690"/>
            <a:ext cx="315595"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6C4"/>
                </a:solidFill>
                <a:latin typeface="Sora" pitchFamily="34" charset="0"/>
                <a:ea typeface="Sora" pitchFamily="34" charset="-122"/>
                <a:cs typeface="Sora" pitchFamily="34" charset="-120"/>
              </a:rPr>
              <a:t>→</a:t>
            </a:r>
            <a:endParaRPr lang="en-US" sz="2400" dirty="0"/>
          </a:p>
        </p:txBody>
      </p:sp>
      <p:sp>
        <p:nvSpPr>
          <p:cNvPr id="17" name="Text 15"/>
          <p:cNvSpPr/>
          <p:nvPr/>
        </p:nvSpPr>
        <p:spPr>
          <a:xfrm>
            <a:off x="7686993" y="2841030"/>
            <a:ext cx="368681"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F8F66"/>
                </a:solidFill>
                <a:latin typeface="Sora" pitchFamily="34" charset="0"/>
                <a:ea typeface="Sora" pitchFamily="34" charset="-122"/>
                <a:cs typeface="Sora" pitchFamily="34" charset="-120"/>
              </a:rPr>
              <a:t>4</a:t>
            </a:r>
            <a:endParaRPr lang="en-US" sz="3600" dirty="0"/>
          </a:p>
        </p:txBody>
      </p:sp>
      <p:sp>
        <p:nvSpPr>
          <p:cNvPr id="18" name="Text 16"/>
          <p:cNvSpPr/>
          <p:nvPr/>
        </p:nvSpPr>
        <p:spPr>
          <a:xfrm>
            <a:off x="8248227" y="3036590"/>
            <a:ext cx="75450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6E8"/>
                </a:solidFill>
                <a:latin typeface="IBM Plex Sans" pitchFamily="34" charset="0"/>
                <a:ea typeface="IBM Plex Sans" pitchFamily="34" charset="-122"/>
                <a:cs typeface="IBM Plex Sans" pitchFamily="34" charset="-120"/>
              </a:rPr>
              <a:t>réplicas</a:t>
            </a:r>
            <a:endParaRPr lang="en-US" sz="1400" dirty="0"/>
          </a:p>
        </p:txBody>
      </p:sp>
      <p:sp>
        <p:nvSpPr>
          <p:cNvPr id="19" name="Shape 17"/>
          <p:cNvSpPr/>
          <p:nvPr/>
        </p:nvSpPr>
        <p:spPr>
          <a:xfrm>
            <a:off x="815975" y="4657130"/>
            <a:ext cx="3427307" cy="1181735"/>
          </a:xfrm>
          <a:prstGeom prst="roundRect">
            <a:avLst>
              <a:gd name="adj" fmla="val 10478"/>
            </a:avLst>
          </a:prstGeom>
          <a:solidFill>
            <a:srgbClr val="FDFDFF"/>
          </a:solidFill>
          <a:ln w="6350">
            <a:solidFill>
              <a:srgbClr val="E1DFEE"/>
            </a:solidFill>
            <a:prstDash val="solid"/>
          </a:ln>
        </p:spPr>
      </p:sp>
      <p:sp>
        <p:nvSpPr>
          <p:cNvPr id="20" name="Text 18"/>
          <p:cNvSpPr/>
          <p:nvPr/>
        </p:nvSpPr>
        <p:spPr>
          <a:xfrm>
            <a:off x="984991" y="4800798"/>
            <a:ext cx="318195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TOUTES LES 15 SECONDES</a:t>
            </a:r>
            <a:endParaRPr lang="en-US" sz="1200" dirty="0"/>
          </a:p>
        </p:txBody>
      </p:sp>
      <p:sp>
        <p:nvSpPr>
          <p:cNvPr id="21" name="Text 19"/>
          <p:cNvSpPr/>
          <p:nvPr/>
        </p:nvSpPr>
        <p:spPr>
          <a:xfrm>
            <a:off x="984991" y="5052318"/>
            <a:ext cx="3181953"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0B0748"/>
                </a:solidFill>
                <a:latin typeface="IBM Plex Sans" pitchFamily="34" charset="0"/>
                <a:ea typeface="IBM Plex Sans" pitchFamily="34" charset="-122"/>
                <a:cs typeface="IBM Plex Sans" pitchFamily="34" charset="-120"/>
              </a:rPr>
              <a:t>le contrôleur lit les métriques des pods ciblés et recalcule.</a:t>
            </a:r>
            <a:endParaRPr lang="en-US" sz="1250" dirty="0"/>
          </a:p>
        </p:txBody>
      </p:sp>
      <p:sp>
        <p:nvSpPr>
          <p:cNvPr id="22" name="Shape 20"/>
          <p:cNvSpPr/>
          <p:nvPr/>
        </p:nvSpPr>
        <p:spPr>
          <a:xfrm>
            <a:off x="4389332" y="4657130"/>
            <a:ext cx="3427413" cy="1181735"/>
          </a:xfrm>
          <a:prstGeom prst="roundRect">
            <a:avLst>
              <a:gd name="adj" fmla="val 10478"/>
            </a:avLst>
          </a:prstGeom>
          <a:solidFill>
            <a:srgbClr val="FDFDFF"/>
          </a:solidFill>
          <a:ln w="6350">
            <a:solidFill>
              <a:srgbClr val="E1DFEE"/>
            </a:solidFill>
            <a:prstDash val="solid"/>
          </a:ln>
        </p:spPr>
      </p:sp>
      <p:sp>
        <p:nvSpPr>
          <p:cNvPr id="23" name="Text 21"/>
          <p:cNvSpPr/>
          <p:nvPr/>
        </p:nvSpPr>
        <p:spPr>
          <a:xfrm>
            <a:off x="4558347" y="4800798"/>
            <a:ext cx="318206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TOLÉRANCE DE 10 %</a:t>
            </a:r>
            <a:endParaRPr lang="en-US" sz="1200" dirty="0"/>
          </a:p>
        </p:txBody>
      </p:sp>
      <p:sp>
        <p:nvSpPr>
          <p:cNvPr id="24" name="Text 22"/>
          <p:cNvSpPr/>
          <p:nvPr/>
        </p:nvSpPr>
        <p:spPr>
          <a:xfrm>
            <a:off x="4558347" y="5052318"/>
            <a:ext cx="3182062"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0B0748"/>
                </a:solidFill>
                <a:latin typeface="IBM Plex Sans" pitchFamily="34" charset="0"/>
                <a:ea typeface="IBM Plex Sans" pitchFamily="34" charset="-122"/>
                <a:cs typeface="IBM Plex Sans" pitchFamily="34" charset="-120"/>
              </a:rPr>
              <a:t>un écart plus faible à la cible ne déclenche rien : pas d'oscillation.</a:t>
            </a:r>
            <a:endParaRPr lang="en-US" sz="1250" dirty="0"/>
          </a:p>
        </p:txBody>
      </p:sp>
      <p:sp>
        <p:nvSpPr>
          <p:cNvPr id="25" name="Shape 23"/>
          <p:cNvSpPr/>
          <p:nvPr/>
        </p:nvSpPr>
        <p:spPr>
          <a:xfrm>
            <a:off x="7959620" y="4653955"/>
            <a:ext cx="3419581" cy="1188085"/>
          </a:xfrm>
          <a:prstGeom prst="roundRect">
            <a:avLst>
              <a:gd name="adj" fmla="val 10689"/>
            </a:avLst>
          </a:prstGeom>
          <a:solidFill>
            <a:srgbClr val="0B0748"/>
          </a:solidFill>
          <a:ln/>
        </p:spPr>
      </p:sp>
      <p:sp>
        <p:nvSpPr>
          <p:cNvPr id="26" name="Text 24"/>
          <p:cNvSpPr/>
          <p:nvPr/>
        </p:nvSpPr>
        <p:spPr>
          <a:xfrm>
            <a:off x="8124720" y="4793655"/>
            <a:ext cx="318206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PAR RAPPORT AUX REQUESTS</a:t>
            </a:r>
            <a:endParaRPr lang="en-US" sz="1200" dirty="0"/>
          </a:p>
        </p:txBody>
      </p:sp>
      <p:sp>
        <p:nvSpPr>
          <p:cNvPr id="27" name="Text 25"/>
          <p:cNvSpPr/>
          <p:nvPr/>
        </p:nvSpPr>
        <p:spPr>
          <a:xfrm>
            <a:off x="8124720" y="5045075"/>
            <a:ext cx="3182062" cy="682625"/>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ECEAFF"/>
                </a:solidFill>
                <a:latin typeface="IBM Plex Sans" pitchFamily="34" charset="0"/>
                <a:ea typeface="IBM Plex Sans" pitchFamily="34" charset="-122"/>
                <a:cs typeface="IBM Plex Sans" pitchFamily="34" charset="-120"/>
              </a:rPr>
              <a:t>Un pod qui demande 200m et consomme 100m est à 50 %. Sans request : &lt;unknown&gt;, l'HPA ne fait rien.</a:t>
            </a:r>
            <a:endParaRPr lang="en-US" sz="1250" dirty="0"/>
          </a:p>
        </p:txBody>
      </p:sp>
      <p:pic>
        <p:nvPicPr>
          <p:cNvPr id="28"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29" name="Text 26"/>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0" name="Image 1" descr="Parcours : module 14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14 · AUTOSCALING</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Un HPA à 50 % de CPU</a:t>
            </a:r>
            <a:endParaRPr lang="en-US" sz="2800" dirty="0"/>
          </a:p>
        </p:txBody>
      </p:sp>
      <p:sp>
        <p:nvSpPr>
          <p:cNvPr id="4" name="Text 2"/>
          <p:cNvSpPr/>
          <p:nvPr/>
        </p:nvSpPr>
        <p:spPr>
          <a:xfrm>
            <a:off x="812800" y="1544340"/>
            <a:ext cx="3556000" cy="4297680"/>
          </a:xfrm>
          <a:prstGeom prst="roundRect">
            <a:avLst>
              <a:gd name="adj" fmla="val 2857"/>
            </a:avLst>
          </a:prstGeom>
          <a:solidFill>
            <a:srgbClr val="0B0748"/>
          </a:solidFill>
          <a:ln/>
        </p:spPr>
        <p:txBody>
          <a:bodyPr wrap="none" lIns="148042" tIns="97242" rIns="52030" bIns="97242" rtlCol="0" anchor="ctr">
            <a:normAutofit/>
          </a:bodyPr>
          <a:lstStyle/>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apiVersion: autoscaling/v2</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kind: </a:t>
            </a:r>
            <a:r>
              <a:rPr lang="en-US" sz="1100" dirty="0">
                <a:solidFill>
                  <a:srgbClr val="FFB08F"/>
                </a:solidFill>
                <a:latin typeface="JetBrains Mono" pitchFamily="49" charset="0"/>
                <a:ea typeface="JetBrains Mono" pitchFamily="49" charset="-122"/>
                <a:cs typeface="JetBrains Mono" pitchFamily="49" charset="-120"/>
              </a:rPr>
              <a:t>HorizontalPodAutoscaler</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name: php-apache</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spec:</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scaleTargetRef:</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apiVersion: apps/v1</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kind: Deployment</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name: php-apache</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minReplicas: 1</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maxReplicas: 8</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metrics:</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 type: Resource</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resource:</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name: cpu</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target:</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type: Utilization</a:t>
            </a:r>
            <a:endParaRPr lang="en-US" sz="1100" dirty="0"/>
          </a:p>
          <a:p>
            <a:pPr algn="l" indent="0" marL="0">
              <a:lnSpc>
                <a:spcPts val="1452"/>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averageUtilization: 50</a:t>
            </a:r>
            <a:endParaRPr lang="en-US" sz="1100" dirty="0"/>
          </a:p>
        </p:txBody>
      </p:sp>
      <p:sp>
        <p:nvSpPr>
          <p:cNvPr id="5" name="Text 3"/>
          <p:cNvSpPr/>
          <p:nvPr/>
        </p:nvSpPr>
        <p:spPr>
          <a:xfrm>
            <a:off x="4546600" y="1544340"/>
            <a:ext cx="6832600" cy="2796540"/>
          </a:xfrm>
          <a:prstGeom prst="roundRect">
            <a:avLst>
              <a:gd name="adj" fmla="val 3633"/>
            </a:avLst>
          </a:prstGeom>
          <a:solidFill>
            <a:srgbClr val="0B0748"/>
          </a:solidFill>
          <a:ln/>
        </p:spPr>
        <p:txBody>
          <a:bodyPr wrap="none" lIns="148042" tIns="84542" rIns="0" bIns="84542" rtlCol="0" anchor="ctr">
            <a:normAutofit/>
          </a:bodyPr>
          <a:lstStyle/>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behavior:                           </a:t>
            </a:r>
            <a:r>
              <a:rPr lang="en-US" sz="1100" dirty="0">
                <a:solidFill>
                  <a:srgbClr val="9A96D0"/>
                </a:solidFill>
                <a:latin typeface="JetBrains Mono" pitchFamily="49" charset="0"/>
                <a:ea typeface="JetBrains Mono" pitchFamily="49" charset="-122"/>
                <a:cs typeface="JetBrains Mono" pitchFamily="49" charset="-120"/>
              </a:rPr>
              <a:t># facultatif : vitesse de montée et de descente</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scaleUp:</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stabilizationWindowSeconds: 0</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policies: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 type: Percent</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value: 100                    </a:t>
            </a:r>
            <a:r>
              <a:rPr lang="en-US" sz="1100" dirty="0">
                <a:solidFill>
                  <a:srgbClr val="9A96D0"/>
                </a:solidFill>
                <a:latin typeface="JetBrains Mono" pitchFamily="49" charset="0"/>
                <a:ea typeface="JetBrains Mono" pitchFamily="49" charset="-122"/>
                <a:cs typeface="JetBrains Mono" pitchFamily="49" charset="-120"/>
              </a:rPr>
              <a:t># au plus doubler…</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periodSeconds: 15             </a:t>
            </a:r>
            <a:r>
              <a:rPr lang="en-US" sz="1100" dirty="0">
                <a:solidFill>
                  <a:srgbClr val="9A96D0"/>
                </a:solidFill>
                <a:latin typeface="JetBrains Mono" pitchFamily="49" charset="0"/>
                <a:ea typeface="JetBrains Mono" pitchFamily="49" charset="-122"/>
                <a:cs typeface="JetBrains Mono" pitchFamily="49" charset="-120"/>
              </a:rPr>
              <a:t># …toutes les 15 secondes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scaleDown:</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stabilizationWindowSeconds: 120 </a:t>
            </a:r>
            <a:r>
              <a:rPr lang="en-US" sz="1100" dirty="0">
                <a:solidFill>
                  <a:srgbClr val="9A96D0"/>
                </a:solidFill>
                <a:latin typeface="JetBrains Mono" pitchFamily="49" charset="0"/>
                <a:ea typeface="JetBrains Mono" pitchFamily="49" charset="-122"/>
                <a:cs typeface="JetBrains Mono" pitchFamily="49" charset="-120"/>
              </a:rPr>
              <a:t># 300 par défaut</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policies: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 type: Pods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value: 1                      </a:t>
            </a:r>
            <a:r>
              <a:rPr lang="en-US" sz="1100" dirty="0">
                <a:solidFill>
                  <a:srgbClr val="9A96D0"/>
                </a:solidFill>
                <a:latin typeface="JetBrains Mono" pitchFamily="49" charset="0"/>
                <a:ea typeface="JetBrains Mono" pitchFamily="49" charset="-122"/>
                <a:cs typeface="JetBrains Mono" pitchFamily="49" charset="-120"/>
              </a:rPr>
              <a:t># retirer un pod…</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periodSeconds: 60             </a:t>
            </a:r>
            <a:r>
              <a:rPr lang="en-US" sz="1100" dirty="0">
                <a:solidFill>
                  <a:srgbClr val="9A96D0"/>
                </a:solidFill>
                <a:latin typeface="JetBrains Mono" pitchFamily="49" charset="0"/>
                <a:ea typeface="JetBrains Mono" pitchFamily="49" charset="-122"/>
                <a:cs typeface="JetBrains Mono" pitchFamily="49" charset="-120"/>
              </a:rPr>
              <a:t># …par minute au plus</a:t>
            </a:r>
            <a:endParaRPr lang="en-US" sz="1100" dirty="0"/>
          </a:p>
        </p:txBody>
      </p:sp>
      <p:sp>
        <p:nvSpPr>
          <p:cNvPr id="6" name="Shape 4"/>
          <p:cNvSpPr/>
          <p:nvPr/>
        </p:nvSpPr>
        <p:spPr>
          <a:xfrm>
            <a:off x="4549775" y="4842966"/>
            <a:ext cx="6826250" cy="995892"/>
          </a:xfrm>
          <a:prstGeom prst="roundRect">
            <a:avLst>
              <a:gd name="adj" fmla="val 12434"/>
            </a:avLst>
          </a:prstGeom>
          <a:solidFill>
            <a:srgbClr val="FDFDFF"/>
          </a:solidFill>
          <a:ln w="6350">
            <a:solidFill>
              <a:srgbClr val="E1DFEE"/>
            </a:solidFill>
            <a:prstDash val="solid"/>
          </a:ln>
        </p:spPr>
      </p:sp>
      <p:sp>
        <p:nvSpPr>
          <p:cNvPr id="7" name="Text 5"/>
          <p:cNvSpPr/>
          <p:nvPr/>
        </p:nvSpPr>
        <p:spPr>
          <a:xfrm>
            <a:off x="4731491" y="4986635"/>
            <a:ext cx="665670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COMPORTEMENT PAR DÉFAUT</a:t>
            </a:r>
            <a:endParaRPr lang="en-US" sz="1200" dirty="0"/>
          </a:p>
        </p:txBody>
      </p:sp>
      <p:sp>
        <p:nvSpPr>
          <p:cNvPr id="8" name="Text 6"/>
          <p:cNvSpPr/>
          <p:nvPr/>
        </p:nvSpPr>
        <p:spPr>
          <a:xfrm>
            <a:off x="4731491" y="5250855"/>
            <a:ext cx="6656703"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0B0748"/>
                </a:solidFill>
                <a:latin typeface="IBM Plex Sans" pitchFamily="34" charset="0"/>
                <a:ea typeface="IBM Plex Sans" pitchFamily="34" charset="-122"/>
                <a:cs typeface="IBM Plex Sans" pitchFamily="34" charset="-120"/>
              </a:rPr>
              <a:t>La montée est rapide. La descente attend 5 minutes : l'HPA retient la plus haute recommandation de cette fenêtre, pour ne pas retirer des pods à la première accalmie.</a:t>
            </a:r>
            <a:endParaRPr lang="en-US" sz="1250" dirty="0"/>
          </a:p>
        </p:txBody>
      </p:sp>
      <p:pic>
        <p:nvPicPr>
          <p:cNvPr id="9"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0" name="Text 7"/>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1" name="Image 1" descr="Parcours : module 14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14 · AUTOSCALING</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Métriques et pièges</a:t>
            </a:r>
            <a:endParaRPr lang="en-US" sz="2800" dirty="0"/>
          </a:p>
        </p:txBody>
      </p:sp>
      <p:sp>
        <p:nvSpPr>
          <p:cNvPr id="4" name="Shape 2"/>
          <p:cNvSpPr/>
          <p:nvPr/>
        </p:nvSpPr>
        <p:spPr>
          <a:xfrm>
            <a:off x="812800" y="1518940"/>
            <a:ext cx="6832600" cy="2823422"/>
          </a:xfrm>
          <a:prstGeom prst="rect">
            <a:avLst/>
          </a:prstGeom>
          <a:solidFill>
            <a:srgbClr val="FDFD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9891" y="1526031"/>
          <a:ext cx="6825509" cy="2816225"/>
        </p:xfrm>
        <a:graphic>
          <a:graphicData uri="http://schemas.openxmlformats.org/drawingml/2006/table">
            <a:tbl>
              <a:tblPr/>
              <a:tblGrid>
                <a:gridCol w="1774632"/>
                <a:gridCol w="2730204"/>
                <a:gridCol w="2320673"/>
              </a:tblGrid>
              <a:tr h="327131">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Type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Exemple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2713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Resource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CPU ou mémoire moyens des pods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metrics-server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4049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ContainerResource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CPU d'un seul conteneur du pod (sans le sidecar)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metrics-server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54049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Pods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Requêtes par seconde par pod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Métriques personnalisées (adaptateur Prometheus)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4049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Object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Longueur d'une file d'attente décrite par un objet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Métriques personnalisées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540491">
                <a:tc>
                  <a:txBody>
                    <a:bodyPr/>
                    <a:lstStyle/>
                    <a:p>
                      <a:pPr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External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Messages en attente dans une file externe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680"/>
                        </a:lnSpc>
                        <a:buNone/>
                      </a:pPr>
                      <a:r>
                        <a:rPr lang="en-US" sz="1200" dirty="0">
                          <a:solidFill>
                            <a:srgbClr val="3F3C6B"/>
                          </a:solidFill>
                          <a:latin typeface="IBM Plex Sans" pitchFamily="34" charset="0"/>
                          <a:ea typeface="IBM Plex Sans" pitchFamily="34" charset="-122"/>
                          <a:cs typeface="IBM Plex Sans" pitchFamily="34" charset="-120"/>
                        </a:rPr>
                        <a:t>Métriques externes (KEDA, adaptateur)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bl>
          </a:graphicData>
        </a:graphic>
      </p:graphicFrame>
      <p:sp>
        <p:nvSpPr>
          <p:cNvPr id="6" name="Shape 3"/>
          <p:cNvSpPr/>
          <p:nvPr/>
        </p:nvSpPr>
        <p:spPr>
          <a:xfrm>
            <a:off x="7826375" y="1522115"/>
            <a:ext cx="3549650" cy="1496801"/>
          </a:xfrm>
          <a:prstGeom prst="roundRect">
            <a:avLst>
              <a:gd name="adj" fmla="val 8273"/>
            </a:avLst>
          </a:prstGeom>
          <a:solidFill>
            <a:srgbClr val="FDFDFF"/>
          </a:solidFill>
          <a:ln w="6350">
            <a:solidFill>
              <a:srgbClr val="E1DFEE"/>
            </a:solidFill>
            <a:prstDash val="solid"/>
          </a:ln>
        </p:spPr>
      </p:sp>
      <p:pic>
        <p:nvPicPr>
          <p:cNvPr id="7" name="Image 0" descr="Warning">    </p:cNvPr>
          <p:cNvPicPr>
            <a:picLocks noChangeAspect="1"/>
          </p:cNvPicPr>
          <p:nvPr/>
        </p:nvPicPr>
        <p:blipFill>
          <a:blip r:embed="rId1"/>
          <a:srcRect l="0" r="0" t="0" b="0"/>
          <a:stretch/>
        </p:blipFill>
        <p:spPr>
          <a:xfrm>
            <a:off x="7995391" y="1665784"/>
            <a:ext cx="228600" cy="228600"/>
          </a:xfrm>
          <a:prstGeom prst="rect">
            <a:avLst/>
          </a:prstGeom>
        </p:spPr>
      </p:pic>
      <p:sp>
        <p:nvSpPr>
          <p:cNvPr id="8" name="Text 4"/>
          <p:cNvSpPr/>
          <p:nvPr/>
        </p:nvSpPr>
        <p:spPr>
          <a:xfrm>
            <a:off x="7995391" y="1945184"/>
            <a:ext cx="3307967"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B0748"/>
                </a:solidFill>
                <a:latin typeface="Sora" pitchFamily="34" charset="0"/>
                <a:ea typeface="Sora" pitchFamily="34" charset="-122"/>
                <a:cs typeface="Sora" pitchFamily="34" charset="-120"/>
              </a:rPr>
              <a:t>La mémoire, mauvais déclencheur</a:t>
            </a:r>
            <a:endParaRPr lang="en-US" sz="1300" dirty="0"/>
          </a:p>
        </p:txBody>
      </p:sp>
      <p:sp>
        <p:nvSpPr>
          <p:cNvPr id="9" name="Text 5"/>
          <p:cNvSpPr/>
          <p:nvPr/>
        </p:nvSpPr>
        <p:spPr>
          <a:xfrm>
            <a:off x="7995391" y="2202359"/>
            <a:ext cx="3307967" cy="629920"/>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Beaucoup d'environnements d'exécution (Java, Go) ne rendent pas la mémoire après un pic : l'HPA ne redescend jamais.</a:t>
            </a:r>
            <a:endParaRPr lang="en-US" sz="1150" dirty="0"/>
          </a:p>
        </p:txBody>
      </p:sp>
      <p:sp>
        <p:nvSpPr>
          <p:cNvPr id="10" name="Shape 6"/>
          <p:cNvSpPr/>
          <p:nvPr/>
        </p:nvSpPr>
        <p:spPr>
          <a:xfrm>
            <a:off x="7823200" y="3136503"/>
            <a:ext cx="3556000" cy="1488969"/>
          </a:xfrm>
          <a:prstGeom prst="roundRect">
            <a:avLst>
              <a:gd name="adj" fmla="val 8529"/>
            </a:avLst>
          </a:prstGeom>
          <a:solidFill>
            <a:srgbClr val="0B0748"/>
          </a:solidFill>
          <a:ln/>
        </p:spPr>
      </p:sp>
      <p:pic>
        <p:nvPicPr>
          <p:cNvPr id="11" name="Image 1" descr="Warning">    </p:cNvPr>
          <p:cNvPicPr>
            <a:picLocks noChangeAspect="1"/>
          </p:cNvPicPr>
          <p:nvPr/>
        </p:nvPicPr>
        <p:blipFill>
          <a:blip r:embed="rId2"/>
          <a:srcRect l="0" r="0" t="0" b="0"/>
          <a:stretch/>
        </p:blipFill>
        <p:spPr>
          <a:xfrm>
            <a:off x="7988300" y="3276203"/>
            <a:ext cx="228600" cy="228600"/>
          </a:xfrm>
          <a:prstGeom prst="rect">
            <a:avLst/>
          </a:prstGeom>
        </p:spPr>
      </p:pic>
      <p:sp>
        <p:nvSpPr>
          <p:cNvPr id="12" name="Text 7"/>
          <p:cNvSpPr/>
          <p:nvPr/>
        </p:nvSpPr>
        <p:spPr>
          <a:xfrm>
            <a:off x="7988300" y="3555603"/>
            <a:ext cx="332257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5F4F9"/>
                </a:solidFill>
                <a:latin typeface="Sora" pitchFamily="34" charset="0"/>
                <a:ea typeface="Sora" pitchFamily="34" charset="-122"/>
                <a:cs typeface="Sora" pitchFamily="34" charset="-120"/>
              </a:rPr>
              <a:t>Retirez replicas du manifeste</a:t>
            </a:r>
            <a:endParaRPr lang="en-US" sz="1300" dirty="0"/>
          </a:p>
        </p:txBody>
      </p:sp>
      <p:sp>
        <p:nvSpPr>
          <p:cNvPr id="13" name="Text 8"/>
          <p:cNvSpPr/>
          <p:nvPr/>
        </p:nvSpPr>
        <p:spPr>
          <a:xfrm>
            <a:off x="7988300" y="3812778"/>
            <a:ext cx="3322574" cy="629920"/>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ECEAFF"/>
                </a:solidFill>
                <a:latin typeface="IBM Plex Sans" pitchFamily="34" charset="0"/>
                <a:ea typeface="IBM Plex Sans" pitchFamily="34" charset="-122"/>
                <a:cs typeface="IBM Plex Sans" pitchFamily="34" charset="-120"/>
              </a:rPr>
              <a:t>Sinon chaque kubectl apply remet le nombre de réplicas à la valeur du fichier, à l'encontre de l'HPA.</a:t>
            </a:r>
            <a:endParaRPr lang="en-US" sz="1150" dirty="0"/>
          </a:p>
        </p:txBody>
      </p:sp>
      <p:sp>
        <p:nvSpPr>
          <p:cNvPr id="14" name="Text 9"/>
          <p:cNvSpPr/>
          <p:nvPr/>
        </p:nvSpPr>
        <p:spPr>
          <a:xfrm>
            <a:off x="812800" y="4803180"/>
            <a:ext cx="10566400" cy="1038860"/>
          </a:xfrm>
          <a:prstGeom prst="roundRect">
            <a:avLst>
              <a:gd name="adj" fmla="val 9780"/>
            </a:avLst>
          </a:prstGeom>
          <a:solidFill>
            <a:srgbClr val="0B0748"/>
          </a:solidFill>
          <a:ln/>
        </p:spPr>
        <p:txBody>
          <a:bodyPr wrap="none" lIns="148042" tIns="71842" rIns="0" bIns="71842" rtlCol="0" anchor="ctr">
            <a:normAutofit/>
          </a:bodyPr>
          <a:lstStyle/>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kubectl get hpa -w                      </a:t>
            </a:r>
            <a:r>
              <a:rPr lang="en-US" sz="1100" dirty="0">
                <a:solidFill>
                  <a:srgbClr val="9A96D0"/>
                </a:solidFill>
                <a:latin typeface="JetBrains Mono" pitchFamily="49" charset="0"/>
                <a:ea typeface="JetBrains Mono" pitchFamily="49" charset="-122"/>
                <a:cs typeface="JetBrains Mono" pitchFamily="49" charset="-120"/>
              </a:rPr>
              <a:t># cible, valeur mesurée, réplicas</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kubectl describe hpa php-apache         </a:t>
            </a:r>
            <a:r>
              <a:rPr lang="en-US" sz="1100" dirty="0">
                <a:solidFill>
                  <a:srgbClr val="9A96D0"/>
                </a:solidFill>
                <a:latin typeface="JetBrains Mono" pitchFamily="49" charset="0"/>
                <a:ea typeface="JetBrains Mono" pitchFamily="49" charset="-122"/>
                <a:cs typeface="JetBrains Mono" pitchFamily="49" charset="-120"/>
              </a:rPr>
              <a:t># AbleToScale, ScalingActive, ScalingLimited, événements</a:t>
            </a:r>
            <a:endParaRPr lang="en-US" sz="1100" dirty="0"/>
          </a:p>
          <a:p>
            <a:pPr algn="l" indent="0" marL="0">
              <a:lnSpc>
                <a:spcPts val="1595"/>
              </a:lnSpc>
              <a:buNone/>
            </a:pPr>
            <a:r>
              <a:rPr lang="en-US" sz="1100" dirty="0">
                <a:solidFill>
                  <a:srgbClr val="9A96D0"/>
                </a:solidFill>
                <a:latin typeface="JetBrains Mono" pitchFamily="49" charset="0"/>
                <a:ea typeface="JetBrains Mono" pitchFamily="49" charset="-122"/>
                <a:cs typeface="JetBrains Mono" pitchFamily="49" charset="-120"/>
              </a:rPr>
              <a:t># création impérative :</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kubectl autoscale deployment web --min=2 --max=10 --cpu-percent=60</a:t>
            </a:r>
            <a:endParaRPr lang="en-US" sz="1100" dirty="0"/>
          </a:p>
        </p:txBody>
      </p:sp>
      <p:pic>
        <p:nvPicPr>
          <p:cNvPr id="15" name="Image 2" descr="preencoded.png">    </p:cNvPr>
          <p:cNvPicPr>
            <a:picLocks noChangeAspect="1"/>
          </p:cNvPicPr>
          <p:nvPr/>
        </p:nvPicPr>
        <p:blipFill>
          <a:blip r:embed="rId3"/>
          <a:srcRect l="0" r="0" t="-35" b="-35"/>
          <a:stretch/>
        </p:blipFill>
        <p:spPr>
          <a:xfrm>
            <a:off x="812800" y="6299200"/>
            <a:ext cx="152400" cy="152506"/>
          </a:xfrm>
          <a:prstGeom prst="rect">
            <a:avLst/>
          </a:prstGeom>
        </p:spPr>
      </p:pic>
      <p:sp>
        <p:nvSpPr>
          <p:cNvPr id="16" name="Text 1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7" name="Image 3" descr="Parcours : module 14 sur 16">    </p:cNvPr>
          <p:cNvPicPr>
            <a:picLocks noChangeAspect="1"/>
          </p:cNvPicPr>
          <p:nvPr/>
        </p:nvPicPr>
        <p:blipFill>
          <a:blip r:embed="rId4"/>
          <a:srcRect l="0" r="0" t="-35" b="-35"/>
          <a:stretch/>
        </p:blipFill>
        <p:spPr>
          <a:xfrm>
            <a:off x="9207500" y="6299200"/>
            <a:ext cx="2171700" cy="152506"/>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14 · AUTOSCALING</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VerticalPodAutoscaler</a:t>
            </a:r>
            <a:endParaRPr lang="en-US" sz="2800" dirty="0"/>
          </a:p>
        </p:txBody>
      </p:sp>
      <p:sp>
        <p:nvSpPr>
          <p:cNvPr id="4" name="Text 2"/>
          <p:cNvSpPr/>
          <p:nvPr/>
        </p:nvSpPr>
        <p:spPr>
          <a:xfrm>
            <a:off x="812800" y="1544340"/>
            <a:ext cx="6540500" cy="508000"/>
          </a:xfrm>
          <a:prstGeom prst="rect">
            <a:avLst/>
          </a:prstGeom>
          <a:noFill/>
          <a:ln/>
        </p:spPr>
        <p:txBody>
          <a:bodyPr wrap="square" lIns="0" tIns="0" rIns="0" bIns="0" rtlCol="0" anchor="t">
            <a:normAutofit/>
          </a:bodyPr>
          <a:lstStyle/>
          <a:p>
            <a:pPr algn="l" indent="0" marL="0">
              <a:lnSpc>
                <a:spcPts val="1911"/>
              </a:lnSpc>
              <a:buNone/>
            </a:pPr>
            <a:r>
              <a:rPr lang="en-US" sz="1346" dirty="0">
                <a:solidFill>
                  <a:srgbClr val="0B0748"/>
                </a:solidFill>
                <a:latin typeface="IBM Plex Sans" pitchFamily="34" charset="0"/>
                <a:ea typeface="IBM Plex Sans" pitchFamily="34" charset="-122"/>
                <a:cs typeface="IBM Plex Sans" pitchFamily="34" charset="-120"/>
              </a:rPr>
              <a:t>Le VPA (projet kubernetes/autoscaler, à installer) observe la consommation réelle et </a:t>
            </a:r>
            <a:r>
              <a:rPr lang="en-US" sz="1346" b="1" dirty="0">
                <a:solidFill>
                  <a:srgbClr val="0B0748"/>
                </a:solidFill>
                <a:latin typeface="IBM Plex Sans" pitchFamily="34" charset="0"/>
                <a:ea typeface="IBM Plex Sans" pitchFamily="34" charset="-122"/>
                <a:cs typeface="IBM Plex Sans" pitchFamily="34" charset="-120"/>
              </a:rPr>
              <a:t>recommande</a:t>
            </a:r>
            <a:r>
              <a:rPr lang="en-US" sz="1346" dirty="0">
                <a:solidFill>
                  <a:srgbClr val="0B0748"/>
                </a:solidFill>
                <a:latin typeface="IBM Plex Sans" pitchFamily="34" charset="0"/>
                <a:ea typeface="IBM Plex Sans" pitchFamily="34" charset="-122"/>
                <a:cs typeface="IBM Plex Sans" pitchFamily="34" charset="-120"/>
              </a:rPr>
              <a:t>, ou applique, des requests adaptées.</a:t>
            </a:r>
            <a:endParaRPr lang="en-US" sz="1346" dirty="0"/>
          </a:p>
        </p:txBody>
      </p:sp>
      <p:sp>
        <p:nvSpPr>
          <p:cNvPr id="5" name="Text 3"/>
          <p:cNvSpPr/>
          <p:nvPr/>
        </p:nvSpPr>
        <p:spPr>
          <a:xfrm>
            <a:off x="812800" y="2128540"/>
            <a:ext cx="6540500" cy="236855"/>
          </a:xfrm>
          <a:prstGeom prst="rect">
            <a:avLst/>
          </a:prstGeom>
          <a:noFill/>
          <a:ln/>
        </p:spPr>
        <p:txBody>
          <a:bodyPr wrap="square" lIns="0" tIns="0" rIns="0" bIns="0" rtlCol="0" anchor="t">
            <a:normAutofit/>
          </a:bodyPr>
          <a:lstStyle/>
          <a:p>
            <a:pPr algn="l" indent="0" marL="0">
              <a:lnSpc>
                <a:spcPts val="1670"/>
              </a:lnSpc>
              <a:buNone/>
            </a:pPr>
            <a:r>
              <a:rPr lang="en-US" sz="1193" b="1" spc="100" kern="0" dirty="0">
                <a:solidFill>
                  <a:srgbClr val="B8421A"/>
                </a:solidFill>
                <a:latin typeface="IBM Plex Sans" pitchFamily="34" charset="0"/>
                <a:ea typeface="IBM Plex Sans" pitchFamily="34" charset="-122"/>
                <a:cs typeface="IBM Plex Sans" pitchFamily="34" charset="-120"/>
              </a:rPr>
              <a:t>QUATRE MODES</a:t>
            </a:r>
            <a:endParaRPr lang="en-US" sz="1193" dirty="0"/>
          </a:p>
        </p:txBody>
      </p:sp>
      <p:sp>
        <p:nvSpPr>
          <p:cNvPr id="6" name="Shape 4"/>
          <p:cNvSpPr/>
          <p:nvPr/>
        </p:nvSpPr>
        <p:spPr>
          <a:xfrm>
            <a:off x="812800" y="3012863"/>
            <a:ext cx="6350000" cy="0"/>
          </a:xfrm>
          <a:prstGeom prst="line">
            <a:avLst/>
          </a:prstGeom>
          <a:noFill/>
          <a:ln w="6350">
            <a:solidFill>
              <a:srgbClr val="E1DFEE"/>
            </a:solidFill>
            <a:prstDash val="solid"/>
          </a:ln>
        </p:spPr>
      </p:sp>
      <p:sp>
        <p:nvSpPr>
          <p:cNvPr id="7" name="Text 5"/>
          <p:cNvSpPr/>
          <p:nvPr/>
        </p:nvSpPr>
        <p:spPr>
          <a:xfrm>
            <a:off x="812800" y="2492375"/>
            <a:ext cx="183134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5A2C"/>
                </a:solidFill>
                <a:latin typeface="JetBrains Mono" pitchFamily="49" charset="0"/>
                <a:ea typeface="JetBrains Mono" pitchFamily="49" charset="-122"/>
                <a:cs typeface="JetBrains Mono" pitchFamily="49" charset="-120"/>
              </a:rPr>
              <a:t>Off</a:t>
            </a:r>
            <a:endParaRPr lang="en-US" sz="1300" dirty="0"/>
          </a:p>
        </p:txBody>
      </p:sp>
      <p:sp>
        <p:nvSpPr>
          <p:cNvPr id="8" name="Text 6"/>
          <p:cNvSpPr/>
          <p:nvPr/>
        </p:nvSpPr>
        <p:spPr>
          <a:xfrm>
            <a:off x="2743200" y="2498527"/>
            <a:ext cx="4552188"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3F3C6B"/>
                </a:solidFill>
                <a:latin typeface="IBM Plex Sans" pitchFamily="34" charset="0"/>
                <a:ea typeface="IBM Plex Sans" pitchFamily="34" charset="-122"/>
                <a:cs typeface="IBM Plex Sans" pitchFamily="34" charset="-120"/>
              </a:rPr>
              <a:t>Calcule des recommandations sans rien modifier : idéal pour dimensionner</a:t>
            </a:r>
            <a:endParaRPr lang="en-US" sz="1250" dirty="0"/>
          </a:p>
        </p:txBody>
      </p:sp>
      <p:sp>
        <p:nvSpPr>
          <p:cNvPr id="9" name="Shape 7"/>
          <p:cNvSpPr/>
          <p:nvPr/>
        </p:nvSpPr>
        <p:spPr>
          <a:xfrm>
            <a:off x="812800" y="3688834"/>
            <a:ext cx="6350000" cy="0"/>
          </a:xfrm>
          <a:prstGeom prst="line">
            <a:avLst/>
          </a:prstGeom>
          <a:noFill/>
          <a:ln w="6350">
            <a:solidFill>
              <a:srgbClr val="E1DFEE"/>
            </a:solidFill>
            <a:prstDash val="solid"/>
          </a:ln>
        </p:spPr>
      </p:sp>
      <p:sp>
        <p:nvSpPr>
          <p:cNvPr id="10" name="Text 8"/>
          <p:cNvSpPr/>
          <p:nvPr/>
        </p:nvSpPr>
        <p:spPr>
          <a:xfrm>
            <a:off x="812800" y="3168452"/>
            <a:ext cx="183134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Initial</a:t>
            </a:r>
            <a:endParaRPr lang="en-US" sz="1300" dirty="0"/>
          </a:p>
        </p:txBody>
      </p:sp>
      <p:sp>
        <p:nvSpPr>
          <p:cNvPr id="11" name="Text 9"/>
          <p:cNvSpPr/>
          <p:nvPr/>
        </p:nvSpPr>
        <p:spPr>
          <a:xfrm>
            <a:off x="2743200" y="3174603"/>
            <a:ext cx="4552188"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3F3C6B"/>
                </a:solidFill>
                <a:latin typeface="IBM Plex Sans" pitchFamily="34" charset="0"/>
                <a:ea typeface="IBM Plex Sans" pitchFamily="34" charset="-122"/>
                <a:cs typeface="IBM Plex Sans" pitchFamily="34" charset="-120"/>
              </a:rPr>
              <a:t>Applique les recommandations seulement à la création des pods</a:t>
            </a:r>
            <a:endParaRPr lang="en-US" sz="1250" dirty="0"/>
          </a:p>
        </p:txBody>
      </p:sp>
      <p:sp>
        <p:nvSpPr>
          <p:cNvPr id="12" name="Shape 10"/>
          <p:cNvSpPr/>
          <p:nvPr/>
        </p:nvSpPr>
        <p:spPr>
          <a:xfrm>
            <a:off x="812800" y="4365016"/>
            <a:ext cx="6350000" cy="0"/>
          </a:xfrm>
          <a:prstGeom prst="line">
            <a:avLst/>
          </a:prstGeom>
          <a:noFill/>
          <a:ln w="6350">
            <a:solidFill>
              <a:srgbClr val="E1DFEE"/>
            </a:solidFill>
            <a:prstDash val="solid"/>
          </a:ln>
        </p:spPr>
      </p:sp>
      <p:sp>
        <p:nvSpPr>
          <p:cNvPr id="13" name="Text 11"/>
          <p:cNvSpPr/>
          <p:nvPr/>
        </p:nvSpPr>
        <p:spPr>
          <a:xfrm>
            <a:off x="812800" y="3844528"/>
            <a:ext cx="183134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Recreate</a:t>
            </a:r>
            <a:endParaRPr lang="en-US" sz="1300" dirty="0"/>
          </a:p>
        </p:txBody>
      </p:sp>
      <p:sp>
        <p:nvSpPr>
          <p:cNvPr id="14" name="Text 12"/>
          <p:cNvSpPr/>
          <p:nvPr/>
        </p:nvSpPr>
        <p:spPr>
          <a:xfrm>
            <a:off x="2743200" y="3850382"/>
            <a:ext cx="4552188"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3F3C6B"/>
                </a:solidFill>
                <a:latin typeface="IBM Plex Sans" pitchFamily="34" charset="0"/>
                <a:ea typeface="IBM Plex Sans" pitchFamily="34" charset="-122"/>
                <a:cs typeface="IBM Plex Sans" pitchFamily="34" charset="-120"/>
              </a:rPr>
              <a:t>Recrée les pods dont les requests s'éloignent trop de la recommandation</a:t>
            </a:r>
            <a:endParaRPr lang="en-US" sz="1250" dirty="0"/>
          </a:p>
        </p:txBody>
      </p:sp>
      <p:sp>
        <p:nvSpPr>
          <p:cNvPr id="15" name="Shape 13"/>
          <p:cNvSpPr/>
          <p:nvPr/>
        </p:nvSpPr>
        <p:spPr>
          <a:xfrm>
            <a:off x="812800" y="5041093"/>
            <a:ext cx="6350000" cy="0"/>
          </a:xfrm>
          <a:prstGeom prst="line">
            <a:avLst/>
          </a:prstGeom>
          <a:noFill/>
          <a:ln w="6350">
            <a:solidFill>
              <a:srgbClr val="E1DFEE"/>
            </a:solidFill>
            <a:prstDash val="solid"/>
          </a:ln>
        </p:spPr>
      </p:sp>
      <p:sp>
        <p:nvSpPr>
          <p:cNvPr id="16" name="Text 14"/>
          <p:cNvSpPr/>
          <p:nvPr/>
        </p:nvSpPr>
        <p:spPr>
          <a:xfrm>
            <a:off x="812800" y="4520605"/>
            <a:ext cx="183134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InPlaceOrRecreate</a:t>
            </a:r>
            <a:endParaRPr lang="en-US" sz="1300" dirty="0"/>
          </a:p>
        </p:txBody>
      </p:sp>
      <p:sp>
        <p:nvSpPr>
          <p:cNvPr id="17" name="Text 15"/>
          <p:cNvSpPr/>
          <p:nvPr/>
        </p:nvSpPr>
        <p:spPr>
          <a:xfrm>
            <a:off x="2743200" y="4526459"/>
            <a:ext cx="4552188"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3F3C6B"/>
                </a:solidFill>
                <a:latin typeface="IBM Plex Sans" pitchFamily="34" charset="0"/>
                <a:ea typeface="IBM Plex Sans" pitchFamily="34" charset="-122"/>
                <a:cs typeface="IBM Plex Sans" pitchFamily="34" charset="-120"/>
              </a:rPr>
              <a:t>Ajuste les pods en place quand c'est possible, sinon les recrée (versions récentes)</a:t>
            </a:r>
            <a:endParaRPr lang="en-US" sz="1250" dirty="0"/>
          </a:p>
        </p:txBody>
      </p:sp>
      <p:sp>
        <p:nvSpPr>
          <p:cNvPr id="18" name="Shape 16"/>
          <p:cNvSpPr/>
          <p:nvPr/>
        </p:nvSpPr>
        <p:spPr>
          <a:xfrm>
            <a:off x="812800" y="5196582"/>
            <a:ext cx="6350000" cy="645477"/>
          </a:xfrm>
          <a:prstGeom prst="roundRect">
            <a:avLst>
              <a:gd name="adj" fmla="val 15740"/>
            </a:avLst>
          </a:prstGeom>
          <a:solidFill>
            <a:srgbClr val="FCE6DC"/>
          </a:solidFill>
          <a:ln/>
        </p:spPr>
      </p:sp>
      <p:pic>
        <p:nvPicPr>
          <p:cNvPr id="19" name="Image 0" descr="Warning">    </p:cNvPr>
          <p:cNvPicPr>
            <a:picLocks noChangeAspect="1"/>
          </p:cNvPicPr>
          <p:nvPr/>
        </p:nvPicPr>
        <p:blipFill>
          <a:blip r:embed="rId1"/>
          <a:srcRect l="0" r="0" t="0" b="0"/>
          <a:stretch/>
        </p:blipFill>
        <p:spPr>
          <a:xfrm>
            <a:off x="965200" y="5310882"/>
            <a:ext cx="215900" cy="215900"/>
          </a:xfrm>
          <a:prstGeom prst="rect">
            <a:avLst/>
          </a:prstGeom>
        </p:spPr>
      </p:pic>
      <p:sp>
        <p:nvSpPr>
          <p:cNvPr id="20" name="Text 17"/>
          <p:cNvSpPr/>
          <p:nvPr/>
        </p:nvSpPr>
        <p:spPr>
          <a:xfrm>
            <a:off x="1282700" y="5310882"/>
            <a:ext cx="5899531" cy="445982"/>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0B0748"/>
                </a:solidFill>
                <a:latin typeface="IBM Plex Sans" pitchFamily="34" charset="0"/>
                <a:ea typeface="IBM Plex Sans" pitchFamily="34" charset="-122"/>
                <a:cs typeface="IBM Plex Sans" pitchFamily="34" charset="-120"/>
              </a:rPr>
              <a:t>Ne combinez pas VPA et HPA sur la même métrique : chacun défait le travail de l'autre et le système oscille. Le mode Off reste compatible avec tout.</a:t>
            </a:r>
            <a:endParaRPr lang="en-US" sz="1200" dirty="0"/>
          </a:p>
        </p:txBody>
      </p:sp>
      <p:sp>
        <p:nvSpPr>
          <p:cNvPr id="21" name="Text 18"/>
          <p:cNvSpPr/>
          <p:nvPr/>
        </p:nvSpPr>
        <p:spPr>
          <a:xfrm>
            <a:off x="7442200" y="1544340"/>
            <a:ext cx="3937000" cy="2349712"/>
          </a:xfrm>
          <a:prstGeom prst="roundRect">
            <a:avLst>
              <a:gd name="adj" fmla="val 4324"/>
            </a:avLst>
          </a:prstGeom>
          <a:solidFill>
            <a:srgbClr val="0B0748"/>
          </a:solidFill>
          <a:ln/>
        </p:spPr>
        <p:txBody>
          <a:bodyPr wrap="none" lIns="148042" tIns="71842" rIns="40600" bIns="71842" rtlCol="0" anchor="ctr">
            <a:normAutofit/>
          </a:bodyPr>
          <a:lstStyle/>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apiVersion: autoscaling.k8s.io/v1</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kind: </a:t>
            </a:r>
            <a:r>
              <a:rPr lang="en-US" sz="1100" dirty="0">
                <a:solidFill>
                  <a:srgbClr val="FFB08F"/>
                </a:solidFill>
                <a:latin typeface="JetBrains Mono" pitchFamily="49" charset="0"/>
                <a:ea typeface="JetBrains Mono" pitchFamily="49" charset="-122"/>
                <a:cs typeface="JetBrains Mono" pitchFamily="49" charset="-120"/>
              </a:rPr>
              <a:t>VerticalPodAutoscaler</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name: podinfo</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spec:</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targetRef:</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apiVersion: apps/v1</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kind: Deployment</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name: podinfo</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updatePolicy:</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updateMode: "Off"</a:t>
            </a:r>
            <a:endParaRPr lang="en-US" sz="1100" dirty="0"/>
          </a:p>
        </p:txBody>
      </p:sp>
      <p:sp>
        <p:nvSpPr>
          <p:cNvPr id="22" name="Text 19"/>
          <p:cNvSpPr/>
          <p:nvPr/>
        </p:nvSpPr>
        <p:spPr>
          <a:xfrm>
            <a:off x="7442200" y="3982938"/>
            <a:ext cx="3937000" cy="764540"/>
          </a:xfrm>
          <a:prstGeom prst="roundRect">
            <a:avLst>
              <a:gd name="adj" fmla="val 13289"/>
            </a:avLst>
          </a:prstGeom>
          <a:solidFill>
            <a:srgbClr val="ECEAF6"/>
          </a:solidFill>
          <a:ln/>
        </p:spPr>
        <p:txBody>
          <a:bodyPr wrap="none" lIns="122642" tIns="46442" rIns="13676" bIns="46442" rtlCol="0" anchor="ctr">
            <a:normAutofit/>
          </a:bodyPr>
          <a:lstStyle/>
          <a:p>
            <a:pPr algn="l" indent="0" marL="0">
              <a:lnSpc>
                <a:spcPts val="1540"/>
              </a:lnSpc>
              <a:buNone/>
            </a:pPr>
            <a:r>
              <a:rPr lang="en-US" sz="1100" dirty="0">
                <a:solidFill>
                  <a:srgbClr val="0B0748"/>
                </a:solidFill>
                <a:latin typeface="JetBrains Mono" pitchFamily="49" charset="0"/>
                <a:ea typeface="JetBrains Mono" pitchFamily="49" charset="-122"/>
                <a:cs typeface="JetBrains Mono" pitchFamily="49" charset="-120"/>
              </a:rPr>
              <a:t>kubectl describe vpa podinfo</a:t>
            </a:r>
            <a:endParaRPr lang="en-US" sz="1100" dirty="0"/>
          </a:p>
          <a:p>
            <a:pPr algn="l" indent="0" marL="0">
              <a:lnSpc>
                <a:spcPts val="1540"/>
              </a:lnSpc>
              <a:buNone/>
            </a:pPr>
            <a:r>
              <a:rPr lang="en-US" sz="1100" dirty="0">
                <a:solidFill>
                  <a:srgbClr val="6B6890"/>
                </a:solidFill>
                <a:latin typeface="JetBrains Mono" pitchFamily="49" charset="0"/>
                <a:ea typeface="JetBrains Mono" pitchFamily="49" charset="-122"/>
                <a:cs typeface="JetBrains Mono" pitchFamily="49" charset="-120"/>
              </a:rPr>
              <a:t># section Recommendation :</a:t>
            </a:r>
            <a:endParaRPr lang="en-US" sz="1100" dirty="0"/>
          </a:p>
          <a:p>
            <a:pPr algn="l" indent="0" marL="0">
              <a:lnSpc>
                <a:spcPts val="1540"/>
              </a:lnSpc>
              <a:buNone/>
            </a:pPr>
            <a:r>
              <a:rPr lang="en-US" sz="1100" dirty="0">
                <a:solidFill>
                  <a:srgbClr val="6B6890"/>
                </a:solidFill>
                <a:latin typeface="JetBrains Mono" pitchFamily="49" charset="0"/>
                <a:ea typeface="JetBrains Mono" pitchFamily="49" charset="-122"/>
                <a:cs typeface="JetBrains Mono" pitchFamily="49" charset="-120"/>
              </a:rPr>
              <a:t>#  Lower Bound, Target, Upper Bound</a:t>
            </a:r>
            <a:endParaRPr lang="en-US" sz="1100" dirty="0"/>
          </a:p>
        </p:txBody>
      </p:sp>
      <p:pic>
        <p:nvPicPr>
          <p:cNvPr id="23" name="Image 1" descr="preencoded.png">    </p:cNvPr>
          <p:cNvPicPr>
            <a:picLocks noChangeAspect="1"/>
          </p:cNvPicPr>
          <p:nvPr/>
        </p:nvPicPr>
        <p:blipFill>
          <a:blip r:embed="rId2"/>
          <a:srcRect l="0" r="0" t="-35" b="-35"/>
          <a:stretch/>
        </p:blipFill>
        <p:spPr>
          <a:xfrm>
            <a:off x="812800" y="6299200"/>
            <a:ext cx="152400" cy="152506"/>
          </a:xfrm>
          <a:prstGeom prst="rect">
            <a:avLst/>
          </a:prstGeom>
        </p:spPr>
      </p:pic>
      <p:sp>
        <p:nvSpPr>
          <p:cNvPr id="24" name="Text 2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2" descr="Parcours : module 14 sur 16">    </p:cNvPr>
          <p:cNvPicPr>
            <a:picLocks noChangeAspect="1"/>
          </p:cNvPicPr>
          <p:nvPr/>
        </p:nvPicPr>
        <p:blipFill>
          <a:blip r:embed="rId3"/>
          <a:srcRect l="0" r="0" t="-35" b="-35"/>
          <a:stretch/>
        </p:blipFill>
        <p:spPr>
          <a:xfrm>
            <a:off x="9207500" y="6299200"/>
            <a:ext cx="2171700" cy="152506"/>
          </a:xfrm>
          <a:prstGeom prst="rect">
            <a:avLst/>
          </a:prstGeo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14 · AUTOSCALING</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KEDA : passer à l'échelle sur événements</a:t>
            </a:r>
            <a:endParaRPr lang="en-US" sz="2800" dirty="0"/>
          </a:p>
        </p:txBody>
      </p:sp>
      <p:sp>
        <p:nvSpPr>
          <p:cNvPr id="4" name="Text 2"/>
          <p:cNvSpPr/>
          <p:nvPr/>
        </p:nvSpPr>
        <p:spPr>
          <a:xfrm>
            <a:off x="812800" y="1544340"/>
            <a:ext cx="4081272" cy="512233"/>
          </a:xfrm>
          <a:prstGeom prst="rect">
            <a:avLst/>
          </a:prstGeom>
          <a:noFill/>
          <a:ln/>
        </p:spPr>
        <p:txBody>
          <a:bodyPr wrap="square" lIns="0" tIns="0" rIns="0" bIns="0" rtlCol="0" anchor="t">
            <a:normAutofit/>
          </a:bodyPr>
          <a:lstStyle/>
          <a:p>
            <a:pPr algn="l" indent="0" marL="0">
              <a:lnSpc>
                <a:spcPts val="1917"/>
              </a:lnSpc>
              <a:buNone/>
            </a:pPr>
            <a:r>
              <a:rPr lang="en-US" sz="1350" dirty="0">
                <a:solidFill>
                  <a:srgbClr val="0B0748"/>
                </a:solidFill>
                <a:latin typeface="IBM Plex Sans" pitchFamily="34" charset="0"/>
                <a:ea typeface="IBM Plex Sans" pitchFamily="34" charset="-122"/>
                <a:cs typeface="IBM Plex Sans" pitchFamily="34" charset="-120"/>
              </a:rPr>
              <a:t>KEDA (projet CNCF) déclenche la mise à l'échelle à partir de dizaines de sources :</a:t>
            </a:r>
            <a:endParaRPr lang="en-US" sz="1350" dirty="0"/>
          </a:p>
        </p:txBody>
      </p:sp>
      <p:sp>
        <p:nvSpPr>
          <p:cNvPr id="5" name="Text 3"/>
          <p:cNvSpPr/>
          <p:nvPr/>
        </p:nvSpPr>
        <p:spPr>
          <a:xfrm>
            <a:off x="812800" y="2158107"/>
            <a:ext cx="1276032"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Kafka, RabbitMQ</a:t>
            </a:r>
            <a:endParaRPr lang="en-US" sz="1100" dirty="0"/>
          </a:p>
        </p:txBody>
      </p:sp>
      <p:sp>
        <p:nvSpPr>
          <p:cNvPr id="6" name="Text 4"/>
          <p:cNvSpPr/>
          <p:nvPr/>
        </p:nvSpPr>
        <p:spPr>
          <a:xfrm>
            <a:off x="2152333" y="2158107"/>
            <a:ext cx="942975"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listes Redis</a:t>
            </a:r>
            <a:endParaRPr lang="en-US" sz="1100" dirty="0"/>
          </a:p>
        </p:txBody>
      </p:sp>
      <p:sp>
        <p:nvSpPr>
          <p:cNvPr id="7" name="Text 5"/>
          <p:cNvSpPr/>
          <p:nvPr/>
        </p:nvSpPr>
        <p:spPr>
          <a:xfrm>
            <a:off x="3158808" y="2158107"/>
            <a:ext cx="1582632"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requêtes Prometheus</a:t>
            </a:r>
            <a:endParaRPr lang="en-US" sz="1100" dirty="0"/>
          </a:p>
        </p:txBody>
      </p:sp>
      <p:sp>
        <p:nvSpPr>
          <p:cNvPr id="8" name="Text 6"/>
          <p:cNvSpPr/>
          <p:nvPr/>
        </p:nvSpPr>
        <p:spPr>
          <a:xfrm>
            <a:off x="812800" y="2518866"/>
            <a:ext cx="1360488"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bases de données</a:t>
            </a:r>
            <a:endParaRPr lang="en-US" sz="1100" dirty="0"/>
          </a:p>
        </p:txBody>
      </p:sp>
      <p:sp>
        <p:nvSpPr>
          <p:cNvPr id="9" name="Text 7"/>
          <p:cNvSpPr/>
          <p:nvPr/>
        </p:nvSpPr>
        <p:spPr>
          <a:xfrm>
            <a:off x="2236788" y="2518866"/>
            <a:ext cx="862753"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calendrier</a:t>
            </a:r>
            <a:endParaRPr lang="en-US" sz="1100" dirty="0"/>
          </a:p>
        </p:txBody>
      </p:sp>
      <p:sp>
        <p:nvSpPr>
          <p:cNvPr id="10" name="Shape 8"/>
          <p:cNvSpPr/>
          <p:nvPr/>
        </p:nvSpPr>
        <p:spPr>
          <a:xfrm>
            <a:off x="815975" y="2946202"/>
            <a:ext cx="3956050" cy="1020551"/>
          </a:xfrm>
          <a:prstGeom prst="roundRect">
            <a:avLst>
              <a:gd name="adj" fmla="val 12133"/>
            </a:avLst>
          </a:prstGeom>
          <a:solidFill>
            <a:srgbClr val="FDFDFF"/>
          </a:solidFill>
          <a:ln w="6350">
            <a:solidFill>
              <a:srgbClr val="E1DFEE"/>
            </a:solidFill>
            <a:prstDash val="solid"/>
          </a:ln>
        </p:spPr>
      </p:sp>
      <p:sp>
        <p:nvSpPr>
          <p:cNvPr id="11" name="Text 9"/>
          <p:cNvSpPr/>
          <p:nvPr/>
        </p:nvSpPr>
        <p:spPr>
          <a:xfrm>
            <a:off x="997691" y="3089870"/>
            <a:ext cx="370039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B0748"/>
                </a:solidFill>
                <a:latin typeface="Sora" pitchFamily="34" charset="0"/>
                <a:ea typeface="Sora" pitchFamily="34" charset="-122"/>
                <a:cs typeface="Sora" pitchFamily="34" charset="-120"/>
              </a:rPr>
              <a:t>Jusqu'à zéro réplica</a:t>
            </a:r>
            <a:endParaRPr lang="en-US" sz="1500" dirty="0"/>
          </a:p>
        </p:txBody>
      </p:sp>
      <p:sp>
        <p:nvSpPr>
          <p:cNvPr id="12" name="Text 10"/>
          <p:cNvSpPr/>
          <p:nvPr/>
        </p:nvSpPr>
        <p:spPr>
          <a:xfrm>
            <a:off x="997691" y="3378795"/>
            <a:ext cx="3700397"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quand il n'y a rien à traiter. KEDA crée lui-même l'HPA correspondant.</a:t>
            </a:r>
            <a:endParaRPr lang="en-US" sz="1250" dirty="0"/>
          </a:p>
        </p:txBody>
      </p:sp>
      <p:sp>
        <p:nvSpPr>
          <p:cNvPr id="13" name="Text 11"/>
          <p:cNvSpPr/>
          <p:nvPr/>
        </p:nvSpPr>
        <p:spPr>
          <a:xfrm>
            <a:off x="812800" y="4902200"/>
            <a:ext cx="4081272"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UN JOUR OUVRÉ</a:t>
            </a:r>
            <a:endParaRPr lang="en-US" sz="1000" dirty="0"/>
          </a:p>
        </p:txBody>
      </p:sp>
      <p:sp>
        <p:nvSpPr>
          <p:cNvPr id="14" name="Shape 12"/>
          <p:cNvSpPr/>
          <p:nvPr/>
        </p:nvSpPr>
        <p:spPr>
          <a:xfrm>
            <a:off x="812800" y="5549900"/>
            <a:ext cx="140758" cy="63500"/>
          </a:xfrm>
          <a:prstGeom prst="roundRect">
            <a:avLst>
              <a:gd name="adj" fmla="val 40000"/>
            </a:avLst>
          </a:prstGeom>
          <a:solidFill>
            <a:srgbClr val="CFCCE3"/>
          </a:solidFill>
          <a:ln/>
        </p:spPr>
      </p:sp>
      <p:sp>
        <p:nvSpPr>
          <p:cNvPr id="15" name="Shape 13"/>
          <p:cNvSpPr/>
          <p:nvPr/>
        </p:nvSpPr>
        <p:spPr>
          <a:xfrm>
            <a:off x="978958" y="5549900"/>
            <a:ext cx="140758" cy="63500"/>
          </a:xfrm>
          <a:prstGeom prst="roundRect">
            <a:avLst>
              <a:gd name="adj" fmla="val 40000"/>
            </a:avLst>
          </a:prstGeom>
          <a:solidFill>
            <a:srgbClr val="CFCCE3"/>
          </a:solidFill>
          <a:ln/>
        </p:spPr>
      </p:sp>
      <p:sp>
        <p:nvSpPr>
          <p:cNvPr id="16" name="Shape 14"/>
          <p:cNvSpPr/>
          <p:nvPr/>
        </p:nvSpPr>
        <p:spPr>
          <a:xfrm>
            <a:off x="1145117" y="5549900"/>
            <a:ext cx="140758" cy="63500"/>
          </a:xfrm>
          <a:prstGeom prst="roundRect">
            <a:avLst>
              <a:gd name="adj" fmla="val 40000"/>
            </a:avLst>
          </a:prstGeom>
          <a:solidFill>
            <a:srgbClr val="CFCCE3"/>
          </a:solidFill>
          <a:ln/>
        </p:spPr>
      </p:sp>
      <p:sp>
        <p:nvSpPr>
          <p:cNvPr id="17" name="Shape 15"/>
          <p:cNvSpPr/>
          <p:nvPr/>
        </p:nvSpPr>
        <p:spPr>
          <a:xfrm>
            <a:off x="1311275" y="5549900"/>
            <a:ext cx="140758" cy="63500"/>
          </a:xfrm>
          <a:prstGeom prst="roundRect">
            <a:avLst>
              <a:gd name="adj" fmla="val 40000"/>
            </a:avLst>
          </a:prstGeom>
          <a:solidFill>
            <a:srgbClr val="CFCCE3"/>
          </a:solidFill>
          <a:ln/>
        </p:spPr>
      </p:sp>
      <p:sp>
        <p:nvSpPr>
          <p:cNvPr id="18" name="Shape 16"/>
          <p:cNvSpPr/>
          <p:nvPr/>
        </p:nvSpPr>
        <p:spPr>
          <a:xfrm>
            <a:off x="1477433" y="5549900"/>
            <a:ext cx="140758" cy="63500"/>
          </a:xfrm>
          <a:prstGeom prst="roundRect">
            <a:avLst>
              <a:gd name="adj" fmla="val 40000"/>
            </a:avLst>
          </a:prstGeom>
          <a:solidFill>
            <a:srgbClr val="CFCCE3"/>
          </a:solidFill>
          <a:ln/>
        </p:spPr>
      </p:sp>
      <p:sp>
        <p:nvSpPr>
          <p:cNvPr id="19" name="Shape 17"/>
          <p:cNvSpPr/>
          <p:nvPr/>
        </p:nvSpPr>
        <p:spPr>
          <a:xfrm>
            <a:off x="1643592" y="5549900"/>
            <a:ext cx="140758" cy="63500"/>
          </a:xfrm>
          <a:prstGeom prst="roundRect">
            <a:avLst>
              <a:gd name="adj" fmla="val 40000"/>
            </a:avLst>
          </a:prstGeom>
          <a:solidFill>
            <a:srgbClr val="CFCCE3"/>
          </a:solidFill>
          <a:ln/>
        </p:spPr>
      </p:sp>
      <p:sp>
        <p:nvSpPr>
          <p:cNvPr id="20" name="Shape 18"/>
          <p:cNvSpPr/>
          <p:nvPr/>
        </p:nvSpPr>
        <p:spPr>
          <a:xfrm>
            <a:off x="1809750" y="5549900"/>
            <a:ext cx="140758" cy="63500"/>
          </a:xfrm>
          <a:prstGeom prst="roundRect">
            <a:avLst>
              <a:gd name="adj" fmla="val 40000"/>
            </a:avLst>
          </a:prstGeom>
          <a:solidFill>
            <a:srgbClr val="CFCCE3"/>
          </a:solidFill>
          <a:ln/>
        </p:spPr>
      </p:sp>
      <p:sp>
        <p:nvSpPr>
          <p:cNvPr id="21" name="Shape 19"/>
          <p:cNvSpPr/>
          <p:nvPr/>
        </p:nvSpPr>
        <p:spPr>
          <a:xfrm>
            <a:off x="1975908" y="5549900"/>
            <a:ext cx="140758" cy="63500"/>
          </a:xfrm>
          <a:prstGeom prst="roundRect">
            <a:avLst>
              <a:gd name="adj" fmla="val 40000"/>
            </a:avLst>
          </a:prstGeom>
          <a:solidFill>
            <a:srgbClr val="CFCCE3"/>
          </a:solidFill>
          <a:ln/>
        </p:spPr>
      </p:sp>
      <p:sp>
        <p:nvSpPr>
          <p:cNvPr id="22" name="Shape 20"/>
          <p:cNvSpPr/>
          <p:nvPr/>
        </p:nvSpPr>
        <p:spPr>
          <a:xfrm>
            <a:off x="2142067" y="5156200"/>
            <a:ext cx="140758" cy="457200"/>
          </a:xfrm>
          <a:prstGeom prst="roundRect">
            <a:avLst>
              <a:gd name="adj" fmla="val 18045"/>
            </a:avLst>
          </a:prstGeom>
          <a:solidFill>
            <a:srgbClr val="E25A2C"/>
          </a:solidFill>
          <a:ln/>
        </p:spPr>
      </p:sp>
      <p:sp>
        <p:nvSpPr>
          <p:cNvPr id="23" name="Shape 21"/>
          <p:cNvSpPr/>
          <p:nvPr/>
        </p:nvSpPr>
        <p:spPr>
          <a:xfrm>
            <a:off x="2308225" y="5156200"/>
            <a:ext cx="140758" cy="457200"/>
          </a:xfrm>
          <a:prstGeom prst="roundRect">
            <a:avLst>
              <a:gd name="adj" fmla="val 18045"/>
            </a:avLst>
          </a:prstGeom>
          <a:solidFill>
            <a:srgbClr val="E25A2C"/>
          </a:solidFill>
          <a:ln/>
        </p:spPr>
      </p:sp>
      <p:sp>
        <p:nvSpPr>
          <p:cNvPr id="24" name="Shape 22"/>
          <p:cNvSpPr/>
          <p:nvPr/>
        </p:nvSpPr>
        <p:spPr>
          <a:xfrm>
            <a:off x="2474383" y="5156200"/>
            <a:ext cx="140758" cy="457200"/>
          </a:xfrm>
          <a:prstGeom prst="roundRect">
            <a:avLst>
              <a:gd name="adj" fmla="val 18045"/>
            </a:avLst>
          </a:prstGeom>
          <a:solidFill>
            <a:srgbClr val="E25A2C"/>
          </a:solidFill>
          <a:ln/>
        </p:spPr>
      </p:sp>
      <p:sp>
        <p:nvSpPr>
          <p:cNvPr id="25" name="Shape 23"/>
          <p:cNvSpPr/>
          <p:nvPr/>
        </p:nvSpPr>
        <p:spPr>
          <a:xfrm>
            <a:off x="2640542" y="5156200"/>
            <a:ext cx="140758" cy="457200"/>
          </a:xfrm>
          <a:prstGeom prst="roundRect">
            <a:avLst>
              <a:gd name="adj" fmla="val 18045"/>
            </a:avLst>
          </a:prstGeom>
          <a:solidFill>
            <a:srgbClr val="E25A2C"/>
          </a:solidFill>
          <a:ln/>
        </p:spPr>
      </p:sp>
      <p:sp>
        <p:nvSpPr>
          <p:cNvPr id="26" name="Shape 24"/>
          <p:cNvSpPr/>
          <p:nvPr/>
        </p:nvSpPr>
        <p:spPr>
          <a:xfrm>
            <a:off x="2806700" y="5156200"/>
            <a:ext cx="140758" cy="457200"/>
          </a:xfrm>
          <a:prstGeom prst="roundRect">
            <a:avLst>
              <a:gd name="adj" fmla="val 18045"/>
            </a:avLst>
          </a:prstGeom>
          <a:solidFill>
            <a:srgbClr val="E25A2C"/>
          </a:solidFill>
          <a:ln/>
        </p:spPr>
      </p:sp>
      <p:sp>
        <p:nvSpPr>
          <p:cNvPr id="27" name="Shape 25"/>
          <p:cNvSpPr/>
          <p:nvPr/>
        </p:nvSpPr>
        <p:spPr>
          <a:xfrm>
            <a:off x="2972858" y="5156200"/>
            <a:ext cx="140758" cy="457200"/>
          </a:xfrm>
          <a:prstGeom prst="roundRect">
            <a:avLst>
              <a:gd name="adj" fmla="val 18045"/>
            </a:avLst>
          </a:prstGeom>
          <a:solidFill>
            <a:srgbClr val="E25A2C"/>
          </a:solidFill>
          <a:ln/>
        </p:spPr>
      </p:sp>
      <p:sp>
        <p:nvSpPr>
          <p:cNvPr id="28" name="Shape 26"/>
          <p:cNvSpPr/>
          <p:nvPr/>
        </p:nvSpPr>
        <p:spPr>
          <a:xfrm>
            <a:off x="3139017" y="5156200"/>
            <a:ext cx="140758" cy="457200"/>
          </a:xfrm>
          <a:prstGeom prst="roundRect">
            <a:avLst>
              <a:gd name="adj" fmla="val 18045"/>
            </a:avLst>
          </a:prstGeom>
          <a:solidFill>
            <a:srgbClr val="E25A2C"/>
          </a:solidFill>
          <a:ln/>
        </p:spPr>
      </p:sp>
      <p:sp>
        <p:nvSpPr>
          <p:cNvPr id="29" name="Shape 27"/>
          <p:cNvSpPr/>
          <p:nvPr/>
        </p:nvSpPr>
        <p:spPr>
          <a:xfrm>
            <a:off x="3305175" y="5156200"/>
            <a:ext cx="140758" cy="457200"/>
          </a:xfrm>
          <a:prstGeom prst="roundRect">
            <a:avLst>
              <a:gd name="adj" fmla="val 18045"/>
            </a:avLst>
          </a:prstGeom>
          <a:solidFill>
            <a:srgbClr val="E25A2C"/>
          </a:solidFill>
          <a:ln/>
        </p:spPr>
      </p:sp>
      <p:sp>
        <p:nvSpPr>
          <p:cNvPr id="30" name="Shape 28"/>
          <p:cNvSpPr/>
          <p:nvPr/>
        </p:nvSpPr>
        <p:spPr>
          <a:xfrm>
            <a:off x="3471333" y="5156200"/>
            <a:ext cx="140758" cy="457200"/>
          </a:xfrm>
          <a:prstGeom prst="roundRect">
            <a:avLst>
              <a:gd name="adj" fmla="val 18045"/>
            </a:avLst>
          </a:prstGeom>
          <a:solidFill>
            <a:srgbClr val="E25A2C"/>
          </a:solidFill>
          <a:ln/>
        </p:spPr>
      </p:sp>
      <p:sp>
        <p:nvSpPr>
          <p:cNvPr id="31" name="Shape 29"/>
          <p:cNvSpPr/>
          <p:nvPr/>
        </p:nvSpPr>
        <p:spPr>
          <a:xfrm>
            <a:off x="3637492" y="5156200"/>
            <a:ext cx="140758" cy="457200"/>
          </a:xfrm>
          <a:prstGeom prst="roundRect">
            <a:avLst>
              <a:gd name="adj" fmla="val 18045"/>
            </a:avLst>
          </a:prstGeom>
          <a:solidFill>
            <a:srgbClr val="E25A2C"/>
          </a:solidFill>
          <a:ln/>
        </p:spPr>
      </p:sp>
      <p:sp>
        <p:nvSpPr>
          <p:cNvPr id="32" name="Shape 30"/>
          <p:cNvSpPr/>
          <p:nvPr/>
        </p:nvSpPr>
        <p:spPr>
          <a:xfrm>
            <a:off x="3803650" y="5156200"/>
            <a:ext cx="140758" cy="457200"/>
          </a:xfrm>
          <a:prstGeom prst="roundRect">
            <a:avLst>
              <a:gd name="adj" fmla="val 18045"/>
            </a:avLst>
          </a:prstGeom>
          <a:solidFill>
            <a:srgbClr val="E25A2C"/>
          </a:solidFill>
          <a:ln/>
        </p:spPr>
      </p:sp>
      <p:sp>
        <p:nvSpPr>
          <p:cNvPr id="33" name="Shape 31"/>
          <p:cNvSpPr/>
          <p:nvPr/>
        </p:nvSpPr>
        <p:spPr>
          <a:xfrm>
            <a:off x="3969808" y="5549900"/>
            <a:ext cx="140758" cy="63500"/>
          </a:xfrm>
          <a:prstGeom prst="roundRect">
            <a:avLst>
              <a:gd name="adj" fmla="val 40000"/>
            </a:avLst>
          </a:prstGeom>
          <a:solidFill>
            <a:srgbClr val="CFCCE3"/>
          </a:solidFill>
          <a:ln/>
        </p:spPr>
      </p:sp>
      <p:sp>
        <p:nvSpPr>
          <p:cNvPr id="34" name="Shape 32"/>
          <p:cNvSpPr/>
          <p:nvPr/>
        </p:nvSpPr>
        <p:spPr>
          <a:xfrm>
            <a:off x="4135967" y="5549900"/>
            <a:ext cx="140758" cy="63500"/>
          </a:xfrm>
          <a:prstGeom prst="roundRect">
            <a:avLst>
              <a:gd name="adj" fmla="val 40000"/>
            </a:avLst>
          </a:prstGeom>
          <a:solidFill>
            <a:srgbClr val="CFCCE3"/>
          </a:solidFill>
          <a:ln/>
        </p:spPr>
      </p:sp>
      <p:sp>
        <p:nvSpPr>
          <p:cNvPr id="35" name="Shape 33"/>
          <p:cNvSpPr/>
          <p:nvPr/>
        </p:nvSpPr>
        <p:spPr>
          <a:xfrm>
            <a:off x="4302125" y="5549900"/>
            <a:ext cx="140758" cy="63500"/>
          </a:xfrm>
          <a:prstGeom prst="roundRect">
            <a:avLst>
              <a:gd name="adj" fmla="val 40000"/>
            </a:avLst>
          </a:prstGeom>
          <a:solidFill>
            <a:srgbClr val="CFCCE3"/>
          </a:solidFill>
          <a:ln/>
        </p:spPr>
      </p:sp>
      <p:sp>
        <p:nvSpPr>
          <p:cNvPr id="36" name="Shape 34"/>
          <p:cNvSpPr/>
          <p:nvPr/>
        </p:nvSpPr>
        <p:spPr>
          <a:xfrm>
            <a:off x="4468283" y="5549900"/>
            <a:ext cx="140758" cy="63500"/>
          </a:xfrm>
          <a:prstGeom prst="roundRect">
            <a:avLst>
              <a:gd name="adj" fmla="val 40000"/>
            </a:avLst>
          </a:prstGeom>
          <a:solidFill>
            <a:srgbClr val="CFCCE3"/>
          </a:solidFill>
          <a:ln/>
        </p:spPr>
      </p:sp>
      <p:sp>
        <p:nvSpPr>
          <p:cNvPr id="37" name="Shape 35"/>
          <p:cNvSpPr/>
          <p:nvPr/>
        </p:nvSpPr>
        <p:spPr>
          <a:xfrm>
            <a:off x="4634442" y="5549900"/>
            <a:ext cx="140758" cy="63500"/>
          </a:xfrm>
          <a:prstGeom prst="roundRect">
            <a:avLst>
              <a:gd name="adj" fmla="val 40000"/>
            </a:avLst>
          </a:prstGeom>
          <a:solidFill>
            <a:srgbClr val="CFCCE3"/>
          </a:solidFill>
          <a:ln/>
        </p:spPr>
      </p:sp>
      <p:sp>
        <p:nvSpPr>
          <p:cNvPr id="38" name="Text 36"/>
          <p:cNvSpPr/>
          <p:nvPr/>
        </p:nvSpPr>
        <p:spPr>
          <a:xfrm>
            <a:off x="812800" y="5664200"/>
            <a:ext cx="13716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6890"/>
                </a:solidFill>
                <a:latin typeface="IBM Plex Sans" pitchFamily="34" charset="0"/>
                <a:ea typeface="IBM Plex Sans" pitchFamily="34" charset="-122"/>
                <a:cs typeface="IBM Plex Sans" pitchFamily="34" charset="-120"/>
              </a:rPr>
              <a:t>0 h</a:t>
            </a:r>
            <a:endParaRPr lang="en-US" sz="1000" dirty="0"/>
          </a:p>
        </p:txBody>
      </p:sp>
      <p:sp>
        <p:nvSpPr>
          <p:cNvPr id="39" name="Text 37"/>
          <p:cNvSpPr/>
          <p:nvPr/>
        </p:nvSpPr>
        <p:spPr>
          <a:xfrm>
            <a:off x="2133600" y="5664200"/>
            <a:ext cx="1870583"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B8421A"/>
                </a:solidFill>
                <a:latin typeface="IBM Plex Sans" pitchFamily="34" charset="0"/>
                <a:ea typeface="IBM Plex Sans" pitchFamily="34" charset="-122"/>
                <a:cs typeface="IBM Plex Sans" pitchFamily="34" charset="-120"/>
              </a:rPr>
              <a:t>8 h · 4 réplicas</a:t>
            </a:r>
            <a:endParaRPr lang="en-US" sz="1000" dirty="0"/>
          </a:p>
        </p:txBody>
      </p:sp>
      <p:sp>
        <p:nvSpPr>
          <p:cNvPr id="40" name="Text 38"/>
          <p:cNvSpPr/>
          <p:nvPr/>
        </p:nvSpPr>
        <p:spPr>
          <a:xfrm>
            <a:off x="3949700" y="5664200"/>
            <a:ext cx="8763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6890"/>
                </a:solidFill>
                <a:latin typeface="IBM Plex Sans" pitchFamily="34" charset="0"/>
                <a:ea typeface="IBM Plex Sans" pitchFamily="34" charset="-122"/>
                <a:cs typeface="IBM Plex Sans" pitchFamily="34" charset="-120"/>
              </a:rPr>
              <a:t>19 h · zéro</a:t>
            </a:r>
            <a:endParaRPr lang="en-US" sz="1000" dirty="0"/>
          </a:p>
        </p:txBody>
      </p:sp>
      <p:sp>
        <p:nvSpPr>
          <p:cNvPr id="41" name="Text 39"/>
          <p:cNvSpPr/>
          <p:nvPr/>
        </p:nvSpPr>
        <p:spPr>
          <a:xfrm>
            <a:off x="5029200" y="1544340"/>
            <a:ext cx="6350000" cy="4297680"/>
          </a:xfrm>
          <a:prstGeom prst="roundRect">
            <a:avLst>
              <a:gd name="adj" fmla="val 2364"/>
            </a:avLst>
          </a:prstGeom>
          <a:solidFill>
            <a:srgbClr val="0B0748"/>
          </a:solidFill>
          <a:ln/>
        </p:spPr>
        <p:txBody>
          <a:bodyPr wrap="none" lIns="148042" tIns="97242" rIns="0" bIns="97242" rtlCol="0" anchor="ctr">
            <a:normAutofit/>
          </a:bodyPr>
          <a:lstStyle/>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apiVersion: keda.sh/v1alpha1</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kind: </a:t>
            </a:r>
            <a:r>
              <a:rPr lang="en-US" sz="1100" dirty="0">
                <a:solidFill>
                  <a:srgbClr val="FFB08F"/>
                </a:solidFill>
                <a:latin typeface="JetBrains Mono" pitchFamily="49" charset="0"/>
                <a:ea typeface="JetBrains Mono" pitchFamily="49" charset="-122"/>
                <a:cs typeface="JetBrains Mono" pitchFamily="49" charset="-120"/>
              </a:rPr>
              <a:t>ScaledObject</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name: podinfo-heures-ouvrees</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spec:</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scaleTargetRef:</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name: podinfo</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minReplicaCount: 0</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maxReplicaCount: 10</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triggers:</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 type: cron</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metadata:</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timezone: Europe/Paris</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start: 0 8 * * 1-5     </a:t>
            </a:r>
            <a:r>
              <a:rPr lang="en-US" sz="1100" dirty="0">
                <a:solidFill>
                  <a:srgbClr val="9A96D0"/>
                </a:solidFill>
                <a:latin typeface="JetBrains Mono" pitchFamily="49" charset="0"/>
                <a:ea typeface="JetBrains Mono" pitchFamily="49" charset="-122"/>
                <a:cs typeface="JetBrains Mono" pitchFamily="49" charset="-120"/>
              </a:rPr>
              <a:t># 4 réplicas du lundi au vendredi, de 8 h…</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end: 0 19 * * 1-5      </a:t>
            </a:r>
            <a:r>
              <a:rPr lang="en-US" sz="1100" dirty="0">
                <a:solidFill>
                  <a:srgbClr val="9A96D0"/>
                </a:solidFill>
                <a:latin typeface="JetBrains Mono" pitchFamily="49" charset="0"/>
                <a:ea typeface="JetBrains Mono" pitchFamily="49" charset="-122"/>
                <a:cs typeface="JetBrains Mono" pitchFamily="49" charset="-120"/>
              </a:rPr>
              <a:t># …à 19 h, zéro le reste du temps</a:t>
            </a:r>
            <a:endParaRPr lang="en-US" sz="1100" dirty="0"/>
          </a:p>
          <a:p>
            <a:pPr algn="l" indent="0" marL="0">
              <a:lnSpc>
                <a:spcPts val="1496"/>
              </a:lnSpc>
              <a:buNone/>
            </a:pPr>
            <a:r>
              <a:rPr lang="en-US" sz="1100" dirty="0">
                <a:solidFill>
                  <a:srgbClr val="ECEAFF"/>
                </a:solidFill>
                <a:latin typeface="JetBrains Mono" pitchFamily="49" charset="0"/>
                <a:ea typeface="JetBrains Mono" pitchFamily="49" charset="-122"/>
                <a:cs typeface="JetBrains Mono" pitchFamily="49" charset="-120"/>
              </a:rPr>
              <a:t>      desiredReplicas: "4"</a:t>
            </a:r>
            <a:endParaRPr lang="en-US" sz="1100" dirty="0"/>
          </a:p>
        </p:txBody>
      </p:sp>
      <p:pic>
        <p:nvPicPr>
          <p:cNvPr id="42"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43" name="Text 4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44" name="Image 1" descr="Parcours : module 14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14 · AUTOSCALING</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L'autoscaling des nœuds</a:t>
            </a:r>
            <a:endParaRPr lang="en-US" sz="2800" dirty="0"/>
          </a:p>
        </p:txBody>
      </p:sp>
      <p:sp>
        <p:nvSpPr>
          <p:cNvPr id="4" name="Text 2"/>
          <p:cNvSpPr/>
          <p:nvPr/>
        </p:nvSpPr>
        <p:spPr>
          <a:xfrm>
            <a:off x="812800" y="1531640"/>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Quand l'HPA demande des pods que le cluster ne peut pas placer, ils restent </a:t>
            </a:r>
            <a:r>
              <a:rPr lang="en-US" sz="1400" b="1" dirty="0">
                <a:solidFill>
                  <a:srgbClr val="3F3C6B"/>
                </a:solidFill>
                <a:latin typeface="IBM Plex Sans" pitchFamily="34" charset="0"/>
                <a:ea typeface="IBM Plex Sans" pitchFamily="34" charset="-122"/>
                <a:cs typeface="IBM Plex Sans" pitchFamily="34" charset="-120"/>
              </a:rPr>
              <a:t>Pending</a:t>
            </a:r>
            <a:r>
              <a:rPr lang="en-US" sz="1400" dirty="0">
                <a:solidFill>
                  <a:srgbClr val="3F3C6B"/>
                </a:solidFill>
                <a:latin typeface="IBM Plex Sans" pitchFamily="34" charset="0"/>
                <a:ea typeface="IBM Plex Sans" pitchFamily="34" charset="-122"/>
                <a:cs typeface="IBM Plex Sans" pitchFamily="34" charset="-120"/>
              </a:rPr>
              <a:t>. Un autoscaler de cluster ajoute alors des nœuds.</a:t>
            </a:r>
            <a:endParaRPr lang="en-US" sz="1400" dirty="0"/>
          </a:p>
        </p:txBody>
      </p:sp>
      <p:sp>
        <p:nvSpPr>
          <p:cNvPr id="5" name="Shape 3"/>
          <p:cNvSpPr/>
          <p:nvPr/>
        </p:nvSpPr>
        <p:spPr>
          <a:xfrm>
            <a:off x="815975" y="2223095"/>
            <a:ext cx="3422650" cy="3615690"/>
          </a:xfrm>
          <a:prstGeom prst="roundRect">
            <a:avLst>
              <a:gd name="adj" fmla="val 3618"/>
            </a:avLst>
          </a:prstGeom>
          <a:solidFill>
            <a:srgbClr val="FDFDFF"/>
          </a:solidFill>
          <a:ln w="6350">
            <a:solidFill>
              <a:srgbClr val="E1DFEE"/>
            </a:solidFill>
            <a:prstDash val="solid"/>
          </a:ln>
        </p:spPr>
      </p:sp>
      <p:sp>
        <p:nvSpPr>
          <p:cNvPr id="6" name="Text 4"/>
          <p:cNvSpPr/>
          <p:nvPr/>
        </p:nvSpPr>
        <p:spPr>
          <a:xfrm>
            <a:off x="1035791" y="2417663"/>
            <a:ext cx="3072509"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B0748"/>
                </a:solidFill>
                <a:latin typeface="Sora" pitchFamily="34" charset="0"/>
                <a:ea typeface="Sora" pitchFamily="34" charset="-122"/>
                <a:cs typeface="Sora" pitchFamily="34" charset="-120"/>
              </a:rPr>
              <a:t>Cluster Autoscaler</a:t>
            </a:r>
            <a:endParaRPr lang="en-US" sz="1700" dirty="0"/>
          </a:p>
        </p:txBody>
      </p:sp>
      <p:sp>
        <p:nvSpPr>
          <p:cNvPr id="7" name="Text 5"/>
          <p:cNvSpPr/>
          <p:nvPr/>
        </p:nvSpPr>
        <p:spPr>
          <a:xfrm>
            <a:off x="1035791" y="2776438"/>
            <a:ext cx="3072509" cy="728663"/>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F3C6B"/>
                </a:solidFill>
                <a:latin typeface="IBM Plex Sans" pitchFamily="34" charset="0"/>
                <a:ea typeface="IBM Plex Sans" pitchFamily="34" charset="-122"/>
                <a:cs typeface="IBM Plex Sans" pitchFamily="34" charset="-120"/>
              </a:rPr>
              <a:t>Ajoute un nœud à un </a:t>
            </a:r>
            <a:r>
              <a:rPr lang="en-US" sz="1300" b="1" dirty="0">
                <a:solidFill>
                  <a:srgbClr val="3F3C6B"/>
                </a:solidFill>
                <a:latin typeface="IBM Plex Sans" pitchFamily="34" charset="0"/>
                <a:ea typeface="IBM Plex Sans" pitchFamily="34" charset="-122"/>
                <a:cs typeface="IBM Plex Sans" pitchFamily="34" charset="-120"/>
              </a:rPr>
              <a:t>groupe de nœuds prédéfini</a:t>
            </a:r>
            <a:r>
              <a:rPr lang="en-US" sz="1300" dirty="0">
                <a:solidFill>
                  <a:srgbClr val="3F3C6B"/>
                </a:solidFill>
                <a:latin typeface="IBM Plex Sans" pitchFamily="34" charset="0"/>
                <a:ea typeface="IBM Plex Sans" pitchFamily="34" charset="-122"/>
                <a:cs typeface="IBM Plex Sans" pitchFamily="34" charset="-120"/>
              </a:rPr>
              <a:t> quand des pods sont en attente faute de ressources.</a:t>
            </a:r>
            <a:endParaRPr lang="en-US" sz="1300" dirty="0"/>
          </a:p>
        </p:txBody>
      </p:sp>
      <p:sp>
        <p:nvSpPr>
          <p:cNvPr id="8" name="Text 6"/>
          <p:cNvSpPr/>
          <p:nvPr/>
        </p:nvSpPr>
        <p:spPr>
          <a:xfrm>
            <a:off x="1035791" y="3568502"/>
            <a:ext cx="3072509" cy="728663"/>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F3C6B"/>
                </a:solidFill>
                <a:latin typeface="IBM Plex Sans" pitchFamily="34" charset="0"/>
                <a:ea typeface="IBM Plex Sans" pitchFamily="34" charset="-122"/>
                <a:cs typeface="IBM Plex Sans" pitchFamily="34" charset="-120"/>
              </a:rPr>
              <a:t>Retire les nœuds sous-utilisés après une période d'observation, en déplaçant leurs pods.</a:t>
            </a:r>
            <a:endParaRPr lang="en-US" sz="1300" dirty="0"/>
          </a:p>
        </p:txBody>
      </p:sp>
      <p:sp>
        <p:nvSpPr>
          <p:cNvPr id="9" name="Text 7"/>
          <p:cNvSpPr/>
          <p:nvPr/>
        </p:nvSpPr>
        <p:spPr>
          <a:xfrm>
            <a:off x="1035791" y="5217815"/>
            <a:ext cx="307250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Fonctionne avec la plupart des fournisseurs Cloud et avec Cluster API.</a:t>
            </a:r>
            <a:endParaRPr lang="en-US" sz="1200" dirty="0"/>
          </a:p>
        </p:txBody>
      </p:sp>
      <p:sp>
        <p:nvSpPr>
          <p:cNvPr id="10" name="Shape 8"/>
          <p:cNvSpPr/>
          <p:nvPr/>
        </p:nvSpPr>
        <p:spPr>
          <a:xfrm>
            <a:off x="4384675" y="2223095"/>
            <a:ext cx="3422650" cy="3615690"/>
          </a:xfrm>
          <a:prstGeom prst="roundRect">
            <a:avLst>
              <a:gd name="adj" fmla="val 3618"/>
            </a:avLst>
          </a:prstGeom>
          <a:solidFill>
            <a:srgbClr val="FDFDFF"/>
          </a:solidFill>
          <a:ln w="6350">
            <a:solidFill>
              <a:srgbClr val="E1DFEE"/>
            </a:solidFill>
            <a:prstDash val="solid"/>
          </a:ln>
        </p:spPr>
      </p:sp>
      <p:sp>
        <p:nvSpPr>
          <p:cNvPr id="11" name="Text 9"/>
          <p:cNvSpPr/>
          <p:nvPr/>
        </p:nvSpPr>
        <p:spPr>
          <a:xfrm>
            <a:off x="4604491" y="2417663"/>
            <a:ext cx="3072509"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B0748"/>
                </a:solidFill>
                <a:latin typeface="Sora" pitchFamily="34" charset="0"/>
                <a:ea typeface="Sora" pitchFamily="34" charset="-122"/>
                <a:cs typeface="Sora" pitchFamily="34" charset="-120"/>
              </a:rPr>
              <a:t>Karpenter</a:t>
            </a:r>
            <a:endParaRPr lang="en-US" sz="1700" dirty="0"/>
          </a:p>
        </p:txBody>
      </p:sp>
      <p:sp>
        <p:nvSpPr>
          <p:cNvPr id="12" name="Text 10"/>
          <p:cNvSpPr/>
          <p:nvPr/>
        </p:nvSpPr>
        <p:spPr>
          <a:xfrm>
            <a:off x="4604491" y="2776438"/>
            <a:ext cx="3072509" cy="963083"/>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F3C6B"/>
                </a:solidFill>
                <a:latin typeface="IBM Plex Sans" pitchFamily="34" charset="0"/>
                <a:ea typeface="IBM Plex Sans" pitchFamily="34" charset="-122"/>
                <a:cs typeface="IBM Plex Sans" pitchFamily="34" charset="-120"/>
              </a:rPr>
              <a:t>Choisit et crée directement des </a:t>
            </a:r>
            <a:r>
              <a:rPr lang="en-US" sz="1300" b="1" dirty="0">
                <a:solidFill>
                  <a:srgbClr val="3F3C6B"/>
                </a:solidFill>
                <a:latin typeface="IBM Plex Sans" pitchFamily="34" charset="0"/>
                <a:ea typeface="IBM Plex Sans" pitchFamily="34" charset="-122"/>
                <a:cs typeface="IBM Plex Sans" pitchFamily="34" charset="-120"/>
              </a:rPr>
              <a:t>machines dimensionnées</a:t>
            </a:r>
            <a:r>
              <a:rPr lang="en-US" sz="1300" dirty="0">
                <a:solidFill>
                  <a:srgbClr val="3F3C6B"/>
                </a:solidFill>
                <a:latin typeface="IBM Plex Sans" pitchFamily="34" charset="0"/>
                <a:ea typeface="IBM Plex Sans" pitchFamily="34" charset="-122"/>
                <a:cs typeface="IBM Plex Sans" pitchFamily="34" charset="-120"/>
              </a:rPr>
              <a:t> pour les pods en attente, sans groupes prédéfinis.</a:t>
            </a:r>
            <a:endParaRPr lang="en-US" sz="1300" dirty="0"/>
          </a:p>
        </p:txBody>
      </p:sp>
      <p:sp>
        <p:nvSpPr>
          <p:cNvPr id="13" name="Text 11"/>
          <p:cNvSpPr/>
          <p:nvPr/>
        </p:nvSpPr>
        <p:spPr>
          <a:xfrm>
            <a:off x="4604491" y="3803055"/>
            <a:ext cx="3072509" cy="728663"/>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F3C6B"/>
                </a:solidFill>
                <a:latin typeface="IBM Plex Sans" pitchFamily="34" charset="0"/>
                <a:ea typeface="IBM Plex Sans" pitchFamily="34" charset="-122"/>
                <a:cs typeface="IBM Plex Sans" pitchFamily="34" charset="-120"/>
              </a:rPr>
              <a:t>Consolide aussi le cluster en remplaçant plusieurs petits nœuds par un plus gros.</a:t>
            </a:r>
            <a:endParaRPr lang="en-US" sz="1300" dirty="0"/>
          </a:p>
        </p:txBody>
      </p:sp>
      <p:sp>
        <p:nvSpPr>
          <p:cNvPr id="14" name="Shape 12"/>
          <p:cNvSpPr/>
          <p:nvPr/>
        </p:nvSpPr>
        <p:spPr>
          <a:xfrm>
            <a:off x="7950200" y="2219920"/>
            <a:ext cx="3429000" cy="1747520"/>
          </a:xfrm>
          <a:prstGeom prst="roundRect">
            <a:avLst>
              <a:gd name="adj" fmla="val 7267"/>
            </a:avLst>
          </a:prstGeom>
          <a:solidFill>
            <a:srgbClr val="0B0748"/>
          </a:solidFill>
          <a:ln/>
        </p:spPr>
      </p:sp>
      <p:sp>
        <p:nvSpPr>
          <p:cNvPr id="15" name="Text 13"/>
          <p:cNvSpPr/>
          <p:nvPr/>
        </p:nvSpPr>
        <p:spPr>
          <a:xfrm>
            <a:off x="8140700" y="2385020"/>
            <a:ext cx="31394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POINT COMMUN</a:t>
            </a:r>
            <a:endParaRPr lang="en-US" sz="1200" dirty="0"/>
          </a:p>
        </p:txBody>
      </p:sp>
      <p:sp>
        <p:nvSpPr>
          <p:cNvPr id="16" name="Text 14"/>
          <p:cNvSpPr/>
          <p:nvPr/>
        </p:nvSpPr>
        <p:spPr>
          <a:xfrm>
            <a:off x="8140700" y="2662138"/>
            <a:ext cx="3139440" cy="701675"/>
          </a:xfrm>
          <a:prstGeom prst="rect">
            <a:avLst/>
          </a:prstGeom>
          <a:noFill/>
          <a:ln/>
        </p:spPr>
        <p:txBody>
          <a:bodyPr wrap="square" lIns="0" tIns="0" rIns="0" bIns="0" rtlCol="0" anchor="t">
            <a:normAutofit/>
          </a:bodyPr>
          <a:lstStyle/>
          <a:p>
            <a:pPr algn="l" indent="0" marL="0">
              <a:lnSpc>
                <a:spcPts val="1775"/>
              </a:lnSpc>
              <a:buNone/>
            </a:pPr>
            <a:r>
              <a:rPr lang="en-US" sz="1250" dirty="0">
                <a:solidFill>
                  <a:srgbClr val="ECEAFF"/>
                </a:solidFill>
                <a:latin typeface="IBM Plex Sans" pitchFamily="34" charset="0"/>
                <a:ea typeface="IBM Plex Sans" pitchFamily="34" charset="-122"/>
                <a:cs typeface="IBM Plex Sans" pitchFamily="34" charset="-120"/>
              </a:rPr>
              <a:t>Les deux raisonnent sur les </a:t>
            </a:r>
            <a:r>
              <a:rPr lang="en-US" sz="1250" b="1" dirty="0">
                <a:solidFill>
                  <a:srgbClr val="ECEAFF"/>
                </a:solidFill>
                <a:latin typeface="IBM Plex Sans" pitchFamily="34" charset="0"/>
                <a:ea typeface="IBM Plex Sans" pitchFamily="34" charset="-122"/>
                <a:cs typeface="IBM Plex Sans" pitchFamily="34" charset="-120"/>
              </a:rPr>
              <a:t>requests</a:t>
            </a:r>
            <a:r>
              <a:rPr lang="en-US" sz="1250" dirty="0">
                <a:solidFill>
                  <a:srgbClr val="ECEAFF"/>
                </a:solidFill>
                <a:latin typeface="IBM Plex Sans" pitchFamily="34" charset="0"/>
                <a:ea typeface="IBM Plex Sans" pitchFamily="34" charset="-122"/>
                <a:cs typeface="IBM Plex Sans" pitchFamily="34" charset="-120"/>
              </a:rPr>
              <a:t> des pods en attente : sans requests, ils ne savent pas quelle capacité ajouter.</a:t>
            </a:r>
            <a:endParaRPr lang="en-US" sz="1250" dirty="0"/>
          </a:p>
        </p:txBody>
      </p:sp>
      <p:sp>
        <p:nvSpPr>
          <p:cNvPr id="17" name="Shape 15"/>
          <p:cNvSpPr/>
          <p:nvPr/>
        </p:nvSpPr>
        <p:spPr>
          <a:xfrm>
            <a:off x="7950200" y="4094460"/>
            <a:ext cx="3429000" cy="1747520"/>
          </a:xfrm>
          <a:prstGeom prst="roundRect">
            <a:avLst>
              <a:gd name="adj" fmla="val 7267"/>
            </a:avLst>
          </a:prstGeom>
          <a:solidFill>
            <a:srgbClr val="FCE6DC"/>
          </a:solidFill>
          <a:ln/>
        </p:spPr>
      </p:sp>
      <p:sp>
        <p:nvSpPr>
          <p:cNvPr id="18" name="Text 16"/>
          <p:cNvSpPr/>
          <p:nvPr/>
        </p:nvSpPr>
        <p:spPr>
          <a:xfrm>
            <a:off x="8140700" y="4259560"/>
            <a:ext cx="31394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SUR NOS VM KUBEADM</a:t>
            </a:r>
            <a:endParaRPr lang="en-US" sz="1200" dirty="0"/>
          </a:p>
        </p:txBody>
      </p:sp>
      <p:sp>
        <p:nvSpPr>
          <p:cNvPr id="19" name="Text 17"/>
          <p:cNvSpPr/>
          <p:nvPr/>
        </p:nvSpPr>
        <p:spPr>
          <a:xfrm>
            <a:off x="8140700" y="4536480"/>
            <a:ext cx="313944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Rien ne peut créer de VM à la demande : pas d'autoscaling des nœuds. Il faut une couche qui provisionne des machines (Cloud, ou Cluster API avec OpenStack ou vSphere).</a:t>
            </a:r>
            <a:endParaRPr lang="en-US" sz="1200" dirty="0"/>
          </a:p>
        </p:txBody>
      </p:sp>
      <p:pic>
        <p:nvPicPr>
          <p:cNvPr id="20"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21" name="Text 18"/>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2" name="Image 1" descr="Parcours : module 14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14 · AUTOSCALING</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La chaîne complète</a:t>
            </a:r>
            <a:endParaRPr lang="en-US" sz="2800" dirty="0"/>
          </a:p>
        </p:txBody>
      </p:sp>
      <p:sp>
        <p:nvSpPr>
          <p:cNvPr id="4" name="Text 2"/>
          <p:cNvSpPr/>
          <p:nvPr/>
        </p:nvSpPr>
        <p:spPr>
          <a:xfrm>
            <a:off x="812800" y="159514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0B0748"/>
          </a:solidFill>
          <a:ln/>
        </p:spPr>
        <p:txBody>
          <a:bodyPr wrap="square" lIns="0" tIns="0" rIns="0" bIns="0" rtlCol="0" anchor="t">
            <a:normAutofit/>
          </a:bodyPr>
          <a:lstStyle/>
          <a:p>
            <a:pPr algn="ctr" indent="0" marL="0">
              <a:lnSpc>
                <a:spcPts val="3195"/>
              </a:lnSpc>
              <a:buNone/>
            </a:pPr>
            <a:r>
              <a:rPr lang="en-US" sz="1500" b="1" dirty="0">
                <a:solidFill>
                  <a:srgbClr val="FDFDFF"/>
                </a:solidFill>
                <a:latin typeface="Sora" pitchFamily="34" charset="0"/>
                <a:ea typeface="Sora" pitchFamily="34" charset="-122"/>
                <a:cs typeface="Sora" pitchFamily="34" charset="-120"/>
              </a:rPr>
              <a:t>1</a:t>
            </a:r>
            <a:endParaRPr lang="en-US" sz="1500" dirty="0"/>
          </a:p>
        </p:txBody>
      </p:sp>
      <p:sp>
        <p:nvSpPr>
          <p:cNvPr id="5" name="Shape 3"/>
          <p:cNvSpPr/>
          <p:nvPr/>
        </p:nvSpPr>
        <p:spPr>
          <a:xfrm>
            <a:off x="1282700" y="1788815"/>
            <a:ext cx="1551940" cy="19050"/>
          </a:xfrm>
          <a:prstGeom prst="rect">
            <a:avLst/>
          </a:prstGeom>
          <a:solidFill>
            <a:srgbClr val="CFCCE3"/>
          </a:solidFill>
          <a:ln/>
        </p:spPr>
      </p:sp>
      <p:sp>
        <p:nvSpPr>
          <p:cNvPr id="6" name="Text 4"/>
          <p:cNvSpPr/>
          <p:nvPr/>
        </p:nvSpPr>
        <p:spPr>
          <a:xfrm>
            <a:off x="812800" y="2090440"/>
            <a:ext cx="2082495"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La charge augmente</a:t>
            </a:r>
            <a:endParaRPr lang="en-US" sz="1600" dirty="0"/>
          </a:p>
        </p:txBody>
      </p:sp>
      <p:sp>
        <p:nvSpPr>
          <p:cNvPr id="7" name="Text 5"/>
          <p:cNvSpPr/>
          <p:nvPr/>
        </p:nvSpPr>
        <p:spPr>
          <a:xfrm>
            <a:off x="812800" y="2687340"/>
            <a:ext cx="2082495"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F3C6B"/>
                </a:solidFill>
                <a:latin typeface="IBM Plex Sans" pitchFamily="34" charset="0"/>
                <a:ea typeface="IBM Plex Sans" pitchFamily="34" charset="-122"/>
                <a:cs typeface="IBM Plex Sans" pitchFamily="34" charset="-120"/>
              </a:rPr>
              <a:t>L'utilisation CPU des pods dépasse la cible.</a:t>
            </a:r>
            <a:endParaRPr lang="en-US" sz="1350" dirty="0"/>
          </a:p>
        </p:txBody>
      </p:sp>
      <p:sp>
        <p:nvSpPr>
          <p:cNvPr id="8" name="Text 6"/>
          <p:cNvSpPr/>
          <p:nvPr/>
        </p:nvSpPr>
        <p:spPr>
          <a:xfrm>
            <a:off x="2948940" y="159514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0B0748"/>
          </a:solidFill>
          <a:ln/>
        </p:spPr>
        <p:txBody>
          <a:bodyPr wrap="square" lIns="0" tIns="0" rIns="0" bIns="0" rtlCol="0" anchor="t">
            <a:normAutofit/>
          </a:bodyPr>
          <a:lstStyle/>
          <a:p>
            <a:pPr algn="ctr" indent="0" marL="0">
              <a:lnSpc>
                <a:spcPts val="3195"/>
              </a:lnSpc>
              <a:buNone/>
            </a:pPr>
            <a:r>
              <a:rPr lang="en-US" sz="1500" b="1" dirty="0">
                <a:solidFill>
                  <a:srgbClr val="FDFDFF"/>
                </a:solidFill>
                <a:latin typeface="Sora" pitchFamily="34" charset="0"/>
                <a:ea typeface="Sora" pitchFamily="34" charset="-122"/>
                <a:cs typeface="Sora" pitchFamily="34" charset="-120"/>
              </a:rPr>
              <a:t>2</a:t>
            </a:r>
            <a:endParaRPr lang="en-US" sz="1500" dirty="0"/>
          </a:p>
        </p:txBody>
      </p:sp>
      <p:sp>
        <p:nvSpPr>
          <p:cNvPr id="9" name="Shape 7"/>
          <p:cNvSpPr/>
          <p:nvPr/>
        </p:nvSpPr>
        <p:spPr>
          <a:xfrm>
            <a:off x="3418840" y="1788815"/>
            <a:ext cx="1551940" cy="19050"/>
          </a:xfrm>
          <a:prstGeom prst="rect">
            <a:avLst/>
          </a:prstGeom>
          <a:solidFill>
            <a:srgbClr val="CFCCE3"/>
          </a:solidFill>
          <a:ln/>
        </p:spPr>
      </p:sp>
      <p:sp>
        <p:nvSpPr>
          <p:cNvPr id="10" name="Text 8"/>
          <p:cNvSpPr/>
          <p:nvPr/>
        </p:nvSpPr>
        <p:spPr>
          <a:xfrm>
            <a:off x="2948940" y="2090440"/>
            <a:ext cx="2082495"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L'HPA ajoute des réplicas</a:t>
            </a:r>
            <a:endParaRPr lang="en-US" sz="1600" dirty="0"/>
          </a:p>
        </p:txBody>
      </p:sp>
      <p:sp>
        <p:nvSpPr>
          <p:cNvPr id="11" name="Text 9"/>
          <p:cNvSpPr/>
          <p:nvPr/>
        </p:nvSpPr>
        <p:spPr>
          <a:xfrm>
            <a:off x="2948940" y="2687340"/>
            <a:ext cx="1628140" cy="2717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b="1" dirty="0">
                <a:solidFill>
                  <a:srgbClr val="0B0748"/>
                </a:solidFill>
                <a:latin typeface="JetBrains Mono" pitchFamily="49" charset="0"/>
                <a:ea typeface="JetBrains Mono" pitchFamily="49" charset="-122"/>
                <a:cs typeface="JetBrains Mono" pitchFamily="49" charset="-120"/>
              </a:rPr>
              <a:t>quelques secondes</a:t>
            </a:r>
            <a:endParaRPr lang="en-US" sz="1100" dirty="0"/>
          </a:p>
        </p:txBody>
      </p:sp>
      <p:sp>
        <p:nvSpPr>
          <p:cNvPr id="12" name="Text 10"/>
          <p:cNvSpPr/>
          <p:nvPr/>
        </p:nvSpPr>
        <p:spPr>
          <a:xfrm>
            <a:off x="5085080" y="159514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0B0748"/>
          </a:solidFill>
          <a:ln/>
        </p:spPr>
        <p:txBody>
          <a:bodyPr wrap="square" lIns="0" tIns="0" rIns="0" bIns="0" rtlCol="0" anchor="t">
            <a:normAutofit/>
          </a:bodyPr>
          <a:lstStyle/>
          <a:p>
            <a:pPr algn="ctr" indent="0" marL="0">
              <a:lnSpc>
                <a:spcPts val="3195"/>
              </a:lnSpc>
              <a:buNone/>
            </a:pPr>
            <a:r>
              <a:rPr lang="en-US" sz="1500" b="1" dirty="0">
                <a:solidFill>
                  <a:srgbClr val="FDFDFF"/>
                </a:solidFill>
                <a:latin typeface="Sora" pitchFamily="34" charset="0"/>
                <a:ea typeface="Sora" pitchFamily="34" charset="-122"/>
                <a:cs typeface="Sora" pitchFamily="34" charset="-120"/>
              </a:rPr>
              <a:t>3</a:t>
            </a:r>
            <a:endParaRPr lang="en-US" sz="1500" dirty="0"/>
          </a:p>
        </p:txBody>
      </p:sp>
      <p:sp>
        <p:nvSpPr>
          <p:cNvPr id="13" name="Shape 11"/>
          <p:cNvSpPr/>
          <p:nvPr/>
        </p:nvSpPr>
        <p:spPr>
          <a:xfrm>
            <a:off x="5554980" y="1788815"/>
            <a:ext cx="1551940" cy="19050"/>
          </a:xfrm>
          <a:prstGeom prst="rect">
            <a:avLst/>
          </a:prstGeom>
          <a:solidFill>
            <a:srgbClr val="CFCCE3"/>
          </a:solidFill>
          <a:ln/>
        </p:spPr>
      </p:sp>
      <p:sp>
        <p:nvSpPr>
          <p:cNvPr id="14" name="Text 12"/>
          <p:cNvSpPr/>
          <p:nvPr/>
        </p:nvSpPr>
        <p:spPr>
          <a:xfrm>
            <a:off x="5085080" y="2090440"/>
            <a:ext cx="208249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Pods Pending</a:t>
            </a:r>
            <a:endParaRPr lang="en-US" sz="1600" dirty="0"/>
          </a:p>
        </p:txBody>
      </p:sp>
      <p:sp>
        <p:nvSpPr>
          <p:cNvPr id="15" name="Text 13"/>
          <p:cNvSpPr/>
          <p:nvPr/>
        </p:nvSpPr>
        <p:spPr>
          <a:xfrm>
            <a:off x="5085080" y="2433340"/>
            <a:ext cx="2082495"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F3C6B"/>
                </a:solidFill>
                <a:latin typeface="IBM Plex Sans" pitchFamily="34" charset="0"/>
                <a:ea typeface="IBM Plex Sans" pitchFamily="34" charset="-122"/>
                <a:cs typeface="IBM Plex Sans" pitchFamily="34" charset="-120"/>
              </a:rPr>
              <a:t>Les nouveaux pods ne trouvent pas de place.</a:t>
            </a:r>
            <a:endParaRPr lang="en-US" sz="1350" dirty="0"/>
          </a:p>
        </p:txBody>
      </p:sp>
      <p:sp>
        <p:nvSpPr>
          <p:cNvPr id="16" name="Text 14"/>
          <p:cNvSpPr/>
          <p:nvPr/>
        </p:nvSpPr>
        <p:spPr>
          <a:xfrm>
            <a:off x="7221220" y="159514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E25A2C"/>
          </a:solidFill>
          <a:ln/>
        </p:spPr>
        <p:txBody>
          <a:bodyPr wrap="square" lIns="0" tIns="0" rIns="0" bIns="0" rtlCol="0" anchor="t">
            <a:normAutofit/>
          </a:bodyPr>
          <a:lstStyle/>
          <a:p>
            <a:pPr algn="ctr" indent="0" marL="0">
              <a:lnSpc>
                <a:spcPts val="3195"/>
              </a:lnSpc>
              <a:buNone/>
            </a:pPr>
            <a:r>
              <a:rPr lang="en-US" sz="1500" b="1" dirty="0">
                <a:solidFill>
                  <a:srgbClr val="FDFDFF"/>
                </a:solidFill>
                <a:latin typeface="Sora" pitchFamily="34" charset="0"/>
                <a:ea typeface="Sora" pitchFamily="34" charset="-122"/>
                <a:cs typeface="Sora" pitchFamily="34" charset="-120"/>
              </a:rPr>
              <a:t>4</a:t>
            </a:r>
            <a:endParaRPr lang="en-US" sz="1500" dirty="0"/>
          </a:p>
        </p:txBody>
      </p:sp>
      <p:sp>
        <p:nvSpPr>
          <p:cNvPr id="17" name="Shape 15"/>
          <p:cNvSpPr/>
          <p:nvPr/>
        </p:nvSpPr>
        <p:spPr>
          <a:xfrm>
            <a:off x="7691120" y="1788815"/>
            <a:ext cx="1551940" cy="19050"/>
          </a:xfrm>
          <a:prstGeom prst="rect">
            <a:avLst/>
          </a:prstGeom>
          <a:solidFill>
            <a:srgbClr val="CFCCE3"/>
          </a:solidFill>
          <a:ln/>
        </p:spPr>
      </p:sp>
      <p:sp>
        <p:nvSpPr>
          <p:cNvPr id="18" name="Text 16"/>
          <p:cNvSpPr/>
          <p:nvPr/>
        </p:nvSpPr>
        <p:spPr>
          <a:xfrm>
            <a:off x="7221220" y="2090440"/>
            <a:ext cx="2082495"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Un nœud est ajouté</a:t>
            </a:r>
            <a:endParaRPr lang="en-US" sz="1600" dirty="0"/>
          </a:p>
        </p:txBody>
      </p:sp>
      <p:sp>
        <p:nvSpPr>
          <p:cNvPr id="19" name="Text 17"/>
          <p:cNvSpPr/>
          <p:nvPr/>
        </p:nvSpPr>
        <p:spPr>
          <a:xfrm>
            <a:off x="7221220" y="2687340"/>
            <a:ext cx="2082495"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F3C6B"/>
                </a:solidFill>
                <a:latin typeface="IBM Plex Sans" pitchFamily="34" charset="0"/>
                <a:ea typeface="IBM Plex Sans" pitchFamily="34" charset="-122"/>
                <a:cs typeface="IBM Plex Sans" pitchFamily="34" charset="-120"/>
              </a:rPr>
              <a:t>Création de la VM, démarrage, adhésion au cluster.</a:t>
            </a:r>
            <a:endParaRPr lang="en-US" sz="1350" dirty="0"/>
          </a:p>
        </p:txBody>
      </p:sp>
      <p:sp>
        <p:nvSpPr>
          <p:cNvPr id="20" name="Text 18"/>
          <p:cNvSpPr/>
          <p:nvPr/>
        </p:nvSpPr>
        <p:spPr>
          <a:xfrm>
            <a:off x="7221220" y="3496270"/>
            <a:ext cx="1544320" cy="271780"/>
          </a:xfrm>
          <a:prstGeom prst="roundRect">
            <a:avLst>
              <a:gd name="adj" fmla="val 50000"/>
            </a:avLst>
          </a:prstGeom>
          <a:solidFill>
            <a:srgbClr val="FCE6DC"/>
          </a:solidFill>
          <a:ln/>
        </p:spPr>
        <p:txBody>
          <a:bodyPr wrap="none" lIns="0" tIns="0" rIns="0" bIns="0" rtlCol="0" anchor="ctr">
            <a:normAutofit/>
          </a:bodyPr>
          <a:lstStyle/>
          <a:p>
            <a:pPr algn="ctr" indent="0" marL="0">
              <a:lnSpc>
                <a:spcPts val="1540"/>
              </a:lnSpc>
              <a:buNone/>
            </a:pPr>
            <a:r>
              <a:rPr lang="en-US" sz="1100" b="1" dirty="0">
                <a:solidFill>
                  <a:srgbClr val="B8421A"/>
                </a:solidFill>
                <a:latin typeface="JetBrains Mono" pitchFamily="49" charset="0"/>
                <a:ea typeface="JetBrains Mono" pitchFamily="49" charset="-122"/>
                <a:cs typeface="JetBrains Mono" pitchFamily="49" charset="-120"/>
              </a:rPr>
              <a:t>quelques minutes</a:t>
            </a:r>
            <a:endParaRPr lang="en-US" sz="1100" dirty="0"/>
          </a:p>
        </p:txBody>
      </p:sp>
      <p:sp>
        <p:nvSpPr>
          <p:cNvPr id="21" name="Text 19"/>
          <p:cNvSpPr/>
          <p:nvPr/>
        </p:nvSpPr>
        <p:spPr>
          <a:xfrm>
            <a:off x="9357360" y="159514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0B0748"/>
          </a:solidFill>
          <a:ln/>
        </p:spPr>
        <p:txBody>
          <a:bodyPr wrap="square" lIns="0" tIns="0" rIns="0" bIns="0" rtlCol="0" anchor="t">
            <a:normAutofit/>
          </a:bodyPr>
          <a:lstStyle/>
          <a:p>
            <a:pPr algn="ctr" indent="0" marL="0">
              <a:lnSpc>
                <a:spcPts val="3195"/>
              </a:lnSpc>
              <a:buNone/>
            </a:pPr>
            <a:r>
              <a:rPr lang="en-US" sz="1500" b="1" dirty="0">
                <a:solidFill>
                  <a:srgbClr val="FDFDFF"/>
                </a:solidFill>
                <a:latin typeface="Sora" pitchFamily="34" charset="0"/>
                <a:ea typeface="Sora" pitchFamily="34" charset="-122"/>
                <a:cs typeface="Sora" pitchFamily="34" charset="-120"/>
              </a:rPr>
              <a:t>5</a:t>
            </a:r>
            <a:endParaRPr lang="en-US" sz="1500" dirty="0"/>
          </a:p>
        </p:txBody>
      </p:sp>
      <p:sp>
        <p:nvSpPr>
          <p:cNvPr id="22" name="Text 20"/>
          <p:cNvSpPr/>
          <p:nvPr/>
        </p:nvSpPr>
        <p:spPr>
          <a:xfrm>
            <a:off x="9357360" y="2090440"/>
            <a:ext cx="208249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Pods prêts</a:t>
            </a:r>
            <a:endParaRPr lang="en-US" sz="1600" dirty="0"/>
          </a:p>
        </p:txBody>
      </p:sp>
      <p:sp>
        <p:nvSpPr>
          <p:cNvPr id="23" name="Text 21"/>
          <p:cNvSpPr/>
          <p:nvPr/>
        </p:nvSpPr>
        <p:spPr>
          <a:xfrm>
            <a:off x="9357360" y="2433340"/>
            <a:ext cx="2082495"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F3C6B"/>
                </a:solidFill>
                <a:latin typeface="IBM Plex Sans" pitchFamily="34" charset="0"/>
                <a:ea typeface="IBM Plex Sans" pitchFamily="34" charset="-122"/>
                <a:cs typeface="IBM Plex Sans" pitchFamily="34" charset="-120"/>
              </a:rPr>
              <a:t>Le scheduler les place sur le nouveau nœud.</a:t>
            </a:r>
            <a:endParaRPr lang="en-US" sz="1350" dirty="0"/>
          </a:p>
        </p:txBody>
      </p:sp>
      <p:sp>
        <p:nvSpPr>
          <p:cNvPr id="24" name="Shape 22"/>
          <p:cNvSpPr/>
          <p:nvPr/>
        </p:nvSpPr>
        <p:spPr>
          <a:xfrm>
            <a:off x="812800" y="4752975"/>
            <a:ext cx="10566400" cy="1089025"/>
          </a:xfrm>
          <a:prstGeom prst="roundRect">
            <a:avLst>
              <a:gd name="adj" fmla="val 12828"/>
            </a:avLst>
          </a:prstGeom>
          <a:solidFill>
            <a:srgbClr val="0B0748"/>
          </a:solidFill>
          <a:ln/>
        </p:spPr>
      </p:sp>
      <p:pic>
        <p:nvPicPr>
          <p:cNvPr id="25" name="Image 0" descr="Lightbulb">    </p:cNvPr>
          <p:cNvPicPr>
            <a:picLocks noChangeAspect="1"/>
          </p:cNvPicPr>
          <p:nvPr/>
        </p:nvPicPr>
        <p:blipFill>
          <a:blip r:embed="rId1"/>
          <a:srcRect l="0" r="0" t="0" b="0"/>
          <a:stretch/>
        </p:blipFill>
        <p:spPr>
          <a:xfrm>
            <a:off x="1041400" y="5145187"/>
            <a:ext cx="304800" cy="304800"/>
          </a:xfrm>
          <a:prstGeom prst="rect">
            <a:avLst/>
          </a:prstGeom>
        </p:spPr>
      </p:pic>
      <p:sp>
        <p:nvSpPr>
          <p:cNvPr id="26" name="Text 23"/>
          <p:cNvSpPr/>
          <p:nvPr/>
        </p:nvSpPr>
        <p:spPr>
          <a:xfrm>
            <a:off x="1524000" y="4930775"/>
            <a:ext cx="991539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5F4F9"/>
                </a:solidFill>
                <a:latin typeface="Sora" pitchFamily="34" charset="0"/>
                <a:ea typeface="Sora" pitchFamily="34" charset="-122"/>
                <a:cs typeface="Sora" pitchFamily="34" charset="-120"/>
              </a:rPr>
              <a:t>Ajouter un nœud prend plusieurs minutes : gardez une marge de capacité.</a:t>
            </a:r>
            <a:endParaRPr lang="en-US" sz="1500" dirty="0"/>
          </a:p>
        </p:txBody>
      </p:sp>
      <p:sp>
        <p:nvSpPr>
          <p:cNvPr id="27" name="Text 24"/>
          <p:cNvSpPr/>
          <p:nvPr/>
        </p:nvSpPr>
        <p:spPr>
          <a:xfrm>
            <a:off x="1524000" y="5219700"/>
            <a:ext cx="9915398"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B9B6E8"/>
                </a:solidFill>
                <a:latin typeface="IBM Plex Sans" pitchFamily="34" charset="0"/>
                <a:ea typeface="IBM Plex Sans" pitchFamily="34" charset="-122"/>
                <a:cs typeface="IBM Plex Sans" pitchFamily="34" charset="-120"/>
              </a:rPr>
              <a:t>Technique courante : des pods « réservoirs » de très basse priorité occupent de la place, et sont préemptés dès qu'un vrai pod en a besoin (module 11).</a:t>
            </a:r>
            <a:endParaRPr lang="en-US" sz="1250" dirty="0"/>
          </a:p>
        </p:txBody>
      </p:sp>
      <p:pic>
        <p:nvPicPr>
          <p:cNvPr id="28" name="Image 1" descr="preencoded.png">    </p:cNvPr>
          <p:cNvPicPr>
            <a:picLocks noChangeAspect="1"/>
          </p:cNvPicPr>
          <p:nvPr/>
        </p:nvPicPr>
        <p:blipFill>
          <a:blip r:embed="rId2"/>
          <a:srcRect l="0" r="0" t="-35" b="-35"/>
          <a:stretch/>
        </p:blipFill>
        <p:spPr>
          <a:xfrm>
            <a:off x="812800" y="6299200"/>
            <a:ext cx="152400" cy="152506"/>
          </a:xfrm>
          <a:prstGeom prst="rect">
            <a:avLst/>
          </a:prstGeom>
        </p:spPr>
      </p:pic>
      <p:sp>
        <p:nvSpPr>
          <p:cNvPr id="29" name="Text 25"/>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0" name="Image 2" descr="Parcours : module 14 sur 16">    </p:cNvPr>
          <p:cNvPicPr>
            <a:picLocks noChangeAspect="1"/>
          </p:cNvPicPr>
          <p:nvPr/>
        </p:nvPicPr>
        <p:blipFill>
          <a:blip r:embed="rId3"/>
          <a:srcRect l="0" r="0" t="-35" b="-35"/>
          <a:stretch/>
        </p:blipFill>
        <p:spPr>
          <a:xfrm>
            <a:off x="9207500" y="6299200"/>
            <a:ext cx="2171700" cy="152506"/>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14 · AUTOSCALING</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Prérequis d'une application qui passe à l'échelle</a:t>
            </a:r>
            <a:endParaRPr lang="en-US" sz="2800" dirty="0"/>
          </a:p>
        </p:txBody>
      </p:sp>
      <p:sp>
        <p:nvSpPr>
          <p:cNvPr id="4" name="Shape 2"/>
          <p:cNvSpPr/>
          <p:nvPr/>
        </p:nvSpPr>
        <p:spPr>
          <a:xfrm>
            <a:off x="815975" y="1547515"/>
            <a:ext cx="10560050" cy="527262"/>
          </a:xfrm>
          <a:prstGeom prst="roundRect">
            <a:avLst>
              <a:gd name="adj" fmla="val 18667"/>
            </a:avLst>
          </a:prstGeom>
          <a:solidFill>
            <a:srgbClr val="FDFDFF"/>
          </a:solidFill>
          <a:ln w="6350">
            <a:solidFill>
              <a:srgbClr val="E1DFEE"/>
            </a:solidFill>
            <a:prstDash val="solid"/>
          </a:ln>
        </p:spPr>
      </p:sp>
      <p:sp>
        <p:nvSpPr>
          <p:cNvPr id="5" name="Shape 3"/>
          <p:cNvSpPr/>
          <p:nvPr/>
        </p:nvSpPr>
        <p:spPr>
          <a:xfrm>
            <a:off x="1007216" y="1700709"/>
            <a:ext cx="209550" cy="209550"/>
          </a:xfrm>
          <a:prstGeom prst="roundRect">
            <a:avLst>
              <a:gd name="adj" fmla="val 19697"/>
            </a:avLst>
          </a:prstGeom>
          <a:noFill/>
          <a:ln w="19050">
            <a:solidFill>
              <a:srgbClr val="0B0748"/>
            </a:solidFill>
            <a:prstDash val="solid"/>
          </a:ln>
        </p:spPr>
      </p:sp>
      <p:sp>
        <p:nvSpPr>
          <p:cNvPr id="6" name="Text 4"/>
          <p:cNvSpPr/>
          <p:nvPr/>
        </p:nvSpPr>
        <p:spPr>
          <a:xfrm>
            <a:off x="1378691" y="1691184"/>
            <a:ext cx="1011008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metrics-server installé et fonctionnel (kubectl top pods).</a:t>
            </a:r>
            <a:endParaRPr lang="en-US" sz="1400" dirty="0"/>
          </a:p>
        </p:txBody>
      </p:sp>
      <p:sp>
        <p:nvSpPr>
          <p:cNvPr id="7" name="Shape 5"/>
          <p:cNvSpPr/>
          <p:nvPr/>
        </p:nvSpPr>
        <p:spPr>
          <a:xfrm>
            <a:off x="815975" y="2170013"/>
            <a:ext cx="10560050" cy="527262"/>
          </a:xfrm>
          <a:prstGeom prst="roundRect">
            <a:avLst>
              <a:gd name="adj" fmla="val 18667"/>
            </a:avLst>
          </a:prstGeom>
          <a:solidFill>
            <a:srgbClr val="FDFDFF"/>
          </a:solidFill>
          <a:ln w="6350">
            <a:solidFill>
              <a:srgbClr val="E1DFEE"/>
            </a:solidFill>
            <a:prstDash val="solid"/>
          </a:ln>
        </p:spPr>
      </p:sp>
      <p:sp>
        <p:nvSpPr>
          <p:cNvPr id="8" name="Shape 6"/>
          <p:cNvSpPr/>
          <p:nvPr/>
        </p:nvSpPr>
        <p:spPr>
          <a:xfrm>
            <a:off x="1007216" y="2323207"/>
            <a:ext cx="209550" cy="209550"/>
          </a:xfrm>
          <a:prstGeom prst="roundRect">
            <a:avLst>
              <a:gd name="adj" fmla="val 19697"/>
            </a:avLst>
          </a:prstGeom>
          <a:noFill/>
          <a:ln w="19050">
            <a:solidFill>
              <a:srgbClr val="0B0748"/>
            </a:solidFill>
            <a:prstDash val="solid"/>
          </a:ln>
        </p:spPr>
      </p:sp>
      <p:sp>
        <p:nvSpPr>
          <p:cNvPr id="9" name="Text 7"/>
          <p:cNvSpPr/>
          <p:nvPr/>
        </p:nvSpPr>
        <p:spPr>
          <a:xfrm>
            <a:off x="1378691" y="2313682"/>
            <a:ext cx="1011008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Requests CPU et mémoire réalistes sur tous les conteneurs.</a:t>
            </a:r>
            <a:endParaRPr lang="en-US" sz="1400" dirty="0"/>
          </a:p>
        </p:txBody>
      </p:sp>
      <p:sp>
        <p:nvSpPr>
          <p:cNvPr id="10" name="Shape 8"/>
          <p:cNvSpPr/>
          <p:nvPr/>
        </p:nvSpPr>
        <p:spPr>
          <a:xfrm>
            <a:off x="815975" y="2792512"/>
            <a:ext cx="10560050" cy="527262"/>
          </a:xfrm>
          <a:prstGeom prst="roundRect">
            <a:avLst>
              <a:gd name="adj" fmla="val 18667"/>
            </a:avLst>
          </a:prstGeom>
          <a:solidFill>
            <a:srgbClr val="FDFDFF"/>
          </a:solidFill>
          <a:ln w="6350">
            <a:solidFill>
              <a:srgbClr val="E1DFEE"/>
            </a:solidFill>
            <a:prstDash val="solid"/>
          </a:ln>
        </p:spPr>
      </p:sp>
      <p:sp>
        <p:nvSpPr>
          <p:cNvPr id="11" name="Shape 9"/>
          <p:cNvSpPr/>
          <p:nvPr/>
        </p:nvSpPr>
        <p:spPr>
          <a:xfrm>
            <a:off x="1007216" y="2945805"/>
            <a:ext cx="209550" cy="209550"/>
          </a:xfrm>
          <a:prstGeom prst="roundRect">
            <a:avLst>
              <a:gd name="adj" fmla="val 19697"/>
            </a:avLst>
          </a:prstGeom>
          <a:noFill/>
          <a:ln w="19050">
            <a:solidFill>
              <a:srgbClr val="0B0748"/>
            </a:solidFill>
            <a:prstDash val="solid"/>
          </a:ln>
        </p:spPr>
      </p:sp>
      <p:sp>
        <p:nvSpPr>
          <p:cNvPr id="12" name="Text 10"/>
          <p:cNvSpPr/>
          <p:nvPr/>
        </p:nvSpPr>
        <p:spPr>
          <a:xfrm>
            <a:off x="1378691" y="2936280"/>
            <a:ext cx="1011008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Application sans état local : n'importe quel réplica peut servir n'importe quelle requête.</a:t>
            </a:r>
            <a:endParaRPr lang="en-US" sz="1400" dirty="0"/>
          </a:p>
        </p:txBody>
      </p:sp>
      <p:sp>
        <p:nvSpPr>
          <p:cNvPr id="13" name="Shape 11"/>
          <p:cNvSpPr/>
          <p:nvPr/>
        </p:nvSpPr>
        <p:spPr>
          <a:xfrm>
            <a:off x="815975" y="3415010"/>
            <a:ext cx="10560050" cy="527262"/>
          </a:xfrm>
          <a:prstGeom prst="roundRect">
            <a:avLst>
              <a:gd name="adj" fmla="val 18667"/>
            </a:avLst>
          </a:prstGeom>
          <a:solidFill>
            <a:srgbClr val="FDFDFF"/>
          </a:solidFill>
          <a:ln w="6350">
            <a:solidFill>
              <a:srgbClr val="E1DFEE"/>
            </a:solidFill>
            <a:prstDash val="solid"/>
          </a:ln>
        </p:spPr>
      </p:sp>
      <p:sp>
        <p:nvSpPr>
          <p:cNvPr id="14" name="Shape 12"/>
          <p:cNvSpPr/>
          <p:nvPr/>
        </p:nvSpPr>
        <p:spPr>
          <a:xfrm>
            <a:off x="1007216" y="3568303"/>
            <a:ext cx="209550" cy="209550"/>
          </a:xfrm>
          <a:prstGeom prst="roundRect">
            <a:avLst>
              <a:gd name="adj" fmla="val 19697"/>
            </a:avLst>
          </a:prstGeom>
          <a:noFill/>
          <a:ln w="19050">
            <a:solidFill>
              <a:srgbClr val="0B0748"/>
            </a:solidFill>
            <a:prstDash val="solid"/>
          </a:ln>
        </p:spPr>
      </p:sp>
      <p:sp>
        <p:nvSpPr>
          <p:cNvPr id="15" name="Text 13"/>
          <p:cNvSpPr/>
          <p:nvPr/>
        </p:nvSpPr>
        <p:spPr>
          <a:xfrm>
            <a:off x="1378691" y="3558778"/>
            <a:ext cx="1011008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Readiness probe : les nouveaux pods ne reçoivent du trafic qu'une fois prêts.</a:t>
            </a:r>
            <a:endParaRPr lang="en-US" sz="1400" dirty="0"/>
          </a:p>
        </p:txBody>
      </p:sp>
      <p:sp>
        <p:nvSpPr>
          <p:cNvPr id="16" name="Shape 14"/>
          <p:cNvSpPr/>
          <p:nvPr/>
        </p:nvSpPr>
        <p:spPr>
          <a:xfrm>
            <a:off x="815975" y="4037509"/>
            <a:ext cx="10560050" cy="527262"/>
          </a:xfrm>
          <a:prstGeom prst="roundRect">
            <a:avLst>
              <a:gd name="adj" fmla="val 18667"/>
            </a:avLst>
          </a:prstGeom>
          <a:solidFill>
            <a:srgbClr val="FDFDFF"/>
          </a:solidFill>
          <a:ln w="6350">
            <a:solidFill>
              <a:srgbClr val="E1DFEE"/>
            </a:solidFill>
            <a:prstDash val="solid"/>
          </a:ln>
        </p:spPr>
      </p:sp>
      <p:sp>
        <p:nvSpPr>
          <p:cNvPr id="17" name="Shape 15"/>
          <p:cNvSpPr/>
          <p:nvPr/>
        </p:nvSpPr>
        <p:spPr>
          <a:xfrm>
            <a:off x="1007216" y="4190802"/>
            <a:ext cx="209550" cy="209550"/>
          </a:xfrm>
          <a:prstGeom prst="roundRect">
            <a:avLst>
              <a:gd name="adj" fmla="val 19697"/>
            </a:avLst>
          </a:prstGeom>
          <a:noFill/>
          <a:ln w="19050">
            <a:solidFill>
              <a:srgbClr val="0B0748"/>
            </a:solidFill>
            <a:prstDash val="solid"/>
          </a:ln>
        </p:spPr>
      </p:sp>
      <p:sp>
        <p:nvSpPr>
          <p:cNvPr id="18" name="Text 16"/>
          <p:cNvSpPr/>
          <p:nvPr/>
        </p:nvSpPr>
        <p:spPr>
          <a:xfrm>
            <a:off x="1378691" y="4181277"/>
            <a:ext cx="1011008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minReplicas d'au moins 2 pour la disponibilité, et un PodDisruptionBudget.</a:t>
            </a:r>
            <a:endParaRPr lang="en-US" sz="1400" dirty="0"/>
          </a:p>
        </p:txBody>
      </p:sp>
      <p:sp>
        <p:nvSpPr>
          <p:cNvPr id="19" name="Shape 17"/>
          <p:cNvSpPr/>
          <p:nvPr/>
        </p:nvSpPr>
        <p:spPr>
          <a:xfrm>
            <a:off x="815975" y="4660007"/>
            <a:ext cx="10560050" cy="527262"/>
          </a:xfrm>
          <a:prstGeom prst="roundRect">
            <a:avLst>
              <a:gd name="adj" fmla="val 18667"/>
            </a:avLst>
          </a:prstGeom>
          <a:solidFill>
            <a:srgbClr val="FDFDFF"/>
          </a:solidFill>
          <a:ln w="6350">
            <a:solidFill>
              <a:srgbClr val="E1DFEE"/>
            </a:solidFill>
            <a:prstDash val="solid"/>
          </a:ln>
        </p:spPr>
      </p:sp>
      <p:sp>
        <p:nvSpPr>
          <p:cNvPr id="20" name="Shape 18"/>
          <p:cNvSpPr/>
          <p:nvPr/>
        </p:nvSpPr>
        <p:spPr>
          <a:xfrm>
            <a:off x="1007216" y="4813300"/>
            <a:ext cx="209550" cy="209550"/>
          </a:xfrm>
          <a:prstGeom prst="roundRect">
            <a:avLst>
              <a:gd name="adj" fmla="val 19697"/>
            </a:avLst>
          </a:prstGeom>
          <a:noFill/>
          <a:ln w="19050">
            <a:solidFill>
              <a:srgbClr val="0B0748"/>
            </a:solidFill>
            <a:prstDash val="solid"/>
          </a:ln>
        </p:spPr>
      </p:sp>
      <p:sp>
        <p:nvSpPr>
          <p:cNvPr id="21" name="Text 19"/>
          <p:cNvSpPr/>
          <p:nvPr/>
        </p:nvSpPr>
        <p:spPr>
          <a:xfrm>
            <a:off x="1378691" y="4803775"/>
            <a:ext cx="1011008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748"/>
                </a:solidFill>
                <a:latin typeface="IBM Plex Sans" pitchFamily="34" charset="0"/>
                <a:ea typeface="IBM Plex Sans" pitchFamily="34" charset="-122"/>
                <a:cs typeface="IBM Plex Sans" pitchFamily="34" charset="-120"/>
              </a:rPr>
              <a:t>Champ replicas retiré du manifeste du Deployment.</a:t>
            </a:r>
            <a:endParaRPr lang="en-US" sz="1400" dirty="0"/>
          </a:p>
        </p:txBody>
      </p:sp>
      <p:pic>
        <p:nvPicPr>
          <p:cNvPr id="22"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23" name="Text 2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4" name="Image 1" descr="Parcours : module 14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BF0E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TRAVAUX PRATIQUES · À FAIRE MAINTENANT</a:t>
            </a:r>
            <a:endParaRPr lang="en-US" sz="1200" dirty="0"/>
          </a:p>
        </p:txBody>
      </p:sp>
      <p:sp>
        <p:nvSpPr>
          <p:cNvPr id="3" name="Text 1"/>
          <p:cNvSpPr/>
          <p:nvPr/>
        </p:nvSpPr>
        <p:spPr>
          <a:xfrm>
            <a:off x="812800" y="1127720"/>
            <a:ext cx="3008630" cy="1054100"/>
          </a:xfrm>
          <a:prstGeom prst="rect">
            <a:avLst/>
          </a:prstGeom>
          <a:noFill/>
          <a:ln/>
        </p:spPr>
        <p:txBody>
          <a:bodyPr wrap="square" lIns="0" tIns="0" rIns="0" bIns="0" rtlCol="0" anchor="t">
            <a:normAutofit/>
          </a:bodyPr>
          <a:lstStyle/>
          <a:p>
            <a:pPr algn="l" indent="0" marL="0">
              <a:lnSpc>
                <a:spcPts val="8100"/>
              </a:lnSpc>
              <a:buNone/>
            </a:pPr>
            <a:r>
              <a:rPr lang="en-US" sz="9000" b="1" spc="-300" kern="0" dirty="0">
                <a:solidFill>
                  <a:srgbClr val="E25A2C"/>
                </a:solidFill>
                <a:latin typeface="Sora" pitchFamily="34" charset="0"/>
                <a:ea typeface="Sora" pitchFamily="34" charset="-122"/>
                <a:cs typeface="Sora" pitchFamily="34" charset="-120"/>
              </a:rPr>
              <a:t>TP10</a:t>
            </a:r>
            <a:endParaRPr lang="en-US" sz="9000" dirty="0"/>
          </a:p>
        </p:txBody>
      </p:sp>
      <p:pic>
        <p:nvPicPr>
          <p:cNvPr id="4" name="Image 0" descr="Clock">    </p:cNvPr>
          <p:cNvPicPr>
            <a:picLocks noChangeAspect="1"/>
          </p:cNvPicPr>
          <p:nvPr/>
        </p:nvPicPr>
        <p:blipFill>
          <a:blip r:embed="rId1"/>
          <a:srcRect l="0" r="0" t="0" b="0"/>
          <a:stretch/>
        </p:blipFill>
        <p:spPr>
          <a:xfrm>
            <a:off x="812800" y="2467570"/>
            <a:ext cx="254000" cy="254000"/>
          </a:xfrm>
          <a:prstGeom prst="rect">
            <a:avLst/>
          </a:prstGeom>
        </p:spPr>
      </p:pic>
      <p:sp>
        <p:nvSpPr>
          <p:cNvPr id="5" name="Text 2"/>
          <p:cNvSpPr/>
          <p:nvPr/>
        </p:nvSpPr>
        <p:spPr>
          <a:xfrm>
            <a:off x="1181100" y="2461220"/>
            <a:ext cx="1477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Jour 3 · 11:15</a:t>
            </a:r>
            <a:endParaRPr lang="en-US" sz="1500" dirty="0"/>
          </a:p>
        </p:txBody>
      </p:sp>
      <p:pic>
        <p:nvPicPr>
          <p:cNvPr id="6" name="Image 1" descr="Activity">    </p:cNvPr>
          <p:cNvPicPr>
            <a:picLocks noChangeAspect="1"/>
          </p:cNvPicPr>
          <p:nvPr/>
        </p:nvPicPr>
        <p:blipFill>
          <a:blip r:embed="rId2"/>
          <a:srcRect l="0" r="0" t="0" b="0"/>
          <a:stretch/>
        </p:blipFill>
        <p:spPr>
          <a:xfrm>
            <a:off x="812800" y="2835870"/>
            <a:ext cx="254000" cy="254000"/>
          </a:xfrm>
          <a:prstGeom prst="rect">
            <a:avLst/>
          </a:prstGeom>
        </p:spPr>
      </p:pic>
      <p:sp>
        <p:nvSpPr>
          <p:cNvPr id="7" name="Text 3"/>
          <p:cNvSpPr/>
          <p:nvPr/>
        </p:nvSpPr>
        <p:spPr>
          <a:xfrm>
            <a:off x="1181100" y="2829520"/>
            <a:ext cx="11889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30 minutes</a:t>
            </a:r>
            <a:endParaRPr lang="en-US" sz="1500" dirty="0"/>
          </a:p>
        </p:txBody>
      </p:sp>
      <p:pic>
        <p:nvPicPr>
          <p:cNvPr id="8" name="Image 2" descr="Book">    </p:cNvPr>
          <p:cNvPicPr>
            <a:picLocks noChangeAspect="1"/>
          </p:cNvPicPr>
          <p:nvPr/>
        </p:nvPicPr>
        <p:blipFill>
          <a:blip r:embed="rId3"/>
          <a:srcRect l="0" r="0" t="0" b="0"/>
          <a:stretch/>
        </p:blipFill>
        <p:spPr>
          <a:xfrm>
            <a:off x="812800" y="3197820"/>
            <a:ext cx="254000" cy="254000"/>
          </a:xfrm>
          <a:prstGeom prst="rect">
            <a:avLst/>
          </a:prstGeom>
        </p:spPr>
      </p:pic>
      <p:sp>
        <p:nvSpPr>
          <p:cNvPr id="9" name="Text 4"/>
          <p:cNvSpPr/>
          <p:nvPr/>
        </p:nvSpPr>
        <p:spPr>
          <a:xfrm>
            <a:off x="1181100" y="3200400"/>
            <a:ext cx="120967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Section 14.2</a:t>
            </a:r>
            <a:endParaRPr lang="en-US" sz="1400" dirty="0"/>
          </a:p>
        </p:txBody>
      </p:sp>
      <p:sp>
        <p:nvSpPr>
          <p:cNvPr id="10" name="Text 5"/>
          <p:cNvSpPr/>
          <p:nvPr>
            <p:ph type="title"/>
          </p:nvPr>
        </p:nvSpPr>
        <p:spPr>
          <a:xfrm>
            <a:off x="4191000" y="1127720"/>
            <a:ext cx="7403846"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HPA</a:t>
            </a:r>
            <a:endParaRPr lang="en-US" sz="2800" dirty="0"/>
          </a:p>
        </p:txBody>
      </p:sp>
      <p:sp>
        <p:nvSpPr>
          <p:cNvPr id="11" name="Text 6"/>
          <p:cNvSpPr/>
          <p:nvPr/>
        </p:nvSpPr>
        <p:spPr>
          <a:xfrm>
            <a:off x="4191000" y="1722140"/>
            <a:ext cx="7403846"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F3C6B"/>
                </a:solidFill>
                <a:latin typeface="IBM Plex Sans" pitchFamily="34" charset="0"/>
                <a:ea typeface="IBM Plex Sans" pitchFamily="34" charset="-122"/>
                <a:cs typeface="IBM Plex Sans" pitchFamily="34" charset="-120"/>
              </a:rPr>
              <a:t>Créer un HPA à 50 % de CPU sur php-apache, générer de la charge, puis observer la montée et la redescente des réplicas.</a:t>
            </a:r>
            <a:endParaRPr lang="en-US" sz="1600" dirty="0"/>
          </a:p>
        </p:txBody>
      </p:sp>
      <p:sp>
        <p:nvSpPr>
          <p:cNvPr id="12" name="Shape 7"/>
          <p:cNvSpPr/>
          <p:nvPr/>
        </p:nvSpPr>
        <p:spPr>
          <a:xfrm>
            <a:off x="4194175" y="4893766"/>
            <a:ext cx="7181850" cy="945092"/>
          </a:xfrm>
          <a:prstGeom prst="roundRect">
            <a:avLst>
              <a:gd name="adj" fmla="val 13102"/>
            </a:avLst>
          </a:prstGeom>
          <a:solidFill>
            <a:srgbClr val="FDFDFF"/>
          </a:solidFill>
          <a:ln w="6350">
            <a:solidFill>
              <a:srgbClr val="EBDDD2"/>
            </a:solidFill>
            <a:prstDash val="solid"/>
          </a:ln>
        </p:spPr>
      </p:sp>
      <p:pic>
        <p:nvPicPr>
          <p:cNvPr id="13" name="Image 3" descr="CheckCircle">    </p:cNvPr>
          <p:cNvPicPr>
            <a:picLocks noChangeAspect="1"/>
          </p:cNvPicPr>
          <p:nvPr/>
        </p:nvPicPr>
        <p:blipFill>
          <a:blip r:embed="rId4"/>
          <a:srcRect l="0" r="0" t="0" b="0"/>
          <a:stretch/>
        </p:blipFill>
        <p:spPr>
          <a:xfrm>
            <a:off x="4452091" y="5100935"/>
            <a:ext cx="355600" cy="355600"/>
          </a:xfrm>
          <a:prstGeom prst="rect">
            <a:avLst/>
          </a:prstGeom>
        </p:spPr>
      </p:pic>
      <p:sp>
        <p:nvSpPr>
          <p:cNvPr id="14" name="Text 8"/>
          <p:cNvSpPr/>
          <p:nvPr/>
        </p:nvSpPr>
        <p:spPr>
          <a:xfrm>
            <a:off x="4985491" y="5100935"/>
            <a:ext cx="63165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POINT DE CONTRÔLE</a:t>
            </a:r>
            <a:endParaRPr lang="en-US" sz="1200" dirty="0"/>
          </a:p>
        </p:txBody>
      </p:sp>
      <p:sp>
        <p:nvSpPr>
          <p:cNvPr id="15" name="Text 9"/>
          <p:cNvSpPr/>
          <p:nvPr/>
        </p:nvSpPr>
        <p:spPr>
          <a:xfrm>
            <a:off x="4985491" y="5365155"/>
            <a:ext cx="631659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L'HPA dépasse 3 réplicas sous charge.</a:t>
            </a:r>
            <a:endParaRPr lang="en-US" sz="1500" dirty="0"/>
          </a:p>
        </p:txBody>
      </p:sp>
      <p:pic>
        <p:nvPicPr>
          <p:cNvPr id="16" name="Image 4" descr="preencoded.png">    </p:cNvPr>
          <p:cNvPicPr>
            <a:picLocks noChangeAspect="1"/>
          </p:cNvPicPr>
          <p:nvPr/>
        </p:nvPicPr>
        <p:blipFill>
          <a:blip r:embed="rId5"/>
          <a:srcRect l="0" r="0" t="-35" b="-35"/>
          <a:stretch/>
        </p:blipFill>
        <p:spPr>
          <a:xfrm>
            <a:off x="812800" y="6299200"/>
            <a:ext cx="152400" cy="152506"/>
          </a:xfrm>
          <a:prstGeom prst="rect">
            <a:avLst/>
          </a:prstGeom>
        </p:spPr>
      </p:pic>
      <p:sp>
        <p:nvSpPr>
          <p:cNvPr id="17" name="Text 1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5" descr="Parcours : module 14 sur 16">    </p:cNvPr>
          <p:cNvPicPr>
            <a:picLocks noChangeAspect="1"/>
          </p:cNvPicPr>
          <p:nvPr/>
        </p:nvPicPr>
        <p:blipFill>
          <a:blip r:embed="rId6"/>
          <a:srcRect l="0" r="0" t="-35" b="-35"/>
          <a:stretch/>
        </p:blipFill>
        <p:spPr>
          <a:xfrm>
            <a:off x="9207500" y="6299200"/>
            <a:ext cx="2171700" cy="152506"/>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14 · BILAN</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40"/>
            <a:ext cx="6138333"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40"/>
            <a:ext cx="228600" cy="228600"/>
          </a:xfrm>
          <a:prstGeom prst="rect">
            <a:avLst/>
          </a:prstGeom>
        </p:spPr>
      </p:pic>
      <p:sp>
        <p:nvSpPr>
          <p:cNvPr id="6" name="Text 3"/>
          <p:cNvSpPr/>
          <p:nvPr/>
        </p:nvSpPr>
        <p:spPr>
          <a:xfrm>
            <a:off x="1511300" y="1874540"/>
            <a:ext cx="5262922" cy="825394"/>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L'HPA multiplie les pods selon une métrique, calculée par rapport aux requests ; il monte vite et descend après 5 minutes.</a:t>
            </a:r>
            <a:endParaRPr lang="en-US" sz="1500" dirty="0"/>
          </a:p>
        </p:txBody>
      </p:sp>
      <p:pic>
        <p:nvPicPr>
          <p:cNvPr id="7" name="Image 1" descr="Check">    </p:cNvPr>
          <p:cNvPicPr>
            <a:picLocks noChangeAspect="1"/>
          </p:cNvPicPr>
          <p:nvPr/>
        </p:nvPicPr>
        <p:blipFill>
          <a:blip r:embed="rId2"/>
          <a:srcRect l="0" r="0" t="0" b="0"/>
          <a:stretch/>
        </p:blipFill>
        <p:spPr>
          <a:xfrm>
            <a:off x="1143000" y="2852440"/>
            <a:ext cx="228600" cy="228600"/>
          </a:xfrm>
          <a:prstGeom prst="rect">
            <a:avLst/>
          </a:prstGeom>
        </p:spPr>
      </p:pic>
      <p:sp>
        <p:nvSpPr>
          <p:cNvPr id="8" name="Text 4"/>
          <p:cNvSpPr/>
          <p:nvPr/>
        </p:nvSpPr>
        <p:spPr>
          <a:xfrm>
            <a:off x="1511300" y="2852440"/>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Le VPA recommande ou applique des requests ; en mode Off, c'est un outil de dimensionnement.</a:t>
            </a:r>
            <a:endParaRPr lang="en-US" sz="1500" dirty="0"/>
          </a:p>
        </p:txBody>
      </p:sp>
      <p:pic>
        <p:nvPicPr>
          <p:cNvPr id="9" name="Image 2" descr="Check">    </p:cNvPr>
          <p:cNvPicPr>
            <a:picLocks noChangeAspect="1"/>
          </p:cNvPicPr>
          <p:nvPr/>
        </p:nvPicPr>
        <p:blipFill>
          <a:blip r:embed="rId3"/>
          <a:srcRect l="0" r="0" t="0" b="0"/>
          <a:stretch/>
        </p:blipFill>
        <p:spPr>
          <a:xfrm>
            <a:off x="1143000" y="3563640"/>
            <a:ext cx="228600" cy="228600"/>
          </a:xfrm>
          <a:prstGeom prst="rect">
            <a:avLst/>
          </a:prstGeom>
        </p:spPr>
      </p:pic>
      <p:sp>
        <p:nvSpPr>
          <p:cNvPr id="10" name="Text 5"/>
          <p:cNvSpPr/>
          <p:nvPr/>
        </p:nvSpPr>
        <p:spPr>
          <a:xfrm>
            <a:off x="1511300" y="3563640"/>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KEDA déclenche sur des événements externes et descend à zéro.</a:t>
            </a:r>
            <a:endParaRPr lang="en-US" sz="1500" dirty="0"/>
          </a:p>
        </p:txBody>
      </p:sp>
      <p:pic>
        <p:nvPicPr>
          <p:cNvPr id="11" name="Image 3" descr="Check">    </p:cNvPr>
          <p:cNvPicPr>
            <a:picLocks noChangeAspect="1"/>
          </p:cNvPicPr>
          <p:nvPr/>
        </p:nvPicPr>
        <p:blipFill>
          <a:blip r:embed="rId4"/>
          <a:srcRect l="0" r="0" t="0" b="0"/>
          <a:stretch/>
        </p:blipFill>
        <p:spPr>
          <a:xfrm>
            <a:off x="1143000" y="4274840"/>
            <a:ext cx="228600" cy="228600"/>
          </a:xfrm>
          <a:prstGeom prst="rect">
            <a:avLst/>
          </a:prstGeom>
        </p:spPr>
      </p:pic>
      <p:sp>
        <p:nvSpPr>
          <p:cNvPr id="12" name="Text 6"/>
          <p:cNvSpPr/>
          <p:nvPr/>
        </p:nvSpPr>
        <p:spPr>
          <a:xfrm>
            <a:off x="1511300" y="4274840"/>
            <a:ext cx="52629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FF"/>
                </a:solidFill>
                <a:latin typeface="IBM Plex Sans" pitchFamily="34" charset="0"/>
                <a:ea typeface="IBM Plex Sans" pitchFamily="34" charset="-122"/>
                <a:cs typeface="IBM Plex Sans" pitchFamily="34" charset="-120"/>
              </a:rPr>
              <a:t>L'autoscaling des nœuds demande une infrastructure pilotable ; il réagit aux pods Pending.</a:t>
            </a:r>
            <a:endParaRPr lang="en-US" sz="1500" dirty="0"/>
          </a:p>
        </p:txBody>
      </p:sp>
      <p:sp>
        <p:nvSpPr>
          <p:cNvPr id="13" name="Shape 7"/>
          <p:cNvSpPr/>
          <p:nvPr/>
        </p:nvSpPr>
        <p:spPr>
          <a:xfrm>
            <a:off x="7157508" y="1598315"/>
            <a:ext cx="4218517" cy="4240530"/>
          </a:xfrm>
          <a:prstGeom prst="roundRect">
            <a:avLst>
              <a:gd name="adj" fmla="val 3537"/>
            </a:avLst>
          </a:prstGeom>
          <a:solidFill>
            <a:srgbClr val="FDFDFF"/>
          </a:solidFill>
          <a:ln w="6350">
            <a:solidFill>
              <a:srgbClr val="E1DFEE"/>
            </a:solidFill>
            <a:prstDash val="solid"/>
          </a:ln>
        </p:spPr>
      </p:sp>
      <p:sp>
        <p:nvSpPr>
          <p:cNvPr id="14" name="Text 8"/>
          <p:cNvSpPr/>
          <p:nvPr/>
        </p:nvSpPr>
        <p:spPr>
          <a:xfrm>
            <a:off x="7440824" y="1856284"/>
            <a:ext cx="376144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5" name="Text 9"/>
          <p:cNvSpPr/>
          <p:nvPr/>
        </p:nvSpPr>
        <p:spPr>
          <a:xfrm>
            <a:off x="7440824" y="2196703"/>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1</a:t>
            </a:r>
            <a:endParaRPr lang="en-US" sz="1300" dirty="0"/>
          </a:p>
        </p:txBody>
      </p:sp>
      <p:sp>
        <p:nvSpPr>
          <p:cNvPr id="16" name="Text 10"/>
          <p:cNvSpPr/>
          <p:nvPr/>
        </p:nvSpPr>
        <p:spPr>
          <a:xfrm>
            <a:off x="7720224" y="2196703"/>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3 réplicas à 80 % de CPU, cible 40 % : combien de réplicas l'HPA demande-t-il ?</a:t>
            </a:r>
            <a:endParaRPr lang="en-US" sz="1300" dirty="0"/>
          </a:p>
        </p:txBody>
      </p:sp>
      <p:sp>
        <p:nvSpPr>
          <p:cNvPr id="17" name="Text 11"/>
          <p:cNvSpPr/>
          <p:nvPr/>
        </p:nvSpPr>
        <p:spPr>
          <a:xfrm>
            <a:off x="7440824" y="2785963"/>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2</a:t>
            </a:r>
            <a:endParaRPr lang="en-US" sz="1300" dirty="0"/>
          </a:p>
        </p:txBody>
      </p:sp>
      <p:sp>
        <p:nvSpPr>
          <p:cNvPr id="18" name="Text 12"/>
          <p:cNvSpPr/>
          <p:nvPr/>
        </p:nvSpPr>
        <p:spPr>
          <a:xfrm>
            <a:off x="7720224" y="2785963"/>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Pourquoi l'HPA affiche-t-il &lt;unknown&gt; pour la métrique CPU ?</a:t>
            </a:r>
            <a:endParaRPr lang="en-US" sz="1300" dirty="0"/>
          </a:p>
        </p:txBody>
      </p:sp>
      <p:sp>
        <p:nvSpPr>
          <p:cNvPr id="19" name="Text 13"/>
          <p:cNvSpPr/>
          <p:nvPr/>
        </p:nvSpPr>
        <p:spPr>
          <a:xfrm>
            <a:off x="7440824" y="3375223"/>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3</a:t>
            </a:r>
            <a:endParaRPr lang="en-US" sz="1300" dirty="0"/>
          </a:p>
        </p:txBody>
      </p:sp>
      <p:sp>
        <p:nvSpPr>
          <p:cNvPr id="20" name="Text 14"/>
          <p:cNvSpPr/>
          <p:nvPr/>
        </p:nvSpPr>
        <p:spPr>
          <a:xfrm>
            <a:off x="7720224" y="3375223"/>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Pourquoi ne faut-il pas laisser replicas: 3 dans un Deployment piloté par un HPA ?</a:t>
            </a:r>
            <a:endParaRPr lang="en-US" sz="1300" dirty="0"/>
          </a:p>
        </p:txBody>
      </p:sp>
      <p:sp>
        <p:nvSpPr>
          <p:cNvPr id="21" name="Text 15"/>
          <p:cNvSpPr/>
          <p:nvPr/>
        </p:nvSpPr>
        <p:spPr>
          <a:xfrm>
            <a:off x="7440824" y="3964285"/>
            <a:ext cx="2286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21A"/>
                </a:solidFill>
                <a:latin typeface="Sora" pitchFamily="34" charset="0"/>
                <a:ea typeface="Sora" pitchFamily="34" charset="-122"/>
                <a:cs typeface="Sora" pitchFamily="34" charset="-120"/>
              </a:rPr>
              <a:t>4</a:t>
            </a:r>
            <a:endParaRPr lang="en-US" sz="1300" dirty="0"/>
          </a:p>
        </p:txBody>
      </p:sp>
      <p:sp>
        <p:nvSpPr>
          <p:cNvPr id="22" name="Text 16"/>
          <p:cNvSpPr/>
          <p:nvPr/>
        </p:nvSpPr>
        <p:spPr>
          <a:xfrm>
            <a:off x="7720224" y="3964285"/>
            <a:ext cx="347365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Pourquoi l'autoscaling des nœuds n'est-il pas possible sur le cluster du TP ?</a:t>
            </a:r>
            <a:endParaRPr lang="en-US" sz="1300" dirty="0"/>
          </a:p>
        </p:txBody>
      </p:sp>
      <p:pic>
        <p:nvPicPr>
          <p:cNvPr id="23" name="Image 4" descr="preencoded.png">    </p:cNvPr>
          <p:cNvPicPr>
            <a:picLocks noChangeAspect="1"/>
          </p:cNvPicPr>
          <p:nvPr/>
        </p:nvPicPr>
        <p:blipFill>
          <a:blip r:embed="rId5"/>
          <a:srcRect l="0" r="0" t="-35" b="-35"/>
          <a:stretch/>
        </p:blipFill>
        <p:spPr>
          <a:xfrm>
            <a:off x="812800" y="6299200"/>
            <a:ext cx="152400" cy="152506"/>
          </a:xfrm>
          <a:prstGeom prst="rect">
            <a:avLst/>
          </a:prstGeom>
        </p:spPr>
      </p:pic>
      <p:sp>
        <p:nvSpPr>
          <p:cNvPr id="24" name="Text 17"/>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5" descr="Parcours : module 14 sur 16">    </p:cNvPr>
          <p:cNvPicPr>
            <a:picLocks noChangeAspect="1"/>
          </p:cNvPicPr>
          <p:nvPr/>
        </p:nvPicPr>
        <p:blipFill>
          <a:blip r:embed="rId6"/>
          <a:srcRect l="0" r="0" t="-35" b="-35"/>
          <a:stretch/>
        </p:blipFill>
        <p:spPr>
          <a:xfrm>
            <a:off x="9207500" y="6299200"/>
            <a:ext cx="2171700" cy="152506"/>
          </a:xfrm>
          <a:prstGeom prst="rect">
            <a:avLst/>
          </a:prstGeom>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3 · ENCADRER, SÉCURISER, FAIRE GRANDIR</a:t>
            </a:r>
            <a:endParaRPr lang="en-US" sz="1200" dirty="0"/>
          </a:p>
        </p:txBody>
      </p:sp>
      <p:sp>
        <p:nvSpPr>
          <p:cNvPr id="3" name="Text 1"/>
          <p:cNvSpPr/>
          <p:nvPr/>
        </p:nvSpPr>
        <p:spPr>
          <a:xfrm>
            <a:off x="812800" y="1076920"/>
            <a:ext cx="1511808"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15</a:t>
            </a:r>
            <a:endParaRPr lang="en-US" sz="10000" dirty="0"/>
          </a:p>
        </p:txBody>
      </p:sp>
      <p:sp>
        <p:nvSpPr>
          <p:cNvPr id="4" name="Text 2"/>
          <p:cNvSpPr/>
          <p:nvPr>
            <p:ph type="title"/>
          </p:nvPr>
        </p:nvSpPr>
        <p:spPr>
          <a:xfrm>
            <a:off x="2428240" y="1127720"/>
            <a:ext cx="9219489" cy="5588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Sécurité</a:t>
            </a:r>
            <a:endParaRPr lang="en-US" sz="4000" dirty="0"/>
          </a:p>
        </p:txBody>
      </p:sp>
      <p:sp>
        <p:nvSpPr>
          <p:cNvPr id="5" name="Text 3"/>
          <p:cNvSpPr/>
          <p:nvPr/>
        </p:nvSpPr>
        <p:spPr>
          <a:xfrm>
            <a:off x="2428240" y="1813520"/>
            <a:ext cx="9219489" cy="825394"/>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Par défaut, un cluster est permissif : tout pod joint tout pod, un conteneur peut tourner en root. On le sécurise par couches : RBAC limite qui fait quoi via l'API, Pod Security ce que les pods font sur le nœud, les NetworkPolicies qui parle à qui.</a:t>
            </a:r>
            <a:endParaRPr lang="en-US" sz="1500" dirty="0"/>
          </a:p>
        </p:txBody>
      </p:sp>
      <p:sp>
        <p:nvSpPr>
          <p:cNvPr id="6" name="Text 4"/>
          <p:cNvSpPr/>
          <p:nvPr/>
        </p:nvSpPr>
        <p:spPr>
          <a:xfrm>
            <a:off x="2428240" y="2766020"/>
            <a:ext cx="2112963"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TP11 · Sécurité · J3 13:20</a:t>
            </a:r>
            <a:endParaRPr lang="en-US" sz="1200" dirty="0"/>
          </a:p>
        </p:txBody>
      </p:sp>
      <p:pic>
        <p:nvPicPr>
          <p:cNvPr id="7" name="Image 0" descr="Parcours de la formation : module 15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Une sécurité en couches</a:t>
            </a:r>
            <a:endParaRPr lang="en-US" sz="2800" dirty="0"/>
          </a:p>
        </p:txBody>
      </p:sp>
      <p:sp>
        <p:nvSpPr>
          <p:cNvPr id="4" name="Text 2"/>
          <p:cNvSpPr/>
          <p:nvPr/>
        </p:nvSpPr>
        <p:spPr>
          <a:xfrm>
            <a:off x="812800" y="15189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Le projet décrit quatre couches emboîtées, chacune dépendant de la précédente :</a:t>
            </a:r>
            <a:endParaRPr lang="en-US" sz="1400" dirty="0"/>
          </a:p>
        </p:txBody>
      </p:sp>
      <p:sp>
        <p:nvSpPr>
          <p:cNvPr id="5" name="Shape 3"/>
          <p:cNvSpPr/>
          <p:nvPr/>
        </p:nvSpPr>
        <p:spPr>
          <a:xfrm>
            <a:off x="812800" y="1945680"/>
            <a:ext cx="10566400" cy="3896466"/>
          </a:xfrm>
          <a:prstGeom prst="roundRect">
            <a:avLst>
              <a:gd name="adj" fmla="val 3911"/>
            </a:avLst>
          </a:prstGeom>
          <a:solidFill>
            <a:srgbClr val="ECEAF6"/>
          </a:solidFill>
          <a:ln/>
        </p:spPr>
      </p:sp>
      <p:sp>
        <p:nvSpPr>
          <p:cNvPr id="6" name="Text 4"/>
          <p:cNvSpPr/>
          <p:nvPr/>
        </p:nvSpPr>
        <p:spPr>
          <a:xfrm>
            <a:off x="1003300" y="2098080"/>
            <a:ext cx="2616200"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Cloud ou centre de données</a:t>
            </a:r>
            <a:endParaRPr lang="en-US" sz="1600" dirty="0"/>
          </a:p>
        </p:txBody>
      </p:sp>
      <p:sp>
        <p:nvSpPr>
          <p:cNvPr id="7" name="Text 5"/>
          <p:cNvSpPr/>
          <p:nvPr/>
        </p:nvSpPr>
        <p:spPr>
          <a:xfrm>
            <a:off x="3721100" y="2143720"/>
            <a:ext cx="7691628"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3F3C6B"/>
                </a:solidFill>
                <a:latin typeface="IBM Plex Sans" pitchFamily="34" charset="0"/>
                <a:ea typeface="IBM Plex Sans" pitchFamily="34" charset="-122"/>
                <a:cs typeface="IBM Plex Sans" pitchFamily="34" charset="-120"/>
              </a:rPr>
              <a:t>Accès réseau à l'API restreint, nœuds durcis, chiffrement des disques</a:t>
            </a:r>
            <a:endParaRPr lang="en-US" sz="1250" dirty="0"/>
          </a:p>
        </p:txBody>
      </p:sp>
      <p:sp>
        <p:nvSpPr>
          <p:cNvPr id="8" name="Shape 6"/>
          <p:cNvSpPr/>
          <p:nvPr/>
        </p:nvSpPr>
        <p:spPr>
          <a:xfrm>
            <a:off x="1003300" y="2794000"/>
            <a:ext cx="10185400" cy="2895600"/>
          </a:xfrm>
          <a:prstGeom prst="roundRect">
            <a:avLst>
              <a:gd name="adj" fmla="val 5263"/>
            </a:avLst>
          </a:prstGeom>
          <a:solidFill>
            <a:srgbClr val="DAD7EF"/>
          </a:solidFill>
          <a:ln/>
        </p:spPr>
      </p:sp>
      <p:sp>
        <p:nvSpPr>
          <p:cNvPr id="9" name="Text 7"/>
          <p:cNvSpPr/>
          <p:nvPr/>
        </p:nvSpPr>
        <p:spPr>
          <a:xfrm>
            <a:off x="1193800" y="2946400"/>
            <a:ext cx="26162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Cluster</a:t>
            </a:r>
            <a:endParaRPr lang="en-US" sz="1600" dirty="0"/>
          </a:p>
        </p:txBody>
      </p:sp>
      <p:sp>
        <p:nvSpPr>
          <p:cNvPr id="10" name="Text 8"/>
          <p:cNvSpPr/>
          <p:nvPr/>
        </p:nvSpPr>
        <p:spPr>
          <a:xfrm>
            <a:off x="3911600" y="2992140"/>
            <a:ext cx="7299198"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3F3C6B"/>
                </a:solidFill>
                <a:latin typeface="IBM Plex Sans" pitchFamily="34" charset="0"/>
                <a:ea typeface="IBM Plex Sans" pitchFamily="34" charset="-122"/>
                <a:cs typeface="IBM Plex Sans" pitchFamily="34" charset="-120"/>
              </a:rPr>
              <a:t>RBAC, Pod Security, NetworkPolicies, chiffrement d'etcd, journaux d'audit, mises à jour</a:t>
            </a:r>
            <a:endParaRPr lang="en-US" sz="1250" dirty="0"/>
          </a:p>
        </p:txBody>
      </p:sp>
      <p:sp>
        <p:nvSpPr>
          <p:cNvPr id="11" name="Shape 9"/>
          <p:cNvSpPr/>
          <p:nvPr/>
        </p:nvSpPr>
        <p:spPr>
          <a:xfrm>
            <a:off x="1193800" y="3357860"/>
            <a:ext cx="9804400" cy="2179320"/>
          </a:xfrm>
          <a:prstGeom prst="roundRect">
            <a:avLst>
              <a:gd name="adj" fmla="val 6993"/>
            </a:avLst>
          </a:prstGeom>
          <a:solidFill>
            <a:srgbClr val="B9B6E8"/>
          </a:solidFill>
          <a:ln/>
        </p:spPr>
      </p:sp>
      <p:sp>
        <p:nvSpPr>
          <p:cNvPr id="12" name="Text 10"/>
          <p:cNvSpPr/>
          <p:nvPr/>
        </p:nvSpPr>
        <p:spPr>
          <a:xfrm>
            <a:off x="1384300" y="3510260"/>
            <a:ext cx="26162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Conteneur</a:t>
            </a:r>
            <a:endParaRPr lang="en-US" sz="1600" dirty="0"/>
          </a:p>
        </p:txBody>
      </p:sp>
      <p:sp>
        <p:nvSpPr>
          <p:cNvPr id="13" name="Text 11"/>
          <p:cNvSpPr/>
          <p:nvPr/>
        </p:nvSpPr>
        <p:spPr>
          <a:xfrm>
            <a:off x="4102100" y="3556000"/>
            <a:ext cx="6906768"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1D1870"/>
                </a:solidFill>
                <a:latin typeface="IBM Plex Sans" pitchFamily="34" charset="0"/>
                <a:ea typeface="IBM Plex Sans" pitchFamily="34" charset="-122"/>
                <a:cs typeface="IBM Plex Sans" pitchFamily="34" charset="-120"/>
              </a:rPr>
              <a:t>Images minimales et analysées, utilisateur non root, système de fichiers en lecture seule</a:t>
            </a:r>
            <a:endParaRPr lang="en-US" sz="1250" dirty="0"/>
          </a:p>
        </p:txBody>
      </p:sp>
      <p:sp>
        <p:nvSpPr>
          <p:cNvPr id="14" name="Shape 12"/>
          <p:cNvSpPr/>
          <p:nvPr/>
        </p:nvSpPr>
        <p:spPr>
          <a:xfrm>
            <a:off x="1384300" y="3921720"/>
            <a:ext cx="9423400" cy="1463040"/>
          </a:xfrm>
          <a:prstGeom prst="roundRect">
            <a:avLst>
              <a:gd name="adj" fmla="val 10417"/>
            </a:avLst>
          </a:prstGeom>
          <a:solidFill>
            <a:srgbClr val="0B0748"/>
          </a:solidFill>
          <a:ln/>
        </p:spPr>
      </p:sp>
      <p:sp>
        <p:nvSpPr>
          <p:cNvPr id="15" name="Text 13"/>
          <p:cNvSpPr/>
          <p:nvPr/>
        </p:nvSpPr>
        <p:spPr>
          <a:xfrm>
            <a:off x="1574800" y="4074120"/>
            <a:ext cx="26162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8F66"/>
                </a:solidFill>
                <a:latin typeface="Sora" pitchFamily="34" charset="0"/>
                <a:ea typeface="Sora" pitchFamily="34" charset="-122"/>
                <a:cs typeface="Sora" pitchFamily="34" charset="-120"/>
              </a:rPr>
              <a:t>Code</a:t>
            </a:r>
            <a:endParaRPr lang="en-US" sz="1600" dirty="0"/>
          </a:p>
        </p:txBody>
      </p:sp>
      <p:sp>
        <p:nvSpPr>
          <p:cNvPr id="16" name="Text 14"/>
          <p:cNvSpPr/>
          <p:nvPr/>
        </p:nvSpPr>
        <p:spPr>
          <a:xfrm>
            <a:off x="4292600" y="4119860"/>
            <a:ext cx="6514338"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ECEAFF"/>
                </a:solidFill>
                <a:latin typeface="IBM Plex Sans" pitchFamily="34" charset="0"/>
                <a:ea typeface="IBM Plex Sans" pitchFamily="34" charset="-122"/>
                <a:cs typeface="IBM Plex Sans" pitchFamily="34" charset="-120"/>
              </a:rPr>
              <a:t>Dépendances à jour, secrets hors du code, TLS entre services</a:t>
            </a:r>
            <a:endParaRPr lang="en-US" sz="1250" dirty="0"/>
          </a:p>
        </p:txBody>
      </p:sp>
      <p:pic>
        <p:nvPicPr>
          <p:cNvPr id="17"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8" name="Text 15"/>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9" name="Image 1" descr="Parcours : module 15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Authentification : qui êtes-vous ?</a:t>
            </a:r>
            <a:endParaRPr lang="en-US" sz="2800" dirty="0"/>
          </a:p>
        </p:txBody>
      </p:sp>
      <p:sp>
        <p:nvSpPr>
          <p:cNvPr id="4" name="Text 2"/>
          <p:cNvSpPr/>
          <p:nvPr/>
        </p:nvSpPr>
        <p:spPr>
          <a:xfrm>
            <a:off x="812800" y="151894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0B0748"/>
                </a:solidFill>
                <a:latin typeface="Sora" pitchFamily="34" charset="0"/>
                <a:ea typeface="Sora" pitchFamily="34" charset="-122"/>
                <a:cs typeface="Sora" pitchFamily="34" charset="-120"/>
              </a:rPr>
              <a:t>Kubernetes ne stocke </a:t>
            </a:r>
            <a:r>
              <a:rPr lang="en-US" sz="2000" b="1" dirty="0">
                <a:solidFill>
                  <a:srgbClr val="E25A2C"/>
                </a:solidFill>
                <a:latin typeface="Sora" pitchFamily="34" charset="0"/>
                <a:ea typeface="Sora" pitchFamily="34" charset="-122"/>
                <a:cs typeface="Sora" pitchFamily="34" charset="-120"/>
              </a:rPr>
              <a:t>aucun compte utilisateur</a:t>
            </a:r>
            <a:r>
              <a:rPr lang="en-US" sz="2000" b="1" dirty="0">
                <a:solidFill>
                  <a:srgbClr val="0B0748"/>
                </a:solidFill>
                <a:latin typeface="Sora" pitchFamily="34" charset="0"/>
                <a:ea typeface="Sora" pitchFamily="34" charset="-122"/>
                <a:cs typeface="Sora" pitchFamily="34" charset="-120"/>
              </a:rPr>
              <a:t>.</a:t>
            </a:r>
            <a:endParaRPr lang="en-US" sz="2000" dirty="0"/>
          </a:p>
        </p:txBody>
      </p:sp>
      <p:sp>
        <p:nvSpPr>
          <p:cNvPr id="5" name="Text 3"/>
          <p:cNvSpPr/>
          <p:nvPr/>
        </p:nvSpPr>
        <p:spPr>
          <a:xfrm>
            <a:off x="812800" y="20142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Il fait confiance à des mécanismes externes :</a:t>
            </a:r>
            <a:endParaRPr lang="en-US" sz="1400" dirty="0"/>
          </a:p>
        </p:txBody>
      </p:sp>
      <p:sp>
        <p:nvSpPr>
          <p:cNvPr id="6" name="Shape 4"/>
          <p:cNvSpPr/>
          <p:nvPr/>
        </p:nvSpPr>
        <p:spPr>
          <a:xfrm>
            <a:off x="815975" y="2444155"/>
            <a:ext cx="3418840" cy="3394710"/>
          </a:xfrm>
          <a:prstGeom prst="roundRect">
            <a:avLst>
              <a:gd name="adj" fmla="val 3648"/>
            </a:avLst>
          </a:prstGeom>
          <a:solidFill>
            <a:srgbClr val="FDFDFF"/>
          </a:solidFill>
          <a:ln w="6350">
            <a:solidFill>
              <a:srgbClr val="E1DFEE"/>
            </a:solidFill>
            <a:prstDash val="solid"/>
          </a:ln>
        </p:spPr>
      </p:sp>
      <p:pic>
        <p:nvPicPr>
          <p:cNvPr id="7" name="Image 0" descr="Lock">    </p:cNvPr>
          <p:cNvPicPr>
            <a:picLocks noChangeAspect="1"/>
          </p:cNvPicPr>
          <p:nvPr/>
        </p:nvPicPr>
        <p:blipFill>
          <a:blip r:embed="rId1"/>
          <a:srcRect l="0" r="0" t="0" b="0"/>
          <a:stretch/>
        </p:blipFill>
        <p:spPr>
          <a:xfrm>
            <a:off x="1035791" y="2664023"/>
            <a:ext cx="304800" cy="304800"/>
          </a:xfrm>
          <a:prstGeom prst="rect">
            <a:avLst/>
          </a:prstGeom>
        </p:spPr>
      </p:pic>
      <p:sp>
        <p:nvSpPr>
          <p:cNvPr id="8" name="Text 5"/>
          <p:cNvSpPr/>
          <p:nvPr/>
        </p:nvSpPr>
        <p:spPr>
          <a:xfrm>
            <a:off x="1035791" y="3070423"/>
            <a:ext cx="306858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Certificats clients X.509</a:t>
            </a:r>
            <a:endParaRPr lang="en-US" sz="1600" dirty="0"/>
          </a:p>
        </p:txBody>
      </p:sp>
      <p:sp>
        <p:nvSpPr>
          <p:cNvPr id="9" name="Text 6"/>
          <p:cNvSpPr/>
          <p:nvPr/>
        </p:nvSpPr>
        <p:spPr>
          <a:xfrm>
            <a:off x="1035791" y="3426023"/>
            <a:ext cx="3068585" cy="494242"/>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F3C6B"/>
                </a:solidFill>
                <a:latin typeface="IBM Plex Sans" pitchFamily="34" charset="0"/>
                <a:ea typeface="IBM Plex Sans" pitchFamily="34" charset="-122"/>
                <a:cs typeface="IBM Plex Sans" pitchFamily="34" charset="-120"/>
              </a:rPr>
              <a:t>Le champ CN donne le nom d'utilisateur, le champ O ses groupes.</a:t>
            </a:r>
            <a:endParaRPr lang="en-US" sz="1300" dirty="0"/>
          </a:p>
        </p:txBody>
      </p:sp>
      <p:sp>
        <p:nvSpPr>
          <p:cNvPr id="10" name="Text 7"/>
          <p:cNvSpPr/>
          <p:nvPr/>
        </p:nvSpPr>
        <p:spPr>
          <a:xfrm>
            <a:off x="1035791" y="5396905"/>
            <a:ext cx="3068585"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6B6890"/>
                </a:solidFill>
                <a:latin typeface="IBM Plex Sans" pitchFamily="34" charset="0"/>
                <a:ea typeface="IBM Plex Sans" pitchFamily="34" charset="-122"/>
                <a:cs typeface="IBM Plex Sans" pitchFamily="34" charset="-120"/>
              </a:rPr>
              <a:t>C'est ce qu'utilise admin.conf.</a:t>
            </a:r>
            <a:endParaRPr lang="en-US" sz="1250" dirty="0"/>
          </a:p>
        </p:txBody>
      </p:sp>
      <p:sp>
        <p:nvSpPr>
          <p:cNvPr id="11" name="Shape 8"/>
          <p:cNvSpPr/>
          <p:nvPr/>
        </p:nvSpPr>
        <p:spPr>
          <a:xfrm>
            <a:off x="4390390" y="2440980"/>
            <a:ext cx="3411114" cy="3401060"/>
          </a:xfrm>
          <a:prstGeom prst="roundRect">
            <a:avLst>
              <a:gd name="adj" fmla="val 3734"/>
            </a:avLst>
          </a:prstGeom>
          <a:solidFill>
            <a:srgbClr val="0B0748"/>
          </a:solidFill>
          <a:ln/>
        </p:spPr>
      </p:sp>
      <p:pic>
        <p:nvPicPr>
          <p:cNvPr id="12" name="Image 1" descr="Users">    </p:cNvPr>
          <p:cNvPicPr>
            <a:picLocks noChangeAspect="1"/>
          </p:cNvPicPr>
          <p:nvPr/>
        </p:nvPicPr>
        <p:blipFill>
          <a:blip r:embed="rId2"/>
          <a:srcRect l="0" r="0" t="0" b="0"/>
          <a:stretch/>
        </p:blipFill>
        <p:spPr>
          <a:xfrm>
            <a:off x="4606290" y="2656880"/>
            <a:ext cx="304800" cy="304800"/>
          </a:xfrm>
          <a:prstGeom prst="rect">
            <a:avLst/>
          </a:prstGeom>
        </p:spPr>
      </p:pic>
      <p:sp>
        <p:nvSpPr>
          <p:cNvPr id="13" name="Text 9"/>
          <p:cNvSpPr/>
          <p:nvPr/>
        </p:nvSpPr>
        <p:spPr>
          <a:xfrm>
            <a:off x="4606290" y="3063280"/>
            <a:ext cx="306869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5F4F9"/>
                </a:solidFill>
                <a:latin typeface="Sora" pitchFamily="34" charset="0"/>
                <a:ea typeface="Sora" pitchFamily="34" charset="-122"/>
                <a:cs typeface="Sora" pitchFamily="34" charset="-120"/>
              </a:rPr>
              <a:t>Jetons OIDC</a:t>
            </a:r>
            <a:endParaRPr lang="en-US" sz="1600" dirty="0"/>
          </a:p>
        </p:txBody>
      </p:sp>
      <p:sp>
        <p:nvSpPr>
          <p:cNvPr id="14" name="Text 10"/>
          <p:cNvSpPr/>
          <p:nvPr/>
        </p:nvSpPr>
        <p:spPr>
          <a:xfrm>
            <a:off x="4606290" y="3418880"/>
            <a:ext cx="3068694" cy="494242"/>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ECEAFF"/>
                </a:solidFill>
                <a:latin typeface="IBM Plex Sans" pitchFamily="34" charset="0"/>
                <a:ea typeface="IBM Plex Sans" pitchFamily="34" charset="-122"/>
                <a:cs typeface="IBM Plex Sans" pitchFamily="34" charset="-120"/>
              </a:rPr>
              <a:t>Émis par un fournisseur d'identité : Keycloak, Microsoft Entra ID, Google.</a:t>
            </a:r>
            <a:endParaRPr lang="en-US" sz="1300" dirty="0"/>
          </a:p>
        </p:txBody>
      </p:sp>
      <p:sp>
        <p:nvSpPr>
          <p:cNvPr id="15" name="Text 11"/>
          <p:cNvSpPr/>
          <p:nvPr/>
        </p:nvSpPr>
        <p:spPr>
          <a:xfrm>
            <a:off x="4606290" y="4959350"/>
            <a:ext cx="3068694" cy="6921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FFB08F"/>
                </a:solidFill>
                <a:latin typeface="IBM Plex Sans" pitchFamily="34" charset="0"/>
                <a:ea typeface="IBM Plex Sans" pitchFamily="34" charset="-122"/>
                <a:cs typeface="IBM Plex Sans" pitchFamily="34" charset="-120"/>
              </a:rPr>
              <a:t>La solution recommandée pour les humains : elle s'appuie sur l'annuaire de l'organisation.</a:t>
            </a:r>
            <a:endParaRPr lang="en-US" sz="1250" dirty="0"/>
          </a:p>
        </p:txBody>
      </p:sp>
      <p:sp>
        <p:nvSpPr>
          <p:cNvPr id="16" name="Shape 12"/>
          <p:cNvSpPr/>
          <p:nvPr/>
        </p:nvSpPr>
        <p:spPr>
          <a:xfrm>
            <a:off x="7957079" y="2444155"/>
            <a:ext cx="3418946" cy="3394710"/>
          </a:xfrm>
          <a:prstGeom prst="roundRect">
            <a:avLst>
              <a:gd name="adj" fmla="val 3648"/>
            </a:avLst>
          </a:prstGeom>
          <a:solidFill>
            <a:srgbClr val="FDFDFF"/>
          </a:solidFill>
          <a:ln w="6350">
            <a:solidFill>
              <a:srgbClr val="E1DFEE"/>
            </a:solidFill>
            <a:prstDash val="solid"/>
          </a:ln>
        </p:spPr>
      </p:sp>
      <p:pic>
        <p:nvPicPr>
          <p:cNvPr id="17" name="Image 2" descr="Settings">    </p:cNvPr>
          <p:cNvPicPr>
            <a:picLocks noChangeAspect="1"/>
          </p:cNvPicPr>
          <p:nvPr/>
        </p:nvPicPr>
        <p:blipFill>
          <a:blip r:embed="rId3"/>
          <a:srcRect l="0" r="0" t="0" b="0"/>
          <a:stretch/>
        </p:blipFill>
        <p:spPr>
          <a:xfrm>
            <a:off x="8176895" y="2664023"/>
            <a:ext cx="304800" cy="304800"/>
          </a:xfrm>
          <a:prstGeom prst="rect">
            <a:avLst/>
          </a:prstGeom>
        </p:spPr>
      </p:pic>
      <p:sp>
        <p:nvSpPr>
          <p:cNvPr id="18" name="Text 13"/>
          <p:cNvSpPr/>
          <p:nvPr/>
        </p:nvSpPr>
        <p:spPr>
          <a:xfrm>
            <a:off x="8176895" y="3070423"/>
            <a:ext cx="306869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Jetons de ServiceAccount</a:t>
            </a:r>
            <a:endParaRPr lang="en-US" sz="1600" dirty="0"/>
          </a:p>
        </p:txBody>
      </p:sp>
      <p:sp>
        <p:nvSpPr>
          <p:cNvPr id="19" name="Text 14"/>
          <p:cNvSpPr/>
          <p:nvPr/>
        </p:nvSpPr>
        <p:spPr>
          <a:xfrm>
            <a:off x="8176895" y="3426023"/>
            <a:ext cx="3068694" cy="494242"/>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F3C6B"/>
                </a:solidFill>
                <a:latin typeface="IBM Plex Sans" pitchFamily="34" charset="0"/>
                <a:ea typeface="IBM Plex Sans" pitchFamily="34" charset="-122"/>
                <a:cs typeface="IBM Plex Sans" pitchFamily="34" charset="-120"/>
              </a:rPr>
              <a:t>L'identité des programmes qui tournent dans le cluster.</a:t>
            </a:r>
            <a:endParaRPr lang="en-US" sz="1300" dirty="0"/>
          </a:p>
        </p:txBody>
      </p:sp>
      <p:sp>
        <p:nvSpPr>
          <p:cNvPr id="20" name="Text 15"/>
          <p:cNvSpPr/>
          <p:nvPr/>
        </p:nvSpPr>
        <p:spPr>
          <a:xfrm>
            <a:off x="8176895" y="5396905"/>
            <a:ext cx="3068694"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6B6890"/>
                </a:solidFill>
                <a:latin typeface="IBM Plex Sans" pitchFamily="34" charset="0"/>
                <a:ea typeface="IBM Plex Sans" pitchFamily="34" charset="-122"/>
                <a:cs typeface="IBM Plex Sans" pitchFamily="34" charset="-120"/>
              </a:rPr>
              <a:t>Vus plus loin dans ce module.</a:t>
            </a:r>
            <a:endParaRPr lang="en-US" sz="1250" dirty="0"/>
          </a:p>
        </p:txBody>
      </p:sp>
      <p:pic>
        <p:nvPicPr>
          <p:cNvPr id="21" name="Image 3" descr="preencoded.png">    </p:cNvPr>
          <p:cNvPicPr>
            <a:picLocks noChangeAspect="1"/>
          </p:cNvPicPr>
          <p:nvPr/>
        </p:nvPicPr>
        <p:blipFill>
          <a:blip r:embed="rId4"/>
          <a:srcRect l="0" r="0" t="-35" b="-35"/>
          <a:stretch/>
        </p:blipFill>
        <p:spPr>
          <a:xfrm>
            <a:off x="812800" y="6299200"/>
            <a:ext cx="152400" cy="152506"/>
          </a:xfrm>
          <a:prstGeom prst="rect">
            <a:avLst/>
          </a:prstGeom>
        </p:spPr>
      </p:pic>
      <p:sp>
        <p:nvSpPr>
          <p:cNvPr id="22" name="Text 16"/>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3" name="Image 4" descr="Parcours : module 15 sur 16">    </p:cNvPr>
          <p:cNvPicPr>
            <a:picLocks noChangeAspect="1"/>
          </p:cNvPicPr>
          <p:nvPr/>
        </p:nvPicPr>
        <p:blipFill>
          <a:blip r:embed="rId5"/>
          <a:srcRect l="0" r="0" t="-35" b="-35"/>
          <a:stretch/>
        </p:blipFill>
        <p:spPr>
          <a:xfrm>
            <a:off x="9207500" y="6299200"/>
            <a:ext cx="2171700" cy="152506"/>
          </a:xfrm>
          <a:prstGeom prst="rect">
            <a:avLst/>
          </a:prstGeom>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Un certificat pour une personne</a:t>
            </a:r>
            <a:endParaRPr lang="en-US" sz="2800" dirty="0"/>
          </a:p>
        </p:txBody>
      </p:sp>
      <p:sp>
        <p:nvSpPr>
          <p:cNvPr id="4" name="Text 2"/>
          <p:cNvSpPr/>
          <p:nvPr/>
        </p:nvSpPr>
        <p:spPr>
          <a:xfrm>
            <a:off x="812800" y="1544340"/>
            <a:ext cx="7429500" cy="4297680"/>
          </a:xfrm>
          <a:prstGeom prst="roundRect">
            <a:avLst>
              <a:gd name="adj" fmla="val 2364"/>
            </a:avLst>
          </a:prstGeom>
          <a:solidFill>
            <a:srgbClr val="0B0748"/>
          </a:solidFill>
          <a:ln/>
        </p:spPr>
        <p:txBody>
          <a:bodyPr wrap="none" lIns="148042" tIns="97242" rIns="0" bIns="97242" rtlCol="0" anchor="ctr">
            <a:normAutofit/>
          </a:bodyPr>
          <a:lstStyle/>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openssl genrsa -out alice.key 2048</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openssl req -new -key alice.key -out alice.csr -subj "/CN=alice/O=equipe-diffusion"</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cat &lt;&lt;EOF | kubectl apply -f -</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apiVersion: certificates.k8s.io/v1</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kind: </a:t>
            </a:r>
            <a:r>
              <a:rPr lang="en-US" sz="1100" dirty="0">
                <a:solidFill>
                  <a:srgbClr val="FFB08F"/>
                </a:solidFill>
                <a:latin typeface="JetBrains Mono" pitchFamily="49" charset="0"/>
                <a:ea typeface="JetBrains Mono" pitchFamily="49" charset="-122"/>
                <a:cs typeface="JetBrains Mono" pitchFamily="49" charset="-120"/>
              </a:rPr>
              <a:t>CertificateSigningRequest</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name: alice</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spec:</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request: $(base64 -w0 &lt; alice.csr)</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signerName: kubernetes.io/kube-apiserver-client</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expirationSeconds: 2592000    </a:t>
            </a:r>
            <a:r>
              <a:rPr lang="en-US" sz="1100" dirty="0">
                <a:solidFill>
                  <a:srgbClr val="9A96D0"/>
                </a:solidFill>
                <a:latin typeface="JetBrains Mono" pitchFamily="49" charset="0"/>
                <a:ea typeface="JetBrains Mono" pitchFamily="49" charset="-122"/>
                <a:cs typeface="JetBrains Mono" pitchFamily="49" charset="-120"/>
              </a:rPr>
              <a:t># 30 jours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usages: ["client auth"]</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EOF</a:t>
            </a:r>
            <a:endParaRPr lang="en-US" sz="1100" dirty="0"/>
          </a:p>
          <a:p>
            <a:pPr algn="l" indent="0" marL="0">
              <a:lnSpc>
                <a:spcPts val="1540"/>
              </a:lnSpc>
              <a:buNone/>
            </a:pPr>
            <a:r>
              <a:rPr lang="en-US" sz="1100" dirty="0">
                <a:solidFill>
                  <a:srgbClr val="FFB08F"/>
                </a:solidFill>
                <a:latin typeface="JetBrains Mono" pitchFamily="49" charset="0"/>
                <a:ea typeface="JetBrains Mono" pitchFamily="49" charset="-122"/>
                <a:cs typeface="JetBrains Mono" pitchFamily="49" charset="-120"/>
              </a:rPr>
              <a:t>kubectl certificate approve alice</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kubectl get csr alice -o jsonpath='{.status.certificate}' | base64 -d &gt; alice.crt</a:t>
            </a:r>
            <a:endParaRPr lang="en-US" sz="1100" dirty="0"/>
          </a:p>
        </p:txBody>
      </p:sp>
      <p:sp>
        <p:nvSpPr>
          <p:cNvPr id="5" name="Text 3"/>
          <p:cNvSpPr/>
          <p:nvPr/>
        </p:nvSpPr>
        <p:spPr>
          <a:xfrm>
            <a:off x="8496300" y="2374900"/>
            <a:ext cx="296938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LES ÉTAPES</a:t>
            </a:r>
            <a:endParaRPr lang="en-US" sz="1200" dirty="0"/>
          </a:p>
        </p:txBody>
      </p:sp>
      <p:sp>
        <p:nvSpPr>
          <p:cNvPr id="6" name="Text 4"/>
          <p:cNvSpPr/>
          <p:nvPr/>
        </p:nvSpPr>
        <p:spPr>
          <a:xfrm>
            <a:off x="8496300" y="275332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0B0748"/>
          </a:solidFill>
          <a:ln/>
        </p:spPr>
        <p:txBody>
          <a:bodyPr wrap="square" lIns="0" tIns="0" rIns="0" bIns="0" rtlCol="0" anchor="t">
            <a:normAutofit/>
          </a:bodyPr>
          <a:lstStyle/>
          <a:p>
            <a:pPr algn="ctr" indent="0" marL="0">
              <a:lnSpc>
                <a:spcPts val="2600"/>
              </a:lnSpc>
              <a:buNone/>
            </a:pPr>
            <a:r>
              <a:rPr lang="en-US" sz="1300" b="1" dirty="0">
                <a:solidFill>
                  <a:srgbClr val="FDFDFF"/>
                </a:solidFill>
                <a:latin typeface="Sora" pitchFamily="34" charset="0"/>
                <a:ea typeface="Sora" pitchFamily="34" charset="-122"/>
                <a:cs typeface="Sora" pitchFamily="34" charset="-120"/>
              </a:rPr>
              <a:t>1</a:t>
            </a:r>
            <a:endParaRPr lang="en-US" sz="1300" dirty="0"/>
          </a:p>
        </p:txBody>
      </p:sp>
      <p:sp>
        <p:nvSpPr>
          <p:cNvPr id="7" name="Text 5"/>
          <p:cNvSpPr/>
          <p:nvPr/>
        </p:nvSpPr>
        <p:spPr>
          <a:xfrm>
            <a:off x="8940800" y="2753320"/>
            <a:ext cx="251155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Clé et demande</a:t>
            </a:r>
            <a:endParaRPr lang="en-US" sz="1400" dirty="0"/>
          </a:p>
        </p:txBody>
      </p:sp>
      <p:sp>
        <p:nvSpPr>
          <p:cNvPr id="8" name="Text 6"/>
          <p:cNvSpPr/>
          <p:nvPr/>
        </p:nvSpPr>
        <p:spPr>
          <a:xfrm>
            <a:off x="8940800" y="2988270"/>
            <a:ext cx="2511552"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890"/>
                </a:solidFill>
                <a:latin typeface="IBM Plex Sans" pitchFamily="34" charset="0"/>
                <a:ea typeface="IBM Plex Sans" pitchFamily="34" charset="-122"/>
                <a:cs typeface="IBM Plex Sans" pitchFamily="34" charset="-120"/>
              </a:rPr>
              <a:t>CN = alice, O = equipe-diffusion</a:t>
            </a:r>
            <a:endParaRPr lang="en-US" sz="1200" dirty="0"/>
          </a:p>
        </p:txBody>
      </p:sp>
      <p:sp>
        <p:nvSpPr>
          <p:cNvPr id="9" name="Text 7"/>
          <p:cNvSpPr/>
          <p:nvPr/>
        </p:nvSpPr>
        <p:spPr>
          <a:xfrm>
            <a:off x="8496300" y="335915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0B0748"/>
          </a:solidFill>
          <a:ln/>
        </p:spPr>
        <p:txBody>
          <a:bodyPr wrap="square" lIns="0" tIns="0" rIns="0" bIns="0" rtlCol="0" anchor="t">
            <a:normAutofit/>
          </a:bodyPr>
          <a:lstStyle/>
          <a:p>
            <a:pPr algn="ctr" indent="0" marL="0">
              <a:lnSpc>
                <a:spcPts val="2600"/>
              </a:lnSpc>
              <a:buNone/>
            </a:pPr>
            <a:r>
              <a:rPr lang="en-US" sz="1300" b="1" dirty="0">
                <a:solidFill>
                  <a:srgbClr val="FDFDFF"/>
                </a:solidFill>
                <a:latin typeface="Sora" pitchFamily="34" charset="0"/>
                <a:ea typeface="Sora" pitchFamily="34" charset="-122"/>
                <a:cs typeface="Sora" pitchFamily="34" charset="-120"/>
              </a:rPr>
              <a:t>2</a:t>
            </a:r>
            <a:endParaRPr lang="en-US" sz="1300" dirty="0"/>
          </a:p>
        </p:txBody>
      </p:sp>
      <p:sp>
        <p:nvSpPr>
          <p:cNvPr id="10" name="Text 8"/>
          <p:cNvSpPr/>
          <p:nvPr/>
        </p:nvSpPr>
        <p:spPr>
          <a:xfrm>
            <a:off x="8940800" y="3359150"/>
            <a:ext cx="251155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Soumise à l'API</a:t>
            </a:r>
            <a:endParaRPr lang="en-US" sz="1400" dirty="0"/>
          </a:p>
        </p:txBody>
      </p:sp>
      <p:sp>
        <p:nvSpPr>
          <p:cNvPr id="11" name="Text 9"/>
          <p:cNvSpPr/>
          <p:nvPr/>
        </p:nvSpPr>
        <p:spPr>
          <a:xfrm>
            <a:off x="8940800" y="3594100"/>
            <a:ext cx="2511552"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890"/>
                </a:solidFill>
                <a:latin typeface="IBM Plex Sans" pitchFamily="34" charset="0"/>
                <a:ea typeface="IBM Plex Sans" pitchFamily="34" charset="-122"/>
                <a:cs typeface="IBM Plex Sans" pitchFamily="34" charset="-120"/>
              </a:rPr>
              <a:t>de signature du cluster</a:t>
            </a:r>
            <a:endParaRPr lang="en-US" sz="1200" dirty="0"/>
          </a:p>
        </p:txBody>
      </p:sp>
      <p:sp>
        <p:nvSpPr>
          <p:cNvPr id="12" name="Text 10"/>
          <p:cNvSpPr/>
          <p:nvPr/>
        </p:nvSpPr>
        <p:spPr>
          <a:xfrm>
            <a:off x="8496300" y="396498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0B0748"/>
          </a:solidFill>
          <a:ln/>
        </p:spPr>
        <p:txBody>
          <a:bodyPr wrap="square" lIns="0" tIns="0" rIns="0" bIns="0" rtlCol="0" anchor="t">
            <a:normAutofit/>
          </a:bodyPr>
          <a:lstStyle/>
          <a:p>
            <a:pPr algn="ctr" indent="0" marL="0">
              <a:lnSpc>
                <a:spcPts val="2600"/>
              </a:lnSpc>
              <a:buNone/>
            </a:pPr>
            <a:r>
              <a:rPr lang="en-US" sz="1300" b="1" dirty="0">
                <a:solidFill>
                  <a:srgbClr val="FDFDFF"/>
                </a:solidFill>
                <a:latin typeface="Sora" pitchFamily="34" charset="0"/>
                <a:ea typeface="Sora" pitchFamily="34" charset="-122"/>
                <a:cs typeface="Sora" pitchFamily="34" charset="-120"/>
              </a:rPr>
              <a:t>3</a:t>
            </a:r>
            <a:endParaRPr lang="en-US" sz="1300" dirty="0"/>
          </a:p>
        </p:txBody>
      </p:sp>
      <p:sp>
        <p:nvSpPr>
          <p:cNvPr id="13" name="Text 11"/>
          <p:cNvSpPr/>
          <p:nvPr/>
        </p:nvSpPr>
        <p:spPr>
          <a:xfrm>
            <a:off x="8940800" y="3964980"/>
            <a:ext cx="251155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Approuvée</a:t>
            </a:r>
            <a:endParaRPr lang="en-US" sz="1400" dirty="0"/>
          </a:p>
        </p:txBody>
      </p:sp>
      <p:sp>
        <p:nvSpPr>
          <p:cNvPr id="14" name="Text 12"/>
          <p:cNvSpPr/>
          <p:nvPr/>
        </p:nvSpPr>
        <p:spPr>
          <a:xfrm>
            <a:off x="8940800" y="4199930"/>
            <a:ext cx="2511552"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890"/>
                </a:solidFill>
                <a:latin typeface="IBM Plex Sans" pitchFamily="34" charset="0"/>
                <a:ea typeface="IBM Plex Sans" pitchFamily="34" charset="-122"/>
                <a:cs typeface="IBM Plex Sans" pitchFamily="34" charset="-120"/>
              </a:rPr>
              <a:t>par un administrateur</a:t>
            </a:r>
            <a:endParaRPr lang="en-US" sz="1200" dirty="0"/>
          </a:p>
        </p:txBody>
      </p:sp>
      <p:sp>
        <p:nvSpPr>
          <p:cNvPr id="15" name="Text 13"/>
          <p:cNvSpPr/>
          <p:nvPr/>
        </p:nvSpPr>
        <p:spPr>
          <a:xfrm>
            <a:off x="8496300" y="457071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0B0748"/>
          </a:solidFill>
          <a:ln/>
        </p:spPr>
        <p:txBody>
          <a:bodyPr wrap="square" lIns="0" tIns="0" rIns="0" bIns="0" rtlCol="0" anchor="t">
            <a:normAutofit/>
          </a:bodyPr>
          <a:lstStyle/>
          <a:p>
            <a:pPr algn="ctr" indent="0" marL="0">
              <a:lnSpc>
                <a:spcPts val="2600"/>
              </a:lnSpc>
              <a:buNone/>
            </a:pPr>
            <a:r>
              <a:rPr lang="en-US" sz="1300" b="1" dirty="0">
                <a:solidFill>
                  <a:srgbClr val="FDFDFF"/>
                </a:solidFill>
                <a:latin typeface="Sora" pitchFamily="34" charset="0"/>
                <a:ea typeface="Sora" pitchFamily="34" charset="-122"/>
                <a:cs typeface="Sora" pitchFamily="34" charset="-120"/>
              </a:rPr>
              <a:t>4</a:t>
            </a:r>
            <a:endParaRPr lang="en-US" sz="1300" dirty="0"/>
          </a:p>
        </p:txBody>
      </p:sp>
      <p:sp>
        <p:nvSpPr>
          <p:cNvPr id="16" name="Text 14"/>
          <p:cNvSpPr/>
          <p:nvPr/>
        </p:nvSpPr>
        <p:spPr>
          <a:xfrm>
            <a:off x="8940800" y="4570710"/>
            <a:ext cx="251155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Certificat signé</a:t>
            </a:r>
            <a:endParaRPr lang="en-US" sz="1400" dirty="0"/>
          </a:p>
        </p:txBody>
      </p:sp>
      <p:sp>
        <p:nvSpPr>
          <p:cNvPr id="17" name="Text 15"/>
          <p:cNvSpPr/>
          <p:nvPr/>
        </p:nvSpPr>
        <p:spPr>
          <a:xfrm>
            <a:off x="8940800" y="4805660"/>
            <a:ext cx="2511552"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890"/>
                </a:solidFill>
                <a:latin typeface="IBM Plex Sans" pitchFamily="34" charset="0"/>
                <a:ea typeface="IBM Plex Sans" pitchFamily="34" charset="-122"/>
                <a:cs typeface="IBM Plex Sans" pitchFamily="34" charset="-120"/>
              </a:rPr>
              <a:t>récupéré dans alice.crt</a:t>
            </a:r>
            <a:endParaRPr lang="en-US" sz="1200" dirty="0"/>
          </a:p>
        </p:txBody>
      </p:sp>
      <p:pic>
        <p:nvPicPr>
          <p:cNvPr id="18"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9" name="Text 16"/>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0" name="Image 1" descr="Parcours : module 15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Autorisation RBAC : que pouvez-vous faire ?</a:t>
            </a:r>
            <a:endParaRPr lang="en-US" sz="2800" dirty="0"/>
          </a:p>
        </p:txBody>
      </p:sp>
      <p:sp>
        <p:nvSpPr>
          <p:cNvPr id="4" name="Text 2"/>
          <p:cNvSpPr/>
          <p:nvPr/>
        </p:nvSpPr>
        <p:spPr>
          <a:xfrm>
            <a:off x="812800" y="14808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RBAC n'accorde que des permissions : pas de règle d'interdiction. </a:t>
            </a:r>
            <a:r>
              <a:rPr lang="en-US" sz="1400" b="1" dirty="0">
                <a:solidFill>
                  <a:srgbClr val="0B0748"/>
                </a:solidFill>
                <a:latin typeface="IBM Plex Sans" pitchFamily="34" charset="0"/>
                <a:ea typeface="IBM Plex Sans" pitchFamily="34" charset="-122"/>
                <a:cs typeface="IBM Plex Sans" pitchFamily="34" charset="-120"/>
              </a:rPr>
              <a:t>Tout ce qui n'est pas explicitement permis est refusé.</a:t>
            </a:r>
            <a:endParaRPr lang="en-US" sz="1400" dirty="0"/>
          </a:p>
        </p:txBody>
      </p:sp>
      <p:sp>
        <p:nvSpPr>
          <p:cNvPr id="5" name="Text 3"/>
          <p:cNvSpPr/>
          <p:nvPr/>
        </p:nvSpPr>
        <p:spPr>
          <a:xfrm>
            <a:off x="812800" y="1869480"/>
            <a:ext cx="537629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DÉFINIT DES PERMISSIONS</a:t>
            </a:r>
            <a:endParaRPr lang="en-US" sz="1100" dirty="0"/>
          </a:p>
        </p:txBody>
      </p:sp>
      <p:sp>
        <p:nvSpPr>
          <p:cNvPr id="6" name="Text 4"/>
          <p:cNvSpPr/>
          <p:nvPr/>
        </p:nvSpPr>
        <p:spPr>
          <a:xfrm>
            <a:off x="6159500" y="1869480"/>
            <a:ext cx="537629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LES ACCORDE À DES SUJETS</a:t>
            </a:r>
            <a:endParaRPr lang="en-US" sz="1100" dirty="0"/>
          </a:p>
        </p:txBody>
      </p:sp>
      <p:sp>
        <p:nvSpPr>
          <p:cNvPr id="7" name="Text 5"/>
          <p:cNvSpPr/>
          <p:nvPr/>
        </p:nvSpPr>
        <p:spPr>
          <a:xfrm>
            <a:off x="812800" y="2801640"/>
            <a:ext cx="1447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Un namespace</a:t>
            </a:r>
            <a:endParaRPr lang="en-US" sz="1400" dirty="0"/>
          </a:p>
        </p:txBody>
      </p:sp>
      <p:sp>
        <p:nvSpPr>
          <p:cNvPr id="8" name="Shape 6"/>
          <p:cNvSpPr/>
          <p:nvPr/>
        </p:nvSpPr>
        <p:spPr>
          <a:xfrm>
            <a:off x="2339975" y="2208113"/>
            <a:ext cx="4458441" cy="1409700"/>
          </a:xfrm>
          <a:prstGeom prst="roundRect">
            <a:avLst>
              <a:gd name="adj" fmla="val 7883"/>
            </a:avLst>
          </a:prstGeom>
          <a:solidFill>
            <a:srgbClr val="FDFDFF"/>
          </a:solidFill>
          <a:ln w="6350">
            <a:solidFill>
              <a:srgbClr val="E1DFEE"/>
            </a:solidFill>
            <a:prstDash val="solid"/>
          </a:ln>
        </p:spPr>
      </p:sp>
      <p:sp>
        <p:nvSpPr>
          <p:cNvPr id="9" name="Text 7"/>
          <p:cNvSpPr/>
          <p:nvPr/>
        </p:nvSpPr>
        <p:spPr>
          <a:xfrm>
            <a:off x="2521691" y="2364284"/>
            <a:ext cx="42178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JetBrains Mono" pitchFamily="49" charset="0"/>
                <a:ea typeface="JetBrains Mono" pitchFamily="49" charset="-122"/>
                <a:cs typeface="JetBrains Mono" pitchFamily="49" charset="-120"/>
              </a:rPr>
              <a:t>Role</a:t>
            </a:r>
            <a:endParaRPr lang="en-US" sz="1500" dirty="0"/>
          </a:p>
        </p:txBody>
      </p:sp>
      <p:sp>
        <p:nvSpPr>
          <p:cNvPr id="10" name="Text 8"/>
          <p:cNvSpPr/>
          <p:nvPr/>
        </p:nvSpPr>
        <p:spPr>
          <a:xfrm>
            <a:off x="2521691" y="2681784"/>
            <a:ext cx="4217859" cy="235691"/>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Liste de permissions : verbes × ressources</a:t>
            </a:r>
            <a:endParaRPr lang="en-US" sz="1200" dirty="0"/>
          </a:p>
        </p:txBody>
      </p:sp>
      <p:sp>
        <p:nvSpPr>
          <p:cNvPr id="11" name="Shape 9"/>
          <p:cNvSpPr/>
          <p:nvPr/>
        </p:nvSpPr>
        <p:spPr>
          <a:xfrm>
            <a:off x="6928591" y="2204938"/>
            <a:ext cx="4450609" cy="1416050"/>
          </a:xfrm>
          <a:prstGeom prst="roundRect">
            <a:avLst>
              <a:gd name="adj" fmla="val 8072"/>
            </a:avLst>
          </a:prstGeom>
          <a:solidFill>
            <a:srgbClr val="0B0748"/>
          </a:solidFill>
          <a:ln/>
        </p:spPr>
      </p:sp>
      <p:sp>
        <p:nvSpPr>
          <p:cNvPr id="12" name="Text 10"/>
          <p:cNvSpPr/>
          <p:nvPr/>
        </p:nvSpPr>
        <p:spPr>
          <a:xfrm>
            <a:off x="7106391" y="2357140"/>
            <a:ext cx="42178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8F66"/>
                </a:solidFill>
                <a:latin typeface="JetBrains Mono" pitchFamily="49" charset="0"/>
                <a:ea typeface="JetBrains Mono" pitchFamily="49" charset="-122"/>
                <a:cs typeface="JetBrains Mono" pitchFamily="49" charset="-120"/>
              </a:rPr>
              <a:t>RoleBinding</a:t>
            </a:r>
            <a:endParaRPr lang="en-US" sz="1500" dirty="0"/>
          </a:p>
        </p:txBody>
      </p:sp>
      <p:sp>
        <p:nvSpPr>
          <p:cNvPr id="13" name="Text 11"/>
          <p:cNvSpPr/>
          <p:nvPr/>
        </p:nvSpPr>
        <p:spPr>
          <a:xfrm>
            <a:off x="7106391" y="2674640"/>
            <a:ext cx="4217859" cy="235691"/>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ECEAFF"/>
                </a:solidFill>
                <a:latin typeface="IBM Plex Sans" pitchFamily="34" charset="0"/>
                <a:ea typeface="IBM Plex Sans" pitchFamily="34" charset="-122"/>
                <a:cs typeface="IBM Plex Sans" pitchFamily="34" charset="-120"/>
              </a:rPr>
              <a:t>Accorde un Role ou un ClusterRole, dans ce namespace</a:t>
            </a:r>
            <a:endParaRPr lang="en-US" sz="1200" dirty="0"/>
          </a:p>
        </p:txBody>
      </p:sp>
      <p:sp>
        <p:nvSpPr>
          <p:cNvPr id="14" name="Text 12"/>
          <p:cNvSpPr/>
          <p:nvPr/>
        </p:nvSpPr>
        <p:spPr>
          <a:xfrm>
            <a:off x="812800" y="4357390"/>
            <a:ext cx="1447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Tout le cluster</a:t>
            </a:r>
            <a:endParaRPr lang="en-US" sz="1400" dirty="0"/>
          </a:p>
        </p:txBody>
      </p:sp>
      <p:sp>
        <p:nvSpPr>
          <p:cNvPr id="15" name="Shape 13"/>
          <p:cNvSpPr/>
          <p:nvPr/>
        </p:nvSpPr>
        <p:spPr>
          <a:xfrm>
            <a:off x="2339975" y="3763665"/>
            <a:ext cx="4458441" cy="1409700"/>
          </a:xfrm>
          <a:prstGeom prst="roundRect">
            <a:avLst>
              <a:gd name="adj" fmla="val 7883"/>
            </a:avLst>
          </a:prstGeom>
          <a:solidFill>
            <a:srgbClr val="FDFDFF"/>
          </a:solidFill>
          <a:ln w="6350">
            <a:solidFill>
              <a:srgbClr val="E1DFEE"/>
            </a:solidFill>
            <a:prstDash val="solid"/>
          </a:ln>
        </p:spPr>
      </p:sp>
      <p:sp>
        <p:nvSpPr>
          <p:cNvPr id="16" name="Text 14"/>
          <p:cNvSpPr/>
          <p:nvPr/>
        </p:nvSpPr>
        <p:spPr>
          <a:xfrm>
            <a:off x="2521691" y="3920034"/>
            <a:ext cx="42178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JetBrains Mono" pitchFamily="49" charset="0"/>
                <a:ea typeface="JetBrains Mono" pitchFamily="49" charset="-122"/>
                <a:cs typeface="JetBrains Mono" pitchFamily="49" charset="-120"/>
              </a:rPr>
              <a:t>ClusterRole</a:t>
            </a:r>
            <a:endParaRPr lang="en-US" sz="1500" dirty="0"/>
          </a:p>
        </p:txBody>
      </p:sp>
      <p:sp>
        <p:nvSpPr>
          <p:cNvPr id="17" name="Text 15"/>
          <p:cNvSpPr/>
          <p:nvPr/>
        </p:nvSpPr>
        <p:spPr>
          <a:xfrm>
            <a:off x="2521691" y="4237335"/>
            <a:ext cx="4217859" cy="445982"/>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Idem, pour tout le cluster ou réutilisable dans chaque namespace</a:t>
            </a:r>
            <a:endParaRPr lang="en-US" sz="1200" dirty="0"/>
          </a:p>
        </p:txBody>
      </p:sp>
      <p:sp>
        <p:nvSpPr>
          <p:cNvPr id="18" name="Shape 16"/>
          <p:cNvSpPr/>
          <p:nvPr/>
        </p:nvSpPr>
        <p:spPr>
          <a:xfrm>
            <a:off x="6928591" y="3760490"/>
            <a:ext cx="4450609" cy="1416050"/>
          </a:xfrm>
          <a:prstGeom prst="roundRect">
            <a:avLst>
              <a:gd name="adj" fmla="val 8072"/>
            </a:avLst>
          </a:prstGeom>
          <a:solidFill>
            <a:srgbClr val="0B0748"/>
          </a:solidFill>
          <a:ln/>
        </p:spPr>
      </p:sp>
      <p:sp>
        <p:nvSpPr>
          <p:cNvPr id="19" name="Text 17"/>
          <p:cNvSpPr/>
          <p:nvPr/>
        </p:nvSpPr>
        <p:spPr>
          <a:xfrm>
            <a:off x="7106391" y="3912890"/>
            <a:ext cx="42178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8F66"/>
                </a:solidFill>
                <a:latin typeface="JetBrains Mono" pitchFamily="49" charset="0"/>
                <a:ea typeface="JetBrains Mono" pitchFamily="49" charset="-122"/>
                <a:cs typeface="JetBrains Mono" pitchFamily="49" charset="-120"/>
              </a:rPr>
              <a:t>ClusterRoleBinding</a:t>
            </a:r>
            <a:endParaRPr lang="en-US" sz="1500" dirty="0"/>
          </a:p>
        </p:txBody>
      </p:sp>
      <p:sp>
        <p:nvSpPr>
          <p:cNvPr id="20" name="Text 18"/>
          <p:cNvSpPr/>
          <p:nvPr/>
        </p:nvSpPr>
        <p:spPr>
          <a:xfrm>
            <a:off x="7106391" y="4230390"/>
            <a:ext cx="4217859" cy="235691"/>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ECEAFF"/>
                </a:solidFill>
                <a:latin typeface="IBM Plex Sans" pitchFamily="34" charset="0"/>
                <a:ea typeface="IBM Plex Sans" pitchFamily="34" charset="-122"/>
                <a:cs typeface="IBM Plex Sans" pitchFamily="34" charset="-120"/>
              </a:rPr>
              <a:t>Accorde un ClusterRole, partout</a:t>
            </a:r>
            <a:endParaRPr lang="en-US" sz="1200" dirty="0"/>
          </a:p>
        </p:txBody>
      </p:sp>
      <p:sp>
        <p:nvSpPr>
          <p:cNvPr id="21" name="Text 19"/>
          <p:cNvSpPr/>
          <p:nvPr/>
        </p:nvSpPr>
        <p:spPr>
          <a:xfrm>
            <a:off x="812800" y="5316240"/>
            <a:ext cx="160464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VERBES DE LECTURE</a:t>
            </a:r>
            <a:endParaRPr lang="en-US" sz="1000" dirty="0"/>
          </a:p>
        </p:txBody>
      </p:sp>
      <p:sp>
        <p:nvSpPr>
          <p:cNvPr id="22" name="Text 20"/>
          <p:cNvSpPr/>
          <p:nvPr/>
        </p:nvSpPr>
        <p:spPr>
          <a:xfrm>
            <a:off x="812800" y="5544840"/>
            <a:ext cx="427249"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get</a:t>
            </a:r>
            <a:endParaRPr lang="en-US" sz="1100" dirty="0"/>
          </a:p>
        </p:txBody>
      </p:sp>
      <p:sp>
        <p:nvSpPr>
          <p:cNvPr id="23" name="Text 21"/>
          <p:cNvSpPr/>
          <p:nvPr/>
        </p:nvSpPr>
        <p:spPr>
          <a:xfrm>
            <a:off x="1290849" y="5544840"/>
            <a:ext cx="417618"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list</a:t>
            </a:r>
            <a:endParaRPr lang="en-US" sz="1100" dirty="0"/>
          </a:p>
        </p:txBody>
      </p:sp>
      <p:sp>
        <p:nvSpPr>
          <p:cNvPr id="24" name="Text 22"/>
          <p:cNvSpPr/>
          <p:nvPr/>
        </p:nvSpPr>
        <p:spPr>
          <a:xfrm>
            <a:off x="1759267" y="5544840"/>
            <a:ext cx="607377"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watch</a:t>
            </a:r>
            <a:endParaRPr lang="en-US" sz="1100" dirty="0"/>
          </a:p>
        </p:txBody>
      </p:sp>
      <p:sp>
        <p:nvSpPr>
          <p:cNvPr id="25" name="Text 23"/>
          <p:cNvSpPr/>
          <p:nvPr/>
        </p:nvSpPr>
        <p:spPr>
          <a:xfrm>
            <a:off x="2595245" y="5316240"/>
            <a:ext cx="4063940"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VERBES D'ÉCRITURE</a:t>
            </a:r>
            <a:endParaRPr lang="en-US" sz="1000" dirty="0"/>
          </a:p>
        </p:txBody>
      </p:sp>
      <p:sp>
        <p:nvSpPr>
          <p:cNvPr id="26" name="Text 24"/>
          <p:cNvSpPr/>
          <p:nvPr/>
        </p:nvSpPr>
        <p:spPr>
          <a:xfrm>
            <a:off x="2595245" y="5544840"/>
            <a:ext cx="626004"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create</a:t>
            </a:r>
            <a:endParaRPr lang="en-US" sz="1100" dirty="0"/>
          </a:p>
        </p:txBody>
      </p:sp>
      <p:sp>
        <p:nvSpPr>
          <p:cNvPr id="27" name="Text 25"/>
          <p:cNvSpPr/>
          <p:nvPr/>
        </p:nvSpPr>
        <p:spPr>
          <a:xfrm>
            <a:off x="3272049" y="5544840"/>
            <a:ext cx="669925"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update</a:t>
            </a:r>
            <a:endParaRPr lang="en-US" sz="1100" dirty="0"/>
          </a:p>
        </p:txBody>
      </p:sp>
      <p:sp>
        <p:nvSpPr>
          <p:cNvPr id="28" name="Text 26"/>
          <p:cNvSpPr/>
          <p:nvPr/>
        </p:nvSpPr>
        <p:spPr>
          <a:xfrm>
            <a:off x="3992774" y="5544840"/>
            <a:ext cx="582401"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patch</a:t>
            </a:r>
            <a:endParaRPr lang="en-US" sz="1100" dirty="0"/>
          </a:p>
        </p:txBody>
      </p:sp>
      <p:sp>
        <p:nvSpPr>
          <p:cNvPr id="29" name="Text 27"/>
          <p:cNvSpPr/>
          <p:nvPr/>
        </p:nvSpPr>
        <p:spPr>
          <a:xfrm>
            <a:off x="4625975" y="5544840"/>
            <a:ext cx="626322"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delete</a:t>
            </a:r>
            <a:endParaRPr lang="en-US" sz="1100" dirty="0"/>
          </a:p>
        </p:txBody>
      </p:sp>
      <p:sp>
        <p:nvSpPr>
          <p:cNvPr id="30" name="Text 28"/>
          <p:cNvSpPr/>
          <p:nvPr/>
        </p:nvSpPr>
        <p:spPr>
          <a:xfrm>
            <a:off x="5303096" y="5544840"/>
            <a:ext cx="1237721"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deletecollection</a:t>
            </a:r>
            <a:endParaRPr lang="en-US" sz="1100" dirty="0"/>
          </a:p>
        </p:txBody>
      </p:sp>
      <p:sp>
        <p:nvSpPr>
          <p:cNvPr id="31" name="Text 29"/>
          <p:cNvSpPr/>
          <p:nvPr/>
        </p:nvSpPr>
        <p:spPr>
          <a:xfrm>
            <a:off x="6769418" y="5316240"/>
            <a:ext cx="2512315"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SUJETS</a:t>
            </a:r>
            <a:endParaRPr lang="en-US" sz="1000" dirty="0"/>
          </a:p>
        </p:txBody>
      </p:sp>
      <p:sp>
        <p:nvSpPr>
          <p:cNvPr id="32" name="Text 30"/>
          <p:cNvSpPr/>
          <p:nvPr/>
        </p:nvSpPr>
        <p:spPr>
          <a:xfrm>
            <a:off x="6769418" y="5544840"/>
            <a:ext cx="519324"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User</a:t>
            </a:r>
            <a:endParaRPr lang="en-US" sz="1100" dirty="0"/>
          </a:p>
        </p:txBody>
      </p:sp>
      <p:sp>
        <p:nvSpPr>
          <p:cNvPr id="33" name="Text 31"/>
          <p:cNvSpPr/>
          <p:nvPr/>
        </p:nvSpPr>
        <p:spPr>
          <a:xfrm>
            <a:off x="7339542" y="5544840"/>
            <a:ext cx="614892"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Group</a:t>
            </a:r>
            <a:endParaRPr lang="en-US" sz="1100" dirty="0"/>
          </a:p>
        </p:txBody>
      </p:sp>
      <p:sp>
        <p:nvSpPr>
          <p:cNvPr id="34" name="Text 32"/>
          <p:cNvSpPr/>
          <p:nvPr/>
        </p:nvSpPr>
        <p:spPr>
          <a:xfrm>
            <a:off x="8005233" y="5544840"/>
            <a:ext cx="1203325" cy="297180"/>
          </a:xfrm>
          <a:prstGeom prst="roundRect">
            <a:avLst>
              <a:gd name="adj" fmla="val 50000"/>
            </a:avLst>
          </a:prstGeom>
          <a:solidFill>
            <a:srgbClr val="ECEAF6"/>
          </a:solidFill>
          <a:ln/>
        </p:spPr>
        <p:txBody>
          <a:bodyPr wrap="none" lIns="0" tIns="0" rIns="0" bIns="0" rtlCol="0" anchor="ctr">
            <a:normAutofit/>
          </a:bodyPr>
          <a:lstStyle/>
          <a:p>
            <a:pPr algn="ctr" indent="0" marL="0">
              <a:lnSpc>
                <a:spcPts val="1540"/>
              </a:lnSpc>
              <a:buNone/>
            </a:pPr>
            <a:r>
              <a:rPr lang="en-US" sz="1100" dirty="0">
                <a:solidFill>
                  <a:srgbClr val="0B0748"/>
                </a:solidFill>
                <a:latin typeface="IBM Plex Sans" pitchFamily="34" charset="0"/>
                <a:ea typeface="IBM Plex Sans" pitchFamily="34" charset="-122"/>
                <a:cs typeface="IBM Plex Sans" pitchFamily="34" charset="-120"/>
              </a:rPr>
              <a:t>ServiceAccount</a:t>
            </a:r>
            <a:endParaRPr lang="en-US" sz="1100" dirty="0"/>
          </a:p>
        </p:txBody>
      </p:sp>
      <p:pic>
        <p:nvPicPr>
          <p:cNvPr id="35"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36" name="Text 33"/>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7" name="Image 1" descr="Parcours : module 15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Un Role et son RoleBinding</a:t>
            </a:r>
            <a:endParaRPr lang="en-US" sz="2800" dirty="0"/>
          </a:p>
        </p:txBody>
      </p:sp>
      <p:sp>
        <p:nvSpPr>
          <p:cNvPr id="4" name="Text 2"/>
          <p:cNvSpPr/>
          <p:nvPr/>
        </p:nvSpPr>
        <p:spPr>
          <a:xfrm>
            <a:off x="812800" y="1544340"/>
            <a:ext cx="648817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LE ROLE : QUOI</a:t>
            </a:r>
            <a:endParaRPr lang="en-US" sz="1200" dirty="0"/>
          </a:p>
        </p:txBody>
      </p:sp>
      <p:sp>
        <p:nvSpPr>
          <p:cNvPr id="5" name="Text 3"/>
          <p:cNvSpPr/>
          <p:nvPr/>
        </p:nvSpPr>
        <p:spPr>
          <a:xfrm>
            <a:off x="812800" y="1846560"/>
            <a:ext cx="6299200" cy="2600960"/>
          </a:xfrm>
          <a:prstGeom prst="roundRect">
            <a:avLst>
              <a:gd name="adj" fmla="val 3906"/>
            </a:avLst>
          </a:prstGeom>
          <a:solidFill>
            <a:srgbClr val="0B0748"/>
          </a:solidFill>
          <a:ln/>
        </p:spPr>
        <p:txBody>
          <a:bodyPr wrap="none" lIns="135342" tIns="84542" rIns="0" bIns="84542" rtlCol="0" anchor="ctr">
            <a:normAutofit/>
          </a:bodyPr>
          <a:lstStyle/>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apiVersion: rbac.authorization.k8s.io/v1</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kind: </a:t>
            </a:r>
            <a:r>
              <a:rPr lang="en-US" sz="1100" dirty="0">
                <a:solidFill>
                  <a:srgbClr val="FFB08F"/>
                </a:solidFill>
                <a:latin typeface="JetBrains Mono" pitchFamily="49" charset="0"/>
                <a:ea typeface="JetBrains Mono" pitchFamily="49" charset="-122"/>
                <a:cs typeface="JetBrains Mono" pitchFamily="49" charset="-120"/>
              </a:rPr>
              <a:t>Role</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name: lecture</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namespace: fil-rouge</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rules: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apiGroups: [""]  </a:t>
            </a:r>
            <a:r>
              <a:rPr lang="en-US" sz="1100" dirty="0">
                <a:solidFill>
                  <a:srgbClr val="9A96D0"/>
                </a:solidFill>
                <a:latin typeface="JetBrains Mono" pitchFamily="49" charset="0"/>
                <a:ea typeface="JetBrains Mono" pitchFamily="49" charset="-122"/>
                <a:cs typeface="JetBrains Mono" pitchFamily="49" charset="-120"/>
              </a:rPr>
              <a:t># "" = groupe core (pods, services)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resources: ["pods", "pods/log", "services"]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verbs: ["get", "list", "watch"]</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apiGroups: ["apps"]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resources: ["deployments"]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verbs: ["get", "list", "watch"]</a:t>
            </a:r>
            <a:endParaRPr lang="en-US" sz="1100" dirty="0"/>
          </a:p>
        </p:txBody>
      </p:sp>
      <p:sp>
        <p:nvSpPr>
          <p:cNvPr id="6" name="Text 4"/>
          <p:cNvSpPr/>
          <p:nvPr/>
        </p:nvSpPr>
        <p:spPr>
          <a:xfrm>
            <a:off x="812800" y="4536678"/>
            <a:ext cx="6488176"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Lecture des pods, de leurs logs, des Services et des Deployments, dans fil-rouge.</a:t>
            </a:r>
            <a:endParaRPr lang="en-US" sz="1250" dirty="0"/>
          </a:p>
        </p:txBody>
      </p:sp>
      <p:sp>
        <p:nvSpPr>
          <p:cNvPr id="7" name="Text 5"/>
          <p:cNvSpPr/>
          <p:nvPr/>
        </p:nvSpPr>
        <p:spPr>
          <a:xfrm>
            <a:off x="7315200" y="1544340"/>
            <a:ext cx="4185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LE ROLEBINDING : À QUI</a:t>
            </a:r>
            <a:endParaRPr lang="en-US" sz="1200" dirty="0"/>
          </a:p>
        </p:txBody>
      </p:sp>
      <p:sp>
        <p:nvSpPr>
          <p:cNvPr id="8" name="Text 6"/>
          <p:cNvSpPr/>
          <p:nvPr/>
        </p:nvSpPr>
        <p:spPr>
          <a:xfrm>
            <a:off x="7315200" y="1846560"/>
            <a:ext cx="4064000" cy="3995420"/>
          </a:xfrm>
          <a:prstGeom prst="roundRect">
            <a:avLst>
              <a:gd name="adj" fmla="val 2543"/>
            </a:avLst>
          </a:prstGeom>
          <a:solidFill>
            <a:srgbClr val="0B0748"/>
          </a:solidFill>
          <a:ln/>
        </p:spPr>
        <p:txBody>
          <a:bodyPr wrap="none" lIns="135342" tIns="97242" rIns="23328" bIns="97242" rtlCol="0" anchor="ctr">
            <a:normAutofit/>
          </a:bodyPr>
          <a:lstStyle/>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apiVersion: rbac.authorization.k8s.io/v1</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kind: </a:t>
            </a:r>
            <a:r>
              <a:rPr lang="en-US" sz="1100" dirty="0">
                <a:solidFill>
                  <a:srgbClr val="FFB08F"/>
                </a:solidFill>
                <a:latin typeface="JetBrains Mono" pitchFamily="49" charset="0"/>
                <a:ea typeface="JetBrains Mono" pitchFamily="49" charset="-122"/>
                <a:cs typeface="JetBrains Mono" pitchFamily="49" charset="-120"/>
              </a:rPr>
              <a:t>RoleBinding</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name: equipe-diffusion-lecture</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namespace: fil-rouge</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subjects:</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kind: Group</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name: equipe-diffusion</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apiGroup: rbac.authorization.k8s.io</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kind: ServiceAccount</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name: lecteur</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namespace: fil-rouge</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roleRef:</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kind: Role</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name: lecture</a:t>
            </a:r>
            <a:endParaRPr lang="en-US" sz="1100" dirty="0"/>
          </a:p>
          <a:p>
            <a:pPr algn="l" indent="0" marL="0">
              <a:lnSpc>
                <a:spcPts val="1474"/>
              </a:lnSpc>
              <a:buNone/>
            </a:pPr>
            <a:r>
              <a:rPr lang="en-US" sz="1100" dirty="0">
                <a:solidFill>
                  <a:srgbClr val="ECEAFF"/>
                </a:solidFill>
                <a:latin typeface="JetBrains Mono" pitchFamily="49" charset="0"/>
                <a:ea typeface="JetBrains Mono" pitchFamily="49" charset="-122"/>
                <a:cs typeface="JetBrains Mono" pitchFamily="49" charset="-120"/>
              </a:rPr>
              <a:t>  apiGroup: rbac.authorization.k8s.io</a:t>
            </a:r>
            <a:endParaRPr lang="en-US" sz="1100" dirty="0"/>
          </a:p>
        </p:txBody>
      </p:sp>
      <p:pic>
        <p:nvPicPr>
          <p:cNvPr id="9"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0" name="Text 7"/>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1" name="Image 1" descr="Parcours : module 15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Déléguer un namespace</a:t>
            </a:r>
            <a:endParaRPr lang="en-US" sz="2800" dirty="0"/>
          </a:p>
        </p:txBody>
      </p:sp>
      <p:sp>
        <p:nvSpPr>
          <p:cNvPr id="4" name="Text 2"/>
          <p:cNvSpPr/>
          <p:nvPr/>
        </p:nvSpPr>
        <p:spPr>
          <a:xfrm>
            <a:off x="812800" y="1506240"/>
            <a:ext cx="10883392"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B0748"/>
                </a:solidFill>
                <a:latin typeface="IBM Plex Sans" pitchFamily="34" charset="0"/>
                <a:ea typeface="IBM Plex Sans" pitchFamily="34" charset="-122"/>
                <a:cs typeface="IBM Plex Sans" pitchFamily="34" charset="-120"/>
              </a:rPr>
              <a:t>Quatre ClusterRoles prêts à l'emploi. Accordés </a:t>
            </a:r>
            <a:r>
              <a:rPr lang="en-US" sz="1350" b="1" dirty="0">
                <a:solidFill>
                  <a:srgbClr val="0B0748"/>
                </a:solidFill>
                <a:latin typeface="IBM Plex Sans" pitchFamily="34" charset="0"/>
                <a:ea typeface="IBM Plex Sans" pitchFamily="34" charset="-122"/>
                <a:cs typeface="IBM Plex Sans" pitchFamily="34" charset="-120"/>
              </a:rPr>
              <a:t>par un RoleBinding</a:t>
            </a:r>
            <a:r>
              <a:rPr lang="en-US" sz="1350" dirty="0">
                <a:solidFill>
                  <a:srgbClr val="0B0748"/>
                </a:solidFill>
                <a:latin typeface="IBM Plex Sans" pitchFamily="34" charset="0"/>
                <a:ea typeface="IBM Plex Sans" pitchFamily="34" charset="-122"/>
                <a:cs typeface="IBM Plex Sans" pitchFamily="34" charset="-120"/>
              </a:rPr>
              <a:t>, ils sont limités à un namespace : le modèle courant pour déléguer un namespace à une équipe.</a:t>
            </a:r>
            <a:endParaRPr lang="en-US" sz="1350" dirty="0"/>
          </a:p>
        </p:txBody>
      </p:sp>
      <p:sp>
        <p:nvSpPr>
          <p:cNvPr id="5" name="Shape 3"/>
          <p:cNvSpPr/>
          <p:nvPr/>
        </p:nvSpPr>
        <p:spPr>
          <a:xfrm>
            <a:off x="812800" y="2151360"/>
            <a:ext cx="2565400" cy="1013460"/>
          </a:xfrm>
          <a:prstGeom prst="roundRect">
            <a:avLst>
              <a:gd name="adj" fmla="val 11278"/>
            </a:avLst>
          </a:prstGeom>
          <a:solidFill>
            <a:srgbClr val="ECEAF6"/>
          </a:solidFill>
          <a:ln/>
        </p:spPr>
      </p:sp>
      <p:sp>
        <p:nvSpPr>
          <p:cNvPr id="6" name="Text 4"/>
          <p:cNvSpPr/>
          <p:nvPr/>
        </p:nvSpPr>
        <p:spPr>
          <a:xfrm>
            <a:off x="977900" y="2291060"/>
            <a:ext cx="230225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JetBrains Mono" pitchFamily="49" charset="0"/>
                <a:ea typeface="JetBrains Mono" pitchFamily="49" charset="-122"/>
                <a:cs typeface="JetBrains Mono" pitchFamily="49" charset="-120"/>
              </a:rPr>
              <a:t>view</a:t>
            </a:r>
            <a:endParaRPr lang="en-US" sz="1600" dirty="0"/>
          </a:p>
        </p:txBody>
      </p:sp>
      <p:sp>
        <p:nvSpPr>
          <p:cNvPr id="7" name="Text 5"/>
          <p:cNvSpPr/>
          <p:nvPr/>
        </p:nvSpPr>
        <p:spPr>
          <a:xfrm>
            <a:off x="977900" y="2613918"/>
            <a:ext cx="230225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B0748"/>
                </a:solidFill>
                <a:latin typeface="IBM Plex Sans" pitchFamily="34" charset="0"/>
                <a:ea typeface="IBM Plex Sans" pitchFamily="34" charset="-122"/>
                <a:cs typeface="IBM Plex Sans" pitchFamily="34" charset="-120"/>
              </a:rPr>
              <a:t>Lecture, sans les Secrets</a:t>
            </a:r>
            <a:endParaRPr lang="en-US" sz="1200" dirty="0"/>
          </a:p>
        </p:txBody>
      </p:sp>
      <p:sp>
        <p:nvSpPr>
          <p:cNvPr id="8" name="Shape 6"/>
          <p:cNvSpPr/>
          <p:nvPr/>
        </p:nvSpPr>
        <p:spPr>
          <a:xfrm>
            <a:off x="3479800" y="2151360"/>
            <a:ext cx="2565400" cy="1013460"/>
          </a:xfrm>
          <a:prstGeom prst="roundRect">
            <a:avLst>
              <a:gd name="adj" fmla="val 11278"/>
            </a:avLst>
          </a:prstGeom>
          <a:solidFill>
            <a:srgbClr val="DAD7EF"/>
          </a:solidFill>
          <a:ln/>
        </p:spPr>
      </p:sp>
      <p:sp>
        <p:nvSpPr>
          <p:cNvPr id="9" name="Text 7"/>
          <p:cNvSpPr/>
          <p:nvPr/>
        </p:nvSpPr>
        <p:spPr>
          <a:xfrm>
            <a:off x="3644900" y="2291060"/>
            <a:ext cx="230225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JetBrains Mono" pitchFamily="49" charset="0"/>
                <a:ea typeface="JetBrains Mono" pitchFamily="49" charset="-122"/>
                <a:cs typeface="JetBrains Mono" pitchFamily="49" charset="-120"/>
              </a:rPr>
              <a:t>edit</a:t>
            </a:r>
            <a:endParaRPr lang="en-US" sz="1600" dirty="0"/>
          </a:p>
        </p:txBody>
      </p:sp>
      <p:sp>
        <p:nvSpPr>
          <p:cNvPr id="10" name="Text 8"/>
          <p:cNvSpPr/>
          <p:nvPr/>
        </p:nvSpPr>
        <p:spPr>
          <a:xfrm>
            <a:off x="3644900" y="2613918"/>
            <a:ext cx="230225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B0748"/>
                </a:solidFill>
                <a:latin typeface="IBM Plex Sans" pitchFamily="34" charset="0"/>
                <a:ea typeface="IBM Plex Sans" pitchFamily="34" charset="-122"/>
                <a:cs typeface="IBM Plex Sans" pitchFamily="34" charset="-120"/>
              </a:rPr>
              <a:t>Lecture et écriture des applications</a:t>
            </a:r>
            <a:endParaRPr lang="en-US" sz="1200" dirty="0"/>
          </a:p>
        </p:txBody>
      </p:sp>
      <p:sp>
        <p:nvSpPr>
          <p:cNvPr id="11" name="Shape 9"/>
          <p:cNvSpPr/>
          <p:nvPr/>
        </p:nvSpPr>
        <p:spPr>
          <a:xfrm>
            <a:off x="6146800" y="2151360"/>
            <a:ext cx="2565400" cy="1013460"/>
          </a:xfrm>
          <a:prstGeom prst="roundRect">
            <a:avLst>
              <a:gd name="adj" fmla="val 11278"/>
            </a:avLst>
          </a:prstGeom>
          <a:solidFill>
            <a:srgbClr val="8A86C4"/>
          </a:solidFill>
          <a:ln/>
        </p:spPr>
      </p:sp>
      <p:sp>
        <p:nvSpPr>
          <p:cNvPr id="12" name="Text 10"/>
          <p:cNvSpPr/>
          <p:nvPr/>
        </p:nvSpPr>
        <p:spPr>
          <a:xfrm>
            <a:off x="6311900" y="2291060"/>
            <a:ext cx="230225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JetBrains Mono" pitchFamily="49" charset="0"/>
                <a:ea typeface="JetBrains Mono" pitchFamily="49" charset="-122"/>
                <a:cs typeface="JetBrains Mono" pitchFamily="49" charset="-120"/>
              </a:rPr>
              <a:t>admin</a:t>
            </a:r>
            <a:endParaRPr lang="en-US" sz="1600" dirty="0"/>
          </a:p>
        </p:txBody>
      </p:sp>
      <p:sp>
        <p:nvSpPr>
          <p:cNvPr id="13" name="Text 11"/>
          <p:cNvSpPr/>
          <p:nvPr/>
        </p:nvSpPr>
        <p:spPr>
          <a:xfrm>
            <a:off x="6311900" y="2613918"/>
            <a:ext cx="230225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B0748"/>
                </a:solidFill>
                <a:latin typeface="IBM Plex Sans" pitchFamily="34" charset="0"/>
                <a:ea typeface="IBM Plex Sans" pitchFamily="34" charset="-122"/>
                <a:cs typeface="IBM Plex Sans" pitchFamily="34" charset="-120"/>
              </a:rPr>
              <a:t>Tout dans un namespace, y compris ses droits</a:t>
            </a:r>
            <a:endParaRPr lang="en-US" sz="1200" dirty="0"/>
          </a:p>
        </p:txBody>
      </p:sp>
      <p:sp>
        <p:nvSpPr>
          <p:cNvPr id="14" name="Shape 12"/>
          <p:cNvSpPr/>
          <p:nvPr/>
        </p:nvSpPr>
        <p:spPr>
          <a:xfrm>
            <a:off x="8813800" y="2151360"/>
            <a:ext cx="2565400" cy="1013460"/>
          </a:xfrm>
          <a:prstGeom prst="roundRect">
            <a:avLst>
              <a:gd name="adj" fmla="val 11278"/>
            </a:avLst>
          </a:prstGeom>
          <a:solidFill>
            <a:srgbClr val="0B0748"/>
          </a:solidFill>
          <a:ln/>
        </p:spPr>
      </p:sp>
      <p:sp>
        <p:nvSpPr>
          <p:cNvPr id="15" name="Text 13"/>
          <p:cNvSpPr/>
          <p:nvPr/>
        </p:nvSpPr>
        <p:spPr>
          <a:xfrm>
            <a:off x="8978900" y="2291060"/>
            <a:ext cx="230225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8F66"/>
                </a:solidFill>
                <a:latin typeface="JetBrains Mono" pitchFamily="49" charset="0"/>
                <a:ea typeface="JetBrains Mono" pitchFamily="49" charset="-122"/>
                <a:cs typeface="JetBrains Mono" pitchFamily="49" charset="-120"/>
              </a:rPr>
              <a:t>cluster-admin</a:t>
            </a:r>
            <a:endParaRPr lang="en-US" sz="1600" dirty="0"/>
          </a:p>
        </p:txBody>
      </p:sp>
      <p:sp>
        <p:nvSpPr>
          <p:cNvPr id="16" name="Text 14"/>
          <p:cNvSpPr/>
          <p:nvPr/>
        </p:nvSpPr>
        <p:spPr>
          <a:xfrm>
            <a:off x="8978900" y="2613918"/>
            <a:ext cx="230225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CEAFF"/>
                </a:solidFill>
                <a:latin typeface="IBM Plex Sans" pitchFamily="34" charset="0"/>
                <a:ea typeface="IBM Plex Sans" pitchFamily="34" charset="-122"/>
                <a:cs typeface="IBM Plex Sans" pitchFamily="34" charset="-120"/>
              </a:rPr>
              <a:t>Tout, partout</a:t>
            </a:r>
            <a:endParaRPr lang="en-US" sz="1200" dirty="0"/>
          </a:p>
        </p:txBody>
      </p:sp>
      <p:sp>
        <p:nvSpPr>
          <p:cNvPr id="17" name="Text 15"/>
          <p:cNvSpPr/>
          <p:nvPr/>
        </p:nvSpPr>
        <p:spPr>
          <a:xfrm>
            <a:off x="812800" y="3329980"/>
            <a:ext cx="10566400" cy="836295"/>
          </a:xfrm>
          <a:prstGeom prst="roundRect">
            <a:avLst>
              <a:gd name="adj" fmla="val 12149"/>
            </a:avLst>
          </a:prstGeom>
          <a:solidFill>
            <a:srgbClr val="0B0748"/>
          </a:solidFill>
          <a:ln/>
        </p:spPr>
        <p:txBody>
          <a:bodyPr wrap="none" lIns="148042" tIns="71842" rIns="0" bIns="71842" rtlCol="0" anchor="ctr">
            <a:normAutofit/>
          </a:bodyPr>
          <a:lstStyle/>
          <a:p>
            <a:pPr algn="l" indent="0" marL="0">
              <a:lnSpc>
                <a:spcPts val="1595"/>
              </a:lnSpc>
              <a:buNone/>
            </a:pPr>
            <a:r>
              <a:rPr lang="en-US" sz="1100" dirty="0">
                <a:solidFill>
                  <a:srgbClr val="FFB08F"/>
                </a:solidFill>
                <a:latin typeface="JetBrains Mono" pitchFamily="49" charset="0"/>
                <a:ea typeface="JetBrains Mono" pitchFamily="49" charset="-122"/>
                <a:cs typeface="JetBrains Mono" pitchFamily="49" charset="-120"/>
              </a:rPr>
              <a:t>kubectl create rolebinding</a:t>
            </a:r>
            <a:r>
              <a:rPr lang="en-US" sz="1100" dirty="0">
                <a:solidFill>
                  <a:srgbClr val="ECEAFF"/>
                </a:solidFill>
                <a:latin typeface="JetBrains Mono" pitchFamily="49" charset="0"/>
                <a:ea typeface="JetBrains Mono" pitchFamily="49" charset="-122"/>
                <a:cs typeface="JetBrains Mono" pitchFamily="49" charset="-120"/>
              </a:rPr>
              <a:t> equipe-a-edit --clusterrole=edit --group=equipe-a -n equipe-a</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kubectl auth can-i delete pods -n fil-rouge --as=system:serviceaccount:fil-rouge:lecteur</a:t>
            </a:r>
            <a:endParaRPr lang="en-US" sz="1100" dirty="0"/>
          </a:p>
          <a:p>
            <a:pPr algn="l" indent="0" marL="0">
              <a:lnSpc>
                <a:spcPts val="1595"/>
              </a:lnSpc>
              <a:buNone/>
            </a:pPr>
            <a:r>
              <a:rPr lang="en-US" sz="1100" dirty="0">
                <a:solidFill>
                  <a:srgbClr val="ECEAFF"/>
                </a:solidFill>
                <a:latin typeface="JetBrains Mono" pitchFamily="49" charset="0"/>
                <a:ea typeface="JetBrains Mono" pitchFamily="49" charset="-122"/>
                <a:cs typeface="JetBrains Mono" pitchFamily="49" charset="-120"/>
              </a:rPr>
              <a:t>kubectl auth can-i --list -n fil-rouge --as=alice   </a:t>
            </a:r>
            <a:r>
              <a:rPr lang="en-US" sz="1100" dirty="0">
                <a:solidFill>
                  <a:srgbClr val="9A96D0"/>
                </a:solidFill>
                <a:latin typeface="JetBrains Mono" pitchFamily="49" charset="0"/>
                <a:ea typeface="JetBrains Mono" pitchFamily="49" charset="-122"/>
                <a:cs typeface="JetBrains Mono" pitchFamily="49" charset="-120"/>
              </a:rPr>
              <a:t># tout ce qu'alice peut faire</a:t>
            </a:r>
            <a:endParaRPr lang="en-US" sz="1100" dirty="0"/>
          </a:p>
        </p:txBody>
      </p:sp>
      <p:sp>
        <p:nvSpPr>
          <p:cNvPr id="18" name="Text 16"/>
          <p:cNvSpPr/>
          <p:nvPr/>
        </p:nvSpPr>
        <p:spPr>
          <a:xfrm>
            <a:off x="812800" y="433129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DROITS PLUS DANGEREUX QU'ILS N'EN ONT L'AIR</a:t>
            </a:r>
            <a:endParaRPr lang="en-US" sz="1200" dirty="0"/>
          </a:p>
        </p:txBody>
      </p:sp>
      <p:sp>
        <p:nvSpPr>
          <p:cNvPr id="19" name="Shape 17"/>
          <p:cNvSpPr/>
          <p:nvPr/>
        </p:nvSpPr>
        <p:spPr>
          <a:xfrm>
            <a:off x="812800" y="4630440"/>
            <a:ext cx="3403600" cy="0"/>
          </a:xfrm>
          <a:prstGeom prst="line">
            <a:avLst/>
          </a:prstGeom>
          <a:noFill/>
          <a:ln w="19050">
            <a:solidFill>
              <a:srgbClr val="E25A2C"/>
            </a:solidFill>
            <a:prstDash val="solid"/>
          </a:ln>
        </p:spPr>
      </p:sp>
      <p:sp>
        <p:nvSpPr>
          <p:cNvPr id="20" name="Text 18"/>
          <p:cNvSpPr/>
          <p:nvPr/>
        </p:nvSpPr>
        <p:spPr>
          <a:xfrm>
            <a:off x="812800" y="4724003"/>
            <a:ext cx="350570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list ou watch sur les Secrets</a:t>
            </a:r>
            <a:endParaRPr lang="en-US" sz="1200" dirty="0"/>
          </a:p>
        </p:txBody>
      </p:sp>
      <p:sp>
        <p:nvSpPr>
          <p:cNvPr id="21" name="Text 19"/>
          <p:cNvSpPr/>
          <p:nvPr/>
        </p:nvSpPr>
        <p:spPr>
          <a:xfrm>
            <a:off x="812800" y="4975423"/>
            <a:ext cx="3505708" cy="235691"/>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révèle leur contenu.</a:t>
            </a:r>
            <a:endParaRPr lang="en-US" sz="1200" dirty="0"/>
          </a:p>
        </p:txBody>
      </p:sp>
      <p:sp>
        <p:nvSpPr>
          <p:cNvPr id="22" name="Shape 20"/>
          <p:cNvSpPr/>
          <p:nvPr/>
        </p:nvSpPr>
        <p:spPr>
          <a:xfrm>
            <a:off x="4394200" y="4630440"/>
            <a:ext cx="3403600" cy="0"/>
          </a:xfrm>
          <a:prstGeom prst="line">
            <a:avLst/>
          </a:prstGeom>
          <a:noFill/>
          <a:ln w="19050">
            <a:solidFill>
              <a:srgbClr val="E25A2C"/>
            </a:solidFill>
            <a:prstDash val="solid"/>
          </a:ln>
        </p:spPr>
      </p:sp>
      <p:sp>
        <p:nvSpPr>
          <p:cNvPr id="23" name="Text 21"/>
          <p:cNvSpPr/>
          <p:nvPr/>
        </p:nvSpPr>
        <p:spPr>
          <a:xfrm>
            <a:off x="4394200" y="4724003"/>
            <a:ext cx="350570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create sur les pods</a:t>
            </a:r>
            <a:endParaRPr lang="en-US" sz="1200" dirty="0"/>
          </a:p>
        </p:txBody>
      </p:sp>
      <p:sp>
        <p:nvSpPr>
          <p:cNvPr id="24" name="Text 22"/>
          <p:cNvSpPr/>
          <p:nvPr/>
        </p:nvSpPr>
        <p:spPr>
          <a:xfrm>
            <a:off x="4394200" y="4975423"/>
            <a:ext cx="3505708" cy="656272"/>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permet de monter n'importe quel Secret ou ServiceAccount du namespace, donc d'obtenir leurs droits.</a:t>
            </a:r>
            <a:endParaRPr lang="en-US" sz="1200" dirty="0"/>
          </a:p>
        </p:txBody>
      </p:sp>
      <p:sp>
        <p:nvSpPr>
          <p:cNvPr id="25" name="Shape 23"/>
          <p:cNvSpPr/>
          <p:nvPr/>
        </p:nvSpPr>
        <p:spPr>
          <a:xfrm>
            <a:off x="7975600" y="4630440"/>
            <a:ext cx="3403600" cy="0"/>
          </a:xfrm>
          <a:prstGeom prst="line">
            <a:avLst/>
          </a:prstGeom>
          <a:noFill/>
          <a:ln w="19050">
            <a:solidFill>
              <a:srgbClr val="E25A2C"/>
            </a:solidFill>
            <a:prstDash val="solid"/>
          </a:ln>
        </p:spPr>
      </p:sp>
      <p:sp>
        <p:nvSpPr>
          <p:cNvPr id="26" name="Text 24"/>
          <p:cNvSpPr/>
          <p:nvPr/>
        </p:nvSpPr>
        <p:spPr>
          <a:xfrm>
            <a:off x="7975600" y="4724003"/>
            <a:ext cx="3505708"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escalate, bind, impersonate et le joker *</a:t>
            </a:r>
            <a:endParaRPr lang="en-US" sz="1200" dirty="0"/>
          </a:p>
        </p:txBody>
      </p:sp>
      <p:sp>
        <p:nvSpPr>
          <p:cNvPr id="27" name="Text 25"/>
          <p:cNvSpPr/>
          <p:nvPr/>
        </p:nvSpPr>
        <p:spPr>
          <a:xfrm>
            <a:off x="7975600" y="5188843"/>
            <a:ext cx="3505708" cy="235691"/>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ouvrent la porte à l'élévation de privilèges.</a:t>
            </a:r>
            <a:endParaRPr lang="en-US" sz="1200" dirty="0"/>
          </a:p>
        </p:txBody>
      </p:sp>
      <p:pic>
        <p:nvPicPr>
          <p:cNvPr id="28"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29" name="Text 26"/>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0" name="Image 1" descr="Parcours : module 15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ServiceAccounts</a:t>
            </a:r>
            <a:endParaRPr lang="en-US" sz="2800" dirty="0"/>
          </a:p>
        </p:txBody>
      </p:sp>
      <p:sp>
        <p:nvSpPr>
          <p:cNvPr id="4" name="Text 2"/>
          <p:cNvSpPr/>
          <p:nvPr/>
        </p:nvSpPr>
        <p:spPr>
          <a:xfrm>
            <a:off x="812800" y="1569740"/>
            <a:ext cx="552018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L'identité d'un pod auprès de l'API. Chaque namespace a un ServiceAccount </a:t>
            </a:r>
            <a:r>
              <a:rPr lang="en-US" sz="1400" b="1" dirty="0">
                <a:solidFill>
                  <a:srgbClr val="0B0748"/>
                </a:solidFill>
                <a:latin typeface="IBM Plex Sans" pitchFamily="34" charset="0"/>
                <a:ea typeface="IBM Plex Sans" pitchFamily="34" charset="-122"/>
                <a:cs typeface="IBM Plex Sans" pitchFamily="34" charset="-120"/>
              </a:rPr>
              <a:t>default</a:t>
            </a:r>
            <a:r>
              <a:rPr lang="en-US" sz="1400" dirty="0">
                <a:solidFill>
                  <a:srgbClr val="0B0748"/>
                </a:solidFill>
                <a:latin typeface="IBM Plex Sans" pitchFamily="34" charset="0"/>
                <a:ea typeface="IBM Plex Sans" pitchFamily="34" charset="-122"/>
                <a:cs typeface="IBM Plex Sans" pitchFamily="34" charset="-120"/>
              </a:rPr>
              <a:t>, utilisé si le pod n'en précise pas.</a:t>
            </a:r>
            <a:endParaRPr lang="en-US" sz="1400" dirty="0"/>
          </a:p>
        </p:txBody>
      </p:sp>
      <p:sp>
        <p:nvSpPr>
          <p:cNvPr id="5" name="Shape 3"/>
          <p:cNvSpPr/>
          <p:nvPr/>
        </p:nvSpPr>
        <p:spPr>
          <a:xfrm>
            <a:off x="825500" y="2232620"/>
            <a:ext cx="0" cy="742950"/>
          </a:xfrm>
          <a:prstGeom prst="line">
            <a:avLst/>
          </a:prstGeom>
          <a:noFill/>
          <a:ln w="25400">
            <a:solidFill>
              <a:srgbClr val="E25A2C"/>
            </a:solidFill>
            <a:prstDash val="solid"/>
          </a:ln>
        </p:spPr>
      </p:sp>
      <p:sp>
        <p:nvSpPr>
          <p:cNvPr id="6" name="Text 4"/>
          <p:cNvSpPr/>
          <p:nvPr/>
        </p:nvSpPr>
        <p:spPr>
          <a:xfrm>
            <a:off x="973773" y="2258020"/>
            <a:ext cx="53543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Un jeton à durée de vie limitée</a:t>
            </a:r>
            <a:endParaRPr lang="en-US" sz="1400" dirty="0"/>
          </a:p>
        </p:txBody>
      </p:sp>
      <p:sp>
        <p:nvSpPr>
          <p:cNvPr id="7" name="Text 5"/>
          <p:cNvSpPr/>
          <p:nvPr/>
        </p:nvSpPr>
        <p:spPr>
          <a:xfrm>
            <a:off x="973773" y="2505670"/>
            <a:ext cx="5354380"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Le kubelet le monte dans chaque pod, et le renouvelle, dans /var/run/secrets/kubernetes.io/serviceaccount/.</a:t>
            </a:r>
            <a:endParaRPr lang="en-US" sz="1250" dirty="0"/>
          </a:p>
        </p:txBody>
      </p:sp>
      <p:sp>
        <p:nvSpPr>
          <p:cNvPr id="8" name="Shape 6"/>
          <p:cNvSpPr/>
          <p:nvPr/>
        </p:nvSpPr>
        <p:spPr>
          <a:xfrm>
            <a:off x="825500" y="3140670"/>
            <a:ext cx="0" cy="742950"/>
          </a:xfrm>
          <a:prstGeom prst="line">
            <a:avLst/>
          </a:prstGeom>
          <a:noFill/>
          <a:ln w="25400">
            <a:solidFill>
              <a:srgbClr val="E25A2C"/>
            </a:solidFill>
            <a:prstDash val="solid"/>
          </a:ln>
        </p:spPr>
      </p:sp>
      <p:sp>
        <p:nvSpPr>
          <p:cNvPr id="9" name="Text 7"/>
          <p:cNvSpPr/>
          <p:nvPr/>
        </p:nvSpPr>
        <p:spPr>
          <a:xfrm>
            <a:off x="973773" y="3166070"/>
            <a:ext cx="53543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Pas d'appel à l'API, pas de jeton</a:t>
            </a:r>
            <a:endParaRPr lang="en-US" sz="1400" dirty="0"/>
          </a:p>
        </p:txBody>
      </p:sp>
      <p:sp>
        <p:nvSpPr>
          <p:cNvPr id="10" name="Text 8"/>
          <p:cNvSpPr/>
          <p:nvPr/>
        </p:nvSpPr>
        <p:spPr>
          <a:xfrm>
            <a:off x="973773" y="3414018"/>
            <a:ext cx="5354380"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automountServiceAccountToken: false le supprime et réduit la surface d'attaque.</a:t>
            </a:r>
            <a:endParaRPr lang="en-US" sz="1250" dirty="0"/>
          </a:p>
        </p:txBody>
      </p:sp>
      <p:sp>
        <p:nvSpPr>
          <p:cNvPr id="11" name="Shape 9"/>
          <p:cNvSpPr/>
          <p:nvPr/>
        </p:nvSpPr>
        <p:spPr>
          <a:xfrm>
            <a:off x="825500" y="4048720"/>
            <a:ext cx="0" cy="742950"/>
          </a:xfrm>
          <a:prstGeom prst="line">
            <a:avLst/>
          </a:prstGeom>
          <a:noFill/>
          <a:ln w="25400">
            <a:solidFill>
              <a:srgbClr val="E25A2C"/>
            </a:solidFill>
            <a:prstDash val="solid"/>
          </a:ln>
        </p:spPr>
      </p:sp>
      <p:sp>
        <p:nvSpPr>
          <p:cNvPr id="12" name="Text 10"/>
          <p:cNvSpPr/>
          <p:nvPr/>
        </p:nvSpPr>
        <p:spPr>
          <a:xfrm>
            <a:off x="973773" y="4074120"/>
            <a:ext cx="53543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Un appel à l'API, un compte dédié</a:t>
            </a:r>
            <a:endParaRPr lang="en-US" sz="1400" dirty="0"/>
          </a:p>
        </p:txBody>
      </p:sp>
      <p:sp>
        <p:nvSpPr>
          <p:cNvPr id="13" name="Text 11"/>
          <p:cNvSpPr/>
          <p:nvPr/>
        </p:nvSpPr>
        <p:spPr>
          <a:xfrm>
            <a:off x="973773" y="4321770"/>
            <a:ext cx="5354380"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Un opérateur, un outil de CI : son propre ServiceAccount et un Role minimal.</a:t>
            </a:r>
            <a:endParaRPr lang="en-US" sz="1250" dirty="0"/>
          </a:p>
        </p:txBody>
      </p:sp>
      <p:sp>
        <p:nvSpPr>
          <p:cNvPr id="14" name="Text 12"/>
          <p:cNvSpPr/>
          <p:nvPr/>
        </p:nvSpPr>
        <p:spPr>
          <a:xfrm>
            <a:off x="6426200" y="1569740"/>
            <a:ext cx="4953000" cy="2209800"/>
          </a:xfrm>
          <a:prstGeom prst="roundRect">
            <a:avLst>
              <a:gd name="adj" fmla="val 4598"/>
            </a:avLst>
          </a:prstGeom>
          <a:solidFill>
            <a:srgbClr val="0B0748"/>
          </a:solidFill>
          <a:ln/>
        </p:spPr>
        <p:txBody>
          <a:bodyPr wrap="none" lIns="148042" tIns="84542" rIns="10120" bIns="84542" rtlCol="0" anchor="ctr">
            <a:normAutofit/>
          </a:bodyPr>
          <a:lstStyle/>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apiVersion: v1</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kind: </a:t>
            </a:r>
            <a:r>
              <a:rPr lang="en-US" sz="1100" dirty="0">
                <a:solidFill>
                  <a:srgbClr val="FFB08F"/>
                </a:solidFill>
                <a:latin typeface="JetBrains Mono" pitchFamily="49" charset="0"/>
                <a:ea typeface="JetBrains Mono" pitchFamily="49" charset="-122"/>
                <a:cs typeface="JetBrains Mono" pitchFamily="49" charset="-120"/>
              </a:rPr>
              <a:t>ServiceAccount</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name: podinfo</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namespace: fil-rouge</a:t>
            </a:r>
            <a:endParaRPr lang="en-US" sz="1100" dirty="0"/>
          </a:p>
          <a:p>
            <a:pPr algn="l" indent="0" marL="0">
              <a:lnSpc>
                <a:spcPts val="1540"/>
              </a:lnSpc>
              <a:buNone/>
            </a:pPr>
            <a:r>
              <a:rPr lang="en-US" sz="1100" dirty="0">
                <a:solidFill>
                  <a:srgbClr val="FFB08F"/>
                </a:solidFill>
                <a:latin typeface="JetBrains Mono" pitchFamily="49" charset="0"/>
                <a:ea typeface="JetBrains Mono" pitchFamily="49" charset="-122"/>
                <a:cs typeface="JetBrains Mono" pitchFamily="49" charset="-120"/>
              </a:rPr>
              <a:t>automountServiceAccountToken: false</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a:t>
            </a:r>
            <a:endParaRPr lang="en-US" sz="1100" dirty="0"/>
          </a:p>
          <a:p>
            <a:pPr algn="l" indent="0" marL="0">
              <a:lnSpc>
                <a:spcPts val="1540"/>
              </a:lnSpc>
              <a:buNone/>
            </a:pPr>
            <a:r>
              <a:rPr lang="en-US" sz="1100" dirty="0">
                <a:solidFill>
                  <a:srgbClr val="9A96D0"/>
                </a:solidFill>
                <a:latin typeface="JetBrains Mono" pitchFamily="49" charset="0"/>
                <a:ea typeface="JetBrains Mono" pitchFamily="49" charset="-122"/>
                <a:cs typeface="JetBrains Mono" pitchFamily="49" charset="-120"/>
              </a:rPr>
              <a:t># dans le modèle de pod :</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spec:</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serviceAccountName: podinfo</a:t>
            </a:r>
            <a:endParaRPr lang="en-US" sz="1100" dirty="0"/>
          </a:p>
        </p:txBody>
      </p:sp>
      <p:sp>
        <p:nvSpPr>
          <p:cNvPr id="15" name="Text 13"/>
          <p:cNvSpPr/>
          <p:nvPr/>
        </p:nvSpPr>
        <p:spPr>
          <a:xfrm>
            <a:off x="6426200" y="3868440"/>
            <a:ext cx="4953000" cy="568960"/>
          </a:xfrm>
          <a:prstGeom prst="roundRect">
            <a:avLst>
              <a:gd name="adj" fmla="val 17857"/>
            </a:avLst>
          </a:prstGeom>
          <a:solidFill>
            <a:srgbClr val="ECEAF6"/>
          </a:solidFill>
          <a:ln/>
        </p:spPr>
        <p:txBody>
          <a:bodyPr wrap="none" lIns="122642" tIns="46389" rIns="0" bIns="46389" rtlCol="0" anchor="ctr">
            <a:normAutofit/>
          </a:bodyPr>
          <a:lstStyle/>
          <a:p>
            <a:pPr algn="l" indent="0" marL="0">
              <a:lnSpc>
                <a:spcPts val="1540"/>
              </a:lnSpc>
              <a:buNone/>
            </a:pPr>
            <a:r>
              <a:rPr lang="en-US" sz="1100" dirty="0">
                <a:solidFill>
                  <a:srgbClr val="0B0748"/>
                </a:solidFill>
                <a:latin typeface="JetBrains Mono" pitchFamily="49" charset="0"/>
                <a:ea typeface="JetBrains Mono" pitchFamily="49" charset="-122"/>
                <a:cs typeface="JetBrains Mono" pitchFamily="49" charset="-120"/>
              </a:rPr>
              <a:t>kubectl create token lecteur -n fil-rouge --duration=1h</a:t>
            </a:r>
            <a:endParaRPr lang="en-US" sz="1100" dirty="0"/>
          </a:p>
          <a:p>
            <a:pPr algn="l" indent="0" marL="0">
              <a:lnSpc>
                <a:spcPts val="1540"/>
              </a:lnSpc>
              <a:buNone/>
            </a:pPr>
            <a:r>
              <a:rPr lang="en-US" sz="1100" dirty="0">
                <a:solidFill>
                  <a:srgbClr val="6B6890"/>
                </a:solidFill>
                <a:latin typeface="JetBrains Mono" pitchFamily="49" charset="0"/>
                <a:ea typeface="JetBrains Mono" pitchFamily="49" charset="-122"/>
                <a:cs typeface="JetBrains Mono" pitchFamily="49" charset="-120"/>
              </a:rPr>
              <a:t># jeton temporaire, pour un outil ou un test</a:t>
            </a:r>
            <a:endParaRPr lang="en-US" sz="1100" dirty="0"/>
          </a:p>
        </p:txBody>
      </p:sp>
      <p:pic>
        <p:nvPicPr>
          <p:cNvPr id="16"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7" name="Text 14"/>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1" descr="Parcours : module 15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Pod Security : trois niveaux</a:t>
            </a:r>
            <a:endParaRPr lang="en-US" sz="2800" dirty="0"/>
          </a:p>
        </p:txBody>
      </p:sp>
      <p:sp>
        <p:nvSpPr>
          <p:cNvPr id="4" name="Text 2"/>
          <p:cNvSpPr/>
          <p:nvPr/>
        </p:nvSpPr>
        <p:spPr>
          <a:xfrm>
            <a:off x="812800" y="1506240"/>
            <a:ext cx="10883392"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F3C6B"/>
                </a:solidFill>
                <a:latin typeface="IBM Plex Sans" pitchFamily="34" charset="0"/>
                <a:ea typeface="IBM Plex Sans" pitchFamily="34" charset="-122"/>
                <a:cs typeface="IBM Plex Sans" pitchFamily="34" charset="-120"/>
              </a:rPr>
              <a:t>Les </a:t>
            </a:r>
            <a:r>
              <a:rPr lang="en-US" sz="1350" b="1" dirty="0">
                <a:solidFill>
                  <a:srgbClr val="3F3C6B"/>
                </a:solidFill>
                <a:latin typeface="IBM Plex Sans" pitchFamily="34" charset="0"/>
                <a:ea typeface="IBM Plex Sans" pitchFamily="34" charset="-122"/>
                <a:cs typeface="IBM Plex Sans" pitchFamily="34" charset="-120"/>
              </a:rPr>
              <a:t>Pod Security Standards</a:t>
            </a:r>
            <a:r>
              <a:rPr lang="en-US" sz="1350" dirty="0">
                <a:solidFill>
                  <a:srgbClr val="3F3C6B"/>
                </a:solidFill>
                <a:latin typeface="IBM Plex Sans" pitchFamily="34" charset="0"/>
                <a:ea typeface="IBM Plex Sans" pitchFamily="34" charset="-122"/>
                <a:cs typeface="IBM Plex Sans" pitchFamily="34" charset="-120"/>
              </a:rPr>
              <a:t> définissent trois niveaux, appliqués par le contrôleur d'admission </a:t>
            </a:r>
            <a:r>
              <a:rPr lang="en-US" sz="1350" b="1" dirty="0">
                <a:solidFill>
                  <a:srgbClr val="3F3C6B"/>
                </a:solidFill>
                <a:latin typeface="IBM Plex Sans" pitchFamily="34" charset="0"/>
                <a:ea typeface="IBM Plex Sans" pitchFamily="34" charset="-122"/>
                <a:cs typeface="IBM Plex Sans" pitchFamily="34" charset="-120"/>
              </a:rPr>
              <a:t>Pod Security Admission</a:t>
            </a:r>
            <a:r>
              <a:rPr lang="en-US" sz="1350" dirty="0">
                <a:solidFill>
                  <a:srgbClr val="3F3C6B"/>
                </a:solidFill>
                <a:latin typeface="IBM Plex Sans" pitchFamily="34" charset="0"/>
                <a:ea typeface="IBM Plex Sans" pitchFamily="34" charset="-122"/>
                <a:cs typeface="IBM Plex Sans" pitchFamily="34" charset="-120"/>
              </a:rPr>
              <a:t>, intégré à Kubernetes.</a:t>
            </a:r>
            <a:endParaRPr lang="en-US" sz="1350" dirty="0"/>
          </a:p>
        </p:txBody>
      </p:sp>
      <p:sp>
        <p:nvSpPr>
          <p:cNvPr id="5" name="Shape 3"/>
          <p:cNvSpPr/>
          <p:nvPr/>
        </p:nvSpPr>
        <p:spPr>
          <a:xfrm>
            <a:off x="812800" y="2151360"/>
            <a:ext cx="3429000" cy="2792201"/>
          </a:xfrm>
          <a:prstGeom prst="roundRect">
            <a:avLst>
              <a:gd name="adj" fmla="val 4548"/>
            </a:avLst>
          </a:prstGeom>
          <a:solidFill>
            <a:srgbClr val="ECEAF6"/>
          </a:solidFill>
          <a:ln/>
        </p:spPr>
      </p:sp>
      <p:sp>
        <p:nvSpPr>
          <p:cNvPr id="6" name="Text 4"/>
          <p:cNvSpPr/>
          <p:nvPr/>
        </p:nvSpPr>
        <p:spPr>
          <a:xfrm>
            <a:off x="1003300" y="2329160"/>
            <a:ext cx="313944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B0748"/>
                </a:solidFill>
                <a:latin typeface="JetBrains Mono" pitchFamily="49" charset="0"/>
                <a:ea typeface="JetBrains Mono" pitchFamily="49" charset="-122"/>
                <a:cs typeface="JetBrains Mono" pitchFamily="49" charset="-120"/>
              </a:rPr>
              <a:t>privileged</a:t>
            </a:r>
            <a:endParaRPr lang="en-US" sz="1700" dirty="0"/>
          </a:p>
        </p:txBody>
      </p:sp>
      <p:sp>
        <p:nvSpPr>
          <p:cNvPr id="7" name="Text 5"/>
          <p:cNvSpPr/>
          <p:nvPr/>
        </p:nvSpPr>
        <p:spPr>
          <a:xfrm>
            <a:off x="1003300" y="2707680"/>
            <a:ext cx="3139440"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INTERDIT NOTAMMENT</a:t>
            </a:r>
            <a:endParaRPr lang="en-US" sz="1000" dirty="0"/>
          </a:p>
        </p:txBody>
      </p:sp>
      <p:sp>
        <p:nvSpPr>
          <p:cNvPr id="8" name="Text 6"/>
          <p:cNvSpPr/>
          <p:nvPr/>
        </p:nvSpPr>
        <p:spPr>
          <a:xfrm>
            <a:off x="1003300" y="2961680"/>
            <a:ext cx="3139440" cy="235691"/>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Rien</a:t>
            </a:r>
            <a:endParaRPr lang="en-US" sz="1200" dirty="0"/>
          </a:p>
        </p:txBody>
      </p:sp>
      <p:sp>
        <p:nvSpPr>
          <p:cNvPr id="9" name="Text 7"/>
          <p:cNvSpPr/>
          <p:nvPr/>
        </p:nvSpPr>
        <p:spPr>
          <a:xfrm>
            <a:off x="1003300" y="4297462"/>
            <a:ext cx="3139440"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POUR</a:t>
            </a:r>
            <a:endParaRPr lang="en-US" sz="1000" dirty="0"/>
          </a:p>
        </p:txBody>
      </p:sp>
      <p:sp>
        <p:nvSpPr>
          <p:cNvPr id="10" name="Text 8"/>
          <p:cNvSpPr/>
          <p:nvPr/>
        </p:nvSpPr>
        <p:spPr>
          <a:xfrm>
            <a:off x="1003300" y="4551462"/>
            <a:ext cx="3139440" cy="239713"/>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0B0748"/>
                </a:solidFill>
                <a:latin typeface="IBM Plex Sans" pitchFamily="34" charset="0"/>
                <a:ea typeface="IBM Plex Sans" pitchFamily="34" charset="-122"/>
                <a:cs typeface="IBM Plex Sans" pitchFamily="34" charset="-120"/>
              </a:rPr>
              <a:t>Composants système (CNI, stockage)</a:t>
            </a:r>
            <a:endParaRPr lang="en-US" sz="1250" dirty="0"/>
          </a:p>
        </p:txBody>
      </p:sp>
      <p:sp>
        <p:nvSpPr>
          <p:cNvPr id="11" name="Shape 9"/>
          <p:cNvSpPr/>
          <p:nvPr/>
        </p:nvSpPr>
        <p:spPr>
          <a:xfrm>
            <a:off x="4381500" y="2151360"/>
            <a:ext cx="3429000" cy="2792201"/>
          </a:xfrm>
          <a:prstGeom prst="roundRect">
            <a:avLst>
              <a:gd name="adj" fmla="val 4548"/>
            </a:avLst>
          </a:prstGeom>
          <a:solidFill>
            <a:srgbClr val="FCE6DC"/>
          </a:solidFill>
          <a:ln/>
        </p:spPr>
      </p:sp>
      <p:sp>
        <p:nvSpPr>
          <p:cNvPr id="12" name="Text 10"/>
          <p:cNvSpPr/>
          <p:nvPr/>
        </p:nvSpPr>
        <p:spPr>
          <a:xfrm>
            <a:off x="4572000" y="2329160"/>
            <a:ext cx="313944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B0748"/>
                </a:solidFill>
                <a:latin typeface="JetBrains Mono" pitchFamily="49" charset="0"/>
                <a:ea typeface="JetBrains Mono" pitchFamily="49" charset="-122"/>
                <a:cs typeface="JetBrains Mono" pitchFamily="49" charset="-120"/>
              </a:rPr>
              <a:t>baseline</a:t>
            </a:r>
            <a:endParaRPr lang="en-US" sz="1700" dirty="0"/>
          </a:p>
        </p:txBody>
      </p:sp>
      <p:sp>
        <p:nvSpPr>
          <p:cNvPr id="13" name="Text 11"/>
          <p:cNvSpPr/>
          <p:nvPr/>
        </p:nvSpPr>
        <p:spPr>
          <a:xfrm>
            <a:off x="4572000" y="2707680"/>
            <a:ext cx="3139440"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INTERDIT NOTAMMENT</a:t>
            </a:r>
            <a:endParaRPr lang="en-US" sz="1000" dirty="0"/>
          </a:p>
        </p:txBody>
      </p:sp>
      <p:sp>
        <p:nvSpPr>
          <p:cNvPr id="14" name="Text 12"/>
          <p:cNvSpPr/>
          <p:nvPr/>
        </p:nvSpPr>
        <p:spPr>
          <a:xfrm>
            <a:off x="4572000" y="2961680"/>
            <a:ext cx="3139440" cy="656273"/>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Conteneurs privilégiés, réseau ou PID de l'hôte, volumes hostPath, ports de l'hôte, capacités noyau dangereuses</a:t>
            </a:r>
            <a:endParaRPr lang="en-US" sz="1200" dirty="0"/>
          </a:p>
        </p:txBody>
      </p:sp>
      <p:sp>
        <p:nvSpPr>
          <p:cNvPr id="15" name="Text 13"/>
          <p:cNvSpPr/>
          <p:nvPr/>
        </p:nvSpPr>
        <p:spPr>
          <a:xfrm>
            <a:off x="4572000" y="4083248"/>
            <a:ext cx="3139440"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8421A"/>
                </a:solidFill>
                <a:latin typeface="IBM Plex Sans" pitchFamily="34" charset="0"/>
                <a:ea typeface="IBM Plex Sans" pitchFamily="34" charset="-122"/>
                <a:cs typeface="IBM Plex Sans" pitchFamily="34" charset="-120"/>
              </a:rPr>
              <a:t>POUR</a:t>
            </a:r>
            <a:endParaRPr lang="en-US" sz="1000" dirty="0"/>
          </a:p>
        </p:txBody>
      </p:sp>
      <p:sp>
        <p:nvSpPr>
          <p:cNvPr id="16" name="Text 14"/>
          <p:cNvSpPr/>
          <p:nvPr/>
        </p:nvSpPr>
        <p:spPr>
          <a:xfrm>
            <a:off x="4572000" y="4337248"/>
            <a:ext cx="3139440"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0B0748"/>
                </a:solidFill>
                <a:latin typeface="IBM Plex Sans" pitchFamily="34" charset="0"/>
                <a:ea typeface="IBM Plex Sans" pitchFamily="34" charset="-122"/>
                <a:cs typeface="IBM Plex Sans" pitchFamily="34" charset="-120"/>
              </a:rPr>
              <a:t>Applications courantes, migration progressive</a:t>
            </a:r>
            <a:endParaRPr lang="en-US" sz="1250" dirty="0"/>
          </a:p>
        </p:txBody>
      </p:sp>
      <p:sp>
        <p:nvSpPr>
          <p:cNvPr id="17" name="Shape 15"/>
          <p:cNvSpPr/>
          <p:nvPr/>
        </p:nvSpPr>
        <p:spPr>
          <a:xfrm>
            <a:off x="7950200" y="2151360"/>
            <a:ext cx="3429000" cy="2792201"/>
          </a:xfrm>
          <a:prstGeom prst="roundRect">
            <a:avLst>
              <a:gd name="adj" fmla="val 4548"/>
            </a:avLst>
          </a:prstGeom>
          <a:solidFill>
            <a:srgbClr val="0B0748"/>
          </a:solidFill>
          <a:ln/>
        </p:spPr>
      </p:sp>
      <p:sp>
        <p:nvSpPr>
          <p:cNvPr id="18" name="Text 16"/>
          <p:cNvSpPr/>
          <p:nvPr/>
        </p:nvSpPr>
        <p:spPr>
          <a:xfrm>
            <a:off x="8140700" y="2329160"/>
            <a:ext cx="313944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8F66"/>
                </a:solidFill>
                <a:latin typeface="JetBrains Mono" pitchFamily="49" charset="0"/>
                <a:ea typeface="JetBrains Mono" pitchFamily="49" charset="-122"/>
                <a:cs typeface="JetBrains Mono" pitchFamily="49" charset="-120"/>
              </a:rPr>
              <a:t>restricted</a:t>
            </a:r>
            <a:endParaRPr lang="en-US" sz="1700" dirty="0"/>
          </a:p>
        </p:txBody>
      </p:sp>
      <p:sp>
        <p:nvSpPr>
          <p:cNvPr id="19" name="Text 17"/>
          <p:cNvSpPr/>
          <p:nvPr/>
        </p:nvSpPr>
        <p:spPr>
          <a:xfrm>
            <a:off x="8140700" y="2707680"/>
            <a:ext cx="3139440"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9B6E8"/>
                </a:solidFill>
                <a:latin typeface="IBM Plex Sans" pitchFamily="34" charset="0"/>
                <a:ea typeface="IBM Plex Sans" pitchFamily="34" charset="-122"/>
                <a:cs typeface="IBM Plex Sans" pitchFamily="34" charset="-120"/>
              </a:rPr>
              <a:t>INTERDIT NOTAMMENT</a:t>
            </a:r>
            <a:endParaRPr lang="en-US" sz="1000" dirty="0"/>
          </a:p>
        </p:txBody>
      </p:sp>
      <p:sp>
        <p:nvSpPr>
          <p:cNvPr id="20" name="Text 18"/>
          <p:cNvSpPr/>
          <p:nvPr/>
        </p:nvSpPr>
        <p:spPr>
          <a:xfrm>
            <a:off x="8140700" y="2961680"/>
            <a:ext cx="3139440" cy="656273"/>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ECEAFF"/>
                </a:solidFill>
                <a:latin typeface="IBM Plex Sans" pitchFamily="34" charset="0"/>
                <a:ea typeface="IBM Plex Sans" pitchFamily="34" charset="-122"/>
                <a:cs typeface="IBM Plex Sans" pitchFamily="34" charset="-120"/>
              </a:rPr>
              <a:t>Tout ce qui précède, plus : exécution en root, élévation de privilèges, capacités non retirées, absence de profil seccomp</a:t>
            </a:r>
            <a:endParaRPr lang="en-US" sz="1200" dirty="0"/>
          </a:p>
        </p:txBody>
      </p:sp>
      <p:sp>
        <p:nvSpPr>
          <p:cNvPr id="21" name="Text 19"/>
          <p:cNvSpPr/>
          <p:nvPr/>
        </p:nvSpPr>
        <p:spPr>
          <a:xfrm>
            <a:off x="8140700" y="4297462"/>
            <a:ext cx="3139440"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FF8F66"/>
                </a:solidFill>
                <a:latin typeface="IBM Plex Sans" pitchFamily="34" charset="0"/>
                <a:ea typeface="IBM Plex Sans" pitchFamily="34" charset="-122"/>
                <a:cs typeface="IBM Plex Sans" pitchFamily="34" charset="-120"/>
              </a:rPr>
              <a:t>POUR</a:t>
            </a:r>
            <a:endParaRPr lang="en-US" sz="1000" dirty="0"/>
          </a:p>
        </p:txBody>
      </p:sp>
      <p:sp>
        <p:nvSpPr>
          <p:cNvPr id="22" name="Text 20"/>
          <p:cNvSpPr/>
          <p:nvPr/>
        </p:nvSpPr>
        <p:spPr>
          <a:xfrm>
            <a:off x="8140700" y="4551462"/>
            <a:ext cx="3139440" cy="239713"/>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F5F4F9"/>
                </a:solidFill>
                <a:latin typeface="IBM Plex Sans" pitchFamily="34" charset="0"/>
                <a:ea typeface="IBM Plex Sans" pitchFamily="34" charset="-122"/>
                <a:cs typeface="IBM Plex Sans" pitchFamily="34" charset="-120"/>
              </a:rPr>
              <a:t>Cible pour les applications</a:t>
            </a:r>
            <a:endParaRPr lang="en-US" sz="1250" dirty="0"/>
          </a:p>
        </p:txBody>
      </p:sp>
      <p:sp>
        <p:nvSpPr>
          <p:cNvPr id="23" name="Text 21"/>
          <p:cNvSpPr/>
          <p:nvPr/>
        </p:nvSpPr>
        <p:spPr>
          <a:xfrm>
            <a:off x="812800" y="5108773"/>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UN LABEL PAR MODE, SUR LE NAMESPACE</a:t>
            </a:r>
            <a:endParaRPr lang="en-US" sz="1200" dirty="0"/>
          </a:p>
        </p:txBody>
      </p:sp>
      <p:sp>
        <p:nvSpPr>
          <p:cNvPr id="24" name="Text 22"/>
          <p:cNvSpPr/>
          <p:nvPr/>
        </p:nvSpPr>
        <p:spPr>
          <a:xfrm>
            <a:off x="812800" y="5398393"/>
            <a:ext cx="871220" cy="281940"/>
          </a:xfrm>
          <a:prstGeom prst="roundRect">
            <a:avLst>
              <a:gd name="adj" fmla="val 22523"/>
            </a:avLst>
          </a:prstGeom>
          <a:solidFill>
            <a:srgbClr val="ECEAF6"/>
          </a:solidFill>
          <a:ln/>
        </p:spPr>
        <p:txBody>
          <a:bodyPr wrap="none" lIns="0" tIns="0" rIns="0" bIns="0" rtlCol="0" anchor="ctr">
            <a:normAutofit/>
          </a:bodyPr>
          <a:lstStyle/>
          <a:p>
            <a:pPr algn="ctr"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enforce</a:t>
            </a:r>
            <a:endParaRPr lang="en-US" sz="1300" dirty="0"/>
          </a:p>
        </p:txBody>
      </p:sp>
      <p:sp>
        <p:nvSpPr>
          <p:cNvPr id="25" name="Text 23"/>
          <p:cNvSpPr/>
          <p:nvPr/>
        </p:nvSpPr>
        <p:spPr>
          <a:xfrm>
            <a:off x="1785620" y="5447903"/>
            <a:ext cx="2503703" cy="222568"/>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3F3C6B"/>
                </a:solidFill>
                <a:latin typeface="IBM Plex Sans" pitchFamily="34" charset="0"/>
                <a:ea typeface="IBM Plex Sans" pitchFamily="34" charset="-122"/>
                <a:cs typeface="IBM Plex Sans" pitchFamily="34" charset="-120"/>
              </a:rPr>
              <a:t>Le pod est refusé</a:t>
            </a:r>
            <a:endParaRPr lang="en-US" sz="1150" dirty="0"/>
          </a:p>
        </p:txBody>
      </p:sp>
      <p:sp>
        <p:nvSpPr>
          <p:cNvPr id="26" name="Text 24"/>
          <p:cNvSpPr/>
          <p:nvPr/>
        </p:nvSpPr>
        <p:spPr>
          <a:xfrm>
            <a:off x="4394200" y="5398393"/>
            <a:ext cx="673100" cy="281940"/>
          </a:xfrm>
          <a:prstGeom prst="roundRect">
            <a:avLst>
              <a:gd name="adj" fmla="val 22523"/>
            </a:avLst>
          </a:prstGeom>
          <a:solidFill>
            <a:srgbClr val="ECEAF6"/>
          </a:solidFill>
          <a:ln/>
        </p:spPr>
        <p:txBody>
          <a:bodyPr wrap="none" lIns="0" tIns="0" rIns="0" bIns="0" rtlCol="0" anchor="ctr">
            <a:normAutofit/>
          </a:bodyPr>
          <a:lstStyle/>
          <a:p>
            <a:pPr algn="ctr"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audit</a:t>
            </a:r>
            <a:endParaRPr lang="en-US" sz="1300" dirty="0"/>
          </a:p>
        </p:txBody>
      </p:sp>
      <p:sp>
        <p:nvSpPr>
          <p:cNvPr id="27" name="Text 25"/>
          <p:cNvSpPr/>
          <p:nvPr/>
        </p:nvSpPr>
        <p:spPr>
          <a:xfrm>
            <a:off x="5168900" y="5447903"/>
            <a:ext cx="2707767" cy="419735"/>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3F3C6B"/>
                </a:solidFill>
                <a:latin typeface="IBM Plex Sans" pitchFamily="34" charset="0"/>
                <a:ea typeface="IBM Plex Sans" pitchFamily="34" charset="-122"/>
                <a:cs typeface="IBM Plex Sans" pitchFamily="34" charset="-120"/>
              </a:rPr>
              <a:t>Accepté, la violation est notée dans le journal d'audit</a:t>
            </a:r>
            <a:endParaRPr lang="en-US" sz="1150" dirty="0"/>
          </a:p>
        </p:txBody>
      </p:sp>
      <p:sp>
        <p:nvSpPr>
          <p:cNvPr id="28" name="Text 26"/>
          <p:cNvSpPr/>
          <p:nvPr/>
        </p:nvSpPr>
        <p:spPr>
          <a:xfrm>
            <a:off x="7975600" y="5398393"/>
            <a:ext cx="574040" cy="281940"/>
          </a:xfrm>
          <a:prstGeom prst="roundRect">
            <a:avLst>
              <a:gd name="adj" fmla="val 22523"/>
            </a:avLst>
          </a:prstGeom>
          <a:solidFill>
            <a:srgbClr val="ECEAF6"/>
          </a:solidFill>
          <a:ln/>
        </p:spPr>
        <p:txBody>
          <a:bodyPr wrap="none" lIns="0" tIns="0" rIns="0" bIns="0" rtlCol="0" anchor="ctr">
            <a:normAutofit/>
          </a:bodyPr>
          <a:lstStyle/>
          <a:p>
            <a:pPr algn="ctr"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warn</a:t>
            </a:r>
            <a:endParaRPr lang="en-US" sz="1300" dirty="0"/>
          </a:p>
        </p:txBody>
      </p:sp>
      <p:sp>
        <p:nvSpPr>
          <p:cNvPr id="29" name="Text 27"/>
          <p:cNvSpPr/>
          <p:nvPr/>
        </p:nvSpPr>
        <p:spPr>
          <a:xfrm>
            <a:off x="8651240" y="5447903"/>
            <a:ext cx="2809799" cy="419735"/>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3F3C6B"/>
                </a:solidFill>
                <a:latin typeface="IBM Plex Sans" pitchFamily="34" charset="0"/>
                <a:ea typeface="IBM Plex Sans" pitchFamily="34" charset="-122"/>
                <a:cs typeface="IBM Plex Sans" pitchFamily="34" charset="-120"/>
              </a:rPr>
              <a:t>Accepté, l'utilisateur voit un avertissement</a:t>
            </a:r>
            <a:endParaRPr lang="en-US" sz="1150" dirty="0"/>
          </a:p>
        </p:txBody>
      </p:sp>
      <p:pic>
        <p:nvPicPr>
          <p:cNvPr id="30"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31" name="Text 28"/>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2" name="Image 1" descr="Parcours : module 15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Appliquer Pod Security à un namespace</a:t>
            </a:r>
            <a:endParaRPr lang="en-US" sz="2800" dirty="0"/>
          </a:p>
        </p:txBody>
      </p:sp>
      <p:sp>
        <p:nvSpPr>
          <p:cNvPr id="4" name="Text 2"/>
          <p:cNvSpPr/>
          <p:nvPr/>
        </p:nvSpPr>
        <p:spPr>
          <a:xfrm>
            <a:off x="812800" y="15189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IMPOSER RESTRICTED, AVEC AVERTISSEMENT</a:t>
            </a:r>
            <a:endParaRPr lang="en-US" sz="1200" dirty="0"/>
          </a:p>
        </p:txBody>
      </p:sp>
      <p:sp>
        <p:nvSpPr>
          <p:cNvPr id="5" name="Text 3"/>
          <p:cNvSpPr/>
          <p:nvPr/>
        </p:nvSpPr>
        <p:spPr>
          <a:xfrm>
            <a:off x="812800" y="1808460"/>
            <a:ext cx="10566400" cy="1022350"/>
          </a:xfrm>
          <a:prstGeom prst="roundRect">
            <a:avLst>
              <a:gd name="adj" fmla="val 9938"/>
            </a:avLst>
          </a:prstGeom>
          <a:solidFill>
            <a:srgbClr val="0B0748"/>
          </a:solidFill>
          <a:ln/>
        </p:spPr>
        <p:txBody>
          <a:bodyPr wrap="none" lIns="160742" tIns="97242" rIns="0" bIns="97242" rtlCol="0" anchor="ctr">
            <a:normAutofit/>
          </a:bodyPr>
          <a:lstStyle/>
          <a:p>
            <a:pPr algn="l" indent="0" marL="0">
              <a:lnSpc>
                <a:spcPts val="1950"/>
              </a:lnSpc>
              <a:buNone/>
            </a:pPr>
            <a:r>
              <a:rPr lang="en-US" sz="1300" dirty="0">
                <a:solidFill>
                  <a:srgbClr val="ECEAFF"/>
                </a:solidFill>
                <a:latin typeface="JetBrains Mono" pitchFamily="49" charset="0"/>
                <a:ea typeface="JetBrains Mono" pitchFamily="49" charset="-122"/>
                <a:cs typeface="JetBrains Mono" pitchFamily="49" charset="-120"/>
              </a:rPr>
              <a:t>kubectl label namespace equipe-a \</a:t>
            </a:r>
            <a:endParaRPr lang="en-US" sz="1300" dirty="0"/>
          </a:p>
          <a:p>
            <a:pPr algn="l" indent="0" marL="0">
              <a:lnSpc>
                <a:spcPts val="1950"/>
              </a:lnSpc>
              <a:buNone/>
            </a:pPr>
            <a:r>
              <a:rPr lang="en-US" sz="1300" dirty="0">
                <a:solidFill>
                  <a:srgbClr val="ECEAFF"/>
                </a:solidFill>
                <a:latin typeface="JetBrains Mono" pitchFamily="49" charset="0"/>
                <a:ea typeface="JetBrains Mono" pitchFamily="49" charset="-122"/>
                <a:cs typeface="JetBrains Mono" pitchFamily="49" charset="-120"/>
              </a:rPr>
              <a:t>  pod-security.kubernetes.io/</a:t>
            </a:r>
            <a:r>
              <a:rPr lang="en-US" sz="1300" dirty="0">
                <a:solidFill>
                  <a:srgbClr val="FFB08F"/>
                </a:solidFill>
                <a:latin typeface="JetBrains Mono" pitchFamily="49" charset="0"/>
                <a:ea typeface="JetBrains Mono" pitchFamily="49" charset="-122"/>
                <a:cs typeface="JetBrains Mono" pitchFamily="49" charset="-120"/>
              </a:rPr>
              <a:t>enforce=restricted</a:t>
            </a:r>
            <a:r>
              <a:rPr lang="en-US" sz="1300" dirty="0">
                <a:solidFill>
                  <a:srgbClr val="ECEAFF"/>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CEAFF"/>
                </a:solidFill>
                <a:latin typeface="JetBrains Mono" pitchFamily="49" charset="0"/>
                <a:ea typeface="JetBrains Mono" pitchFamily="49" charset="-122"/>
                <a:cs typeface="JetBrains Mono" pitchFamily="49" charset="-120"/>
              </a:rPr>
              <a:t>  pod-security.kubernetes.io/warn=restricted</a:t>
            </a:r>
            <a:endParaRPr lang="en-US" sz="1300" dirty="0"/>
          </a:p>
        </p:txBody>
      </p:sp>
      <p:sp>
        <p:nvSpPr>
          <p:cNvPr id="6" name="Text 4"/>
          <p:cNvSpPr/>
          <p:nvPr/>
        </p:nvSpPr>
        <p:spPr>
          <a:xfrm>
            <a:off x="812800" y="3008610"/>
            <a:ext cx="6858000" cy="779780"/>
          </a:xfrm>
          <a:prstGeom prst="roundRect">
            <a:avLst>
              <a:gd name="adj" fmla="val 13029"/>
            </a:avLst>
          </a:prstGeom>
          <a:solidFill>
            <a:srgbClr val="0B0748"/>
          </a:solidFill>
          <a:ln/>
        </p:spPr>
        <p:txBody>
          <a:bodyPr wrap="none" lIns="148042" tIns="97242" rIns="0" bIns="97242" rtlCol="0" anchor="ctr">
            <a:normAutofit/>
          </a:bodyPr>
          <a:lstStyle/>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kubectl label --dry-run=server --overwrite namespace fil-rouge \</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  pod-security.kubernetes.io/enforce=restricted</a:t>
            </a:r>
            <a:endParaRPr lang="en-US" sz="1200" dirty="0"/>
          </a:p>
        </p:txBody>
      </p:sp>
      <p:pic>
        <p:nvPicPr>
          <p:cNvPr id="7" name="Image 0" descr="Search">    </p:cNvPr>
          <p:cNvPicPr>
            <a:picLocks noChangeAspect="1"/>
          </p:cNvPicPr>
          <p:nvPr/>
        </p:nvPicPr>
        <p:blipFill>
          <a:blip r:embed="rId1"/>
          <a:srcRect l="0" r="0" t="0" b="0"/>
          <a:stretch/>
        </p:blipFill>
        <p:spPr>
          <a:xfrm>
            <a:off x="7899400" y="3008610"/>
            <a:ext cx="254000" cy="254000"/>
          </a:xfrm>
          <a:prstGeom prst="rect">
            <a:avLst/>
          </a:prstGeom>
        </p:spPr>
      </p:pic>
      <p:sp>
        <p:nvSpPr>
          <p:cNvPr id="8" name="Text 5"/>
          <p:cNvSpPr/>
          <p:nvPr/>
        </p:nvSpPr>
        <p:spPr>
          <a:xfrm>
            <a:off x="7899400" y="3326110"/>
            <a:ext cx="35841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Avant d'imposer : liste les pods existants qui seraient en infraction, </a:t>
            </a:r>
            <a:r>
              <a:rPr lang="en-US" sz="1300" b="1" dirty="0">
                <a:solidFill>
                  <a:srgbClr val="0B0748"/>
                </a:solidFill>
                <a:latin typeface="IBM Plex Sans" pitchFamily="34" charset="0"/>
                <a:ea typeface="IBM Plex Sans" pitchFamily="34" charset="-122"/>
                <a:cs typeface="IBM Plex Sans" pitchFamily="34" charset="-120"/>
              </a:rPr>
              <a:t>sans rien changer</a:t>
            </a:r>
            <a:r>
              <a:rPr lang="en-US" sz="1300" dirty="0">
                <a:solidFill>
                  <a:srgbClr val="0B0748"/>
                </a:solidFill>
                <a:latin typeface="IBM Plex Sans" pitchFamily="34" charset="0"/>
                <a:ea typeface="IBM Plex Sans" pitchFamily="34" charset="-122"/>
                <a:cs typeface="IBM Plex Sans" pitchFamily="34" charset="-120"/>
              </a:rPr>
              <a:t>.</a:t>
            </a:r>
            <a:endParaRPr lang="en-US" sz="1300" dirty="0"/>
          </a:p>
        </p:txBody>
      </p:sp>
      <p:sp>
        <p:nvSpPr>
          <p:cNvPr id="9" name="Shape 6"/>
          <p:cNvSpPr/>
          <p:nvPr/>
        </p:nvSpPr>
        <p:spPr>
          <a:xfrm>
            <a:off x="812800" y="4549180"/>
            <a:ext cx="10566400" cy="1292860"/>
          </a:xfrm>
          <a:prstGeom prst="roundRect">
            <a:avLst>
              <a:gd name="adj" fmla="val 10806"/>
            </a:avLst>
          </a:prstGeom>
          <a:solidFill>
            <a:srgbClr val="0B0748"/>
          </a:solidFill>
          <a:ln/>
        </p:spPr>
      </p:sp>
      <p:sp>
        <p:nvSpPr>
          <p:cNvPr id="10" name="Text 7"/>
          <p:cNvSpPr/>
          <p:nvPr/>
        </p:nvSpPr>
        <p:spPr>
          <a:xfrm>
            <a:off x="1028700" y="4726980"/>
            <a:ext cx="1043863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DES RÈGLES PLUS FINES : UN MOTEUR DE POLITIQUES</a:t>
            </a:r>
            <a:endParaRPr lang="en-US" sz="1200" dirty="0"/>
          </a:p>
        </p:txBody>
      </p:sp>
      <p:sp>
        <p:nvSpPr>
          <p:cNvPr id="11" name="Text 8"/>
          <p:cNvSpPr/>
          <p:nvPr/>
        </p:nvSpPr>
        <p:spPr>
          <a:xfrm>
            <a:off x="1028700" y="5029200"/>
            <a:ext cx="1043863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Registres autorisés, labels obligatoires, interdiction de latest…</a:t>
            </a:r>
            <a:endParaRPr lang="en-US" sz="1300" dirty="0"/>
          </a:p>
        </p:txBody>
      </p:sp>
      <p:sp>
        <p:nvSpPr>
          <p:cNvPr id="12" name="Text 9"/>
          <p:cNvSpPr/>
          <p:nvPr/>
        </p:nvSpPr>
        <p:spPr>
          <a:xfrm>
            <a:off x="1028700" y="5349280"/>
            <a:ext cx="4495694" cy="3149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ValidatingAdmissionPolicies</a:t>
            </a:r>
            <a:r>
              <a:rPr lang="en-US" sz="1200" dirty="0">
                <a:solidFill>
                  <a:srgbClr val="F5F4F9"/>
                </a:solidFill>
                <a:latin typeface="IBM Plex Sans" pitchFamily="34" charset="0"/>
                <a:ea typeface="IBM Plex Sans" pitchFamily="34" charset="-122"/>
                <a:cs typeface="IBM Plex Sans" pitchFamily="34" charset="-120"/>
              </a:rPr>
              <a:t> · natives, règles en langage CEL</a:t>
            </a:r>
            <a:endParaRPr lang="en-US" sz="1200" dirty="0"/>
          </a:p>
        </p:txBody>
      </p:sp>
      <p:sp>
        <p:nvSpPr>
          <p:cNvPr id="13" name="Text 10"/>
          <p:cNvSpPr/>
          <p:nvPr/>
        </p:nvSpPr>
        <p:spPr>
          <a:xfrm>
            <a:off x="5613294" y="5349280"/>
            <a:ext cx="868468" cy="3149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Kyverno</a:t>
            </a:r>
            <a:endParaRPr lang="en-US" sz="1200" dirty="0"/>
          </a:p>
        </p:txBody>
      </p:sp>
      <p:sp>
        <p:nvSpPr>
          <p:cNvPr id="14" name="Text 11"/>
          <p:cNvSpPr/>
          <p:nvPr/>
        </p:nvSpPr>
        <p:spPr>
          <a:xfrm>
            <a:off x="6570663" y="5349280"/>
            <a:ext cx="1451187" cy="3149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5F4F9"/>
                </a:solidFill>
                <a:latin typeface="IBM Plex Sans" pitchFamily="34" charset="0"/>
                <a:ea typeface="IBM Plex Sans" pitchFamily="34" charset="-122"/>
                <a:cs typeface="IBM Plex Sans" pitchFamily="34" charset="-120"/>
              </a:rPr>
              <a:t>OPA Gatekeeper</a:t>
            </a:r>
            <a:endParaRPr lang="en-US" sz="1200" dirty="0"/>
          </a:p>
        </p:txBody>
      </p:sp>
      <p:pic>
        <p:nvPicPr>
          <p:cNvPr id="15" name="Image 1" descr="preencoded.png">    </p:cNvPr>
          <p:cNvPicPr>
            <a:picLocks noChangeAspect="1"/>
          </p:cNvPicPr>
          <p:nvPr/>
        </p:nvPicPr>
        <p:blipFill>
          <a:blip r:embed="rId2"/>
          <a:srcRect l="0" r="0" t="-35" b="-35"/>
          <a:stretch/>
        </p:blipFill>
        <p:spPr>
          <a:xfrm>
            <a:off x="812800" y="6299200"/>
            <a:ext cx="152400" cy="152506"/>
          </a:xfrm>
          <a:prstGeom prst="rect">
            <a:avLst/>
          </a:prstGeom>
        </p:spPr>
      </p:pic>
      <p:sp>
        <p:nvSpPr>
          <p:cNvPr id="16" name="Text 12"/>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7" name="Image 2" descr="Parcours : module 15 sur 16">    </p:cNvPr>
          <p:cNvPicPr>
            <a:picLocks noChangeAspect="1"/>
          </p:cNvPicPr>
          <p:nvPr/>
        </p:nvPicPr>
        <p:blipFill>
          <a:blip r:embed="rId3"/>
          <a:srcRect l="0" r="0" t="-35" b="-35"/>
          <a:stretch/>
        </p:blipFill>
        <p:spPr>
          <a:xfrm>
            <a:off x="9207500" y="6299200"/>
            <a:ext cx="2171700" cy="152506"/>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securityContext</a:t>
            </a:r>
            <a:endParaRPr lang="en-US" sz="2800" dirty="0"/>
          </a:p>
        </p:txBody>
      </p:sp>
      <p:sp>
        <p:nvSpPr>
          <p:cNvPr id="4" name="Text 2"/>
          <p:cNvSpPr/>
          <p:nvPr/>
        </p:nvSpPr>
        <p:spPr>
          <a:xfrm>
            <a:off x="812800" y="1544340"/>
            <a:ext cx="7175500" cy="4297680"/>
          </a:xfrm>
          <a:prstGeom prst="roundRect">
            <a:avLst>
              <a:gd name="adj" fmla="val 2364"/>
            </a:avLst>
          </a:prstGeom>
          <a:solidFill>
            <a:srgbClr val="0B0748"/>
          </a:solidFill>
          <a:ln/>
        </p:spPr>
        <p:txBody>
          <a:bodyPr wrap="none" lIns="148042" tIns="84542" rIns="0" bIns="84542" rtlCol="0" anchor="ctr">
            <a:normAutofit/>
          </a:bodyPr>
          <a:lstStyle/>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apiVersion: v1</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kind: </a:t>
            </a:r>
            <a:r>
              <a:rPr lang="en-US" sz="1100" dirty="0">
                <a:solidFill>
                  <a:srgbClr val="FFB08F"/>
                </a:solidFill>
                <a:latin typeface="JetBrains Mono" pitchFamily="49" charset="0"/>
                <a:ea typeface="JetBrains Mono" pitchFamily="49" charset="-122"/>
                <a:cs typeface="JetBrains Mono" pitchFamily="49" charset="-120"/>
              </a:rPr>
              <a:t>Pod</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name: podinfo-securise</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spec:</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securityContext:</a:t>
            </a: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9A96D0"/>
                </a:solidFill>
                <a:latin typeface="JetBrains Mono" pitchFamily="49" charset="0"/>
                <a:ea typeface="JetBrains Mono" pitchFamily="49" charset="-122"/>
                <a:cs typeface="JetBrains Mono" pitchFamily="49" charset="-120"/>
              </a:rPr>
              <a:t># niveau pod : tous les conteneurs</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runAsNonRoot: true</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runAsUser: 10001</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runAsGroup: 10001</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fsGroup: 10001                   </a:t>
            </a:r>
            <a:r>
              <a:rPr lang="en-US" sz="1100" dirty="0">
                <a:solidFill>
                  <a:srgbClr val="9A96D0"/>
                </a:solidFill>
                <a:latin typeface="JetBrains Mono" pitchFamily="49" charset="0"/>
                <a:ea typeface="JetBrains Mono" pitchFamily="49" charset="-122"/>
                <a:cs typeface="JetBrains Mono" pitchFamily="49" charset="-120"/>
              </a:rPr>
              <a:t># groupe propriétaire des volumes</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seccompProfile:</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type: RuntimeDefault           </a:t>
            </a:r>
            <a:r>
              <a:rPr lang="en-US" sz="1100" dirty="0">
                <a:solidFill>
                  <a:srgbClr val="9A96D0"/>
                </a:solidFill>
                <a:latin typeface="JetBrains Mono" pitchFamily="49" charset="0"/>
                <a:ea typeface="JetBrains Mono" pitchFamily="49" charset="-122"/>
                <a:cs typeface="JetBrains Mono" pitchFamily="49" charset="-120"/>
              </a:rPr>
              <a:t># filtre les appels système dangereux</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containers:</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 name: podinfo</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image: ghcr.io/stefanprodan/podinfo:6.7.1</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securityContext:</a:t>
            </a: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9A96D0"/>
                </a:solidFill>
                <a:latin typeface="JetBrains Mono" pitchFamily="49" charset="0"/>
                <a:ea typeface="JetBrains Mono" pitchFamily="49" charset="-122"/>
                <a:cs typeface="JetBrains Mono" pitchFamily="49" charset="-120"/>
              </a:rPr>
              <a:t># niveau conteneur</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allowPrivilegeEscalation: false</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readOnlyRootFilesystem: true   </a:t>
            </a:r>
            <a:r>
              <a:rPr lang="en-US" sz="1100" dirty="0">
                <a:solidFill>
                  <a:srgbClr val="9A96D0"/>
                </a:solidFill>
                <a:latin typeface="JetBrains Mono" pitchFamily="49" charset="0"/>
                <a:ea typeface="JetBrains Mono" pitchFamily="49" charset="-122"/>
                <a:cs typeface="JetBrains Mono" pitchFamily="49" charset="-120"/>
              </a:rPr>
              <a:t># facultatif, recommandé</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capabilities:</a:t>
            </a:r>
            <a:endParaRPr lang="en-US" sz="1100" dirty="0"/>
          </a:p>
          <a:p>
            <a:pPr algn="l" indent="0" marL="0">
              <a:lnSpc>
                <a:spcPts val="1430"/>
              </a:lnSpc>
              <a:buNone/>
            </a:pPr>
            <a:r>
              <a:rPr lang="en-US" sz="1100" dirty="0">
                <a:solidFill>
                  <a:srgbClr val="ECEAFF"/>
                </a:solidFill>
                <a:latin typeface="JetBrains Mono" pitchFamily="49" charset="0"/>
                <a:ea typeface="JetBrains Mono" pitchFamily="49" charset="-122"/>
                <a:cs typeface="JetBrains Mono" pitchFamily="49" charset="-120"/>
              </a:rPr>
              <a:t>        drop: ["ALL"]</a:t>
            </a:r>
            <a:endParaRPr lang="en-US" sz="1100" dirty="0"/>
          </a:p>
        </p:txBody>
      </p:sp>
      <p:sp>
        <p:nvSpPr>
          <p:cNvPr id="5" name="Text 3"/>
          <p:cNvSpPr/>
          <p:nvPr/>
        </p:nvSpPr>
        <p:spPr>
          <a:xfrm>
            <a:off x="8216900" y="1544340"/>
            <a:ext cx="3257169" cy="551180"/>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0B0748"/>
                </a:solidFill>
                <a:latin typeface="IBM Plex Sans" pitchFamily="34" charset="0"/>
                <a:ea typeface="IBM Plex Sans" pitchFamily="34" charset="-122"/>
                <a:cs typeface="IBM Plex Sans" pitchFamily="34" charset="-120"/>
              </a:rPr>
              <a:t>Le securityContext déclare </a:t>
            </a:r>
            <a:r>
              <a:rPr lang="en-US" sz="1500" b="1" dirty="0">
                <a:solidFill>
                  <a:srgbClr val="0B0748"/>
                </a:solidFill>
                <a:latin typeface="IBM Plex Sans" pitchFamily="34" charset="0"/>
                <a:ea typeface="IBM Plex Sans" pitchFamily="34" charset="-122"/>
                <a:cs typeface="IBM Plex Sans" pitchFamily="34" charset="-120"/>
              </a:rPr>
              <a:t>comment le conteneur s'exécute</a:t>
            </a:r>
            <a:r>
              <a:rPr lang="en-US" sz="1500" dirty="0">
                <a:solidFill>
                  <a:srgbClr val="0B0748"/>
                </a:solidFill>
                <a:latin typeface="IBM Plex Sans" pitchFamily="34" charset="0"/>
                <a:ea typeface="IBM Plex Sans" pitchFamily="34" charset="-122"/>
                <a:cs typeface="IBM Plex Sans" pitchFamily="34" charset="-120"/>
              </a:rPr>
              <a:t>.</a:t>
            </a:r>
            <a:endParaRPr lang="en-US" sz="1500" dirty="0"/>
          </a:p>
        </p:txBody>
      </p:sp>
      <p:sp>
        <p:nvSpPr>
          <p:cNvPr id="6" name="Text 4"/>
          <p:cNvSpPr/>
          <p:nvPr/>
        </p:nvSpPr>
        <p:spPr>
          <a:xfrm>
            <a:off x="8216900" y="2184400"/>
            <a:ext cx="3257169"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F3C6B"/>
                </a:solidFill>
                <a:latin typeface="IBM Plex Sans" pitchFamily="34" charset="0"/>
                <a:ea typeface="IBM Plex Sans" pitchFamily="34" charset="-122"/>
                <a:cs typeface="IBM Plex Sans" pitchFamily="34" charset="-120"/>
              </a:rPr>
              <a:t>Voici un pod conforme au niveau restricted.</a:t>
            </a:r>
            <a:endParaRPr lang="en-US" sz="1350" dirty="0"/>
          </a:p>
        </p:txBody>
      </p:sp>
      <p:sp>
        <p:nvSpPr>
          <p:cNvPr id="7" name="Shape 5"/>
          <p:cNvSpPr/>
          <p:nvPr/>
        </p:nvSpPr>
        <p:spPr>
          <a:xfrm>
            <a:off x="8220075" y="4620716"/>
            <a:ext cx="3155950" cy="1218142"/>
          </a:xfrm>
          <a:prstGeom prst="roundRect">
            <a:avLst>
              <a:gd name="adj" fmla="val 10165"/>
            </a:avLst>
          </a:prstGeom>
          <a:solidFill>
            <a:srgbClr val="FDFDFF"/>
          </a:solidFill>
          <a:ln w="6350">
            <a:solidFill>
              <a:srgbClr val="E1DFEE"/>
            </a:solidFill>
            <a:prstDash val="solid"/>
          </a:ln>
        </p:spPr>
      </p:sp>
      <p:sp>
        <p:nvSpPr>
          <p:cNvPr id="8" name="Text 6"/>
          <p:cNvSpPr/>
          <p:nvPr/>
        </p:nvSpPr>
        <p:spPr>
          <a:xfrm>
            <a:off x="8389091" y="4764385"/>
            <a:ext cx="29024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DEUX NIVEAUX</a:t>
            </a:r>
            <a:endParaRPr lang="en-US" sz="1200" dirty="0"/>
          </a:p>
        </p:txBody>
      </p:sp>
      <p:sp>
        <p:nvSpPr>
          <p:cNvPr id="9" name="Text 7"/>
          <p:cNvSpPr/>
          <p:nvPr/>
        </p:nvSpPr>
        <p:spPr>
          <a:xfrm>
            <a:off x="8389091" y="5028605"/>
            <a:ext cx="290245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0B0748"/>
                </a:solidFill>
                <a:latin typeface="IBM Plex Sans" pitchFamily="34" charset="0"/>
                <a:ea typeface="IBM Plex Sans" pitchFamily="34" charset="-122"/>
                <a:cs typeface="IBM Plex Sans" pitchFamily="34" charset="-120"/>
              </a:rPr>
              <a:t>Celui du pod s'applique à tous les conteneurs ; celui du conteneur le complète.</a:t>
            </a:r>
            <a:endParaRPr lang="en-US" sz="1250" dirty="0"/>
          </a:p>
        </p:txBody>
      </p:sp>
      <p:pic>
        <p:nvPicPr>
          <p:cNvPr id="10"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1" name="Text 8"/>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2" name="Image 1" descr="Parcours : module 15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champs du securityContext</a:t>
            </a:r>
            <a:endParaRPr lang="en-US" sz="2800" dirty="0"/>
          </a:p>
        </p:txBody>
      </p:sp>
      <p:sp>
        <p:nvSpPr>
          <p:cNvPr id="4" name="Shape 2"/>
          <p:cNvSpPr/>
          <p:nvPr/>
        </p:nvSpPr>
        <p:spPr>
          <a:xfrm>
            <a:off x="812800" y="1595140"/>
            <a:ext cx="10566400" cy="2919307"/>
          </a:xfrm>
          <a:prstGeom prst="rect">
            <a:avLst/>
          </a:prstGeom>
          <a:solidFill>
            <a:srgbClr val="FDFD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9891" y="1602231"/>
          <a:ext cx="10559309" cy="2912216"/>
        </p:xfrm>
        <a:graphic>
          <a:graphicData uri="http://schemas.openxmlformats.org/drawingml/2006/table">
            <a:tbl>
              <a:tblPr/>
              <a:tblGrid>
                <a:gridCol w="4223724"/>
                <a:gridCol w="6335585"/>
              </a:tblGrid>
              <a:tr h="380471">
                <a:tc>
                  <a:txBody>
                    <a:bodyPr/>
                    <a:lstStyle/>
                    <a:p>
                      <a:pPr indent="0" marL="0">
                        <a:lnSpc>
                          <a:spcPts val="1960"/>
                        </a:lnSpc>
                        <a:buNone/>
                      </a:pPr>
                      <a:r>
                        <a:rPr lang="en-US" sz="1400" b="1" dirty="0">
                          <a:solidFill>
                            <a:srgbClr val="F5F4F9"/>
                          </a:solidFill>
                          <a:latin typeface="IBM Plex Sans" pitchFamily="34" charset="0"/>
                          <a:ea typeface="IBM Plex Sans" pitchFamily="34" charset="-122"/>
                          <a:cs typeface="IBM Plex Sans" pitchFamily="34" charset="-120"/>
                        </a:rPr>
                        <a:t>Champ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960"/>
                        </a:lnSpc>
                        <a:buNone/>
                      </a:pPr>
                      <a:r>
                        <a:rPr lang="en-US" sz="1400" b="1" dirty="0">
                          <a:solidFill>
                            <a:srgbClr val="F5F4F9"/>
                          </a:solidFill>
                          <a:latin typeface="IBM Plex Sans" pitchFamily="34" charset="0"/>
                          <a:ea typeface="IBM Plex Sans" pitchFamily="34" charset="-122"/>
                          <a:cs typeface="IBM Plex Sans" pitchFamily="34" charset="-120"/>
                        </a:rPr>
                        <a:t>Effet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runAsNonRoot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Refuse de démarrer si le processus tournerait en root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runAsUser, runAsGroup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Identifiants numériques imposés au processus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allowPrivilegeEscalation: false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Empêche un processus d'acquérir plus de droits que son parent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8047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capabilities.drop: ["ALL"]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Retire toutes les capacités noyau (on peut réajouter NET_BIND_SERVICE)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629391">
                <a:tc>
                  <a:txBody>
                    <a:bodyPr/>
                    <a:lstStyle/>
                    <a:p>
                      <a:pPr indent="0" marL="0">
                        <a:lnSpc>
                          <a:spcPts val="1960"/>
                        </a:lnSpc>
                        <a:buNone/>
                      </a:pPr>
                      <a:r>
                        <a:rPr lang="en-US" sz="1400" dirty="0">
                          <a:solidFill>
                            <a:srgbClr val="0B0748"/>
                          </a:solidFill>
                          <a:latin typeface="IBM Plex Sans" pitchFamily="34" charset="0"/>
                          <a:ea typeface="IBM Plex Sans" pitchFamily="34" charset="-122"/>
                          <a:cs typeface="IBM Plex Sans" pitchFamily="34" charset="-120"/>
                        </a:rPr>
                        <a:t>readOnlyRootFilesystem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Système de fichiers du conteneur en lecture seule ; un volume emptyDir pour les écritures temporaires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80471">
                <a:tc>
                  <a:txBody>
                    <a:bodyPr/>
                    <a:lstStyle/>
                    <a:p>
                      <a:pPr indent="0" marL="0">
                        <a:lnSpc>
                          <a:spcPts val="1960"/>
                        </a:lnSpc>
                        <a:buNone/>
                      </a:pPr>
                      <a:r>
                        <a:rPr lang="en-US" sz="1400" dirty="0">
                          <a:solidFill>
                            <a:srgbClr val="B8421A"/>
                          </a:solidFill>
                          <a:latin typeface="IBM Plex Sans" pitchFamily="34" charset="0"/>
                          <a:ea typeface="IBM Plex Sans" pitchFamily="34" charset="-122"/>
                          <a:cs typeface="IBM Plex Sans" pitchFamily="34" charset="-120"/>
                        </a:rPr>
                        <a:t>privileged: true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Accès quasi complet à l'hôte : à proscrire hors composants système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pic>
        <p:nvPicPr>
          <p:cNvPr id="6"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7" name="Text 3"/>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8" name="Image 1" descr="Parcours : module 15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NetworkPolicies</a:t>
            </a:r>
            <a:endParaRPr lang="en-US" sz="2800" dirty="0"/>
          </a:p>
        </p:txBody>
      </p:sp>
      <p:pic>
        <p:nvPicPr>
          <p:cNvPr id="4" name="Image 0" descr="Check">    </p:cNvPr>
          <p:cNvPicPr>
            <a:picLocks noChangeAspect="1"/>
          </p:cNvPicPr>
          <p:nvPr/>
        </p:nvPicPr>
        <p:blipFill>
          <a:blip r:embed="rId1"/>
          <a:srcRect l="0" r="0" t="0" b="0"/>
          <a:stretch/>
        </p:blipFill>
        <p:spPr>
          <a:xfrm>
            <a:off x="812800" y="2535932"/>
            <a:ext cx="190500" cy="190500"/>
          </a:xfrm>
          <a:prstGeom prst="rect">
            <a:avLst/>
          </a:prstGeom>
        </p:spPr>
      </p:pic>
      <p:sp>
        <p:nvSpPr>
          <p:cNvPr id="5" name="Text 2"/>
          <p:cNvSpPr/>
          <p:nvPr/>
        </p:nvSpPr>
        <p:spPr>
          <a:xfrm>
            <a:off x="1092200" y="2535932"/>
            <a:ext cx="2786253"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0B0748"/>
                </a:solidFill>
                <a:latin typeface="IBM Plex Sans" pitchFamily="34" charset="0"/>
                <a:ea typeface="IBM Plex Sans" pitchFamily="34" charset="-122"/>
                <a:cs typeface="IBM Plex Sans" pitchFamily="34" charset="-120"/>
              </a:rPr>
              <a:t>Par défaut, tout pod peut joindre tout pod.</a:t>
            </a:r>
            <a:endParaRPr lang="en-US" sz="1250" dirty="0"/>
          </a:p>
        </p:txBody>
      </p:sp>
      <p:pic>
        <p:nvPicPr>
          <p:cNvPr id="6" name="Image 1" descr="Check">    </p:cNvPr>
          <p:cNvPicPr>
            <a:picLocks noChangeAspect="1"/>
          </p:cNvPicPr>
          <p:nvPr/>
        </p:nvPicPr>
        <p:blipFill>
          <a:blip r:embed="rId2"/>
          <a:srcRect l="0" r="0" t="0" b="0"/>
          <a:stretch/>
        </p:blipFill>
        <p:spPr>
          <a:xfrm>
            <a:off x="812800" y="3088382"/>
            <a:ext cx="190500" cy="190500"/>
          </a:xfrm>
          <a:prstGeom prst="rect">
            <a:avLst/>
          </a:prstGeom>
        </p:spPr>
      </p:pic>
      <p:sp>
        <p:nvSpPr>
          <p:cNvPr id="7" name="Text 3"/>
          <p:cNvSpPr/>
          <p:nvPr/>
        </p:nvSpPr>
        <p:spPr>
          <a:xfrm>
            <a:off x="1092200" y="3088382"/>
            <a:ext cx="2786253" cy="682625"/>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0B0748"/>
                </a:solidFill>
                <a:latin typeface="IBM Plex Sans" pitchFamily="34" charset="0"/>
                <a:ea typeface="IBM Plex Sans" pitchFamily="34" charset="-122"/>
                <a:cs typeface="IBM Plex Sans" pitchFamily="34" charset="-120"/>
              </a:rPr>
              <a:t>Dès qu'une policy </a:t>
            </a:r>
            <a:r>
              <a:rPr lang="en-US" sz="1250" b="1" dirty="0">
                <a:solidFill>
                  <a:srgbClr val="0B0748"/>
                </a:solidFill>
                <a:latin typeface="IBM Plex Sans" pitchFamily="34" charset="0"/>
                <a:ea typeface="IBM Plex Sans" pitchFamily="34" charset="-122"/>
                <a:cs typeface="IBM Plex Sans" pitchFamily="34" charset="-120"/>
              </a:rPr>
              <a:t>sélectionne</a:t>
            </a:r>
            <a:r>
              <a:rPr lang="en-US" sz="1250" dirty="0">
                <a:solidFill>
                  <a:srgbClr val="0B0748"/>
                </a:solidFill>
                <a:latin typeface="IBM Plex Sans" pitchFamily="34" charset="0"/>
                <a:ea typeface="IBM Plex Sans" pitchFamily="34" charset="-122"/>
                <a:cs typeface="IBM Plex Sans" pitchFamily="34" charset="-120"/>
              </a:rPr>
              <a:t> un pod pour une direction, seul le trafic autorisé passe dans cette direction.</a:t>
            </a:r>
            <a:endParaRPr lang="en-US" sz="1250" dirty="0"/>
          </a:p>
        </p:txBody>
      </p:sp>
      <p:pic>
        <p:nvPicPr>
          <p:cNvPr id="8" name="Image 2" descr="Check">    </p:cNvPr>
          <p:cNvPicPr>
            <a:picLocks noChangeAspect="1"/>
          </p:cNvPicPr>
          <p:nvPr/>
        </p:nvPicPr>
        <p:blipFill>
          <a:blip r:embed="rId3"/>
          <a:srcRect l="0" r="0" t="0" b="0"/>
          <a:stretch/>
        </p:blipFill>
        <p:spPr>
          <a:xfrm>
            <a:off x="812800" y="3859907"/>
            <a:ext cx="190500" cy="190500"/>
          </a:xfrm>
          <a:prstGeom prst="rect">
            <a:avLst/>
          </a:prstGeom>
        </p:spPr>
      </p:pic>
      <p:sp>
        <p:nvSpPr>
          <p:cNvPr id="9" name="Text 4"/>
          <p:cNvSpPr/>
          <p:nvPr/>
        </p:nvSpPr>
        <p:spPr>
          <a:xfrm>
            <a:off x="1092200" y="3859907"/>
            <a:ext cx="2786253"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0B0748"/>
                </a:solidFill>
                <a:latin typeface="IBM Plex Sans" pitchFamily="34" charset="0"/>
                <a:ea typeface="IBM Plex Sans" pitchFamily="34" charset="-122"/>
                <a:cs typeface="IBM Plex Sans" pitchFamily="34" charset="-120"/>
              </a:rPr>
              <a:t>Les policies s'additionnent : ni ordre, ni règle de refus.</a:t>
            </a:r>
            <a:endParaRPr lang="en-US" sz="1250" dirty="0"/>
          </a:p>
        </p:txBody>
      </p:sp>
      <p:pic>
        <p:nvPicPr>
          <p:cNvPr id="10" name="Image 3" descr="Check">    </p:cNvPr>
          <p:cNvPicPr>
            <a:picLocks noChangeAspect="1"/>
          </p:cNvPicPr>
          <p:nvPr/>
        </p:nvPicPr>
        <p:blipFill>
          <a:blip r:embed="rId4"/>
          <a:srcRect l="0" r="0" t="0" b="0"/>
          <a:stretch/>
        </p:blipFill>
        <p:spPr>
          <a:xfrm>
            <a:off x="812800" y="4412357"/>
            <a:ext cx="190500" cy="190500"/>
          </a:xfrm>
          <a:prstGeom prst="rect">
            <a:avLst/>
          </a:prstGeom>
        </p:spPr>
      </p:pic>
      <p:sp>
        <p:nvSpPr>
          <p:cNvPr id="11" name="Text 5"/>
          <p:cNvSpPr/>
          <p:nvPr/>
        </p:nvSpPr>
        <p:spPr>
          <a:xfrm>
            <a:off x="1092200" y="4412357"/>
            <a:ext cx="2786253"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0B0748"/>
                </a:solidFill>
                <a:latin typeface="IBM Plex Sans" pitchFamily="34" charset="0"/>
                <a:ea typeface="IBM Plex Sans" pitchFamily="34" charset="-122"/>
                <a:cs typeface="IBM Plex Sans" pitchFamily="34" charset="-120"/>
              </a:rPr>
              <a:t>Effet seulement si le CNI les applique. Calico : oui.</a:t>
            </a:r>
            <a:endParaRPr lang="en-US" sz="1250" dirty="0"/>
          </a:p>
        </p:txBody>
      </p:sp>
      <p:sp>
        <p:nvSpPr>
          <p:cNvPr id="12" name="Text 6"/>
          <p:cNvSpPr/>
          <p:nvPr/>
        </p:nvSpPr>
        <p:spPr>
          <a:xfrm>
            <a:off x="3975100" y="1544340"/>
            <a:ext cx="378040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1 · REFUS PAR DÉFAUT EN ENTRÉE</a:t>
            </a:r>
            <a:endParaRPr lang="en-US" sz="1200" dirty="0"/>
          </a:p>
        </p:txBody>
      </p:sp>
      <p:sp>
        <p:nvSpPr>
          <p:cNvPr id="13" name="Text 7"/>
          <p:cNvSpPr/>
          <p:nvPr/>
        </p:nvSpPr>
        <p:spPr>
          <a:xfrm>
            <a:off x="3975100" y="1833860"/>
            <a:ext cx="3670300" cy="1654387"/>
          </a:xfrm>
          <a:prstGeom prst="roundRect">
            <a:avLst>
              <a:gd name="adj" fmla="val 6141"/>
            </a:avLst>
          </a:prstGeom>
          <a:solidFill>
            <a:srgbClr val="0B0748"/>
          </a:solidFill>
          <a:ln/>
        </p:spPr>
        <p:txBody>
          <a:bodyPr wrap="none" lIns="122642" tIns="59142" rIns="21677" bIns="59142" rtlCol="0" anchor="ctr">
            <a:normAutofit/>
          </a:bodyPr>
          <a:lstStyle/>
          <a:p>
            <a:pPr algn="l" indent="0" marL="0">
              <a:lnSpc>
                <a:spcPts val="1428"/>
              </a:lnSpc>
              <a:buNone/>
            </a:pPr>
            <a:r>
              <a:rPr lang="en-US" sz="1050" dirty="0">
                <a:solidFill>
                  <a:srgbClr val="ECEAFF"/>
                </a:solidFill>
                <a:latin typeface="JetBrains Mono" pitchFamily="49" charset="0"/>
                <a:ea typeface="JetBrains Mono" pitchFamily="49" charset="-122"/>
                <a:cs typeface="JetBrains Mono" pitchFamily="49" charset="-120"/>
              </a:rPr>
              <a:t>apiVersion: networking.k8s.io/v1</a:t>
            </a:r>
            <a:endParaRPr lang="en-US" sz="1050" dirty="0"/>
          </a:p>
          <a:p>
            <a:pPr algn="l" indent="0" marL="0">
              <a:lnSpc>
                <a:spcPts val="1428"/>
              </a:lnSpc>
              <a:buNone/>
            </a:pPr>
            <a:r>
              <a:rPr lang="en-US" sz="1050" dirty="0">
                <a:solidFill>
                  <a:srgbClr val="ECEAFF"/>
                </a:solidFill>
                <a:latin typeface="JetBrains Mono" pitchFamily="49" charset="0"/>
                <a:ea typeface="JetBrains Mono" pitchFamily="49" charset="-122"/>
                <a:cs typeface="JetBrains Mono" pitchFamily="49" charset="-120"/>
              </a:rPr>
              <a:t>kind: </a:t>
            </a:r>
            <a:r>
              <a:rPr lang="en-US" sz="1050" dirty="0">
                <a:solidFill>
                  <a:srgbClr val="FFB08F"/>
                </a:solidFill>
                <a:latin typeface="JetBrains Mono" pitchFamily="49" charset="0"/>
                <a:ea typeface="JetBrains Mono" pitchFamily="49" charset="-122"/>
                <a:cs typeface="JetBrains Mono" pitchFamily="49" charset="-120"/>
              </a:rPr>
              <a:t>NetworkPolicy</a:t>
            </a:r>
            <a:endParaRPr lang="en-US" sz="1050" dirty="0"/>
          </a:p>
          <a:p>
            <a:pPr algn="l" indent="0" marL="0">
              <a:lnSpc>
                <a:spcPts val="1428"/>
              </a:lnSpc>
              <a:buNone/>
            </a:pPr>
            <a:r>
              <a:rPr lang="en-US" sz="1050" dirty="0">
                <a:solidFill>
                  <a:srgbClr val="ECEAFF"/>
                </a:solidFill>
                <a:latin typeface="JetBrains Mono" pitchFamily="49" charset="0"/>
                <a:ea typeface="JetBrains Mono" pitchFamily="49" charset="-122"/>
                <a:cs typeface="JetBrains Mono" pitchFamily="49" charset="-120"/>
              </a:rPr>
              <a:t>metadata:</a:t>
            </a:r>
            <a:endParaRPr lang="en-US" sz="1050" dirty="0"/>
          </a:p>
          <a:p>
            <a:pPr algn="l" indent="0" marL="0">
              <a:lnSpc>
                <a:spcPts val="1428"/>
              </a:lnSpc>
              <a:buNone/>
            </a:pPr>
            <a:r>
              <a:rPr lang="en-US" sz="1050" dirty="0">
                <a:solidFill>
                  <a:srgbClr val="ECEAFF"/>
                </a:solidFill>
                <a:latin typeface="JetBrains Mono" pitchFamily="49" charset="0"/>
                <a:ea typeface="JetBrains Mono" pitchFamily="49" charset="-122"/>
                <a:cs typeface="JetBrains Mono" pitchFamily="49" charset="-120"/>
              </a:rPr>
              <a:t>  name: refus-par-defaut</a:t>
            </a:r>
            <a:endParaRPr lang="en-US" sz="1050" dirty="0"/>
          </a:p>
          <a:p>
            <a:pPr algn="l" indent="0" marL="0">
              <a:lnSpc>
                <a:spcPts val="1428"/>
              </a:lnSpc>
              <a:buNone/>
            </a:pPr>
            <a:r>
              <a:rPr lang="en-US" sz="1050" dirty="0">
                <a:solidFill>
                  <a:srgbClr val="ECEAFF"/>
                </a:solidFill>
                <a:latin typeface="JetBrains Mono" pitchFamily="49" charset="0"/>
                <a:ea typeface="JetBrains Mono" pitchFamily="49" charset="-122"/>
                <a:cs typeface="JetBrains Mono" pitchFamily="49" charset="-120"/>
              </a:rPr>
              <a:t>  namespace: fil-rouge</a:t>
            </a:r>
            <a:endParaRPr lang="en-US" sz="1050" dirty="0"/>
          </a:p>
          <a:p>
            <a:pPr algn="l" indent="0" marL="0">
              <a:lnSpc>
                <a:spcPts val="1428"/>
              </a:lnSpc>
              <a:buNone/>
            </a:pPr>
            <a:r>
              <a:rPr lang="en-US" sz="1050" dirty="0">
                <a:solidFill>
                  <a:srgbClr val="ECEAFF"/>
                </a:solidFill>
                <a:latin typeface="JetBrains Mono" pitchFamily="49" charset="0"/>
                <a:ea typeface="JetBrains Mono" pitchFamily="49" charset="-122"/>
                <a:cs typeface="JetBrains Mono" pitchFamily="49" charset="-120"/>
              </a:rPr>
              <a:t>spec:</a:t>
            </a:r>
            <a:endParaRPr lang="en-US" sz="1050" dirty="0"/>
          </a:p>
          <a:p>
            <a:pPr algn="l" indent="0" marL="0">
              <a:lnSpc>
                <a:spcPts val="1428"/>
              </a:lnSpc>
              <a:buNone/>
            </a:pPr>
            <a:r>
              <a:rPr lang="en-US" sz="1050" dirty="0">
                <a:solidFill>
                  <a:srgbClr val="ECEAFF"/>
                </a:solidFill>
                <a:latin typeface="JetBrains Mono" pitchFamily="49" charset="0"/>
                <a:ea typeface="JetBrains Mono" pitchFamily="49" charset="-122"/>
                <a:cs typeface="JetBrains Mono" pitchFamily="49" charset="-120"/>
              </a:rPr>
              <a:t>  podSelector: {}  </a:t>
            </a:r>
            <a:r>
              <a:rPr lang="en-US" sz="1050" dirty="0">
                <a:solidFill>
                  <a:srgbClr val="9A96D0"/>
                </a:solidFill>
                <a:latin typeface="JetBrains Mono" pitchFamily="49" charset="0"/>
                <a:ea typeface="JetBrains Mono" pitchFamily="49" charset="-122"/>
                <a:cs typeface="JetBrains Mono" pitchFamily="49" charset="-120"/>
              </a:rPr>
              <a:t># tous les pods</a:t>
            </a:r>
            <a:endParaRPr lang="en-US" sz="1050" dirty="0"/>
          </a:p>
          <a:p>
            <a:pPr algn="l" indent="0" marL="0">
              <a:lnSpc>
                <a:spcPts val="1428"/>
              </a:lnSpc>
              <a:buNone/>
            </a:pPr>
            <a:r>
              <a:rPr lang="en-US" sz="1050" dirty="0">
                <a:solidFill>
                  <a:srgbClr val="ECEAFF"/>
                </a:solidFill>
                <a:latin typeface="JetBrains Mono" pitchFamily="49" charset="0"/>
                <a:ea typeface="JetBrains Mono" pitchFamily="49" charset="-122"/>
                <a:cs typeface="JetBrains Mono" pitchFamily="49" charset="-120"/>
              </a:rPr>
              <a:t>  policyTypes: ["Ingress"]</a:t>
            </a:r>
            <a:endParaRPr lang="en-US" sz="1050" dirty="0"/>
          </a:p>
        </p:txBody>
      </p:sp>
      <p:sp>
        <p:nvSpPr>
          <p:cNvPr id="14" name="Text 8"/>
          <p:cNvSpPr/>
          <p:nvPr/>
        </p:nvSpPr>
        <p:spPr>
          <a:xfrm>
            <a:off x="3975100" y="3564434"/>
            <a:ext cx="3780409" cy="445982"/>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6B6890"/>
                </a:solidFill>
                <a:latin typeface="IBM Plex Sans" pitchFamily="34" charset="0"/>
                <a:ea typeface="IBM Plex Sans" pitchFamily="34" charset="-122"/>
                <a:cs typeface="IBM Plex Sans" pitchFamily="34" charset="-120"/>
              </a:rPr>
              <a:t>Le namespace devient une liste blanche : rien n'entre sans autorisation.</a:t>
            </a:r>
            <a:endParaRPr lang="en-US" sz="1200" dirty="0"/>
          </a:p>
        </p:txBody>
      </p:sp>
      <p:sp>
        <p:nvSpPr>
          <p:cNvPr id="15" name="Text 9"/>
          <p:cNvSpPr/>
          <p:nvPr/>
        </p:nvSpPr>
        <p:spPr>
          <a:xfrm>
            <a:off x="7823200" y="1544340"/>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2 · SEUL PODINFO JOINT REDIS</a:t>
            </a:r>
            <a:endParaRPr lang="en-US" sz="1200" dirty="0"/>
          </a:p>
        </p:txBody>
      </p:sp>
      <p:sp>
        <p:nvSpPr>
          <p:cNvPr id="16" name="Text 10"/>
          <p:cNvSpPr/>
          <p:nvPr/>
        </p:nvSpPr>
        <p:spPr>
          <a:xfrm>
            <a:off x="7823200" y="1833860"/>
            <a:ext cx="3556000" cy="4008120"/>
          </a:xfrm>
          <a:prstGeom prst="roundRect">
            <a:avLst>
              <a:gd name="adj" fmla="val 2857"/>
            </a:avLst>
          </a:prstGeom>
          <a:solidFill>
            <a:srgbClr val="0B0748"/>
          </a:solidFill>
          <a:ln/>
        </p:spPr>
        <p:txBody>
          <a:bodyPr wrap="none" lIns="122642" tIns="71842" rIns="25106" bIns="71842" rtlCol="0" anchor="ctr">
            <a:normAutofit/>
          </a:bodyPr>
          <a:lstStyle/>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apiVersion: networking.k8s.io/v1</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kind: </a:t>
            </a:r>
            <a:r>
              <a:rPr lang="en-US" sz="1050" dirty="0">
                <a:solidFill>
                  <a:srgbClr val="FFB08F"/>
                </a:solidFill>
                <a:latin typeface="JetBrains Mono" pitchFamily="49" charset="0"/>
                <a:ea typeface="JetBrains Mono" pitchFamily="49" charset="-122"/>
                <a:cs typeface="JetBrains Mono" pitchFamily="49" charset="-120"/>
              </a:rPr>
              <a:t>NetworkPolicy</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metadata:</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name: podinfo-vers-redis</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namespace: fil-rouge</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spec:</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podSelector:</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matchLabels:</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app: redis       </a:t>
            </a:r>
            <a:r>
              <a:rPr lang="en-US" sz="1050" dirty="0">
                <a:solidFill>
                  <a:srgbClr val="9A96D0"/>
                </a:solidFill>
                <a:latin typeface="JetBrains Mono" pitchFamily="49" charset="0"/>
                <a:ea typeface="JetBrains Mono" pitchFamily="49" charset="-122"/>
                <a:cs typeface="JetBrains Mono" pitchFamily="49" charset="-120"/>
              </a:rPr>
              <a:t># la cible</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policyTypes: ["Ingress"]</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ingress:</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 from:</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 podSelector:</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matchLabels:</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app: podinfo </a:t>
            </a:r>
            <a:r>
              <a:rPr lang="en-US" sz="1050" dirty="0">
                <a:solidFill>
                  <a:srgbClr val="9A96D0"/>
                </a:solidFill>
                <a:latin typeface="JetBrains Mono" pitchFamily="49" charset="0"/>
                <a:ea typeface="JetBrains Mono" pitchFamily="49" charset="-122"/>
                <a:cs typeface="JetBrains Mono" pitchFamily="49" charset="-120"/>
              </a:rPr>
              <a:t># la seule source</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ports:</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 protocol: TCP</a:t>
            </a:r>
            <a:endParaRPr lang="en-US" sz="1050" dirty="0"/>
          </a:p>
          <a:p>
            <a:pPr algn="l" indent="0" marL="0">
              <a:lnSpc>
                <a:spcPts val="1365"/>
              </a:lnSpc>
              <a:buNone/>
            </a:pPr>
            <a:r>
              <a:rPr lang="en-US" sz="1050" dirty="0">
                <a:solidFill>
                  <a:srgbClr val="ECEAFF"/>
                </a:solidFill>
                <a:latin typeface="JetBrains Mono" pitchFamily="49" charset="0"/>
                <a:ea typeface="JetBrains Mono" pitchFamily="49" charset="-122"/>
                <a:cs typeface="JetBrains Mono" pitchFamily="49" charset="-120"/>
              </a:rPr>
              <a:t>      port: 6379</a:t>
            </a:r>
            <a:endParaRPr lang="en-US" sz="1050" dirty="0"/>
          </a:p>
        </p:txBody>
      </p:sp>
      <p:pic>
        <p:nvPicPr>
          <p:cNvPr id="17" name="Image 4" descr="preencoded.png">    </p:cNvPr>
          <p:cNvPicPr>
            <a:picLocks noChangeAspect="1"/>
          </p:cNvPicPr>
          <p:nvPr/>
        </p:nvPicPr>
        <p:blipFill>
          <a:blip r:embed="rId5"/>
          <a:srcRect l="0" r="0" t="-35" b="-35"/>
          <a:stretch/>
        </p:blipFill>
        <p:spPr>
          <a:xfrm>
            <a:off x="812800" y="6299200"/>
            <a:ext cx="152400" cy="152506"/>
          </a:xfrm>
          <a:prstGeom prst="rect">
            <a:avLst/>
          </a:prstGeom>
        </p:spPr>
      </p:pic>
      <p:sp>
        <p:nvSpPr>
          <p:cNvPr id="18" name="Text 11"/>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9" name="Image 5" descr="Parcours : module 15 sur 16">    </p:cNvPr>
          <p:cNvPicPr>
            <a:picLocks noChangeAspect="1"/>
          </p:cNvPicPr>
          <p:nvPr/>
        </p:nvPicPr>
        <p:blipFill>
          <a:blip r:embed="rId6"/>
          <a:srcRect l="0" r="0" t="-35" b="-35"/>
          <a:stretch/>
        </p:blipFill>
        <p:spPr>
          <a:xfrm>
            <a:off x="9207500" y="6299200"/>
            <a:ext cx="2171700" cy="152506"/>
          </a:xfrm>
          <a:prstGeom prst="rect">
            <a:avLst/>
          </a:prstGeom>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Autres namespaces et trafic sortant</a:t>
            </a:r>
            <a:endParaRPr lang="en-US" sz="2800" dirty="0"/>
          </a:p>
        </p:txBody>
      </p:sp>
      <p:sp>
        <p:nvSpPr>
          <p:cNvPr id="4" name="Text 2"/>
          <p:cNvSpPr/>
          <p:nvPr/>
        </p:nvSpPr>
        <p:spPr>
          <a:xfrm>
            <a:off x="812800" y="1544340"/>
            <a:ext cx="554634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3 · AUTORISER UN AUTRE NAMESPACE</a:t>
            </a:r>
            <a:endParaRPr lang="en-US" sz="1200" dirty="0"/>
          </a:p>
        </p:txBody>
      </p:sp>
      <p:sp>
        <p:nvSpPr>
          <p:cNvPr id="5" name="Text 3"/>
          <p:cNvSpPr/>
          <p:nvPr/>
        </p:nvSpPr>
        <p:spPr>
          <a:xfrm>
            <a:off x="812800" y="1846560"/>
            <a:ext cx="554634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Chaque namespace porte automatiquement le label kubernetes.io/metadata.name. Par exemple, pour la supervision :</a:t>
            </a:r>
            <a:endParaRPr lang="en-US" sz="1250" dirty="0"/>
          </a:p>
        </p:txBody>
      </p:sp>
      <p:sp>
        <p:nvSpPr>
          <p:cNvPr id="6" name="Text 4"/>
          <p:cNvSpPr/>
          <p:nvPr/>
        </p:nvSpPr>
        <p:spPr>
          <a:xfrm>
            <a:off x="812800" y="2379960"/>
            <a:ext cx="5384800" cy="1206500"/>
          </a:xfrm>
          <a:prstGeom prst="roundRect">
            <a:avLst>
              <a:gd name="adj" fmla="val 8421"/>
            </a:avLst>
          </a:prstGeom>
          <a:solidFill>
            <a:srgbClr val="0B0748"/>
          </a:solidFill>
          <a:ln/>
        </p:spPr>
        <p:txBody>
          <a:bodyPr wrap="none" lIns="135342" tIns="71842" rIns="0" bIns="71842" rtlCol="0" anchor="ctr">
            <a:normAutofit/>
          </a:bodyPr>
          <a:lstStyle/>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ingress: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from:</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 namespaceSelector:</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matchLabels: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kubernetes.io/metadata.name: supervision</a:t>
            </a:r>
            <a:endParaRPr lang="en-US" sz="1100" dirty="0"/>
          </a:p>
        </p:txBody>
      </p:sp>
      <p:sp>
        <p:nvSpPr>
          <p:cNvPr id="7" name="Shape 5"/>
          <p:cNvSpPr/>
          <p:nvPr/>
        </p:nvSpPr>
        <p:spPr>
          <a:xfrm>
            <a:off x="812800" y="4883547"/>
            <a:ext cx="5384800" cy="958532"/>
          </a:xfrm>
          <a:prstGeom prst="roundRect">
            <a:avLst>
              <a:gd name="adj" fmla="val 11924"/>
            </a:avLst>
          </a:prstGeom>
          <a:solidFill>
            <a:srgbClr val="FCE6DC"/>
          </a:solidFill>
          <a:ln/>
        </p:spPr>
      </p:sp>
      <p:pic>
        <p:nvPicPr>
          <p:cNvPr id="8" name="Image 0" descr="Warning">    </p:cNvPr>
          <p:cNvPicPr>
            <a:picLocks noChangeAspect="1"/>
          </p:cNvPicPr>
          <p:nvPr/>
        </p:nvPicPr>
        <p:blipFill>
          <a:blip r:embed="rId1"/>
          <a:srcRect l="0" r="0" t="0" b="0"/>
          <a:stretch/>
        </p:blipFill>
        <p:spPr>
          <a:xfrm>
            <a:off x="977900" y="5023247"/>
            <a:ext cx="228600" cy="228600"/>
          </a:xfrm>
          <a:prstGeom prst="rect">
            <a:avLst/>
          </a:prstGeom>
        </p:spPr>
      </p:pic>
      <p:sp>
        <p:nvSpPr>
          <p:cNvPr id="9" name="Text 6"/>
          <p:cNvSpPr/>
          <p:nvPr/>
        </p:nvSpPr>
        <p:spPr>
          <a:xfrm>
            <a:off x="1308100" y="5023247"/>
            <a:ext cx="4866132" cy="239713"/>
          </a:xfrm>
          <a:prstGeom prst="rect">
            <a:avLst/>
          </a:prstGeom>
          <a:noFill/>
          <a:ln/>
        </p:spPr>
        <p:txBody>
          <a:bodyPr wrap="square" lIns="0" tIns="0" rIns="0" bIns="0" rtlCol="0" anchor="t">
            <a:normAutofit/>
          </a:bodyPr>
          <a:lstStyle/>
          <a:p>
            <a:pPr algn="l" indent="0" marL="0">
              <a:lnSpc>
                <a:spcPts val="1688"/>
              </a:lnSpc>
              <a:buNone/>
            </a:pPr>
            <a:r>
              <a:rPr lang="en-US" sz="1350" b="1" dirty="0">
                <a:solidFill>
                  <a:srgbClr val="0B0748"/>
                </a:solidFill>
                <a:latin typeface="Sora" pitchFamily="34" charset="0"/>
                <a:ea typeface="Sora" pitchFamily="34" charset="-122"/>
                <a:cs typeface="Sora" pitchFamily="34" charset="-120"/>
              </a:rPr>
              <a:t>4 · Restreindre la sortie coupe le DNS</a:t>
            </a:r>
            <a:endParaRPr lang="en-US" sz="1350" dirty="0"/>
          </a:p>
        </p:txBody>
      </p:sp>
      <p:sp>
        <p:nvSpPr>
          <p:cNvPr id="10" name="Text 7"/>
          <p:cNvSpPr/>
          <p:nvPr/>
        </p:nvSpPr>
        <p:spPr>
          <a:xfrm>
            <a:off x="1308100" y="5275560"/>
            <a:ext cx="48661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Un refus en sortie empêche de résoudre les noms : il faut réautoriser kube-dns, en UDP et en TCP sur le port 53.</a:t>
            </a:r>
            <a:endParaRPr lang="en-US" sz="1200" dirty="0"/>
          </a:p>
        </p:txBody>
      </p:sp>
      <p:sp>
        <p:nvSpPr>
          <p:cNvPr id="11" name="Text 8"/>
          <p:cNvSpPr/>
          <p:nvPr/>
        </p:nvSpPr>
        <p:spPr>
          <a:xfrm>
            <a:off x="6426200" y="1544340"/>
            <a:ext cx="4953000" cy="4297680"/>
          </a:xfrm>
          <a:prstGeom prst="roundRect">
            <a:avLst>
              <a:gd name="adj" fmla="val 2364"/>
            </a:avLst>
          </a:prstGeom>
          <a:solidFill>
            <a:srgbClr val="0B0748"/>
          </a:solidFill>
          <a:ln/>
        </p:spPr>
        <p:txBody>
          <a:bodyPr wrap="none" lIns="135342" tIns="71842" rIns="0" bIns="71842" rtlCol="0" anchor="ctr">
            <a:normAutofit/>
          </a:bodyPr>
          <a:lstStyle/>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apiVersion: networking.k8s.io/v1</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kind: </a:t>
            </a:r>
            <a:r>
              <a:rPr lang="en-US" sz="1000" dirty="0">
                <a:solidFill>
                  <a:srgbClr val="FFB08F"/>
                </a:solidFill>
                <a:latin typeface="JetBrains Mono" pitchFamily="49" charset="0"/>
                <a:ea typeface="JetBrains Mono" pitchFamily="49" charset="-122"/>
                <a:cs typeface="JetBrains Mono" pitchFamily="49" charset="-120"/>
              </a:rPr>
              <a:t>NetworkPolicy</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metadata:</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name: sortie-dns-seulement</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namespace: fil-rouge</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spec:</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podSelector: {}</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a:t>
            </a:r>
            <a:r>
              <a:rPr lang="en-US" sz="1000" dirty="0">
                <a:solidFill>
                  <a:srgbClr val="FFB08F"/>
                </a:solidFill>
                <a:latin typeface="JetBrains Mono" pitchFamily="49" charset="0"/>
                <a:ea typeface="JetBrains Mono" pitchFamily="49" charset="-122"/>
                <a:cs typeface="JetBrains Mono" pitchFamily="49" charset="-120"/>
              </a:rPr>
              <a:t>policyTypes: ["Egress"]</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egress:</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 to:</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 namespaceSelector:</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matchLabels:</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kubernetes.io/metadata.name: kube-system</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podSelector:</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matchLabels:</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k8s-app: kube-dns</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ports:</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 protocol: UDP</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port: 53</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 protocol: TCP</a:t>
            </a:r>
            <a:endParaRPr lang="en-US" sz="1000" dirty="0"/>
          </a:p>
          <a:p>
            <a:pPr algn="l" indent="0" marL="0">
              <a:lnSpc>
                <a:spcPts val="1270"/>
              </a:lnSpc>
              <a:buNone/>
            </a:pPr>
            <a:r>
              <a:rPr lang="en-US" sz="1000" dirty="0">
                <a:solidFill>
                  <a:srgbClr val="ECEAFF"/>
                </a:solidFill>
                <a:latin typeface="JetBrains Mono" pitchFamily="49" charset="0"/>
                <a:ea typeface="JetBrains Mono" pitchFamily="49" charset="-122"/>
                <a:cs typeface="JetBrains Mono" pitchFamily="49" charset="-120"/>
              </a:rPr>
              <a:t>      port: 53</a:t>
            </a:r>
            <a:endParaRPr lang="en-US" sz="1000" dirty="0"/>
          </a:p>
        </p:txBody>
      </p:sp>
      <p:pic>
        <p:nvPicPr>
          <p:cNvPr id="12" name="Image 1" descr="preencoded.png">    </p:cNvPr>
          <p:cNvPicPr>
            <a:picLocks noChangeAspect="1"/>
          </p:cNvPicPr>
          <p:nvPr/>
        </p:nvPicPr>
        <p:blipFill>
          <a:blip r:embed="rId2"/>
          <a:srcRect l="0" r="0" t="-35" b="-35"/>
          <a:stretch/>
        </p:blipFill>
        <p:spPr>
          <a:xfrm>
            <a:off x="812800" y="6299200"/>
            <a:ext cx="152400" cy="152506"/>
          </a:xfrm>
          <a:prstGeom prst="rect">
            <a:avLst/>
          </a:prstGeom>
        </p:spPr>
      </p:pic>
      <p:sp>
        <p:nvSpPr>
          <p:cNvPr id="13" name="Text 9"/>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4" name="Image 2" descr="Parcours : module 15 sur 16">    </p:cNvPr>
          <p:cNvPicPr>
            <a:picLocks noChangeAspect="1"/>
          </p:cNvPicPr>
          <p:nvPr/>
        </p:nvPicPr>
        <p:blipFill>
          <a:blip r:embed="rId3"/>
          <a:srcRect l="0" r="0" t="-35" b="-35"/>
          <a:stretch/>
        </p:blipFill>
        <p:spPr>
          <a:xfrm>
            <a:off x="9207500" y="6299200"/>
            <a:ext cx="2171700" cy="152506"/>
          </a:xfrm>
          <a:prstGeom prst="rect">
            <a:avLst/>
          </a:prstGeom>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piège du « et » et du « ou »</a:t>
            </a:r>
            <a:endParaRPr lang="en-US" sz="2800" dirty="0"/>
          </a:p>
        </p:txBody>
      </p:sp>
      <p:sp>
        <p:nvSpPr>
          <p:cNvPr id="4" name="Text 2"/>
          <p:cNvSpPr/>
          <p:nvPr/>
        </p:nvSpPr>
        <p:spPr>
          <a:xfrm>
            <a:off x="812800" y="1506240"/>
            <a:ext cx="33248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25A2C"/>
                </a:solidFill>
                <a:latin typeface="Sora" pitchFamily="34" charset="0"/>
                <a:ea typeface="Sora" pitchFamily="34" charset="-122"/>
                <a:cs typeface="Sora" pitchFamily="34" charset="-120"/>
              </a:rPr>
              <a:t>ET</a:t>
            </a:r>
            <a:endParaRPr lang="en-US" sz="1800" dirty="0"/>
          </a:p>
        </p:txBody>
      </p:sp>
      <p:sp>
        <p:nvSpPr>
          <p:cNvPr id="5" name="Text 3"/>
          <p:cNvSpPr/>
          <p:nvPr/>
        </p:nvSpPr>
        <p:spPr>
          <a:xfrm>
            <a:off x="1178772" y="1572915"/>
            <a:ext cx="267322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Un seul tiret : une source</a:t>
            </a:r>
            <a:endParaRPr lang="en-US" sz="1400" dirty="0"/>
          </a:p>
        </p:txBody>
      </p:sp>
      <p:sp>
        <p:nvSpPr>
          <p:cNvPr id="6" name="Text 4"/>
          <p:cNvSpPr/>
          <p:nvPr/>
        </p:nvSpPr>
        <p:spPr>
          <a:xfrm>
            <a:off x="812800" y="1915120"/>
            <a:ext cx="5156200" cy="1597660"/>
          </a:xfrm>
          <a:prstGeom prst="roundRect">
            <a:avLst>
              <a:gd name="adj" fmla="val 6359"/>
            </a:avLst>
          </a:prstGeom>
          <a:solidFill>
            <a:srgbClr val="0B0748"/>
          </a:solidFill>
          <a:ln/>
        </p:spPr>
        <p:txBody>
          <a:bodyPr wrap="none" lIns="135342" tIns="71842" rIns="0" bIns="71842" rtlCol="0" anchor="ctr">
            <a:normAutofit/>
          </a:bodyPr>
          <a:lstStyle/>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to:</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 namespaceSelector:</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matchLabels: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kubernetes.io/metadata.name: kube-system</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podSelector:</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matchLabels: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k8s-app: kube-dns</a:t>
            </a:r>
            <a:endParaRPr lang="en-US" sz="1100" dirty="0"/>
          </a:p>
        </p:txBody>
      </p:sp>
      <p:sp>
        <p:nvSpPr>
          <p:cNvPr id="7" name="Text 5"/>
          <p:cNvSpPr/>
          <p:nvPr/>
        </p:nvSpPr>
        <p:spPr>
          <a:xfrm>
            <a:off x="812800" y="3601740"/>
            <a:ext cx="531088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0B0748"/>
                </a:solidFill>
                <a:latin typeface="IBM Plex Sans" pitchFamily="34" charset="0"/>
                <a:ea typeface="IBM Plex Sans" pitchFamily="34" charset="-122"/>
                <a:cs typeface="IBM Plex Sans" pitchFamily="34" charset="-120"/>
              </a:rPr>
              <a:t>La source doit satisfaire les deux : les pods kube-dns </a:t>
            </a:r>
            <a:r>
              <a:rPr lang="en-US" sz="1250" b="1" dirty="0">
                <a:solidFill>
                  <a:srgbClr val="0B0748"/>
                </a:solidFill>
                <a:latin typeface="IBM Plex Sans" pitchFamily="34" charset="0"/>
                <a:ea typeface="IBM Plex Sans" pitchFamily="34" charset="-122"/>
                <a:cs typeface="IBM Plex Sans" pitchFamily="34" charset="-120"/>
              </a:rPr>
              <a:t>du</a:t>
            </a:r>
            <a:r>
              <a:rPr lang="en-US" sz="1250" dirty="0">
                <a:solidFill>
                  <a:srgbClr val="0B0748"/>
                </a:solidFill>
                <a:latin typeface="IBM Plex Sans" pitchFamily="34" charset="0"/>
                <a:ea typeface="IBM Plex Sans" pitchFamily="34" charset="-122"/>
                <a:cs typeface="IBM Plex Sans" pitchFamily="34" charset="-120"/>
              </a:rPr>
              <a:t> namespace kube-system.</a:t>
            </a:r>
            <a:endParaRPr lang="en-US" sz="1250" dirty="0"/>
          </a:p>
        </p:txBody>
      </p:sp>
      <p:sp>
        <p:nvSpPr>
          <p:cNvPr id="8" name="Text 6"/>
          <p:cNvSpPr/>
          <p:nvPr/>
        </p:nvSpPr>
        <p:spPr>
          <a:xfrm>
            <a:off x="6223000" y="1506240"/>
            <a:ext cx="449834"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8A86C4"/>
                </a:solidFill>
                <a:latin typeface="Sora" pitchFamily="34" charset="0"/>
                <a:ea typeface="Sora" pitchFamily="34" charset="-122"/>
                <a:cs typeface="Sora" pitchFamily="34" charset="-120"/>
              </a:rPr>
              <a:t>OU</a:t>
            </a:r>
            <a:endParaRPr lang="en-US" sz="1800" dirty="0"/>
          </a:p>
        </p:txBody>
      </p:sp>
      <p:sp>
        <p:nvSpPr>
          <p:cNvPr id="9" name="Text 7"/>
          <p:cNvSpPr/>
          <p:nvPr/>
        </p:nvSpPr>
        <p:spPr>
          <a:xfrm>
            <a:off x="6686762" y="1572915"/>
            <a:ext cx="280238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Deux tirets : deux sources</a:t>
            </a:r>
            <a:endParaRPr lang="en-US" sz="1400" dirty="0"/>
          </a:p>
        </p:txBody>
      </p:sp>
      <p:sp>
        <p:nvSpPr>
          <p:cNvPr id="10" name="Text 8"/>
          <p:cNvSpPr/>
          <p:nvPr/>
        </p:nvSpPr>
        <p:spPr>
          <a:xfrm>
            <a:off x="6223000" y="1915120"/>
            <a:ext cx="5156200" cy="1597660"/>
          </a:xfrm>
          <a:prstGeom prst="roundRect">
            <a:avLst>
              <a:gd name="adj" fmla="val 6359"/>
            </a:avLst>
          </a:prstGeom>
          <a:solidFill>
            <a:srgbClr val="0B0748"/>
          </a:solidFill>
          <a:ln/>
        </p:spPr>
        <p:txBody>
          <a:bodyPr wrap="none" lIns="135342" tIns="71842" rIns="0" bIns="71842" rtlCol="0" anchor="ctr">
            <a:normAutofit/>
          </a:bodyPr>
          <a:lstStyle/>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to:</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 namespaceSelector:</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matchLabels: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kubernetes.io/metadata.name: kube-system</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 podSelector:</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matchLabels: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k8s-app: kube-dns</a:t>
            </a:r>
            <a:endParaRPr lang="en-US" sz="1100" dirty="0"/>
          </a:p>
        </p:txBody>
      </p:sp>
      <p:sp>
        <p:nvSpPr>
          <p:cNvPr id="11" name="Text 9"/>
          <p:cNvSpPr/>
          <p:nvPr/>
        </p:nvSpPr>
        <p:spPr>
          <a:xfrm>
            <a:off x="6223000" y="3601740"/>
            <a:ext cx="531088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0B0748"/>
                </a:solidFill>
                <a:latin typeface="IBM Plex Sans" pitchFamily="34" charset="0"/>
                <a:ea typeface="IBM Plex Sans" pitchFamily="34" charset="-122"/>
                <a:cs typeface="IBM Plex Sans" pitchFamily="34" charset="-120"/>
              </a:rPr>
              <a:t>Tous les pods de kube-system, </a:t>
            </a:r>
            <a:r>
              <a:rPr lang="en-US" sz="1250" b="1" dirty="0">
                <a:solidFill>
                  <a:srgbClr val="0B0748"/>
                </a:solidFill>
                <a:latin typeface="IBM Plex Sans" pitchFamily="34" charset="0"/>
                <a:ea typeface="IBM Plex Sans" pitchFamily="34" charset="-122"/>
                <a:cs typeface="IBM Plex Sans" pitchFamily="34" charset="-120"/>
              </a:rPr>
              <a:t>ou</a:t>
            </a:r>
            <a:r>
              <a:rPr lang="en-US" sz="1250" dirty="0">
                <a:solidFill>
                  <a:srgbClr val="0B0748"/>
                </a:solidFill>
                <a:latin typeface="IBM Plex Sans" pitchFamily="34" charset="0"/>
                <a:ea typeface="IBM Plex Sans" pitchFamily="34" charset="-122"/>
                <a:cs typeface="IBM Plex Sans" pitchFamily="34" charset="-120"/>
              </a:rPr>
              <a:t> les pods kube-dns du namespace de la policy (fil-rouge), où il n'y en a aucun.</a:t>
            </a:r>
            <a:endParaRPr lang="en-US" sz="1250" dirty="0"/>
          </a:p>
        </p:txBody>
      </p:sp>
      <p:sp>
        <p:nvSpPr>
          <p:cNvPr id="12" name="Text 10"/>
          <p:cNvSpPr/>
          <p:nvPr/>
        </p:nvSpPr>
        <p:spPr>
          <a:xfrm>
            <a:off x="812800" y="4855865"/>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Un podSelector seul ne regarde que son propre namespace.</a:t>
            </a:r>
            <a:endParaRPr lang="en-US" sz="1300" dirty="0"/>
          </a:p>
        </p:txBody>
      </p:sp>
      <p:sp>
        <p:nvSpPr>
          <p:cNvPr id="13" name="Text 11"/>
          <p:cNvSpPr/>
          <p:nvPr/>
        </p:nvSpPr>
        <p:spPr>
          <a:xfrm>
            <a:off x="812800" y="5252045"/>
            <a:ext cx="10566400" cy="589915"/>
          </a:xfrm>
          <a:prstGeom prst="roundRect">
            <a:avLst>
              <a:gd name="adj" fmla="val 17223"/>
            </a:avLst>
          </a:prstGeom>
          <a:solidFill>
            <a:srgbClr val="ECEAF6"/>
          </a:solidFill>
          <a:ln/>
        </p:spPr>
        <p:txBody>
          <a:bodyPr wrap="none" lIns="135342" tIns="59142" rIns="0" bIns="59142" rtlCol="0" anchor="ctr">
            <a:normAutofit/>
          </a:bodyPr>
          <a:lstStyle/>
          <a:p>
            <a:pPr algn="l" indent="0" marL="0">
              <a:lnSpc>
                <a:spcPts val="1523"/>
              </a:lnSpc>
              <a:buNone/>
            </a:pPr>
            <a:r>
              <a:rPr lang="en-US" sz="1050" dirty="0">
                <a:solidFill>
                  <a:srgbClr val="0B0748"/>
                </a:solidFill>
                <a:latin typeface="JetBrains Mono" pitchFamily="49" charset="0"/>
                <a:ea typeface="JetBrains Mono" pitchFamily="49" charset="-122"/>
                <a:cs typeface="JetBrains Mono" pitchFamily="49" charset="-120"/>
              </a:rPr>
              <a:t>kubectl get networkpolicies -n fil-rouge</a:t>
            </a:r>
            <a:endParaRPr lang="en-US" sz="1050" dirty="0"/>
          </a:p>
          <a:p>
            <a:pPr algn="l" indent="0" marL="0">
              <a:lnSpc>
                <a:spcPts val="1523"/>
              </a:lnSpc>
              <a:buNone/>
            </a:pPr>
            <a:r>
              <a:rPr lang="en-US" sz="1050" dirty="0">
                <a:solidFill>
                  <a:srgbClr val="0B0748"/>
                </a:solidFill>
                <a:latin typeface="JetBrains Mono" pitchFamily="49" charset="0"/>
                <a:ea typeface="JetBrains Mono" pitchFamily="49" charset="-122"/>
                <a:cs typeface="JetBrains Mono" pitchFamily="49" charset="-120"/>
              </a:rPr>
              <a:t>kubectl run intrus -n fil-rouge --image=mirror.gcr.io/library/busybox:1.36 --rm -it --restart=Never -- nc -zv -w 3 redis 6379</a:t>
            </a:r>
            <a:endParaRPr lang="en-US" sz="1050" dirty="0"/>
          </a:p>
        </p:txBody>
      </p:sp>
      <p:pic>
        <p:nvPicPr>
          <p:cNvPr id="14"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5" name="Text 12"/>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6" name="Image 1" descr="Parcours : module 15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SÉCURITÉ</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autres mesures</a:t>
            </a:r>
            <a:endParaRPr lang="en-US" sz="2800" dirty="0"/>
          </a:p>
        </p:txBody>
      </p:sp>
      <p:sp>
        <p:nvSpPr>
          <p:cNvPr id="4" name="Shape 2"/>
          <p:cNvSpPr/>
          <p:nvPr/>
        </p:nvSpPr>
        <p:spPr>
          <a:xfrm>
            <a:off x="815975" y="1496715"/>
            <a:ext cx="2540000" cy="2091690"/>
          </a:xfrm>
          <a:prstGeom prst="roundRect">
            <a:avLst>
              <a:gd name="adj" fmla="val 5920"/>
            </a:avLst>
          </a:prstGeom>
          <a:solidFill>
            <a:srgbClr val="FDFDFF"/>
          </a:solidFill>
          <a:ln w="6350">
            <a:solidFill>
              <a:srgbClr val="E1DFEE"/>
            </a:solidFill>
            <a:prstDash val="solid"/>
          </a:ln>
        </p:spPr>
      </p:sp>
      <p:pic>
        <p:nvPicPr>
          <p:cNvPr id="5" name="Image 0" descr="Clock">    </p:cNvPr>
          <p:cNvPicPr>
            <a:picLocks noChangeAspect="1"/>
          </p:cNvPicPr>
          <p:nvPr/>
        </p:nvPicPr>
        <p:blipFill>
          <a:blip r:embed="rId1"/>
          <a:srcRect l="0" r="0" t="0" b="0"/>
          <a:stretch/>
        </p:blipFill>
        <p:spPr>
          <a:xfrm>
            <a:off x="984991" y="1653084"/>
            <a:ext cx="254000" cy="254000"/>
          </a:xfrm>
          <a:prstGeom prst="rect">
            <a:avLst/>
          </a:prstGeom>
        </p:spPr>
      </p:pic>
      <p:sp>
        <p:nvSpPr>
          <p:cNvPr id="6" name="Text 3"/>
          <p:cNvSpPr/>
          <p:nvPr/>
        </p:nvSpPr>
        <p:spPr>
          <a:xfrm>
            <a:off x="984991" y="1970584"/>
            <a:ext cx="2268027" cy="239713"/>
          </a:xfrm>
          <a:prstGeom prst="rect">
            <a:avLst/>
          </a:prstGeom>
          <a:noFill/>
          <a:ln/>
        </p:spPr>
        <p:txBody>
          <a:bodyPr wrap="square" lIns="0" tIns="0" rIns="0" bIns="0" rtlCol="0" anchor="t">
            <a:normAutofit/>
          </a:bodyPr>
          <a:lstStyle/>
          <a:p>
            <a:pPr algn="l" indent="0" marL="0">
              <a:lnSpc>
                <a:spcPts val="1688"/>
              </a:lnSpc>
              <a:buNone/>
            </a:pPr>
            <a:r>
              <a:rPr lang="en-US" sz="1350" b="1" dirty="0">
                <a:solidFill>
                  <a:srgbClr val="0B0748"/>
                </a:solidFill>
                <a:latin typeface="Sora" pitchFamily="34" charset="0"/>
                <a:ea typeface="Sora" pitchFamily="34" charset="-122"/>
                <a:cs typeface="Sora" pitchFamily="34" charset="-120"/>
              </a:rPr>
              <a:t>Mettre à jour</a:t>
            </a:r>
            <a:endParaRPr lang="en-US" sz="1350" dirty="0"/>
          </a:p>
        </p:txBody>
      </p:sp>
      <p:sp>
        <p:nvSpPr>
          <p:cNvPr id="7" name="Text 4"/>
          <p:cNvSpPr/>
          <p:nvPr/>
        </p:nvSpPr>
        <p:spPr>
          <a:xfrm>
            <a:off x="984991" y="2248297"/>
            <a:ext cx="2268027" cy="629920"/>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le cluster régulièrement : chaque version mineure n'est maintenue qu'environ 14 mois.</a:t>
            </a:r>
            <a:endParaRPr lang="en-US" sz="1150" dirty="0"/>
          </a:p>
        </p:txBody>
      </p:sp>
      <p:sp>
        <p:nvSpPr>
          <p:cNvPr id="8" name="Shape 5"/>
          <p:cNvSpPr/>
          <p:nvPr/>
        </p:nvSpPr>
        <p:spPr>
          <a:xfrm>
            <a:off x="3489325" y="1496715"/>
            <a:ext cx="2540000" cy="2091690"/>
          </a:xfrm>
          <a:prstGeom prst="roundRect">
            <a:avLst>
              <a:gd name="adj" fmla="val 5920"/>
            </a:avLst>
          </a:prstGeom>
          <a:solidFill>
            <a:srgbClr val="FDFDFF"/>
          </a:solidFill>
          <a:ln w="6350">
            <a:solidFill>
              <a:srgbClr val="E1DFEE"/>
            </a:solidFill>
            <a:prstDash val="solid"/>
          </a:ln>
        </p:spPr>
      </p:sp>
      <p:pic>
        <p:nvPicPr>
          <p:cNvPr id="9" name="Image 1" descr="Lock">    </p:cNvPr>
          <p:cNvPicPr>
            <a:picLocks noChangeAspect="1"/>
          </p:cNvPicPr>
          <p:nvPr/>
        </p:nvPicPr>
        <p:blipFill>
          <a:blip r:embed="rId2"/>
          <a:srcRect l="0" r="0" t="0" b="0"/>
          <a:stretch/>
        </p:blipFill>
        <p:spPr>
          <a:xfrm>
            <a:off x="3658341" y="1653084"/>
            <a:ext cx="254000" cy="254000"/>
          </a:xfrm>
          <a:prstGeom prst="rect">
            <a:avLst/>
          </a:prstGeom>
        </p:spPr>
      </p:pic>
      <p:sp>
        <p:nvSpPr>
          <p:cNvPr id="10" name="Text 6"/>
          <p:cNvSpPr/>
          <p:nvPr/>
        </p:nvSpPr>
        <p:spPr>
          <a:xfrm>
            <a:off x="3658341" y="1970584"/>
            <a:ext cx="2268027" cy="454025"/>
          </a:xfrm>
          <a:prstGeom prst="rect">
            <a:avLst/>
          </a:prstGeom>
          <a:noFill/>
          <a:ln/>
        </p:spPr>
        <p:txBody>
          <a:bodyPr wrap="square" lIns="0" tIns="0" rIns="0" bIns="0" rtlCol="0" anchor="t">
            <a:normAutofit/>
          </a:bodyPr>
          <a:lstStyle/>
          <a:p>
            <a:pPr algn="l" indent="0" marL="0">
              <a:lnSpc>
                <a:spcPts val="1688"/>
              </a:lnSpc>
              <a:buNone/>
            </a:pPr>
            <a:r>
              <a:rPr lang="en-US" sz="1350" b="1" dirty="0">
                <a:solidFill>
                  <a:srgbClr val="0B0748"/>
                </a:solidFill>
                <a:latin typeface="Sora" pitchFamily="34" charset="0"/>
                <a:ea typeface="Sora" pitchFamily="34" charset="-122"/>
                <a:cs typeface="Sora" pitchFamily="34" charset="-120"/>
              </a:rPr>
              <a:t>Restreindre l'accès réseau</a:t>
            </a:r>
            <a:endParaRPr lang="en-US" sz="1350" dirty="0"/>
          </a:p>
        </p:txBody>
      </p:sp>
      <p:sp>
        <p:nvSpPr>
          <p:cNvPr id="11" name="Text 7"/>
          <p:cNvSpPr/>
          <p:nvPr/>
        </p:nvSpPr>
        <p:spPr>
          <a:xfrm>
            <a:off x="3658341" y="2462709"/>
            <a:ext cx="2268027" cy="629920"/>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à l'API server (port 6443) aux postes d'administration et à la chaîne de déploiement.</a:t>
            </a:r>
            <a:endParaRPr lang="en-US" sz="1150" dirty="0"/>
          </a:p>
        </p:txBody>
      </p:sp>
      <p:sp>
        <p:nvSpPr>
          <p:cNvPr id="12" name="Shape 8"/>
          <p:cNvSpPr/>
          <p:nvPr/>
        </p:nvSpPr>
        <p:spPr>
          <a:xfrm>
            <a:off x="6162675" y="1496715"/>
            <a:ext cx="2540000" cy="2091690"/>
          </a:xfrm>
          <a:prstGeom prst="roundRect">
            <a:avLst>
              <a:gd name="adj" fmla="val 5920"/>
            </a:avLst>
          </a:prstGeom>
          <a:solidFill>
            <a:srgbClr val="FDFDFF"/>
          </a:solidFill>
          <a:ln w="6350">
            <a:solidFill>
              <a:srgbClr val="E1DFEE"/>
            </a:solidFill>
            <a:prstDash val="solid"/>
          </a:ln>
        </p:spPr>
      </p:sp>
      <p:pic>
        <p:nvPicPr>
          <p:cNvPr id="13" name="Image 2" descr="Database">    </p:cNvPr>
          <p:cNvPicPr>
            <a:picLocks noChangeAspect="1"/>
          </p:cNvPicPr>
          <p:nvPr/>
        </p:nvPicPr>
        <p:blipFill>
          <a:blip r:embed="rId3"/>
          <a:srcRect l="0" r="0" t="0" b="0"/>
          <a:stretch/>
        </p:blipFill>
        <p:spPr>
          <a:xfrm>
            <a:off x="6331691" y="1653084"/>
            <a:ext cx="254000" cy="254000"/>
          </a:xfrm>
          <a:prstGeom prst="rect">
            <a:avLst/>
          </a:prstGeom>
        </p:spPr>
      </p:pic>
      <p:sp>
        <p:nvSpPr>
          <p:cNvPr id="14" name="Text 9"/>
          <p:cNvSpPr/>
          <p:nvPr/>
        </p:nvSpPr>
        <p:spPr>
          <a:xfrm>
            <a:off x="6331691" y="1970584"/>
            <a:ext cx="2268027" cy="239713"/>
          </a:xfrm>
          <a:prstGeom prst="rect">
            <a:avLst/>
          </a:prstGeom>
          <a:noFill/>
          <a:ln/>
        </p:spPr>
        <p:txBody>
          <a:bodyPr wrap="square" lIns="0" tIns="0" rIns="0" bIns="0" rtlCol="0" anchor="t">
            <a:normAutofit/>
          </a:bodyPr>
          <a:lstStyle/>
          <a:p>
            <a:pPr algn="l" indent="0" marL="0">
              <a:lnSpc>
                <a:spcPts val="1688"/>
              </a:lnSpc>
              <a:buNone/>
            </a:pPr>
            <a:r>
              <a:rPr lang="en-US" sz="1350" b="1" dirty="0">
                <a:solidFill>
                  <a:srgbClr val="0B0748"/>
                </a:solidFill>
                <a:latin typeface="Sora" pitchFamily="34" charset="0"/>
                <a:ea typeface="Sora" pitchFamily="34" charset="-122"/>
                <a:cs typeface="Sora" pitchFamily="34" charset="-120"/>
              </a:rPr>
              <a:t>Chiffrer les Secrets</a:t>
            </a:r>
            <a:endParaRPr lang="en-US" sz="1350" dirty="0"/>
          </a:p>
        </p:txBody>
      </p:sp>
      <p:sp>
        <p:nvSpPr>
          <p:cNvPr id="15" name="Text 10"/>
          <p:cNvSpPr/>
          <p:nvPr/>
        </p:nvSpPr>
        <p:spPr>
          <a:xfrm>
            <a:off x="6331691" y="2248297"/>
            <a:ext cx="2268027" cy="428307"/>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dans etcd (module 8) et protéger les sauvegardes d'etcd.</a:t>
            </a:r>
            <a:endParaRPr lang="en-US" sz="1150" dirty="0"/>
          </a:p>
        </p:txBody>
      </p:sp>
      <p:sp>
        <p:nvSpPr>
          <p:cNvPr id="16" name="Shape 11"/>
          <p:cNvSpPr/>
          <p:nvPr/>
        </p:nvSpPr>
        <p:spPr>
          <a:xfrm>
            <a:off x="8836025" y="1496715"/>
            <a:ext cx="2540000" cy="2091690"/>
          </a:xfrm>
          <a:prstGeom prst="roundRect">
            <a:avLst>
              <a:gd name="adj" fmla="val 5920"/>
            </a:avLst>
          </a:prstGeom>
          <a:solidFill>
            <a:srgbClr val="FDFDFF"/>
          </a:solidFill>
          <a:ln w="6350">
            <a:solidFill>
              <a:srgbClr val="E1DFEE"/>
            </a:solidFill>
            <a:prstDash val="solid"/>
          </a:ln>
        </p:spPr>
      </p:sp>
      <p:pic>
        <p:nvPicPr>
          <p:cNvPr id="17" name="Image 3" descr="Book">    </p:cNvPr>
          <p:cNvPicPr>
            <a:picLocks noChangeAspect="1"/>
          </p:cNvPicPr>
          <p:nvPr/>
        </p:nvPicPr>
        <p:blipFill>
          <a:blip r:embed="rId4"/>
          <a:srcRect l="0" r="0" t="0" b="0"/>
          <a:stretch/>
        </p:blipFill>
        <p:spPr>
          <a:xfrm>
            <a:off x="9005041" y="1653084"/>
            <a:ext cx="254000" cy="254000"/>
          </a:xfrm>
          <a:prstGeom prst="rect">
            <a:avLst/>
          </a:prstGeom>
        </p:spPr>
      </p:pic>
      <p:sp>
        <p:nvSpPr>
          <p:cNvPr id="18" name="Text 12"/>
          <p:cNvSpPr/>
          <p:nvPr/>
        </p:nvSpPr>
        <p:spPr>
          <a:xfrm>
            <a:off x="9005041" y="1970584"/>
            <a:ext cx="2268027" cy="454025"/>
          </a:xfrm>
          <a:prstGeom prst="rect">
            <a:avLst/>
          </a:prstGeom>
          <a:noFill/>
          <a:ln/>
        </p:spPr>
        <p:txBody>
          <a:bodyPr wrap="square" lIns="0" tIns="0" rIns="0" bIns="0" rtlCol="0" anchor="t">
            <a:normAutofit/>
          </a:bodyPr>
          <a:lstStyle/>
          <a:p>
            <a:pPr algn="l" indent="0" marL="0">
              <a:lnSpc>
                <a:spcPts val="1688"/>
              </a:lnSpc>
              <a:buNone/>
            </a:pPr>
            <a:r>
              <a:rPr lang="en-US" sz="1350" b="1" dirty="0">
                <a:solidFill>
                  <a:srgbClr val="0B0748"/>
                </a:solidFill>
                <a:latin typeface="Sora" pitchFamily="34" charset="0"/>
                <a:ea typeface="Sora" pitchFamily="34" charset="-122"/>
                <a:cs typeface="Sora" pitchFamily="34" charset="-120"/>
              </a:rPr>
              <a:t>Activer les journaux d'audit</a:t>
            </a:r>
            <a:endParaRPr lang="en-US" sz="1350" dirty="0"/>
          </a:p>
        </p:txBody>
      </p:sp>
      <p:sp>
        <p:nvSpPr>
          <p:cNvPr id="19" name="Text 13"/>
          <p:cNvSpPr/>
          <p:nvPr/>
        </p:nvSpPr>
        <p:spPr>
          <a:xfrm>
            <a:off x="9005041" y="2462709"/>
            <a:ext cx="2268027" cy="428308"/>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de l'API server, pour savoir qui a fait quoi.</a:t>
            </a:r>
            <a:endParaRPr lang="en-US" sz="1150" dirty="0"/>
          </a:p>
        </p:txBody>
      </p:sp>
      <p:sp>
        <p:nvSpPr>
          <p:cNvPr id="20" name="Shape 14"/>
          <p:cNvSpPr/>
          <p:nvPr/>
        </p:nvSpPr>
        <p:spPr>
          <a:xfrm>
            <a:off x="815975" y="3747095"/>
            <a:ext cx="2626042" cy="2091690"/>
          </a:xfrm>
          <a:prstGeom prst="roundRect">
            <a:avLst>
              <a:gd name="adj" fmla="val 5920"/>
            </a:avLst>
          </a:prstGeom>
          <a:solidFill>
            <a:srgbClr val="FDFDFF"/>
          </a:solidFill>
          <a:ln w="6350">
            <a:solidFill>
              <a:srgbClr val="E1DFEE"/>
            </a:solidFill>
            <a:prstDash val="solid"/>
          </a:ln>
        </p:spPr>
      </p:sp>
      <p:pic>
        <p:nvPicPr>
          <p:cNvPr id="21" name="Image 4" descr="Search">    </p:cNvPr>
          <p:cNvPicPr>
            <a:picLocks noChangeAspect="1"/>
          </p:cNvPicPr>
          <p:nvPr/>
        </p:nvPicPr>
        <p:blipFill>
          <a:blip r:embed="rId5"/>
          <a:srcRect l="0" r="0" t="0" b="0"/>
          <a:stretch/>
        </p:blipFill>
        <p:spPr>
          <a:xfrm>
            <a:off x="984991" y="3903563"/>
            <a:ext cx="254000" cy="254000"/>
          </a:xfrm>
          <a:prstGeom prst="rect">
            <a:avLst/>
          </a:prstGeom>
        </p:spPr>
      </p:pic>
      <p:sp>
        <p:nvSpPr>
          <p:cNvPr id="22" name="Text 15"/>
          <p:cNvSpPr/>
          <p:nvPr/>
        </p:nvSpPr>
        <p:spPr>
          <a:xfrm>
            <a:off x="984991" y="4221063"/>
            <a:ext cx="2356651" cy="239713"/>
          </a:xfrm>
          <a:prstGeom prst="rect">
            <a:avLst/>
          </a:prstGeom>
          <a:noFill/>
          <a:ln/>
        </p:spPr>
        <p:txBody>
          <a:bodyPr wrap="square" lIns="0" tIns="0" rIns="0" bIns="0" rtlCol="0" anchor="t">
            <a:normAutofit/>
          </a:bodyPr>
          <a:lstStyle/>
          <a:p>
            <a:pPr algn="l" indent="0" marL="0">
              <a:lnSpc>
                <a:spcPts val="1688"/>
              </a:lnSpc>
              <a:buNone/>
            </a:pPr>
            <a:r>
              <a:rPr lang="en-US" sz="1350" b="1" dirty="0">
                <a:solidFill>
                  <a:srgbClr val="0B0748"/>
                </a:solidFill>
                <a:latin typeface="Sora" pitchFamily="34" charset="0"/>
                <a:ea typeface="Sora" pitchFamily="34" charset="-122"/>
                <a:cs typeface="Sora" pitchFamily="34" charset="-120"/>
              </a:rPr>
              <a:t>Analyser les images</a:t>
            </a:r>
            <a:endParaRPr lang="en-US" sz="1350" dirty="0"/>
          </a:p>
        </p:txBody>
      </p:sp>
      <p:sp>
        <p:nvSpPr>
          <p:cNvPr id="23" name="Text 16"/>
          <p:cNvSpPr/>
          <p:nvPr/>
        </p:nvSpPr>
        <p:spPr>
          <a:xfrm>
            <a:off x="984991" y="4498777"/>
            <a:ext cx="2356651" cy="428308"/>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(Trivy) et vérifier leur provenance (signatures Sigstore et cosign).</a:t>
            </a:r>
            <a:endParaRPr lang="en-US" sz="1150" dirty="0"/>
          </a:p>
        </p:txBody>
      </p:sp>
      <p:sp>
        <p:nvSpPr>
          <p:cNvPr id="24" name="Shape 17"/>
          <p:cNvSpPr/>
          <p:nvPr/>
        </p:nvSpPr>
        <p:spPr>
          <a:xfrm>
            <a:off x="3575367" y="3747095"/>
            <a:ext cx="2626148" cy="2091690"/>
          </a:xfrm>
          <a:prstGeom prst="roundRect">
            <a:avLst>
              <a:gd name="adj" fmla="val 5920"/>
            </a:avLst>
          </a:prstGeom>
          <a:solidFill>
            <a:srgbClr val="FDFDFF"/>
          </a:solidFill>
          <a:ln w="6350">
            <a:solidFill>
              <a:srgbClr val="E1DFEE"/>
            </a:solidFill>
            <a:prstDash val="solid"/>
          </a:ln>
        </p:spPr>
      </p:sp>
      <p:pic>
        <p:nvPicPr>
          <p:cNvPr id="25" name="Image 5" descr="Activity">    </p:cNvPr>
          <p:cNvPicPr>
            <a:picLocks noChangeAspect="1"/>
          </p:cNvPicPr>
          <p:nvPr/>
        </p:nvPicPr>
        <p:blipFill>
          <a:blip r:embed="rId6"/>
          <a:srcRect l="0" r="0" t="0" b="0"/>
          <a:stretch/>
        </p:blipFill>
        <p:spPr>
          <a:xfrm>
            <a:off x="3744383" y="3903563"/>
            <a:ext cx="254000" cy="254000"/>
          </a:xfrm>
          <a:prstGeom prst="rect">
            <a:avLst/>
          </a:prstGeom>
        </p:spPr>
      </p:pic>
      <p:sp>
        <p:nvSpPr>
          <p:cNvPr id="26" name="Text 18"/>
          <p:cNvSpPr/>
          <p:nvPr/>
        </p:nvSpPr>
        <p:spPr>
          <a:xfrm>
            <a:off x="3744383" y="4221063"/>
            <a:ext cx="2356760" cy="668338"/>
          </a:xfrm>
          <a:prstGeom prst="rect">
            <a:avLst/>
          </a:prstGeom>
          <a:noFill/>
          <a:ln/>
        </p:spPr>
        <p:txBody>
          <a:bodyPr wrap="square" lIns="0" tIns="0" rIns="0" bIns="0" rtlCol="0" anchor="t">
            <a:normAutofit/>
          </a:bodyPr>
          <a:lstStyle/>
          <a:p>
            <a:pPr algn="l" indent="0" marL="0">
              <a:lnSpc>
                <a:spcPts val="1688"/>
              </a:lnSpc>
              <a:buNone/>
            </a:pPr>
            <a:r>
              <a:rPr lang="en-US" sz="1350" b="1" dirty="0">
                <a:solidFill>
                  <a:srgbClr val="0B0748"/>
                </a:solidFill>
                <a:latin typeface="Sora" pitchFamily="34" charset="0"/>
                <a:ea typeface="Sora" pitchFamily="34" charset="-122"/>
                <a:cs typeface="Sora" pitchFamily="34" charset="-120"/>
              </a:rPr>
              <a:t>Détecter les comportements anormaux</a:t>
            </a:r>
            <a:endParaRPr lang="en-US" sz="1350" dirty="0"/>
          </a:p>
        </p:txBody>
      </p:sp>
      <p:sp>
        <p:nvSpPr>
          <p:cNvPr id="27" name="Text 19"/>
          <p:cNvSpPr/>
          <p:nvPr/>
        </p:nvSpPr>
        <p:spPr>
          <a:xfrm>
            <a:off x="3744383" y="4927402"/>
            <a:ext cx="2356760" cy="226907"/>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à l'exécution (Falco).</a:t>
            </a:r>
            <a:endParaRPr lang="en-US" sz="1150" dirty="0"/>
          </a:p>
        </p:txBody>
      </p:sp>
      <p:sp>
        <p:nvSpPr>
          <p:cNvPr id="28" name="Shape 20"/>
          <p:cNvSpPr/>
          <p:nvPr/>
        </p:nvSpPr>
        <p:spPr>
          <a:xfrm>
            <a:off x="6334866" y="3747095"/>
            <a:ext cx="2626042" cy="2091690"/>
          </a:xfrm>
          <a:prstGeom prst="roundRect">
            <a:avLst>
              <a:gd name="adj" fmla="val 5920"/>
            </a:avLst>
          </a:prstGeom>
          <a:solidFill>
            <a:srgbClr val="FDFDFF"/>
          </a:solidFill>
          <a:ln w="6350">
            <a:solidFill>
              <a:srgbClr val="E1DFEE"/>
            </a:solidFill>
            <a:prstDash val="solid"/>
          </a:ln>
        </p:spPr>
      </p:sp>
      <p:pic>
        <p:nvPicPr>
          <p:cNvPr id="29" name="Image 6" descr="Verified">    </p:cNvPr>
          <p:cNvPicPr>
            <a:picLocks noChangeAspect="1"/>
          </p:cNvPicPr>
          <p:nvPr/>
        </p:nvPicPr>
        <p:blipFill>
          <a:blip r:embed="rId7"/>
          <a:srcRect l="0" r="0" t="0" b="0"/>
          <a:stretch/>
        </p:blipFill>
        <p:spPr>
          <a:xfrm>
            <a:off x="6503882" y="3903563"/>
            <a:ext cx="254000" cy="254000"/>
          </a:xfrm>
          <a:prstGeom prst="rect">
            <a:avLst/>
          </a:prstGeom>
        </p:spPr>
      </p:pic>
      <p:sp>
        <p:nvSpPr>
          <p:cNvPr id="30" name="Text 21"/>
          <p:cNvSpPr/>
          <p:nvPr/>
        </p:nvSpPr>
        <p:spPr>
          <a:xfrm>
            <a:off x="6503882" y="4221063"/>
            <a:ext cx="2453851" cy="239713"/>
          </a:xfrm>
          <a:prstGeom prst="rect">
            <a:avLst/>
          </a:prstGeom>
          <a:noFill/>
          <a:ln/>
        </p:spPr>
        <p:txBody>
          <a:bodyPr wrap="square" lIns="0" tIns="0" rIns="0" bIns="0" rtlCol="0" anchor="t">
            <a:normAutofit/>
          </a:bodyPr>
          <a:lstStyle/>
          <a:p>
            <a:pPr algn="l" indent="0" marL="0">
              <a:lnSpc>
                <a:spcPts val="1688"/>
              </a:lnSpc>
              <a:buNone/>
            </a:pPr>
            <a:r>
              <a:rPr lang="en-US" sz="1350" b="1" dirty="0">
                <a:solidFill>
                  <a:srgbClr val="0B0748"/>
                </a:solidFill>
                <a:latin typeface="Sora" pitchFamily="34" charset="0"/>
                <a:ea typeface="Sora" pitchFamily="34" charset="-122"/>
                <a:cs typeface="Sora" pitchFamily="34" charset="-120"/>
              </a:rPr>
              <a:t>Contrôler la configuration</a:t>
            </a:r>
            <a:endParaRPr lang="en-US" sz="1350" dirty="0"/>
          </a:p>
        </p:txBody>
      </p:sp>
      <p:sp>
        <p:nvSpPr>
          <p:cNvPr id="31" name="Text 22"/>
          <p:cNvSpPr/>
          <p:nvPr/>
        </p:nvSpPr>
        <p:spPr>
          <a:xfrm>
            <a:off x="6503882" y="4498777"/>
            <a:ext cx="2356651" cy="428308"/>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avec le référentiel CIS Kubernetes Benchmark (outil kube-bench).</a:t>
            </a:r>
            <a:endParaRPr lang="en-US" sz="1150" dirty="0"/>
          </a:p>
        </p:txBody>
      </p:sp>
      <p:pic>
        <p:nvPicPr>
          <p:cNvPr id="32" name="Image 7" descr="preencoded.png">    </p:cNvPr>
          <p:cNvPicPr>
            <a:picLocks noChangeAspect="1"/>
          </p:cNvPicPr>
          <p:nvPr/>
        </p:nvPicPr>
        <p:blipFill>
          <a:blip r:embed="rId8"/>
          <a:srcRect l="0" r="0" t="-35" b="-35"/>
          <a:stretch/>
        </p:blipFill>
        <p:spPr>
          <a:xfrm>
            <a:off x="812800" y="6299200"/>
            <a:ext cx="152400" cy="152506"/>
          </a:xfrm>
          <a:prstGeom prst="rect">
            <a:avLst/>
          </a:prstGeom>
        </p:spPr>
      </p:pic>
      <p:sp>
        <p:nvSpPr>
          <p:cNvPr id="33" name="Text 23"/>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4" name="Image 8" descr="Parcours : module 15 sur 16">    </p:cNvPr>
          <p:cNvPicPr>
            <a:picLocks noChangeAspect="1"/>
          </p:cNvPicPr>
          <p:nvPr/>
        </p:nvPicPr>
        <p:blipFill>
          <a:blip r:embed="rId9"/>
          <a:srcRect l="0" r="0" t="-35" b="-35"/>
          <a:stretch/>
        </p:blipFill>
        <p:spPr>
          <a:xfrm>
            <a:off x="9207500" y="6299200"/>
            <a:ext cx="2171700" cy="152506"/>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BF0E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TRAVAUX PRATIQUES · À FAIRE MAINTENANT</a:t>
            </a:r>
            <a:endParaRPr lang="en-US" sz="1200" dirty="0"/>
          </a:p>
        </p:txBody>
      </p:sp>
      <p:sp>
        <p:nvSpPr>
          <p:cNvPr id="3" name="Text 1"/>
          <p:cNvSpPr/>
          <p:nvPr/>
        </p:nvSpPr>
        <p:spPr>
          <a:xfrm>
            <a:off x="812800" y="1127720"/>
            <a:ext cx="3008630" cy="1054100"/>
          </a:xfrm>
          <a:prstGeom prst="rect">
            <a:avLst/>
          </a:prstGeom>
          <a:noFill/>
          <a:ln/>
        </p:spPr>
        <p:txBody>
          <a:bodyPr wrap="square" lIns="0" tIns="0" rIns="0" bIns="0" rtlCol="0" anchor="t">
            <a:normAutofit/>
          </a:bodyPr>
          <a:lstStyle/>
          <a:p>
            <a:pPr algn="l" indent="0" marL="0">
              <a:lnSpc>
                <a:spcPts val="8100"/>
              </a:lnSpc>
              <a:buNone/>
            </a:pPr>
            <a:r>
              <a:rPr lang="en-US" sz="9000" b="1" spc="-300" kern="0" dirty="0">
                <a:solidFill>
                  <a:srgbClr val="E25A2C"/>
                </a:solidFill>
                <a:latin typeface="Sora" pitchFamily="34" charset="0"/>
                <a:ea typeface="Sora" pitchFamily="34" charset="-122"/>
                <a:cs typeface="Sora" pitchFamily="34" charset="-120"/>
              </a:rPr>
              <a:t>TP11</a:t>
            </a:r>
            <a:endParaRPr lang="en-US" sz="9000" dirty="0"/>
          </a:p>
        </p:txBody>
      </p:sp>
      <p:pic>
        <p:nvPicPr>
          <p:cNvPr id="4" name="Image 0" descr="Clock">    </p:cNvPr>
          <p:cNvPicPr>
            <a:picLocks noChangeAspect="1"/>
          </p:cNvPicPr>
          <p:nvPr/>
        </p:nvPicPr>
        <p:blipFill>
          <a:blip r:embed="rId1"/>
          <a:srcRect l="0" r="0" t="0" b="0"/>
          <a:stretch/>
        </p:blipFill>
        <p:spPr>
          <a:xfrm>
            <a:off x="812800" y="2467570"/>
            <a:ext cx="254000" cy="254000"/>
          </a:xfrm>
          <a:prstGeom prst="rect">
            <a:avLst/>
          </a:prstGeom>
        </p:spPr>
      </p:pic>
      <p:sp>
        <p:nvSpPr>
          <p:cNvPr id="5" name="Text 2"/>
          <p:cNvSpPr/>
          <p:nvPr/>
        </p:nvSpPr>
        <p:spPr>
          <a:xfrm>
            <a:off x="1181100" y="2461220"/>
            <a:ext cx="1477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Jour 3 · 13:20</a:t>
            </a:r>
            <a:endParaRPr lang="en-US" sz="1500" dirty="0"/>
          </a:p>
        </p:txBody>
      </p:sp>
      <p:pic>
        <p:nvPicPr>
          <p:cNvPr id="6" name="Image 1" descr="Activity">    </p:cNvPr>
          <p:cNvPicPr>
            <a:picLocks noChangeAspect="1"/>
          </p:cNvPicPr>
          <p:nvPr/>
        </p:nvPicPr>
        <p:blipFill>
          <a:blip r:embed="rId2"/>
          <a:srcRect l="0" r="0" t="0" b="0"/>
          <a:stretch/>
        </p:blipFill>
        <p:spPr>
          <a:xfrm>
            <a:off x="812800" y="2835870"/>
            <a:ext cx="254000" cy="254000"/>
          </a:xfrm>
          <a:prstGeom prst="rect">
            <a:avLst/>
          </a:prstGeom>
        </p:spPr>
      </p:pic>
      <p:sp>
        <p:nvSpPr>
          <p:cNvPr id="7" name="Text 3"/>
          <p:cNvSpPr/>
          <p:nvPr/>
        </p:nvSpPr>
        <p:spPr>
          <a:xfrm>
            <a:off x="1181100" y="2829520"/>
            <a:ext cx="11889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50 minutes</a:t>
            </a:r>
            <a:endParaRPr lang="en-US" sz="1500" dirty="0"/>
          </a:p>
        </p:txBody>
      </p:sp>
      <p:pic>
        <p:nvPicPr>
          <p:cNvPr id="8" name="Image 2" descr="Book">    </p:cNvPr>
          <p:cNvPicPr>
            <a:picLocks noChangeAspect="1"/>
          </p:cNvPicPr>
          <p:nvPr/>
        </p:nvPicPr>
        <p:blipFill>
          <a:blip r:embed="rId3"/>
          <a:srcRect l="0" r="0" t="0" b="0"/>
          <a:stretch/>
        </p:blipFill>
        <p:spPr>
          <a:xfrm>
            <a:off x="812800" y="3197820"/>
            <a:ext cx="254000" cy="254000"/>
          </a:xfrm>
          <a:prstGeom prst="rect">
            <a:avLst/>
          </a:prstGeom>
        </p:spPr>
      </p:pic>
      <p:sp>
        <p:nvSpPr>
          <p:cNvPr id="9" name="Text 4"/>
          <p:cNvSpPr/>
          <p:nvPr/>
        </p:nvSpPr>
        <p:spPr>
          <a:xfrm>
            <a:off x="1181100" y="3200400"/>
            <a:ext cx="19701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Sections 15.2 à 15.7</a:t>
            </a:r>
            <a:endParaRPr lang="en-US" sz="1400" dirty="0"/>
          </a:p>
        </p:txBody>
      </p:sp>
      <p:sp>
        <p:nvSpPr>
          <p:cNvPr id="10" name="Text 5"/>
          <p:cNvSpPr/>
          <p:nvPr>
            <p:ph type="title"/>
          </p:nvPr>
        </p:nvSpPr>
        <p:spPr>
          <a:xfrm>
            <a:off x="4191000" y="1127720"/>
            <a:ext cx="7403846"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Sécurité</a:t>
            </a:r>
            <a:endParaRPr lang="en-US" sz="2800" dirty="0"/>
          </a:p>
        </p:txBody>
      </p:sp>
      <p:sp>
        <p:nvSpPr>
          <p:cNvPr id="11" name="Text 6"/>
          <p:cNvSpPr/>
          <p:nvPr/>
        </p:nvSpPr>
        <p:spPr>
          <a:xfrm>
            <a:off x="4191000" y="1722140"/>
            <a:ext cx="7403846"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F3C6B"/>
                </a:solidFill>
                <a:latin typeface="IBM Plex Sans" pitchFamily="34" charset="0"/>
                <a:ea typeface="IBM Plex Sans" pitchFamily="34" charset="-122"/>
                <a:cs typeface="IBM Plex Sans" pitchFamily="34" charset="-120"/>
              </a:rPr>
              <a:t>Créer un compte en lecture seule, imposer Pod Security restricted, isoler Redis par NetworkPolicies, puis créer l'utilisatrice alice par certificat.</a:t>
            </a:r>
            <a:endParaRPr lang="en-US" sz="1600" dirty="0"/>
          </a:p>
        </p:txBody>
      </p:sp>
      <p:sp>
        <p:nvSpPr>
          <p:cNvPr id="12" name="Shape 7"/>
          <p:cNvSpPr/>
          <p:nvPr/>
        </p:nvSpPr>
        <p:spPr>
          <a:xfrm>
            <a:off x="4194175" y="4627066"/>
            <a:ext cx="7181850" cy="1211792"/>
          </a:xfrm>
          <a:prstGeom prst="roundRect">
            <a:avLst>
              <a:gd name="adj" fmla="val 10218"/>
            </a:avLst>
          </a:prstGeom>
          <a:solidFill>
            <a:srgbClr val="FDFDFF"/>
          </a:solidFill>
          <a:ln w="6350">
            <a:solidFill>
              <a:srgbClr val="EBDDD2"/>
            </a:solidFill>
            <a:prstDash val="solid"/>
          </a:ln>
        </p:spPr>
      </p:sp>
      <p:pic>
        <p:nvPicPr>
          <p:cNvPr id="13" name="Image 3" descr="CheckCircle">    </p:cNvPr>
          <p:cNvPicPr>
            <a:picLocks noChangeAspect="1"/>
          </p:cNvPicPr>
          <p:nvPr/>
        </p:nvPicPr>
        <p:blipFill>
          <a:blip r:embed="rId4"/>
          <a:srcRect l="0" r="0" t="0" b="0"/>
          <a:stretch/>
        </p:blipFill>
        <p:spPr>
          <a:xfrm>
            <a:off x="4452091" y="4834235"/>
            <a:ext cx="355600" cy="355600"/>
          </a:xfrm>
          <a:prstGeom prst="rect">
            <a:avLst/>
          </a:prstGeom>
        </p:spPr>
      </p:pic>
      <p:sp>
        <p:nvSpPr>
          <p:cNvPr id="14" name="Text 8"/>
          <p:cNvSpPr/>
          <p:nvPr/>
        </p:nvSpPr>
        <p:spPr>
          <a:xfrm>
            <a:off x="4985491" y="4834235"/>
            <a:ext cx="63165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POINT DE CONTRÔLE</a:t>
            </a:r>
            <a:endParaRPr lang="en-US" sz="1200" dirty="0"/>
          </a:p>
        </p:txBody>
      </p:sp>
      <p:sp>
        <p:nvSpPr>
          <p:cNvPr id="15" name="Text 9"/>
          <p:cNvSpPr/>
          <p:nvPr/>
        </p:nvSpPr>
        <p:spPr>
          <a:xfrm>
            <a:off x="4985491" y="5098455"/>
            <a:ext cx="631659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Le compte lecteur ne peut rien supprimer ; un pod intrus ne joint pas Redis alors que l'application fonctionne.</a:t>
            </a:r>
            <a:endParaRPr lang="en-US" sz="1500" dirty="0"/>
          </a:p>
        </p:txBody>
      </p:sp>
      <p:pic>
        <p:nvPicPr>
          <p:cNvPr id="16" name="Image 4" descr="preencoded.png">    </p:cNvPr>
          <p:cNvPicPr>
            <a:picLocks noChangeAspect="1"/>
          </p:cNvPicPr>
          <p:nvPr/>
        </p:nvPicPr>
        <p:blipFill>
          <a:blip r:embed="rId5"/>
          <a:srcRect l="0" r="0" t="-35" b="-35"/>
          <a:stretch/>
        </p:blipFill>
        <p:spPr>
          <a:xfrm>
            <a:off x="812800" y="6299200"/>
            <a:ext cx="152400" cy="152506"/>
          </a:xfrm>
          <a:prstGeom prst="rect">
            <a:avLst/>
          </a:prstGeom>
        </p:spPr>
      </p:pic>
      <p:sp>
        <p:nvSpPr>
          <p:cNvPr id="17" name="Text 1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5" descr="Parcours : module 15 sur 16">    </p:cNvPr>
          <p:cNvPicPr>
            <a:picLocks noChangeAspect="1"/>
          </p:cNvPicPr>
          <p:nvPr/>
        </p:nvPicPr>
        <p:blipFill>
          <a:blip r:embed="rId6"/>
          <a:srcRect l="0" r="0" t="-35" b="-35"/>
          <a:stretch/>
        </p:blipFill>
        <p:spPr>
          <a:xfrm>
            <a:off x="9207500" y="6299200"/>
            <a:ext cx="2171700" cy="152506"/>
          </a:xfrm>
          <a:prstGeom prst="rect">
            <a:avLst/>
          </a:prstGeom>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15 · BILAN</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40"/>
            <a:ext cx="5225309"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40"/>
            <a:ext cx="228600" cy="228600"/>
          </a:xfrm>
          <a:prstGeom prst="rect">
            <a:avLst/>
          </a:prstGeom>
        </p:spPr>
      </p:pic>
      <p:sp>
        <p:nvSpPr>
          <p:cNvPr id="6" name="Text 3"/>
          <p:cNvSpPr/>
          <p:nvPr/>
        </p:nvSpPr>
        <p:spPr>
          <a:xfrm>
            <a:off x="1511300" y="1874540"/>
            <a:ext cx="4322507"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ECEAFF"/>
                </a:solidFill>
                <a:latin typeface="IBM Plex Sans" pitchFamily="34" charset="0"/>
                <a:ea typeface="IBM Plex Sans" pitchFamily="34" charset="-122"/>
                <a:cs typeface="IBM Plex Sans" pitchFamily="34" charset="-120"/>
              </a:rPr>
              <a:t>Kubernetes n'a pas de comptes utilisateurs : certificats ou OIDC pour les humains, ServiceAccounts pour les programmes.</a:t>
            </a:r>
            <a:endParaRPr lang="en-US" sz="1250" dirty="0"/>
          </a:p>
        </p:txBody>
      </p:sp>
      <p:pic>
        <p:nvPicPr>
          <p:cNvPr id="7" name="Image 1" descr="Check">    </p:cNvPr>
          <p:cNvPicPr>
            <a:picLocks noChangeAspect="1"/>
          </p:cNvPicPr>
          <p:nvPr/>
        </p:nvPicPr>
        <p:blipFill>
          <a:blip r:embed="rId2"/>
          <a:srcRect l="0" r="0" t="0" b="0"/>
          <a:stretch/>
        </p:blipFill>
        <p:spPr>
          <a:xfrm>
            <a:off x="1143000" y="2655590"/>
            <a:ext cx="228600" cy="228600"/>
          </a:xfrm>
          <a:prstGeom prst="rect">
            <a:avLst/>
          </a:prstGeom>
        </p:spPr>
      </p:pic>
      <p:sp>
        <p:nvSpPr>
          <p:cNvPr id="8" name="Text 4"/>
          <p:cNvSpPr/>
          <p:nvPr/>
        </p:nvSpPr>
        <p:spPr>
          <a:xfrm>
            <a:off x="1511300" y="2655590"/>
            <a:ext cx="4322507"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ECEAFF"/>
                </a:solidFill>
                <a:latin typeface="IBM Plex Sans" pitchFamily="34" charset="0"/>
                <a:ea typeface="IBM Plex Sans" pitchFamily="34" charset="-122"/>
                <a:cs typeface="IBM Plex Sans" pitchFamily="34" charset="-120"/>
              </a:rPr>
              <a:t>RBAC n'accorde que des permissions ; déléguez un namespace avec un RoleBinding vers edit ou admin.</a:t>
            </a:r>
            <a:endParaRPr lang="en-US" sz="1250" dirty="0"/>
          </a:p>
        </p:txBody>
      </p:sp>
      <p:pic>
        <p:nvPicPr>
          <p:cNvPr id="9" name="Image 2" descr="Check">    </p:cNvPr>
          <p:cNvPicPr>
            <a:picLocks noChangeAspect="1"/>
          </p:cNvPicPr>
          <p:nvPr/>
        </p:nvPicPr>
        <p:blipFill>
          <a:blip r:embed="rId3"/>
          <a:srcRect l="0" r="0" t="0" b="0"/>
          <a:stretch/>
        </p:blipFill>
        <p:spPr>
          <a:xfrm>
            <a:off x="1143000" y="3214390"/>
            <a:ext cx="228600" cy="228600"/>
          </a:xfrm>
          <a:prstGeom prst="rect">
            <a:avLst/>
          </a:prstGeom>
        </p:spPr>
      </p:pic>
      <p:sp>
        <p:nvSpPr>
          <p:cNvPr id="10" name="Text 5"/>
          <p:cNvSpPr/>
          <p:nvPr/>
        </p:nvSpPr>
        <p:spPr>
          <a:xfrm>
            <a:off x="1511300" y="3214390"/>
            <a:ext cx="4322507"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ECEAFF"/>
                </a:solidFill>
                <a:latin typeface="IBM Plex Sans" pitchFamily="34" charset="0"/>
                <a:ea typeface="IBM Plex Sans" pitchFamily="34" charset="-122"/>
                <a:cs typeface="IBM Plex Sans" pitchFamily="34" charset="-120"/>
              </a:rPr>
              <a:t>Lire les Secrets ou créer des pods sont des droits sensibles.</a:t>
            </a:r>
            <a:endParaRPr lang="en-US" sz="1250" dirty="0"/>
          </a:p>
        </p:txBody>
      </p:sp>
      <p:pic>
        <p:nvPicPr>
          <p:cNvPr id="11" name="Image 3" descr="Check">    </p:cNvPr>
          <p:cNvPicPr>
            <a:picLocks noChangeAspect="1"/>
          </p:cNvPicPr>
          <p:nvPr/>
        </p:nvPicPr>
        <p:blipFill>
          <a:blip r:embed="rId4"/>
          <a:srcRect l="0" r="0" t="0" b="0"/>
          <a:stretch/>
        </p:blipFill>
        <p:spPr>
          <a:xfrm>
            <a:off x="1143000" y="3773190"/>
            <a:ext cx="228600" cy="228600"/>
          </a:xfrm>
          <a:prstGeom prst="rect">
            <a:avLst/>
          </a:prstGeom>
        </p:spPr>
      </p:pic>
      <p:sp>
        <p:nvSpPr>
          <p:cNvPr id="12" name="Text 6"/>
          <p:cNvSpPr/>
          <p:nvPr/>
        </p:nvSpPr>
        <p:spPr>
          <a:xfrm>
            <a:off x="1511300" y="3773190"/>
            <a:ext cx="4322507"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ECEAFF"/>
                </a:solidFill>
                <a:latin typeface="IBM Plex Sans" pitchFamily="34" charset="0"/>
                <a:ea typeface="IBM Plex Sans" pitchFamily="34" charset="-122"/>
                <a:cs typeface="IBM Plex Sans" pitchFamily="34" charset="-120"/>
              </a:rPr>
              <a:t>Pod Security Admission impose baseline ou restricted par label de namespace ; visez restricted.</a:t>
            </a:r>
            <a:endParaRPr lang="en-US" sz="1250" dirty="0"/>
          </a:p>
        </p:txBody>
      </p:sp>
      <p:pic>
        <p:nvPicPr>
          <p:cNvPr id="13" name="Image 4" descr="Check">    </p:cNvPr>
          <p:cNvPicPr>
            <a:picLocks noChangeAspect="1"/>
          </p:cNvPicPr>
          <p:nvPr/>
        </p:nvPicPr>
        <p:blipFill>
          <a:blip r:embed="rId5"/>
          <a:srcRect l="0" r="0" t="0" b="0"/>
          <a:stretch/>
        </p:blipFill>
        <p:spPr>
          <a:xfrm>
            <a:off x="1143000" y="4331990"/>
            <a:ext cx="228600" cy="228600"/>
          </a:xfrm>
          <a:prstGeom prst="rect">
            <a:avLst/>
          </a:prstGeom>
        </p:spPr>
      </p:pic>
      <p:sp>
        <p:nvSpPr>
          <p:cNvPr id="14" name="Text 7"/>
          <p:cNvSpPr/>
          <p:nvPr/>
        </p:nvSpPr>
        <p:spPr>
          <a:xfrm>
            <a:off x="1511300" y="4331990"/>
            <a:ext cx="4322507"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ECEAFF"/>
                </a:solidFill>
                <a:latin typeface="IBM Plex Sans" pitchFamily="34" charset="0"/>
                <a:ea typeface="IBM Plex Sans" pitchFamily="34" charset="-122"/>
                <a:cs typeface="IBM Plex Sans" pitchFamily="34" charset="-120"/>
              </a:rPr>
              <a:t>Une NetworkPolicy transforme le « tout est permis » en liste blanche pour les pods qu'elle sélectionne ; n'oubliez pas le DNS en sortie.</a:t>
            </a:r>
            <a:endParaRPr lang="en-US" sz="1250" dirty="0"/>
          </a:p>
        </p:txBody>
      </p:sp>
      <p:sp>
        <p:nvSpPr>
          <p:cNvPr id="15" name="Shape 8"/>
          <p:cNvSpPr/>
          <p:nvPr/>
        </p:nvSpPr>
        <p:spPr>
          <a:xfrm>
            <a:off x="6244484" y="1598315"/>
            <a:ext cx="5131541" cy="4240530"/>
          </a:xfrm>
          <a:prstGeom prst="roundRect">
            <a:avLst>
              <a:gd name="adj" fmla="val 3519"/>
            </a:avLst>
          </a:prstGeom>
          <a:solidFill>
            <a:srgbClr val="FDFDFF"/>
          </a:solidFill>
          <a:ln w="6350">
            <a:solidFill>
              <a:srgbClr val="E1DFEE"/>
            </a:solidFill>
            <a:prstDash val="solid"/>
          </a:ln>
        </p:spPr>
      </p:sp>
      <p:sp>
        <p:nvSpPr>
          <p:cNvPr id="16" name="Text 9"/>
          <p:cNvSpPr/>
          <p:nvPr/>
        </p:nvSpPr>
        <p:spPr>
          <a:xfrm>
            <a:off x="6527800" y="1856284"/>
            <a:ext cx="470185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7" name="Text 10"/>
          <p:cNvSpPr/>
          <p:nvPr/>
        </p:nvSpPr>
        <p:spPr>
          <a:xfrm>
            <a:off x="6527800" y="2196703"/>
            <a:ext cx="228600" cy="416666"/>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B8421A"/>
                </a:solidFill>
                <a:latin typeface="Sora" pitchFamily="34" charset="0"/>
                <a:ea typeface="Sora" pitchFamily="34" charset="-122"/>
                <a:cs typeface="Sora" pitchFamily="34" charset="-120"/>
              </a:rPr>
              <a:t>1</a:t>
            </a:r>
            <a:endParaRPr lang="en-US" sz="1100" dirty="0"/>
          </a:p>
        </p:txBody>
      </p:sp>
      <p:sp>
        <p:nvSpPr>
          <p:cNvPr id="18" name="Text 11"/>
          <p:cNvSpPr/>
          <p:nvPr/>
        </p:nvSpPr>
        <p:spPr>
          <a:xfrm>
            <a:off x="6807200" y="2196703"/>
            <a:ext cx="4414074" cy="416666"/>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F3C6B"/>
                </a:solidFill>
                <a:latin typeface="IBM Plex Sans" pitchFamily="34" charset="0"/>
                <a:ea typeface="IBM Plex Sans" pitchFamily="34" charset="-122"/>
                <a:cs typeface="IBM Plex Sans" pitchFamily="34" charset="-120"/>
              </a:rPr>
              <a:t>Comment donner à une équipe le droit de tout gérer dans son namespace, et rien ailleurs ?</a:t>
            </a:r>
            <a:endParaRPr lang="en-US" sz="1100" dirty="0"/>
          </a:p>
        </p:txBody>
      </p:sp>
      <p:sp>
        <p:nvSpPr>
          <p:cNvPr id="19" name="Text 12"/>
          <p:cNvSpPr/>
          <p:nvPr/>
        </p:nvSpPr>
        <p:spPr>
          <a:xfrm>
            <a:off x="6527800" y="2714823"/>
            <a:ext cx="228600" cy="416666"/>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B8421A"/>
                </a:solidFill>
                <a:latin typeface="Sora" pitchFamily="34" charset="0"/>
                <a:ea typeface="Sora" pitchFamily="34" charset="-122"/>
                <a:cs typeface="Sora" pitchFamily="34" charset="-120"/>
              </a:rPr>
              <a:t>2</a:t>
            </a:r>
            <a:endParaRPr lang="en-US" sz="1100" dirty="0"/>
          </a:p>
        </p:txBody>
      </p:sp>
      <p:sp>
        <p:nvSpPr>
          <p:cNvPr id="20" name="Text 13"/>
          <p:cNvSpPr/>
          <p:nvPr/>
        </p:nvSpPr>
        <p:spPr>
          <a:xfrm>
            <a:off x="6807200" y="2714823"/>
            <a:ext cx="4414074" cy="416666"/>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F3C6B"/>
                </a:solidFill>
                <a:latin typeface="IBM Plex Sans" pitchFamily="34" charset="0"/>
                <a:ea typeface="IBM Plex Sans" pitchFamily="34" charset="-122"/>
                <a:cs typeface="IBM Plex Sans" pitchFamily="34" charset="-120"/>
              </a:rPr>
              <a:t>Pourquoi le droit de créer des pods permet-il de lire les Secrets du namespace ?</a:t>
            </a:r>
            <a:endParaRPr lang="en-US" sz="1100" dirty="0"/>
          </a:p>
        </p:txBody>
      </p:sp>
      <p:sp>
        <p:nvSpPr>
          <p:cNvPr id="21" name="Text 14"/>
          <p:cNvSpPr/>
          <p:nvPr/>
        </p:nvSpPr>
        <p:spPr>
          <a:xfrm>
            <a:off x="6527800" y="3233043"/>
            <a:ext cx="228600" cy="416666"/>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B8421A"/>
                </a:solidFill>
                <a:latin typeface="Sora" pitchFamily="34" charset="0"/>
                <a:ea typeface="Sora" pitchFamily="34" charset="-122"/>
                <a:cs typeface="Sora" pitchFamily="34" charset="-120"/>
              </a:rPr>
              <a:t>3</a:t>
            </a:r>
            <a:endParaRPr lang="en-US" sz="1100" dirty="0"/>
          </a:p>
        </p:txBody>
      </p:sp>
      <p:sp>
        <p:nvSpPr>
          <p:cNvPr id="22" name="Text 15"/>
          <p:cNvSpPr/>
          <p:nvPr/>
        </p:nvSpPr>
        <p:spPr>
          <a:xfrm>
            <a:off x="6807200" y="3233043"/>
            <a:ext cx="4414074" cy="416666"/>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F3C6B"/>
                </a:solidFill>
                <a:latin typeface="IBM Plex Sans" pitchFamily="34" charset="0"/>
                <a:ea typeface="IBM Plex Sans" pitchFamily="34" charset="-122"/>
                <a:cs typeface="IBM Plex Sans" pitchFamily="34" charset="-120"/>
              </a:rPr>
              <a:t>Un pod est refusé : violates PodSecurity "restricted:latest". Que faut-il ajouter à son manifeste ?</a:t>
            </a:r>
            <a:endParaRPr lang="en-US" sz="1100" dirty="0"/>
          </a:p>
        </p:txBody>
      </p:sp>
      <p:sp>
        <p:nvSpPr>
          <p:cNvPr id="23" name="Text 16"/>
          <p:cNvSpPr/>
          <p:nvPr/>
        </p:nvSpPr>
        <p:spPr>
          <a:xfrm>
            <a:off x="6527800" y="3751163"/>
            <a:ext cx="228600" cy="416666"/>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B8421A"/>
                </a:solidFill>
                <a:latin typeface="Sora" pitchFamily="34" charset="0"/>
                <a:ea typeface="Sora" pitchFamily="34" charset="-122"/>
                <a:cs typeface="Sora" pitchFamily="34" charset="-120"/>
              </a:rPr>
              <a:t>4</a:t>
            </a:r>
            <a:endParaRPr lang="en-US" sz="1100" dirty="0"/>
          </a:p>
        </p:txBody>
      </p:sp>
      <p:sp>
        <p:nvSpPr>
          <p:cNvPr id="24" name="Text 17"/>
          <p:cNvSpPr/>
          <p:nvPr/>
        </p:nvSpPr>
        <p:spPr>
          <a:xfrm>
            <a:off x="6807200" y="3751163"/>
            <a:ext cx="4414074" cy="416666"/>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F3C6B"/>
                </a:solidFill>
                <a:latin typeface="IBM Plex Sans" pitchFamily="34" charset="0"/>
                <a:ea typeface="IBM Plex Sans" pitchFamily="34" charset="-122"/>
                <a:cs typeface="IBM Plex Sans" pitchFamily="34" charset="-120"/>
              </a:rPr>
              <a:t>Après une policy de refus en sortie, plus aucun nom de service ne se résout. Pourquoi ?</a:t>
            </a:r>
            <a:endParaRPr lang="en-US" sz="1100" dirty="0"/>
          </a:p>
        </p:txBody>
      </p:sp>
      <p:sp>
        <p:nvSpPr>
          <p:cNvPr id="25" name="Text 18"/>
          <p:cNvSpPr/>
          <p:nvPr/>
        </p:nvSpPr>
        <p:spPr>
          <a:xfrm>
            <a:off x="6527800" y="4269284"/>
            <a:ext cx="228600" cy="61214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B8421A"/>
                </a:solidFill>
                <a:latin typeface="Sora" pitchFamily="34" charset="0"/>
                <a:ea typeface="Sora" pitchFamily="34" charset="-122"/>
                <a:cs typeface="Sora" pitchFamily="34" charset="-120"/>
              </a:rPr>
              <a:t>5</a:t>
            </a:r>
            <a:endParaRPr lang="en-US" sz="1100" dirty="0"/>
          </a:p>
        </p:txBody>
      </p:sp>
      <p:sp>
        <p:nvSpPr>
          <p:cNvPr id="26" name="Text 19"/>
          <p:cNvSpPr/>
          <p:nvPr/>
        </p:nvSpPr>
        <p:spPr>
          <a:xfrm>
            <a:off x="6807200" y="4269284"/>
            <a:ext cx="4414074" cy="61214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F3C6B"/>
                </a:solidFill>
                <a:latin typeface="IBM Plex Sans" pitchFamily="34" charset="0"/>
                <a:ea typeface="IBM Plex Sans" pitchFamily="34" charset="-122"/>
                <a:cs typeface="IBM Plex Sans" pitchFamily="34" charset="-120"/>
              </a:rPr>
              <a:t>Quelle différence entre un namespaceSelector et un podSelector placés dans le même élément from, et dans deux éléments séparés ?</a:t>
            </a:r>
            <a:endParaRPr lang="en-US" sz="1100" dirty="0"/>
          </a:p>
        </p:txBody>
      </p:sp>
      <p:pic>
        <p:nvPicPr>
          <p:cNvPr id="27" name="Image 5" descr="preencoded.png">    </p:cNvPr>
          <p:cNvPicPr>
            <a:picLocks noChangeAspect="1"/>
          </p:cNvPicPr>
          <p:nvPr/>
        </p:nvPicPr>
        <p:blipFill>
          <a:blip r:embed="rId6"/>
          <a:srcRect l="0" r="0" t="-35" b="-35"/>
          <a:stretch/>
        </p:blipFill>
        <p:spPr>
          <a:xfrm>
            <a:off x="812800" y="6299200"/>
            <a:ext cx="152400" cy="152506"/>
          </a:xfrm>
          <a:prstGeom prst="rect">
            <a:avLst/>
          </a:prstGeom>
        </p:spPr>
      </p:pic>
      <p:sp>
        <p:nvSpPr>
          <p:cNvPr id="28" name="Text 2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9" name="Image 6" descr="Parcours : module 15 sur 16">    </p:cNvPr>
          <p:cNvPicPr>
            <a:picLocks noChangeAspect="1"/>
          </p:cNvPicPr>
          <p:nvPr/>
        </p:nvPicPr>
        <p:blipFill>
          <a:blip r:embed="rId7"/>
          <a:srcRect l="0" r="0" t="-35" b="-35"/>
          <a:stretch/>
        </p:blipFill>
        <p:spPr>
          <a:xfrm>
            <a:off x="9207500" y="6299200"/>
            <a:ext cx="2171700" cy="152506"/>
          </a:xfrm>
          <a:prstGeom prst="rect">
            <a:avLst/>
          </a:prstGeom>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3 · ENCADRER, SÉCURISER, FAIRE GRANDIR</a:t>
            </a:r>
            <a:endParaRPr lang="en-US" sz="1200" dirty="0"/>
          </a:p>
        </p:txBody>
      </p:sp>
      <p:sp>
        <p:nvSpPr>
          <p:cNvPr id="3" name="Text 1"/>
          <p:cNvSpPr/>
          <p:nvPr/>
        </p:nvSpPr>
        <p:spPr>
          <a:xfrm>
            <a:off x="812800" y="1076920"/>
            <a:ext cx="1577340" cy="1104900"/>
          </a:xfrm>
          <a:prstGeom prst="rect">
            <a:avLst/>
          </a:prstGeom>
          <a:noFill/>
          <a:ln/>
        </p:spPr>
        <p:txBody>
          <a:bodyPr wrap="square" lIns="0" tIns="0" rIns="0" bIns="0" rtlCol="0" anchor="t">
            <a:normAutofit/>
          </a:bodyPr>
          <a:lstStyle/>
          <a:p>
            <a:pPr algn="l" indent="0" marL="0">
              <a:lnSpc>
                <a:spcPts val="8500"/>
              </a:lnSpc>
              <a:buNone/>
            </a:pPr>
            <a:r>
              <a:rPr lang="en-US" sz="10000" b="1" spc="-400" kern="0" dirty="0">
                <a:solidFill>
                  <a:srgbClr val="FF8F66"/>
                </a:solidFill>
                <a:latin typeface="Sora" pitchFamily="34" charset="0"/>
                <a:ea typeface="Sora" pitchFamily="34" charset="-122"/>
                <a:cs typeface="Sora" pitchFamily="34" charset="-120"/>
              </a:rPr>
              <a:t>16</a:t>
            </a:r>
            <a:endParaRPr lang="en-US" sz="10000" dirty="0"/>
          </a:p>
        </p:txBody>
      </p:sp>
      <p:sp>
        <p:nvSpPr>
          <p:cNvPr id="4" name="Text 2"/>
          <p:cNvSpPr/>
          <p:nvPr>
            <p:ph type="title"/>
          </p:nvPr>
        </p:nvSpPr>
        <p:spPr>
          <a:xfrm>
            <a:off x="2482850" y="1127720"/>
            <a:ext cx="9163241" cy="558800"/>
          </a:xfrm>
          <a:prstGeom prst="rect">
            <a:avLst/>
          </a:prstGeom>
          <a:noFill/>
          <a:ln/>
        </p:spPr>
        <p:txBody>
          <a:bodyPr wrap="square" lIns="0" tIns="0" rIns="0" bIns="0" rtlCol="0" anchor="t">
            <a:normAutofit/>
          </a:bodyPr>
          <a:lstStyle/>
          <a:p>
            <a:pPr algn="l" indent="0" marL="0">
              <a:lnSpc>
                <a:spcPts val="4200"/>
              </a:lnSpc>
              <a:buNone/>
            </a:pPr>
            <a:r>
              <a:rPr lang="en-US" sz="4000" b="1" i="0" spc="-100" kern="0" dirty="0">
                <a:solidFill>
                  <a:srgbClr val="F5F4F9"/>
                </a:solidFill>
                <a:latin typeface="Sora" pitchFamily="34" charset="0"/>
                <a:ea typeface="Sora" pitchFamily="34" charset="-122"/>
                <a:cs typeface="Sora" pitchFamily="34" charset="-120"/>
              </a:rPr>
              <a:t>Volumes et données persistantes</a:t>
            </a:r>
            <a:endParaRPr lang="en-US" sz="4000" dirty="0"/>
          </a:p>
        </p:txBody>
      </p:sp>
      <p:sp>
        <p:nvSpPr>
          <p:cNvPr id="5" name="Text 3"/>
          <p:cNvSpPr/>
          <p:nvPr/>
        </p:nvSpPr>
        <p:spPr>
          <a:xfrm>
            <a:off x="2482850" y="1813520"/>
            <a:ext cx="9163241" cy="825394"/>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Le système de fichiers d'un conteneur disparaît avec lui. Un PersistentVolumeClaim demande un volume, fourni à la main ou créé par une StorageClass ; le StatefulSet donne à chaque réplica son identité et son volume.</a:t>
            </a:r>
            <a:endParaRPr lang="en-US" sz="1500" dirty="0"/>
          </a:p>
        </p:txBody>
      </p:sp>
      <p:sp>
        <p:nvSpPr>
          <p:cNvPr id="6" name="Text 4"/>
          <p:cNvSpPr/>
          <p:nvPr/>
        </p:nvSpPr>
        <p:spPr>
          <a:xfrm>
            <a:off x="2482850" y="2766020"/>
            <a:ext cx="2350347"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TP12 · Persistance · J3 14:15</a:t>
            </a:r>
            <a:endParaRPr lang="en-US" sz="1200" dirty="0"/>
          </a:p>
        </p:txBody>
      </p:sp>
      <p:pic>
        <p:nvPicPr>
          <p:cNvPr id="7" name="Image 0" descr="Parcours de la formation : module 16 sur 16">    </p:cNvPr>
          <p:cNvPicPr>
            <a:picLocks noChangeAspect="1"/>
          </p:cNvPicPr>
          <p:nvPr/>
        </p:nvPicPr>
        <p:blipFill>
          <a:blip r:embed="rId1"/>
          <a:srcRect l="0" r="0" t="0" b="0"/>
          <a:stretch/>
        </p:blipFill>
        <p:spPr>
          <a:xfrm>
            <a:off x="812800" y="4165600"/>
            <a:ext cx="10566400" cy="1981200"/>
          </a:xfrm>
          <a:prstGeom prst="rect">
            <a:avLst/>
          </a:prstGeom>
        </p:spPr>
      </p:pic>
      <p:sp>
        <p:nvSpPr>
          <p:cNvPr id="8" name="Text 5"/>
          <p:cNvSpPr/>
          <p:nvPr/>
        </p:nvSpPr>
        <p:spPr>
          <a:xfrm>
            <a:off x="838200" y="5346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9" name="Text 6"/>
          <p:cNvSpPr/>
          <p:nvPr/>
        </p:nvSpPr>
        <p:spPr>
          <a:xfrm>
            <a:off x="1409700" y="5276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10" name="Text 7"/>
          <p:cNvSpPr/>
          <p:nvPr/>
        </p:nvSpPr>
        <p:spPr>
          <a:xfrm>
            <a:off x="1981200" y="52070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1" name="Text 8"/>
          <p:cNvSpPr/>
          <p:nvPr/>
        </p:nvSpPr>
        <p:spPr>
          <a:xfrm>
            <a:off x="2552700" y="5143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04</a:t>
            </a:r>
            <a:endParaRPr lang="en-US" sz="1200" dirty="0"/>
          </a:p>
        </p:txBody>
      </p:sp>
      <p:sp>
        <p:nvSpPr>
          <p:cNvPr id="12" name="Text 9"/>
          <p:cNvSpPr/>
          <p:nvPr/>
        </p:nvSpPr>
        <p:spPr>
          <a:xfrm>
            <a:off x="3124200" y="5073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05</a:t>
            </a:r>
            <a:endParaRPr lang="en-US" sz="1200" dirty="0"/>
          </a:p>
        </p:txBody>
      </p:sp>
      <p:sp>
        <p:nvSpPr>
          <p:cNvPr id="13" name="Text 10"/>
          <p:cNvSpPr/>
          <p:nvPr/>
        </p:nvSpPr>
        <p:spPr>
          <a:xfrm>
            <a:off x="4000500" y="49657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06</a:t>
            </a:r>
            <a:endParaRPr lang="en-US" sz="1200" dirty="0"/>
          </a:p>
        </p:txBody>
      </p:sp>
      <p:sp>
        <p:nvSpPr>
          <p:cNvPr id="14" name="Text 11"/>
          <p:cNvSpPr/>
          <p:nvPr/>
        </p:nvSpPr>
        <p:spPr>
          <a:xfrm>
            <a:off x="4572000" y="48958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07</a:t>
            </a:r>
            <a:endParaRPr lang="en-US" sz="1200" dirty="0"/>
          </a:p>
        </p:txBody>
      </p:sp>
      <p:sp>
        <p:nvSpPr>
          <p:cNvPr id="15" name="Text 12"/>
          <p:cNvSpPr/>
          <p:nvPr/>
        </p:nvSpPr>
        <p:spPr>
          <a:xfrm>
            <a:off x="5143500" y="4832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08</a:t>
            </a:r>
            <a:endParaRPr lang="en-US" sz="1200" dirty="0"/>
          </a:p>
        </p:txBody>
      </p:sp>
      <p:sp>
        <p:nvSpPr>
          <p:cNvPr id="16" name="Text 13"/>
          <p:cNvSpPr/>
          <p:nvPr/>
        </p:nvSpPr>
        <p:spPr>
          <a:xfrm>
            <a:off x="5715000" y="4762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09</a:t>
            </a:r>
            <a:endParaRPr lang="en-US" sz="1200" dirty="0"/>
          </a:p>
        </p:txBody>
      </p:sp>
      <p:sp>
        <p:nvSpPr>
          <p:cNvPr id="17" name="Text 14"/>
          <p:cNvSpPr/>
          <p:nvPr/>
        </p:nvSpPr>
        <p:spPr>
          <a:xfrm>
            <a:off x="6286500" y="4692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7162800" y="45910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11</a:t>
            </a:r>
            <a:endParaRPr lang="en-US" sz="1200" dirty="0"/>
          </a:p>
        </p:txBody>
      </p:sp>
      <p:sp>
        <p:nvSpPr>
          <p:cNvPr id="19" name="Text 16"/>
          <p:cNvSpPr/>
          <p:nvPr/>
        </p:nvSpPr>
        <p:spPr>
          <a:xfrm>
            <a:off x="7734300" y="45212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12</a:t>
            </a:r>
            <a:endParaRPr lang="en-US" sz="1200" dirty="0"/>
          </a:p>
        </p:txBody>
      </p:sp>
      <p:sp>
        <p:nvSpPr>
          <p:cNvPr id="20" name="Text 17"/>
          <p:cNvSpPr/>
          <p:nvPr/>
        </p:nvSpPr>
        <p:spPr>
          <a:xfrm>
            <a:off x="8305800" y="44513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13</a:t>
            </a:r>
            <a:endParaRPr lang="en-US" sz="1200" dirty="0"/>
          </a:p>
        </p:txBody>
      </p:sp>
      <p:sp>
        <p:nvSpPr>
          <p:cNvPr id="21" name="Text 18"/>
          <p:cNvSpPr/>
          <p:nvPr/>
        </p:nvSpPr>
        <p:spPr>
          <a:xfrm>
            <a:off x="8877300" y="438150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14</a:t>
            </a:r>
            <a:endParaRPr lang="en-US" sz="1200" dirty="0"/>
          </a:p>
        </p:txBody>
      </p:sp>
      <p:sp>
        <p:nvSpPr>
          <p:cNvPr id="22" name="Text 19"/>
          <p:cNvSpPr/>
          <p:nvPr/>
        </p:nvSpPr>
        <p:spPr>
          <a:xfrm>
            <a:off x="9448800" y="43116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15</a:t>
            </a:r>
            <a:endParaRPr lang="en-US" sz="1200" dirty="0"/>
          </a:p>
        </p:txBody>
      </p:sp>
      <p:sp>
        <p:nvSpPr>
          <p:cNvPr id="23" name="Text 20"/>
          <p:cNvSpPr/>
          <p:nvPr/>
        </p:nvSpPr>
        <p:spPr>
          <a:xfrm>
            <a:off x="10020300" y="4248150"/>
            <a:ext cx="4572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16</a:t>
            </a:r>
            <a:endParaRPr lang="en-US" sz="1200" dirty="0"/>
          </a:p>
        </p:txBody>
      </p:sp>
      <p:sp>
        <p:nvSpPr>
          <p:cNvPr id="24" name="Text 21"/>
          <p:cNvSpPr/>
          <p:nvPr/>
        </p:nvSpPr>
        <p:spPr>
          <a:xfrm>
            <a:off x="10718800" y="4711700"/>
            <a:ext cx="8128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8A86C4"/>
                </a:solidFill>
                <a:latin typeface="IBM Plex Sans" pitchFamily="34" charset="0"/>
                <a:ea typeface="IBM Plex Sans" pitchFamily="34" charset="-122"/>
                <a:cs typeface="IBM Plex Sans" pitchFamily="34" charset="-120"/>
              </a:rPr>
              <a:t>Atelier</a:t>
            </a:r>
            <a:endParaRPr lang="en-US" sz="1200" dirty="0"/>
          </a:p>
        </p:txBody>
      </p:sp>
      <p:sp>
        <p:nvSpPr>
          <p:cNvPr id="25" name="Text 22"/>
          <p:cNvSpPr/>
          <p:nvPr/>
        </p:nvSpPr>
        <p:spPr>
          <a:xfrm>
            <a:off x="1066800" y="5918398"/>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1</a:t>
            </a:r>
            <a:endParaRPr lang="en-US" sz="1200" dirty="0"/>
          </a:p>
        </p:txBody>
      </p:sp>
      <p:sp>
        <p:nvSpPr>
          <p:cNvPr id="26" name="Text 23"/>
          <p:cNvSpPr/>
          <p:nvPr/>
        </p:nvSpPr>
        <p:spPr>
          <a:xfrm>
            <a:off x="3949700" y="5918398"/>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2</a:t>
            </a:r>
            <a:endParaRPr lang="en-US" sz="1200" dirty="0"/>
          </a:p>
        </p:txBody>
      </p:sp>
      <p:sp>
        <p:nvSpPr>
          <p:cNvPr id="27" name="Text 24"/>
          <p:cNvSpPr/>
          <p:nvPr/>
        </p:nvSpPr>
        <p:spPr>
          <a:xfrm>
            <a:off x="7112000" y="5918398"/>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VOLUMES ET DONNÉES PERSISTANTES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problème</a:t>
            </a:r>
            <a:endParaRPr lang="en-US" sz="2800" dirty="0"/>
          </a:p>
        </p:txBody>
      </p:sp>
      <p:sp>
        <p:nvSpPr>
          <p:cNvPr id="4" name="Text 2"/>
          <p:cNvSpPr/>
          <p:nvPr/>
        </p:nvSpPr>
        <p:spPr>
          <a:xfrm>
            <a:off x="812800" y="154434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3C6B"/>
                </a:solidFill>
                <a:latin typeface="IBM Plex Sans" pitchFamily="34" charset="0"/>
                <a:ea typeface="IBM Plex Sans" pitchFamily="34" charset="-122"/>
                <a:cs typeface="IBM Plex Sans" pitchFamily="34" charset="-120"/>
              </a:rPr>
              <a:t>Trois raisons de perdre des données écrites dans un conteneur :</a:t>
            </a:r>
            <a:endParaRPr lang="en-US" sz="1500" dirty="0"/>
          </a:p>
        </p:txBody>
      </p:sp>
      <p:sp>
        <p:nvSpPr>
          <p:cNvPr id="5" name="Shape 3"/>
          <p:cNvSpPr/>
          <p:nvPr/>
        </p:nvSpPr>
        <p:spPr>
          <a:xfrm>
            <a:off x="815975" y="2017415"/>
            <a:ext cx="3414183" cy="3008630"/>
          </a:xfrm>
          <a:prstGeom prst="roundRect">
            <a:avLst>
              <a:gd name="adj" fmla="val 4116"/>
            </a:avLst>
          </a:prstGeom>
          <a:solidFill>
            <a:srgbClr val="FDFDFF"/>
          </a:solidFill>
          <a:ln w="6350">
            <a:solidFill>
              <a:srgbClr val="E1DFEE"/>
            </a:solidFill>
            <a:prstDash val="solid"/>
          </a:ln>
        </p:spPr>
      </p:sp>
      <p:sp>
        <p:nvSpPr>
          <p:cNvPr id="6" name="Text 4"/>
          <p:cNvSpPr/>
          <p:nvPr/>
        </p:nvSpPr>
        <p:spPr>
          <a:xfrm>
            <a:off x="1048491" y="2249984"/>
            <a:ext cx="24648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25A2C"/>
                </a:solidFill>
                <a:latin typeface="Sora" pitchFamily="34" charset="0"/>
                <a:ea typeface="Sora" pitchFamily="34" charset="-122"/>
                <a:cs typeface="Sora" pitchFamily="34" charset="-120"/>
              </a:rPr>
              <a:t>1</a:t>
            </a:r>
            <a:endParaRPr lang="en-US" sz="3600" dirty="0"/>
          </a:p>
        </p:txBody>
      </p:sp>
      <p:pic>
        <p:nvPicPr>
          <p:cNvPr id="7" name="Image 0" descr="Activity">    </p:cNvPr>
          <p:cNvPicPr>
            <a:picLocks noChangeAspect="1"/>
          </p:cNvPicPr>
          <p:nvPr/>
        </p:nvPicPr>
        <p:blipFill>
          <a:blip r:embed="rId1"/>
          <a:srcRect l="0" r="0" t="0" b="0"/>
          <a:stretch/>
        </p:blipFill>
        <p:spPr>
          <a:xfrm>
            <a:off x="1358477" y="2338884"/>
            <a:ext cx="279400" cy="279400"/>
          </a:xfrm>
          <a:prstGeom prst="rect">
            <a:avLst/>
          </a:prstGeom>
        </p:spPr>
      </p:pic>
      <p:sp>
        <p:nvSpPr>
          <p:cNvPr id="8" name="Text 5"/>
          <p:cNvSpPr/>
          <p:nvPr/>
        </p:nvSpPr>
        <p:spPr>
          <a:xfrm>
            <a:off x="1048491" y="2821484"/>
            <a:ext cx="3037626"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B0748"/>
                </a:solidFill>
                <a:latin typeface="Sora" pitchFamily="34" charset="0"/>
                <a:ea typeface="Sora" pitchFamily="34" charset="-122"/>
                <a:cs typeface="Sora" pitchFamily="34" charset="-120"/>
              </a:rPr>
              <a:t>Le conteneur redémarre</a:t>
            </a:r>
            <a:endParaRPr lang="en-US" sz="1700" dirty="0"/>
          </a:p>
        </p:txBody>
      </p:sp>
      <p:sp>
        <p:nvSpPr>
          <p:cNvPr id="9" name="Text 6"/>
          <p:cNvSpPr/>
          <p:nvPr/>
        </p:nvSpPr>
        <p:spPr>
          <a:xfrm>
            <a:off x="1048491" y="3205659"/>
            <a:ext cx="3037626" cy="530437"/>
          </a:xfrm>
          <a:prstGeom prst="rect">
            <a:avLst/>
          </a:prstGeom>
          <a:noFill/>
          <a:ln/>
        </p:spPr>
        <p:txBody>
          <a:bodyPr wrap="square" lIns="0" tIns="0" rIns="0" bIns="0" rtlCol="0" anchor="t">
            <a:normAutofit/>
          </a:bodyPr>
          <a:lstStyle/>
          <a:p>
            <a:pPr algn="l" indent="0" marL="0">
              <a:lnSpc>
                <a:spcPts val="1988"/>
              </a:lnSpc>
              <a:buNone/>
            </a:pPr>
            <a:r>
              <a:rPr lang="en-US" sz="1400" dirty="0">
                <a:solidFill>
                  <a:srgbClr val="3F3C6B"/>
                </a:solidFill>
                <a:latin typeface="IBM Plex Sans" pitchFamily="34" charset="0"/>
                <a:ea typeface="IBM Plex Sans" pitchFamily="34" charset="-122"/>
                <a:cs typeface="IBM Plex Sans" pitchFamily="34" charset="-120"/>
              </a:rPr>
              <a:t>Plantage, liveness : sa couche inscriptible est remise à zéro.</a:t>
            </a:r>
            <a:endParaRPr lang="en-US" sz="1400" dirty="0"/>
          </a:p>
        </p:txBody>
      </p:sp>
      <p:sp>
        <p:nvSpPr>
          <p:cNvPr id="10" name="Shape 7"/>
          <p:cNvSpPr/>
          <p:nvPr/>
        </p:nvSpPr>
        <p:spPr>
          <a:xfrm>
            <a:off x="4388908" y="2017415"/>
            <a:ext cx="3414183" cy="3008630"/>
          </a:xfrm>
          <a:prstGeom prst="roundRect">
            <a:avLst>
              <a:gd name="adj" fmla="val 4116"/>
            </a:avLst>
          </a:prstGeom>
          <a:solidFill>
            <a:srgbClr val="FDFDFF"/>
          </a:solidFill>
          <a:ln w="6350">
            <a:solidFill>
              <a:srgbClr val="E1DFEE"/>
            </a:solidFill>
            <a:prstDash val="solid"/>
          </a:ln>
        </p:spPr>
      </p:sp>
      <p:sp>
        <p:nvSpPr>
          <p:cNvPr id="11" name="Text 8"/>
          <p:cNvSpPr/>
          <p:nvPr/>
        </p:nvSpPr>
        <p:spPr>
          <a:xfrm>
            <a:off x="4621424" y="2249984"/>
            <a:ext cx="34671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25A2C"/>
                </a:solidFill>
                <a:latin typeface="Sora" pitchFamily="34" charset="0"/>
                <a:ea typeface="Sora" pitchFamily="34" charset="-122"/>
                <a:cs typeface="Sora" pitchFamily="34" charset="-120"/>
              </a:rPr>
              <a:t>2</a:t>
            </a:r>
            <a:endParaRPr lang="en-US" sz="3600" dirty="0"/>
          </a:p>
        </p:txBody>
      </p:sp>
      <p:pic>
        <p:nvPicPr>
          <p:cNvPr id="12" name="Image 1" descr="Settings">    </p:cNvPr>
          <p:cNvPicPr>
            <a:picLocks noChangeAspect="1"/>
          </p:cNvPicPr>
          <p:nvPr/>
        </p:nvPicPr>
        <p:blipFill>
          <a:blip r:embed="rId2"/>
          <a:srcRect l="0" r="0" t="0" b="0"/>
          <a:stretch/>
        </p:blipFill>
        <p:spPr>
          <a:xfrm>
            <a:off x="5024649" y="2338884"/>
            <a:ext cx="279400" cy="279400"/>
          </a:xfrm>
          <a:prstGeom prst="rect">
            <a:avLst/>
          </a:prstGeom>
        </p:spPr>
      </p:pic>
      <p:sp>
        <p:nvSpPr>
          <p:cNvPr id="13" name="Text 9"/>
          <p:cNvSpPr/>
          <p:nvPr/>
        </p:nvSpPr>
        <p:spPr>
          <a:xfrm>
            <a:off x="4621424" y="2821484"/>
            <a:ext cx="3037626"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B0748"/>
                </a:solidFill>
                <a:latin typeface="Sora" pitchFamily="34" charset="0"/>
                <a:ea typeface="Sora" pitchFamily="34" charset="-122"/>
                <a:cs typeface="Sora" pitchFamily="34" charset="-120"/>
              </a:rPr>
              <a:t>Le pod est remplacé</a:t>
            </a:r>
            <a:endParaRPr lang="en-US" sz="1700" dirty="0"/>
          </a:p>
        </p:txBody>
      </p:sp>
      <p:sp>
        <p:nvSpPr>
          <p:cNvPr id="14" name="Text 10"/>
          <p:cNvSpPr/>
          <p:nvPr/>
        </p:nvSpPr>
        <p:spPr>
          <a:xfrm>
            <a:off x="4621424" y="3205659"/>
            <a:ext cx="3037626" cy="277918"/>
          </a:xfrm>
          <a:prstGeom prst="rect">
            <a:avLst/>
          </a:prstGeom>
          <a:noFill/>
          <a:ln/>
        </p:spPr>
        <p:txBody>
          <a:bodyPr wrap="square" lIns="0" tIns="0" rIns="0" bIns="0" rtlCol="0" anchor="t">
            <a:normAutofit/>
          </a:bodyPr>
          <a:lstStyle/>
          <a:p>
            <a:pPr algn="l" indent="0" marL="0">
              <a:lnSpc>
                <a:spcPts val="1988"/>
              </a:lnSpc>
              <a:buNone/>
            </a:pPr>
            <a:r>
              <a:rPr lang="en-US" sz="1400" dirty="0">
                <a:solidFill>
                  <a:srgbClr val="3F3C6B"/>
                </a:solidFill>
                <a:latin typeface="IBM Plex Sans" pitchFamily="34" charset="0"/>
                <a:ea typeface="IBM Plex Sans" pitchFamily="34" charset="-122"/>
                <a:cs typeface="IBM Plex Sans" pitchFamily="34" charset="-120"/>
              </a:rPr>
              <a:t>Suppression, mise à jour, éviction.</a:t>
            </a:r>
            <a:endParaRPr lang="en-US" sz="1400" dirty="0"/>
          </a:p>
        </p:txBody>
      </p:sp>
      <p:sp>
        <p:nvSpPr>
          <p:cNvPr id="15" name="Shape 11"/>
          <p:cNvSpPr/>
          <p:nvPr/>
        </p:nvSpPr>
        <p:spPr>
          <a:xfrm>
            <a:off x="7961842" y="2017415"/>
            <a:ext cx="3414183" cy="3008630"/>
          </a:xfrm>
          <a:prstGeom prst="roundRect">
            <a:avLst>
              <a:gd name="adj" fmla="val 4116"/>
            </a:avLst>
          </a:prstGeom>
          <a:solidFill>
            <a:srgbClr val="FDFDFF"/>
          </a:solidFill>
          <a:ln w="6350">
            <a:solidFill>
              <a:srgbClr val="E1DFEE"/>
            </a:solidFill>
            <a:prstDash val="solid"/>
          </a:ln>
        </p:spPr>
      </p:sp>
      <p:sp>
        <p:nvSpPr>
          <p:cNvPr id="16" name="Text 12"/>
          <p:cNvSpPr/>
          <p:nvPr/>
        </p:nvSpPr>
        <p:spPr>
          <a:xfrm>
            <a:off x="8194357" y="2249984"/>
            <a:ext cx="34671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25A2C"/>
                </a:solidFill>
                <a:latin typeface="Sora" pitchFamily="34" charset="0"/>
                <a:ea typeface="Sora" pitchFamily="34" charset="-122"/>
                <a:cs typeface="Sora" pitchFamily="34" charset="-120"/>
              </a:rPr>
              <a:t>3</a:t>
            </a:r>
            <a:endParaRPr lang="en-US" sz="3600" dirty="0"/>
          </a:p>
        </p:txBody>
      </p:sp>
      <p:pic>
        <p:nvPicPr>
          <p:cNvPr id="17" name="Image 2" descr="Globe">    </p:cNvPr>
          <p:cNvPicPr>
            <a:picLocks noChangeAspect="1"/>
          </p:cNvPicPr>
          <p:nvPr/>
        </p:nvPicPr>
        <p:blipFill>
          <a:blip r:embed="rId3"/>
          <a:srcRect l="0" r="0" t="0" b="0"/>
          <a:stretch/>
        </p:blipFill>
        <p:spPr>
          <a:xfrm>
            <a:off x="8597582" y="2338884"/>
            <a:ext cx="279400" cy="279400"/>
          </a:xfrm>
          <a:prstGeom prst="rect">
            <a:avLst/>
          </a:prstGeom>
        </p:spPr>
      </p:pic>
      <p:sp>
        <p:nvSpPr>
          <p:cNvPr id="18" name="Text 13"/>
          <p:cNvSpPr/>
          <p:nvPr/>
        </p:nvSpPr>
        <p:spPr>
          <a:xfrm>
            <a:off x="8194357" y="2821484"/>
            <a:ext cx="3037626"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B0748"/>
                </a:solidFill>
                <a:latin typeface="Sora" pitchFamily="34" charset="0"/>
                <a:ea typeface="Sora" pitchFamily="34" charset="-122"/>
                <a:cs typeface="Sora" pitchFamily="34" charset="-120"/>
              </a:rPr>
              <a:t>Le pod change de nœud</a:t>
            </a:r>
            <a:endParaRPr lang="en-US" sz="1700" dirty="0"/>
          </a:p>
        </p:txBody>
      </p:sp>
      <p:sp>
        <p:nvSpPr>
          <p:cNvPr id="19" name="Text 14"/>
          <p:cNvSpPr/>
          <p:nvPr/>
        </p:nvSpPr>
        <p:spPr>
          <a:xfrm>
            <a:off x="8194357" y="3205659"/>
            <a:ext cx="3037626" cy="530437"/>
          </a:xfrm>
          <a:prstGeom prst="rect">
            <a:avLst/>
          </a:prstGeom>
          <a:noFill/>
          <a:ln/>
        </p:spPr>
        <p:txBody>
          <a:bodyPr wrap="square" lIns="0" tIns="0" rIns="0" bIns="0" rtlCol="0" anchor="t">
            <a:normAutofit/>
          </a:bodyPr>
          <a:lstStyle/>
          <a:p>
            <a:pPr algn="l" indent="0" marL="0">
              <a:lnSpc>
                <a:spcPts val="1988"/>
              </a:lnSpc>
              <a:buNone/>
            </a:pPr>
            <a:r>
              <a:rPr lang="en-US" sz="1400" dirty="0">
                <a:solidFill>
                  <a:srgbClr val="3F3C6B"/>
                </a:solidFill>
                <a:latin typeface="IBM Plex Sans" pitchFamily="34" charset="0"/>
                <a:ea typeface="IBM Plex Sans" pitchFamily="34" charset="-122"/>
                <a:cs typeface="IBM Plex Sans" pitchFamily="34" charset="-120"/>
              </a:rPr>
              <a:t>Il est recréé sur un autre nœud, loin de ses fichiers.</a:t>
            </a:r>
            <a:endParaRPr lang="en-US" sz="1400" dirty="0"/>
          </a:p>
        </p:txBody>
      </p:sp>
      <p:sp>
        <p:nvSpPr>
          <p:cNvPr id="20" name="Shape 15"/>
          <p:cNvSpPr/>
          <p:nvPr/>
        </p:nvSpPr>
        <p:spPr>
          <a:xfrm>
            <a:off x="812800" y="5232400"/>
            <a:ext cx="10566400" cy="609600"/>
          </a:xfrm>
          <a:prstGeom prst="roundRect">
            <a:avLst>
              <a:gd name="adj" fmla="val 22917"/>
            </a:avLst>
          </a:prstGeom>
          <a:solidFill>
            <a:srgbClr val="0B0748"/>
          </a:solidFill>
          <a:ln/>
        </p:spPr>
      </p:sp>
      <p:pic>
        <p:nvPicPr>
          <p:cNvPr id="21" name="Image 3" descr="Database">    </p:cNvPr>
          <p:cNvPicPr>
            <a:picLocks noChangeAspect="1"/>
          </p:cNvPicPr>
          <p:nvPr/>
        </p:nvPicPr>
        <p:blipFill>
          <a:blip r:embed="rId4"/>
          <a:srcRect l="0" r="0" t="0" b="0"/>
          <a:stretch/>
        </p:blipFill>
        <p:spPr>
          <a:xfrm>
            <a:off x="1028700" y="5397500"/>
            <a:ext cx="279400" cy="279400"/>
          </a:xfrm>
          <a:prstGeom prst="rect">
            <a:avLst/>
          </a:prstGeom>
        </p:spPr>
      </p:pic>
      <p:sp>
        <p:nvSpPr>
          <p:cNvPr id="22" name="Text 16"/>
          <p:cNvSpPr/>
          <p:nvPr/>
        </p:nvSpPr>
        <p:spPr>
          <a:xfrm>
            <a:off x="1460500" y="5412780"/>
            <a:ext cx="999388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4F9"/>
                </a:solidFill>
                <a:latin typeface="IBM Plex Sans" pitchFamily="34" charset="0"/>
                <a:ea typeface="IBM Plex Sans" pitchFamily="34" charset="-122"/>
                <a:cs typeface="IBM Plex Sans" pitchFamily="34" charset="-120"/>
              </a:rPr>
              <a:t>Au TP12, vous le constatez : une clé écrite dans Redis disparaît dès que le pod Redis est remplacé.</a:t>
            </a:r>
            <a:endParaRPr lang="en-US" sz="1400" dirty="0"/>
          </a:p>
        </p:txBody>
      </p:sp>
      <p:pic>
        <p:nvPicPr>
          <p:cNvPr id="23" name="Image 4" descr="preencoded.png">    </p:cNvPr>
          <p:cNvPicPr>
            <a:picLocks noChangeAspect="1"/>
          </p:cNvPicPr>
          <p:nvPr/>
        </p:nvPicPr>
        <p:blipFill>
          <a:blip r:embed="rId5"/>
          <a:srcRect l="0" r="0" t="-35" b="-35"/>
          <a:stretch/>
        </p:blipFill>
        <p:spPr>
          <a:xfrm>
            <a:off x="812800" y="6299200"/>
            <a:ext cx="152400" cy="152506"/>
          </a:xfrm>
          <a:prstGeom prst="rect">
            <a:avLst/>
          </a:prstGeom>
        </p:spPr>
      </p:pic>
      <p:sp>
        <p:nvSpPr>
          <p:cNvPr id="24" name="Text 17"/>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5" descr="Parcours : module 16 sur 16">    </p:cNvPr>
          <p:cNvPicPr>
            <a:picLocks noChangeAspect="1"/>
          </p:cNvPicPr>
          <p:nvPr/>
        </p:nvPicPr>
        <p:blipFill>
          <a:blip r:embed="rId6"/>
          <a:srcRect l="0" r="0" t="-35" b="-35"/>
          <a:stretch/>
        </p:blipFill>
        <p:spPr>
          <a:xfrm>
            <a:off x="9207500" y="6299200"/>
            <a:ext cx="2171700" cy="152506"/>
          </a:xfrm>
          <a:prstGeom prst="rect">
            <a:avLst/>
          </a:prstGeom>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VOLUMES ET DONNÉES PERSISTANTES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types de volumes</a:t>
            </a:r>
            <a:endParaRPr lang="en-US" sz="2800" dirty="0"/>
          </a:p>
        </p:txBody>
      </p:sp>
      <p:sp>
        <p:nvSpPr>
          <p:cNvPr id="4" name="Text 2"/>
          <p:cNvSpPr/>
          <p:nvPr/>
        </p:nvSpPr>
        <p:spPr>
          <a:xfrm>
            <a:off x="812800" y="15443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Un volume est déclaré au niveau du pod (</a:t>
            </a:r>
            <a:r>
              <a:rPr lang="en-US" sz="1400" b="1" dirty="0">
                <a:solidFill>
                  <a:srgbClr val="3F3C6B"/>
                </a:solidFill>
                <a:latin typeface="IBM Plex Sans" pitchFamily="34" charset="0"/>
                <a:ea typeface="IBM Plex Sans" pitchFamily="34" charset="-122"/>
                <a:cs typeface="IBM Plex Sans" pitchFamily="34" charset="-120"/>
              </a:rPr>
              <a:t>volumes</a:t>
            </a:r>
            <a:r>
              <a:rPr lang="en-US" sz="1400" dirty="0">
                <a:solidFill>
                  <a:srgbClr val="3F3C6B"/>
                </a:solidFill>
                <a:latin typeface="IBM Plex Sans" pitchFamily="34" charset="0"/>
                <a:ea typeface="IBM Plex Sans" pitchFamily="34" charset="-122"/>
                <a:cs typeface="IBM Plex Sans" pitchFamily="34" charset="-120"/>
              </a:rPr>
              <a:t>) et monté dans un ou plusieurs conteneurs (</a:t>
            </a:r>
            <a:r>
              <a:rPr lang="en-US" sz="1400" b="1" dirty="0">
                <a:solidFill>
                  <a:srgbClr val="3F3C6B"/>
                </a:solidFill>
                <a:latin typeface="IBM Plex Sans" pitchFamily="34" charset="0"/>
                <a:ea typeface="IBM Plex Sans" pitchFamily="34" charset="-122"/>
                <a:cs typeface="IBM Plex Sans" pitchFamily="34" charset="-120"/>
              </a:rPr>
              <a:t>volumeMounts</a:t>
            </a:r>
            <a:r>
              <a:rPr lang="en-US" sz="1400" dirty="0">
                <a:solidFill>
                  <a:srgbClr val="3F3C6B"/>
                </a:solidFill>
                <a:latin typeface="IBM Plex Sans" pitchFamily="34" charset="0"/>
                <a:ea typeface="IBM Plex Sans" pitchFamily="34" charset="-122"/>
                <a:cs typeface="IBM Plex Sans" pitchFamily="34" charset="-120"/>
              </a:rPr>
              <a:t>).</a:t>
            </a:r>
            <a:endParaRPr lang="en-US" sz="1400" dirty="0"/>
          </a:p>
        </p:txBody>
      </p:sp>
      <p:sp>
        <p:nvSpPr>
          <p:cNvPr id="5" name="Shape 3"/>
          <p:cNvSpPr/>
          <p:nvPr/>
        </p:nvSpPr>
        <p:spPr>
          <a:xfrm>
            <a:off x="812800" y="1996480"/>
            <a:ext cx="10566400" cy="2823422"/>
          </a:xfrm>
          <a:prstGeom prst="rect">
            <a:avLst/>
          </a:prstGeom>
          <a:solidFill>
            <a:srgbClr val="FDFD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9891" y="2003571"/>
          <a:ext cx="10559309" cy="2816543"/>
        </p:xfrm>
        <a:graphic>
          <a:graphicData uri="http://schemas.openxmlformats.org/drawingml/2006/table">
            <a:tbl>
              <a:tblPr/>
              <a:tblGrid>
                <a:gridCol w="3378979"/>
                <a:gridCol w="3378979"/>
                <a:gridCol w="3801351"/>
              </a:tblGrid>
              <a:tr h="353801">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Durée de vie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Usage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585047">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emptyDir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Celle du pod (survit aux redémarrages du conteneur)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Fichiers temporaires, cache, échange entre conteneurs d'un pod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85047">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configMap, secret, downwardAPI, projected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Celle de l'objet source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Configuration en fichiers (module 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persistentVolumeClaim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Indépendante du pod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Données persistantes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Volume éphémère générique (ephemeral)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Celle du pod, mais sur un vrai stockage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Grand espace de travail temporaire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585047">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hostPath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Celle du nœud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Composants système seulement ; interdit par Pod Security baseline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bl>
          </a:graphicData>
        </a:graphic>
      </p:graphicFrame>
      <p:pic>
        <p:nvPicPr>
          <p:cNvPr id="7"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8" name="Text 4"/>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9" name="Image 1" descr="Parcours : module 16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598"/>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VOLUMES ET DONNÉES PERSISTANTES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Déclarer et monter un volume</a:t>
            </a:r>
            <a:endParaRPr lang="en-US" sz="2800" dirty="0"/>
          </a:p>
        </p:txBody>
      </p:sp>
      <p:sp>
        <p:nvSpPr>
          <p:cNvPr id="4" name="Text 2"/>
          <p:cNvSpPr/>
          <p:nvPr/>
        </p:nvSpPr>
        <p:spPr>
          <a:xfrm>
            <a:off x="812800" y="1569740"/>
            <a:ext cx="6350000" cy="4272280"/>
          </a:xfrm>
          <a:prstGeom prst="roundRect">
            <a:avLst>
              <a:gd name="adj" fmla="val 2378"/>
            </a:avLst>
          </a:prstGeom>
          <a:solidFill>
            <a:srgbClr val="0B0748"/>
          </a:solidFill>
          <a:ln/>
        </p:spPr>
        <p:txBody>
          <a:bodyPr wrap="none" lIns="160742" tIns="122642" rIns="0" bIns="122642" rtlCol="0" anchor="ctr">
            <a:normAutofit/>
          </a:bodyPr>
          <a:lstStyle/>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spec:</a:t>
            </a:r>
            <a:endParaRPr lang="en-US" sz="1100" dirty="0"/>
          </a:p>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  containers:</a:t>
            </a:r>
            <a:endParaRPr lang="en-US" sz="1100" dirty="0"/>
          </a:p>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  - name: app</a:t>
            </a:r>
            <a:endParaRPr lang="en-US" sz="1100" dirty="0"/>
          </a:p>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    image: mirror.gcr.io/library/busybox:1.36</a:t>
            </a:r>
            <a:endParaRPr lang="en-US" sz="1100" dirty="0"/>
          </a:p>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    command: ["sh", "-c", "date &gt; /travail/debut.txt; sleep 3600"]</a:t>
            </a:r>
            <a:endParaRPr lang="en-US" sz="1100" dirty="0"/>
          </a:p>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volumeMounts:</a:t>
            </a:r>
            <a:endParaRPr lang="en-US" sz="1100" dirty="0"/>
          </a:p>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    - name: </a:t>
            </a:r>
            <a:r>
              <a:rPr lang="en-US" sz="1100" dirty="0">
                <a:solidFill>
                  <a:srgbClr val="FFB08F"/>
                </a:solidFill>
                <a:latin typeface="JetBrains Mono" pitchFamily="49" charset="0"/>
                <a:ea typeface="JetBrains Mono" pitchFamily="49" charset="-122"/>
                <a:cs typeface="JetBrains Mono" pitchFamily="49" charset="-120"/>
              </a:rPr>
              <a:t>travail</a:t>
            </a:r>
            <a:endParaRPr lang="en-US" sz="1100" dirty="0"/>
          </a:p>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      mountPath: /travail</a:t>
            </a:r>
            <a:endParaRPr lang="en-US" sz="1100" dirty="0"/>
          </a:p>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volumes:</a:t>
            </a:r>
            <a:endParaRPr lang="en-US" sz="1100" dirty="0"/>
          </a:p>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  - name: </a:t>
            </a:r>
            <a:r>
              <a:rPr lang="en-US" sz="1100" dirty="0">
                <a:solidFill>
                  <a:srgbClr val="FFB08F"/>
                </a:solidFill>
                <a:latin typeface="JetBrains Mono" pitchFamily="49" charset="0"/>
                <a:ea typeface="JetBrains Mono" pitchFamily="49" charset="-122"/>
                <a:cs typeface="JetBrains Mono" pitchFamily="49" charset="-120"/>
              </a:rPr>
              <a:t>travail</a:t>
            </a:r>
            <a:endParaRPr lang="en-US" sz="1100" dirty="0"/>
          </a:p>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    emptyDir:</a:t>
            </a:r>
            <a:endParaRPr lang="en-US" sz="1100" dirty="0"/>
          </a:p>
          <a:p>
            <a:pPr algn="l" indent="0" marL="0">
              <a:lnSpc>
                <a:spcPts val="1650"/>
              </a:lnSpc>
              <a:buNone/>
            </a:pPr>
            <a:r>
              <a:rPr lang="en-US" sz="1100" dirty="0">
                <a:solidFill>
                  <a:srgbClr val="ECEAFF"/>
                </a:solidFill>
                <a:latin typeface="JetBrains Mono" pitchFamily="49" charset="0"/>
                <a:ea typeface="JetBrains Mono" pitchFamily="49" charset="-122"/>
                <a:cs typeface="JetBrains Mono" pitchFamily="49" charset="-120"/>
              </a:rPr>
              <a:t>      sizeLimit: 500Mi   </a:t>
            </a:r>
            <a:r>
              <a:rPr lang="en-US" sz="1100" dirty="0">
                <a:solidFill>
                  <a:srgbClr val="9A96D0"/>
                </a:solidFill>
                <a:latin typeface="JetBrains Mono" pitchFamily="49" charset="0"/>
                <a:ea typeface="JetBrains Mono" pitchFamily="49" charset="-122"/>
                <a:cs typeface="JetBrains Mono" pitchFamily="49" charset="-120"/>
              </a:rPr>
              <a:t># medium: Memory pour un disque en mémoire</a:t>
            </a:r>
            <a:endParaRPr lang="en-US" sz="1100" dirty="0"/>
          </a:p>
        </p:txBody>
      </p:sp>
      <p:sp>
        <p:nvSpPr>
          <p:cNvPr id="5" name="Shape 3"/>
          <p:cNvSpPr/>
          <p:nvPr/>
        </p:nvSpPr>
        <p:spPr>
          <a:xfrm>
            <a:off x="7394575" y="1913632"/>
            <a:ext cx="3981450" cy="1056852"/>
          </a:xfrm>
          <a:prstGeom prst="roundRect">
            <a:avLst>
              <a:gd name="adj" fmla="val 11716"/>
            </a:avLst>
          </a:prstGeom>
          <a:solidFill>
            <a:srgbClr val="FDFDFF"/>
          </a:solidFill>
          <a:ln w="6350">
            <a:solidFill>
              <a:srgbClr val="E1DFEE"/>
            </a:solidFill>
            <a:prstDash val="solid"/>
          </a:ln>
        </p:spPr>
      </p:sp>
      <p:sp>
        <p:nvSpPr>
          <p:cNvPr id="6" name="Text 4"/>
          <p:cNvSpPr/>
          <p:nvPr/>
        </p:nvSpPr>
        <p:spPr>
          <a:xfrm>
            <a:off x="7576291" y="2070100"/>
            <a:ext cx="372655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1 · AU NIVEAU DU POD</a:t>
            </a:r>
            <a:endParaRPr lang="en-US" sz="1200" dirty="0"/>
          </a:p>
        </p:txBody>
      </p:sp>
      <p:sp>
        <p:nvSpPr>
          <p:cNvPr id="7" name="Text 5"/>
          <p:cNvSpPr/>
          <p:nvPr/>
        </p:nvSpPr>
        <p:spPr>
          <a:xfrm>
            <a:off x="7576291" y="2334220"/>
            <a:ext cx="3726559" cy="50546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0B0748"/>
                </a:solidFill>
                <a:latin typeface="IBM Plex Sans" pitchFamily="34" charset="0"/>
                <a:ea typeface="IBM Plex Sans" pitchFamily="34" charset="-122"/>
                <a:cs typeface="IBM Plex Sans" pitchFamily="34" charset="-120"/>
              </a:rPr>
              <a:t>volumes</a:t>
            </a:r>
            <a:r>
              <a:rPr lang="en-US" sz="1350" dirty="0">
                <a:solidFill>
                  <a:srgbClr val="0B0748"/>
                </a:solidFill>
                <a:latin typeface="IBM Plex Sans" pitchFamily="34" charset="0"/>
                <a:ea typeface="IBM Plex Sans" pitchFamily="34" charset="-122"/>
                <a:cs typeface="IBM Plex Sans" pitchFamily="34" charset="-120"/>
              </a:rPr>
              <a:t> déclare le volume et lui donne un nom.</a:t>
            </a:r>
            <a:endParaRPr lang="en-US" sz="1350" dirty="0"/>
          </a:p>
        </p:txBody>
      </p:sp>
      <p:sp>
        <p:nvSpPr>
          <p:cNvPr id="8" name="Shape 6"/>
          <p:cNvSpPr/>
          <p:nvPr/>
        </p:nvSpPr>
        <p:spPr>
          <a:xfrm>
            <a:off x="7394575" y="3091160"/>
            <a:ext cx="3981450" cy="1056852"/>
          </a:xfrm>
          <a:prstGeom prst="roundRect">
            <a:avLst>
              <a:gd name="adj" fmla="val 11716"/>
            </a:avLst>
          </a:prstGeom>
          <a:solidFill>
            <a:srgbClr val="FDFDFF"/>
          </a:solidFill>
          <a:ln w="6350">
            <a:solidFill>
              <a:srgbClr val="E1DFEE"/>
            </a:solidFill>
            <a:prstDash val="solid"/>
          </a:ln>
        </p:spPr>
      </p:sp>
      <p:sp>
        <p:nvSpPr>
          <p:cNvPr id="9" name="Text 7"/>
          <p:cNvSpPr/>
          <p:nvPr/>
        </p:nvSpPr>
        <p:spPr>
          <a:xfrm>
            <a:off x="7576291" y="3247628"/>
            <a:ext cx="372655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2 · DANS LE CONTENEUR</a:t>
            </a:r>
            <a:endParaRPr lang="en-US" sz="1200" dirty="0"/>
          </a:p>
        </p:txBody>
      </p:sp>
      <p:sp>
        <p:nvSpPr>
          <p:cNvPr id="10" name="Text 8"/>
          <p:cNvSpPr/>
          <p:nvPr/>
        </p:nvSpPr>
        <p:spPr>
          <a:xfrm>
            <a:off x="7576291" y="3511748"/>
            <a:ext cx="3726559" cy="50546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0B0748"/>
                </a:solidFill>
                <a:latin typeface="IBM Plex Sans" pitchFamily="34" charset="0"/>
                <a:ea typeface="IBM Plex Sans" pitchFamily="34" charset="-122"/>
                <a:cs typeface="IBM Plex Sans" pitchFamily="34" charset="-120"/>
              </a:rPr>
              <a:t>volumeMounts</a:t>
            </a:r>
            <a:r>
              <a:rPr lang="en-US" sz="1350" dirty="0">
                <a:solidFill>
                  <a:srgbClr val="0B0748"/>
                </a:solidFill>
                <a:latin typeface="IBM Plex Sans" pitchFamily="34" charset="0"/>
                <a:ea typeface="IBM Plex Sans" pitchFamily="34" charset="-122"/>
                <a:cs typeface="IBM Plex Sans" pitchFamily="34" charset="-120"/>
              </a:rPr>
              <a:t> le monte, par son nom, sur un chemin.</a:t>
            </a:r>
            <a:endParaRPr lang="en-US" sz="1350" dirty="0"/>
          </a:p>
        </p:txBody>
      </p:sp>
      <p:sp>
        <p:nvSpPr>
          <p:cNvPr id="11" name="Shape 9"/>
          <p:cNvSpPr/>
          <p:nvPr/>
        </p:nvSpPr>
        <p:spPr>
          <a:xfrm>
            <a:off x="7391400" y="4265513"/>
            <a:ext cx="3987800" cy="1235710"/>
          </a:xfrm>
          <a:prstGeom prst="roundRect">
            <a:avLst>
              <a:gd name="adj" fmla="val 10277"/>
            </a:avLst>
          </a:prstGeom>
          <a:solidFill>
            <a:srgbClr val="0B0748"/>
          </a:solidFill>
          <a:ln/>
        </p:spPr>
      </p:sp>
      <p:sp>
        <p:nvSpPr>
          <p:cNvPr id="12" name="Text 10"/>
          <p:cNvSpPr/>
          <p:nvPr/>
        </p:nvSpPr>
        <p:spPr>
          <a:xfrm>
            <a:off x="7569200" y="4417913"/>
            <a:ext cx="374116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EMPTYDIR</a:t>
            </a:r>
            <a:endParaRPr lang="en-US" sz="1200" dirty="0"/>
          </a:p>
        </p:txBody>
      </p:sp>
      <p:sp>
        <p:nvSpPr>
          <p:cNvPr id="13" name="Text 11"/>
          <p:cNvSpPr/>
          <p:nvPr/>
        </p:nvSpPr>
        <p:spPr>
          <a:xfrm>
            <a:off x="7569200" y="4682034"/>
            <a:ext cx="374116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ECEAFF"/>
                </a:solidFill>
                <a:latin typeface="IBM Plex Sans" pitchFamily="34" charset="0"/>
                <a:ea typeface="IBM Plex Sans" pitchFamily="34" charset="-122"/>
                <a:cs typeface="IBM Plex Sans" pitchFamily="34" charset="-120"/>
              </a:rPr>
              <a:t>Créé vide au démarrage du pod, effacé à sa suppression. Il survit aux redémarrages du conteneur.</a:t>
            </a:r>
            <a:endParaRPr lang="en-US" sz="1250" dirty="0"/>
          </a:p>
        </p:txBody>
      </p:sp>
      <p:pic>
        <p:nvPicPr>
          <p:cNvPr id="14"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5" name="Text 12"/>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6" name="Image 1" descr="Parcours : module 16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VOLUMES ET DONNÉES PERSISTANTES</a:t>
            </a:r>
            <a:endParaRPr lang="en-US" sz="1200" dirty="0"/>
          </a:p>
        </p:txBody>
      </p:sp>
      <p:sp>
        <p:nvSpPr>
          <p:cNvPr id="3" name="Text 1"/>
          <p:cNvSpPr/>
          <p:nvPr>
            <p:ph type="title"/>
          </p:nvPr>
        </p:nvSpPr>
        <p:spPr>
          <a:xfrm>
            <a:off x="812800" y="950218"/>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PersistentVolume, PersistentVolumeClaim, StorageClass</a:t>
            </a:r>
            <a:endParaRPr lang="en-US" sz="2800" dirty="0"/>
          </a:p>
        </p:txBody>
      </p:sp>
      <p:sp>
        <p:nvSpPr>
          <p:cNvPr id="4" name="Shape 2"/>
          <p:cNvSpPr/>
          <p:nvPr/>
        </p:nvSpPr>
        <p:spPr>
          <a:xfrm>
            <a:off x="815975" y="1534815"/>
            <a:ext cx="3101975" cy="3580130"/>
          </a:xfrm>
          <a:prstGeom prst="roundRect">
            <a:avLst>
              <a:gd name="adj" fmla="val 4401"/>
            </a:avLst>
          </a:prstGeom>
          <a:solidFill>
            <a:srgbClr val="ECEAF6"/>
          </a:solidFill>
          <a:ln w="6350">
            <a:solidFill>
              <a:srgbClr val="E1DFEE"/>
            </a:solidFill>
            <a:prstDash val="solid"/>
          </a:ln>
        </p:spPr>
      </p:sp>
      <p:sp>
        <p:nvSpPr>
          <p:cNvPr id="5" name="Text 3"/>
          <p:cNvSpPr/>
          <p:nvPr/>
        </p:nvSpPr>
        <p:spPr>
          <a:xfrm>
            <a:off x="1023091" y="1729284"/>
            <a:ext cx="276837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StorageClass</a:t>
            </a:r>
            <a:endParaRPr lang="en-US" sz="1300" dirty="0"/>
          </a:p>
        </p:txBody>
      </p:sp>
      <p:sp>
        <p:nvSpPr>
          <p:cNvPr id="6" name="Text 4"/>
          <p:cNvSpPr/>
          <p:nvPr/>
        </p:nvSpPr>
        <p:spPr>
          <a:xfrm>
            <a:off x="1023091" y="2036663"/>
            <a:ext cx="2768376" cy="302895"/>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0B0748"/>
                </a:solidFill>
                <a:latin typeface="Sora" pitchFamily="34" charset="0"/>
                <a:ea typeface="Sora" pitchFamily="34" charset="-122"/>
                <a:cs typeface="Sora" pitchFamily="34" charset="-120"/>
              </a:rPr>
              <a:t>Le catalogue</a:t>
            </a:r>
            <a:endParaRPr lang="en-US" sz="1900" dirty="0"/>
          </a:p>
        </p:txBody>
      </p:sp>
      <p:sp>
        <p:nvSpPr>
          <p:cNvPr id="7" name="Text 5"/>
          <p:cNvSpPr/>
          <p:nvPr/>
        </p:nvSpPr>
        <p:spPr>
          <a:xfrm>
            <a:off x="1023091" y="2390378"/>
            <a:ext cx="2768376"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6B6890"/>
                </a:solidFill>
                <a:latin typeface="IBM Plex Sans" pitchFamily="34" charset="0"/>
                <a:ea typeface="IBM Plex Sans" pitchFamily="34" charset="-122"/>
                <a:cs typeface="IBM Plex Sans" pitchFamily="34" charset="-120"/>
              </a:rPr>
              <a:t>Quel type de disque, chez quel fournisseur.</a:t>
            </a:r>
            <a:endParaRPr lang="en-US" sz="1250" dirty="0"/>
          </a:p>
        </p:txBody>
      </p:sp>
      <p:sp>
        <p:nvSpPr>
          <p:cNvPr id="8" name="Shape 6"/>
          <p:cNvSpPr/>
          <p:nvPr/>
        </p:nvSpPr>
        <p:spPr>
          <a:xfrm>
            <a:off x="1023091" y="3903762"/>
            <a:ext cx="2687743" cy="0"/>
          </a:xfrm>
          <a:prstGeom prst="line">
            <a:avLst/>
          </a:prstGeom>
          <a:noFill/>
          <a:ln w="6350">
            <a:solidFill>
              <a:srgbClr val="E1DFEE"/>
            </a:solidFill>
            <a:prstDash val="solid"/>
          </a:ln>
        </p:spPr>
      </p:sp>
      <p:sp>
        <p:nvSpPr>
          <p:cNvPr id="9" name="Text 7"/>
          <p:cNvSpPr/>
          <p:nvPr/>
        </p:nvSpPr>
        <p:spPr>
          <a:xfrm>
            <a:off x="1023091" y="3984030"/>
            <a:ext cx="2768376"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PORTÉE</a:t>
            </a:r>
            <a:endParaRPr lang="en-US" sz="1000" dirty="0"/>
          </a:p>
        </p:txBody>
      </p:sp>
      <p:sp>
        <p:nvSpPr>
          <p:cNvPr id="10" name="Text 8"/>
          <p:cNvSpPr/>
          <p:nvPr/>
        </p:nvSpPr>
        <p:spPr>
          <a:xfrm>
            <a:off x="1023091" y="4187230"/>
            <a:ext cx="276837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Cluster</a:t>
            </a:r>
            <a:endParaRPr lang="en-US" sz="1300" dirty="0"/>
          </a:p>
        </p:txBody>
      </p:sp>
      <p:sp>
        <p:nvSpPr>
          <p:cNvPr id="11" name="Text 9"/>
          <p:cNvSpPr/>
          <p:nvPr/>
        </p:nvSpPr>
        <p:spPr>
          <a:xfrm>
            <a:off x="1023091" y="4494510"/>
            <a:ext cx="2768376"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QUI LE CRÉE</a:t>
            </a:r>
            <a:endParaRPr lang="en-US" sz="1000" dirty="0"/>
          </a:p>
        </p:txBody>
      </p:sp>
      <p:sp>
        <p:nvSpPr>
          <p:cNvPr id="12" name="Text 10"/>
          <p:cNvSpPr/>
          <p:nvPr/>
        </p:nvSpPr>
        <p:spPr>
          <a:xfrm>
            <a:off x="1023091" y="4697710"/>
            <a:ext cx="2768376"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0748"/>
                </a:solidFill>
                <a:latin typeface="IBM Plex Sans" pitchFamily="34" charset="0"/>
                <a:ea typeface="IBM Plex Sans" pitchFamily="34" charset="-122"/>
                <a:cs typeface="IBM Plex Sans" pitchFamily="34" charset="-120"/>
              </a:rPr>
              <a:t>L'administrateur</a:t>
            </a:r>
            <a:endParaRPr lang="en-US" sz="1300" dirty="0"/>
          </a:p>
        </p:txBody>
      </p:sp>
      <p:pic>
        <p:nvPicPr>
          <p:cNvPr id="13" name="Image 0" descr="arrow-right">    </p:cNvPr>
          <p:cNvPicPr>
            <a:picLocks noChangeAspect="1"/>
          </p:cNvPicPr>
          <p:nvPr/>
        </p:nvPicPr>
        <p:blipFill>
          <a:blip r:embed="rId1"/>
          <a:srcRect l="0" r="0" t="-35" b="-35"/>
          <a:stretch/>
        </p:blipFill>
        <p:spPr>
          <a:xfrm>
            <a:off x="4035425" y="3248620"/>
            <a:ext cx="279400" cy="152506"/>
          </a:xfrm>
          <a:prstGeom prst="rect">
            <a:avLst/>
          </a:prstGeom>
        </p:spPr>
      </p:pic>
      <p:sp>
        <p:nvSpPr>
          <p:cNvPr id="14" name="Shape 11"/>
          <p:cNvSpPr/>
          <p:nvPr/>
        </p:nvSpPr>
        <p:spPr>
          <a:xfrm>
            <a:off x="4432300" y="1534815"/>
            <a:ext cx="3101975" cy="3580130"/>
          </a:xfrm>
          <a:prstGeom prst="roundRect">
            <a:avLst>
              <a:gd name="adj" fmla="val 4401"/>
            </a:avLst>
          </a:prstGeom>
          <a:solidFill>
            <a:srgbClr val="FDFDFF"/>
          </a:solidFill>
          <a:ln w="6350">
            <a:solidFill>
              <a:srgbClr val="E1DFEE"/>
            </a:solidFill>
            <a:prstDash val="solid"/>
          </a:ln>
        </p:spPr>
      </p:sp>
      <p:sp>
        <p:nvSpPr>
          <p:cNvPr id="15" name="Text 12"/>
          <p:cNvSpPr/>
          <p:nvPr/>
        </p:nvSpPr>
        <p:spPr>
          <a:xfrm>
            <a:off x="4639416" y="1729284"/>
            <a:ext cx="276837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JetBrains Mono" pitchFamily="49" charset="0"/>
                <a:ea typeface="JetBrains Mono" pitchFamily="49" charset="-122"/>
                <a:cs typeface="JetBrains Mono" pitchFamily="49" charset="-120"/>
              </a:rPr>
              <a:t>PersistentVolume</a:t>
            </a:r>
            <a:endParaRPr lang="en-US" sz="1300" dirty="0"/>
          </a:p>
        </p:txBody>
      </p:sp>
      <p:sp>
        <p:nvSpPr>
          <p:cNvPr id="16" name="Text 13"/>
          <p:cNvSpPr/>
          <p:nvPr/>
        </p:nvSpPr>
        <p:spPr>
          <a:xfrm>
            <a:off x="4639416" y="2036663"/>
            <a:ext cx="2891684" cy="302895"/>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0B0748"/>
                </a:solidFill>
                <a:latin typeface="Sora" pitchFamily="34" charset="0"/>
                <a:ea typeface="Sora" pitchFamily="34" charset="-122"/>
                <a:cs typeface="Sora" pitchFamily="34" charset="-120"/>
              </a:rPr>
              <a:t>Un disque disponible</a:t>
            </a:r>
            <a:endParaRPr lang="en-US" sz="1900" dirty="0"/>
          </a:p>
        </p:txBody>
      </p:sp>
      <p:sp>
        <p:nvSpPr>
          <p:cNvPr id="17" name="Shape 14"/>
          <p:cNvSpPr/>
          <p:nvPr/>
        </p:nvSpPr>
        <p:spPr>
          <a:xfrm>
            <a:off x="4639416" y="3680916"/>
            <a:ext cx="2687743" cy="0"/>
          </a:xfrm>
          <a:prstGeom prst="line">
            <a:avLst/>
          </a:prstGeom>
          <a:noFill/>
          <a:ln w="6350">
            <a:solidFill>
              <a:srgbClr val="E1DFEE"/>
            </a:solidFill>
            <a:prstDash val="solid"/>
          </a:ln>
        </p:spPr>
      </p:sp>
      <p:sp>
        <p:nvSpPr>
          <p:cNvPr id="18" name="Text 15"/>
          <p:cNvSpPr/>
          <p:nvPr/>
        </p:nvSpPr>
        <p:spPr>
          <a:xfrm>
            <a:off x="4639416" y="3761085"/>
            <a:ext cx="2768376"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PORTÉE</a:t>
            </a:r>
            <a:endParaRPr lang="en-US" sz="1000" dirty="0"/>
          </a:p>
        </p:txBody>
      </p:sp>
      <p:sp>
        <p:nvSpPr>
          <p:cNvPr id="19" name="Text 16"/>
          <p:cNvSpPr/>
          <p:nvPr/>
        </p:nvSpPr>
        <p:spPr>
          <a:xfrm>
            <a:off x="4639416" y="3964285"/>
            <a:ext cx="276837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Cluster</a:t>
            </a:r>
            <a:endParaRPr lang="en-US" sz="1300" dirty="0"/>
          </a:p>
        </p:txBody>
      </p:sp>
      <p:sp>
        <p:nvSpPr>
          <p:cNvPr id="20" name="Text 17"/>
          <p:cNvSpPr/>
          <p:nvPr/>
        </p:nvSpPr>
        <p:spPr>
          <a:xfrm>
            <a:off x="4639416" y="4271665"/>
            <a:ext cx="2768376"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QUI LE CRÉE</a:t>
            </a:r>
            <a:endParaRPr lang="en-US" sz="1000" dirty="0"/>
          </a:p>
        </p:txBody>
      </p:sp>
      <p:sp>
        <p:nvSpPr>
          <p:cNvPr id="21" name="Text 18"/>
          <p:cNvSpPr/>
          <p:nvPr/>
        </p:nvSpPr>
        <p:spPr>
          <a:xfrm>
            <a:off x="4639416" y="4474865"/>
            <a:ext cx="2768376"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0748"/>
                </a:solidFill>
                <a:latin typeface="IBM Plex Sans" pitchFamily="34" charset="0"/>
                <a:ea typeface="IBM Plex Sans" pitchFamily="34" charset="-122"/>
                <a:cs typeface="IBM Plex Sans" pitchFamily="34" charset="-120"/>
              </a:rPr>
              <a:t>L'administrateur, ou le provisionneur automatiquement</a:t>
            </a:r>
            <a:endParaRPr lang="en-US" sz="1300" dirty="0"/>
          </a:p>
        </p:txBody>
      </p:sp>
      <p:sp>
        <p:nvSpPr>
          <p:cNvPr id="22" name="Text 19"/>
          <p:cNvSpPr/>
          <p:nvPr/>
        </p:nvSpPr>
        <p:spPr>
          <a:xfrm>
            <a:off x="7599849" y="3227090"/>
            <a:ext cx="622808" cy="22098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B8421A"/>
                </a:solidFill>
                <a:latin typeface="Sora" pitchFamily="34" charset="0"/>
                <a:ea typeface="Sora" pitchFamily="34" charset="-122"/>
                <a:cs typeface="Sora" pitchFamily="34" charset="-120"/>
              </a:rPr>
              <a:t>1 pour 1</a:t>
            </a:r>
            <a:endParaRPr lang="en-US" sz="1100" dirty="0"/>
          </a:p>
        </p:txBody>
      </p:sp>
      <p:sp>
        <p:nvSpPr>
          <p:cNvPr id="23" name="Shape 20"/>
          <p:cNvSpPr/>
          <p:nvPr/>
        </p:nvSpPr>
        <p:spPr>
          <a:xfrm>
            <a:off x="8285057" y="1531640"/>
            <a:ext cx="3094143" cy="3586480"/>
          </a:xfrm>
          <a:prstGeom prst="roundRect">
            <a:avLst>
              <a:gd name="adj" fmla="val 4515"/>
            </a:avLst>
          </a:prstGeom>
          <a:solidFill>
            <a:srgbClr val="0B0748"/>
          </a:solidFill>
          <a:ln/>
        </p:spPr>
      </p:sp>
      <p:sp>
        <p:nvSpPr>
          <p:cNvPr id="24" name="Text 21"/>
          <p:cNvSpPr/>
          <p:nvPr/>
        </p:nvSpPr>
        <p:spPr>
          <a:xfrm>
            <a:off x="8488257" y="1722140"/>
            <a:ext cx="276837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8F66"/>
                </a:solidFill>
                <a:latin typeface="JetBrains Mono" pitchFamily="49" charset="0"/>
                <a:ea typeface="JetBrains Mono" pitchFamily="49" charset="-122"/>
                <a:cs typeface="JetBrains Mono" pitchFamily="49" charset="-120"/>
              </a:rPr>
              <a:t>PersistentVolumeClaim</a:t>
            </a:r>
            <a:endParaRPr lang="en-US" sz="1300" dirty="0"/>
          </a:p>
        </p:txBody>
      </p:sp>
      <p:sp>
        <p:nvSpPr>
          <p:cNvPr id="25" name="Text 22"/>
          <p:cNvSpPr/>
          <p:nvPr/>
        </p:nvSpPr>
        <p:spPr>
          <a:xfrm>
            <a:off x="8488257" y="2029420"/>
            <a:ext cx="2768376" cy="580390"/>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F5F4F9"/>
                </a:solidFill>
                <a:latin typeface="Sora" pitchFamily="34" charset="0"/>
                <a:ea typeface="Sora" pitchFamily="34" charset="-122"/>
                <a:cs typeface="Sora" pitchFamily="34" charset="-120"/>
              </a:rPr>
              <a:t>Un bon de commande</a:t>
            </a:r>
            <a:endParaRPr lang="en-US" sz="1900" dirty="0"/>
          </a:p>
        </p:txBody>
      </p:sp>
      <p:sp>
        <p:nvSpPr>
          <p:cNvPr id="26" name="Text 23"/>
          <p:cNvSpPr/>
          <p:nvPr/>
        </p:nvSpPr>
        <p:spPr>
          <a:xfrm>
            <a:off x="8488257" y="2660650"/>
            <a:ext cx="2768376" cy="244475"/>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B9B6E8"/>
                </a:solidFill>
                <a:latin typeface="IBM Plex Sans" pitchFamily="34" charset="0"/>
                <a:ea typeface="IBM Plex Sans" pitchFamily="34" charset="-122"/>
                <a:cs typeface="IBM Plex Sans" pitchFamily="34" charset="-120"/>
              </a:rPr>
              <a:t>« 10 Gi, lecture-écriture »</a:t>
            </a:r>
            <a:endParaRPr lang="en-US" sz="1250" dirty="0"/>
          </a:p>
        </p:txBody>
      </p:sp>
      <p:sp>
        <p:nvSpPr>
          <p:cNvPr id="27" name="Shape 24"/>
          <p:cNvSpPr/>
          <p:nvPr/>
        </p:nvSpPr>
        <p:spPr>
          <a:xfrm>
            <a:off x="8488257" y="3911005"/>
            <a:ext cx="2687743" cy="0"/>
          </a:xfrm>
          <a:prstGeom prst="line">
            <a:avLst/>
          </a:prstGeom>
          <a:noFill/>
          <a:ln w="6350">
            <a:solidFill>
              <a:srgbClr val="2E2A80"/>
            </a:solidFill>
            <a:prstDash val="solid"/>
          </a:ln>
        </p:spPr>
      </p:sp>
      <p:sp>
        <p:nvSpPr>
          <p:cNvPr id="28" name="Text 25"/>
          <p:cNvSpPr/>
          <p:nvPr/>
        </p:nvSpPr>
        <p:spPr>
          <a:xfrm>
            <a:off x="8488257" y="3990975"/>
            <a:ext cx="2768376"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9B6E8"/>
                </a:solidFill>
                <a:latin typeface="IBM Plex Sans" pitchFamily="34" charset="0"/>
                <a:ea typeface="IBM Plex Sans" pitchFamily="34" charset="-122"/>
                <a:cs typeface="IBM Plex Sans" pitchFamily="34" charset="-120"/>
              </a:rPr>
              <a:t>PORTÉE</a:t>
            </a:r>
            <a:endParaRPr lang="en-US" sz="1000" dirty="0"/>
          </a:p>
        </p:txBody>
      </p:sp>
      <p:sp>
        <p:nvSpPr>
          <p:cNvPr id="29" name="Text 26"/>
          <p:cNvSpPr/>
          <p:nvPr/>
        </p:nvSpPr>
        <p:spPr>
          <a:xfrm>
            <a:off x="8488257" y="4194175"/>
            <a:ext cx="276837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AFF"/>
                </a:solidFill>
                <a:latin typeface="IBM Plex Sans" pitchFamily="34" charset="0"/>
                <a:ea typeface="IBM Plex Sans" pitchFamily="34" charset="-122"/>
                <a:cs typeface="IBM Plex Sans" pitchFamily="34" charset="-120"/>
              </a:rPr>
              <a:t>Namespace</a:t>
            </a:r>
            <a:endParaRPr lang="en-US" sz="1300" dirty="0"/>
          </a:p>
        </p:txBody>
      </p:sp>
      <p:sp>
        <p:nvSpPr>
          <p:cNvPr id="30" name="Text 27"/>
          <p:cNvSpPr/>
          <p:nvPr/>
        </p:nvSpPr>
        <p:spPr>
          <a:xfrm>
            <a:off x="8488257" y="4501555"/>
            <a:ext cx="2768376"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B9B6E8"/>
                </a:solidFill>
                <a:latin typeface="IBM Plex Sans" pitchFamily="34" charset="0"/>
                <a:ea typeface="IBM Plex Sans" pitchFamily="34" charset="-122"/>
                <a:cs typeface="IBM Plex Sans" pitchFamily="34" charset="-120"/>
              </a:rPr>
              <a:t>QUI LE CRÉE</a:t>
            </a:r>
            <a:endParaRPr lang="en-US" sz="1000" dirty="0"/>
          </a:p>
        </p:txBody>
      </p:sp>
      <p:sp>
        <p:nvSpPr>
          <p:cNvPr id="31" name="Text 28"/>
          <p:cNvSpPr/>
          <p:nvPr/>
        </p:nvSpPr>
        <p:spPr>
          <a:xfrm>
            <a:off x="8488257" y="4704755"/>
            <a:ext cx="2768376"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CEAFF"/>
                </a:solidFill>
                <a:latin typeface="IBM Plex Sans" pitchFamily="34" charset="0"/>
                <a:ea typeface="IBM Plex Sans" pitchFamily="34" charset="-122"/>
                <a:cs typeface="IBM Plex Sans" pitchFamily="34" charset="-120"/>
              </a:rPr>
              <a:t>Le développeur</a:t>
            </a:r>
            <a:endParaRPr lang="en-US" sz="1300" dirty="0"/>
          </a:p>
        </p:txBody>
      </p:sp>
      <p:sp>
        <p:nvSpPr>
          <p:cNvPr id="32" name="Shape 29"/>
          <p:cNvSpPr/>
          <p:nvPr/>
        </p:nvSpPr>
        <p:spPr>
          <a:xfrm>
            <a:off x="812800" y="5308600"/>
            <a:ext cx="10566400" cy="533400"/>
          </a:xfrm>
          <a:prstGeom prst="roundRect">
            <a:avLst>
              <a:gd name="adj" fmla="val 21429"/>
            </a:avLst>
          </a:prstGeom>
          <a:solidFill>
            <a:srgbClr val="ECEAF6"/>
          </a:solidFill>
          <a:ln/>
        </p:spPr>
      </p:sp>
      <p:pic>
        <p:nvPicPr>
          <p:cNvPr id="33" name="Image 1" descr="Lightbulb">    </p:cNvPr>
          <p:cNvPicPr>
            <a:picLocks noChangeAspect="1"/>
          </p:cNvPicPr>
          <p:nvPr/>
        </p:nvPicPr>
        <p:blipFill>
          <a:blip r:embed="rId2"/>
          <a:srcRect l="0" r="0" t="0" b="0"/>
          <a:stretch/>
        </p:blipFill>
        <p:spPr>
          <a:xfrm>
            <a:off x="1003300" y="5448300"/>
            <a:ext cx="254000" cy="254000"/>
          </a:xfrm>
          <a:prstGeom prst="rect">
            <a:avLst/>
          </a:prstGeom>
        </p:spPr>
      </p:pic>
      <p:sp>
        <p:nvSpPr>
          <p:cNvPr id="34" name="Text 30"/>
          <p:cNvSpPr/>
          <p:nvPr/>
        </p:nvSpPr>
        <p:spPr>
          <a:xfrm>
            <a:off x="1384300" y="5455245"/>
            <a:ext cx="10098532"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B0748"/>
                </a:solidFill>
                <a:latin typeface="IBM Plex Sans" pitchFamily="34" charset="0"/>
                <a:ea typeface="IBM Plex Sans" pitchFamily="34" charset="-122"/>
                <a:cs typeface="IBM Plex Sans" pitchFamily="34" charset="-120"/>
              </a:rPr>
              <a:t>Le pod ne référence que le PVC : il ignore tout du stockage réel, et le manifeste reste </a:t>
            </a:r>
            <a:r>
              <a:rPr lang="en-US" sz="1350" b="1" dirty="0">
                <a:solidFill>
                  <a:srgbClr val="0B0748"/>
                </a:solidFill>
                <a:latin typeface="IBM Plex Sans" pitchFamily="34" charset="0"/>
                <a:ea typeface="IBM Plex Sans" pitchFamily="34" charset="-122"/>
                <a:cs typeface="IBM Plex Sans" pitchFamily="34" charset="-120"/>
              </a:rPr>
              <a:t>portable</a:t>
            </a:r>
            <a:r>
              <a:rPr lang="en-US" sz="1350" dirty="0">
                <a:solidFill>
                  <a:srgbClr val="0B0748"/>
                </a:solidFill>
                <a:latin typeface="IBM Plex Sans" pitchFamily="34" charset="0"/>
                <a:ea typeface="IBM Plex Sans" pitchFamily="34" charset="-122"/>
                <a:cs typeface="IBM Plex Sans" pitchFamily="34" charset="-120"/>
              </a:rPr>
              <a:t> d'un cluster à l'autre.</a:t>
            </a:r>
            <a:endParaRPr lang="en-US" sz="1350" dirty="0"/>
          </a:p>
        </p:txBody>
      </p:sp>
      <p:pic>
        <p:nvPicPr>
          <p:cNvPr id="35" name="Image 2" descr="preencoded.png">    </p:cNvPr>
          <p:cNvPicPr>
            <a:picLocks noChangeAspect="1"/>
          </p:cNvPicPr>
          <p:nvPr/>
        </p:nvPicPr>
        <p:blipFill>
          <a:blip r:embed="rId3"/>
          <a:srcRect l="0" r="0" t="-35" b="-35"/>
          <a:stretch/>
        </p:blipFill>
        <p:spPr>
          <a:xfrm>
            <a:off x="812800" y="6299200"/>
            <a:ext cx="152400" cy="152506"/>
          </a:xfrm>
          <a:prstGeom prst="rect">
            <a:avLst/>
          </a:prstGeom>
        </p:spPr>
      </p:pic>
      <p:sp>
        <p:nvSpPr>
          <p:cNvPr id="36" name="Text 31"/>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7" name="Image 3" descr="Parcours : module 16 sur 16">    </p:cNvPr>
          <p:cNvPicPr>
            <a:picLocks noChangeAspect="1"/>
          </p:cNvPicPr>
          <p:nvPr/>
        </p:nvPicPr>
        <p:blipFill>
          <a:blip r:embed="rId4"/>
          <a:srcRect l="0" r="0" t="-35" b="-35"/>
          <a:stretch/>
        </p:blipFill>
        <p:spPr>
          <a:xfrm>
            <a:off x="9207500" y="6299200"/>
            <a:ext cx="2171700" cy="152506"/>
          </a:xfrm>
          <a:prstGeom prst="rect">
            <a:avLst/>
          </a:prstGeom>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VOLUMES ET DONNÉES PERSISTANTES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Deux modes de provisionnement</a:t>
            </a:r>
            <a:endParaRPr lang="en-US" sz="2800" dirty="0"/>
          </a:p>
        </p:txBody>
      </p:sp>
      <p:sp>
        <p:nvSpPr>
          <p:cNvPr id="4" name="Shape 2"/>
          <p:cNvSpPr/>
          <p:nvPr/>
        </p:nvSpPr>
        <p:spPr>
          <a:xfrm>
            <a:off x="815975" y="1572915"/>
            <a:ext cx="5207741" cy="4265930"/>
          </a:xfrm>
          <a:prstGeom prst="roundRect">
            <a:avLst>
              <a:gd name="adj" fmla="val 2903"/>
            </a:avLst>
          </a:prstGeom>
          <a:solidFill>
            <a:srgbClr val="FDFDFF"/>
          </a:solidFill>
          <a:ln w="6350">
            <a:solidFill>
              <a:srgbClr val="E1DFEE"/>
            </a:solidFill>
            <a:prstDash val="solid"/>
          </a:ln>
        </p:spPr>
      </p:sp>
      <p:sp>
        <p:nvSpPr>
          <p:cNvPr id="5" name="Text 3"/>
          <p:cNvSpPr/>
          <p:nvPr/>
        </p:nvSpPr>
        <p:spPr>
          <a:xfrm>
            <a:off x="1048491" y="1792784"/>
            <a:ext cx="4884990"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0B0748"/>
                </a:solidFill>
                <a:latin typeface="Sora" pitchFamily="34" charset="0"/>
                <a:ea typeface="Sora" pitchFamily="34" charset="-122"/>
                <a:cs typeface="Sora" pitchFamily="34" charset="-120"/>
              </a:rPr>
              <a:t>Statique</a:t>
            </a:r>
            <a:endParaRPr lang="en-US" sz="1800" dirty="0"/>
          </a:p>
        </p:txBody>
      </p:sp>
      <p:sp>
        <p:nvSpPr>
          <p:cNvPr id="6" name="Text 4"/>
          <p:cNvSpPr/>
          <p:nvPr/>
        </p:nvSpPr>
        <p:spPr>
          <a:xfrm>
            <a:off x="1048491" y="2192834"/>
            <a:ext cx="4884990" cy="512233"/>
          </a:xfrm>
          <a:prstGeom prst="rect">
            <a:avLst/>
          </a:prstGeom>
          <a:noFill/>
          <a:ln/>
        </p:spPr>
        <p:txBody>
          <a:bodyPr wrap="square" lIns="0" tIns="0" rIns="0" bIns="0" rtlCol="0" anchor="t">
            <a:normAutofit/>
          </a:bodyPr>
          <a:lstStyle/>
          <a:p>
            <a:pPr algn="l" indent="0" marL="0">
              <a:lnSpc>
                <a:spcPts val="1917"/>
              </a:lnSpc>
              <a:buNone/>
            </a:pPr>
            <a:r>
              <a:rPr lang="en-US" sz="1350" dirty="0">
                <a:solidFill>
                  <a:srgbClr val="3F3C6B"/>
                </a:solidFill>
                <a:latin typeface="IBM Plex Sans" pitchFamily="34" charset="0"/>
                <a:ea typeface="IBM Plex Sans" pitchFamily="34" charset="-122"/>
                <a:cs typeface="IBM Plex Sans" pitchFamily="34" charset="-120"/>
              </a:rPr>
              <a:t>L'administrateur crée des PV à l'avance ; Kubernetes associe chaque PVC à un PV compatible : taille, mode d'accès, classe.</a:t>
            </a:r>
            <a:endParaRPr lang="en-US" sz="1350" dirty="0"/>
          </a:p>
        </p:txBody>
      </p:sp>
      <p:sp>
        <p:nvSpPr>
          <p:cNvPr id="7" name="Shape 5"/>
          <p:cNvSpPr/>
          <p:nvPr/>
        </p:nvSpPr>
        <p:spPr>
          <a:xfrm>
            <a:off x="2213716" y="4600377"/>
            <a:ext cx="1047538" cy="583142"/>
          </a:xfrm>
          <a:prstGeom prst="roundRect">
            <a:avLst>
              <a:gd name="adj" fmla="val 14156"/>
            </a:avLst>
          </a:prstGeom>
          <a:solidFill>
            <a:srgbClr val="FDFDFF"/>
          </a:solidFill>
          <a:ln w="12700">
            <a:solidFill>
              <a:srgbClr val="0B0748"/>
            </a:solidFill>
            <a:prstDash val="solid"/>
          </a:ln>
        </p:spPr>
      </p:sp>
      <p:sp>
        <p:nvSpPr>
          <p:cNvPr id="8" name="Text 6"/>
          <p:cNvSpPr/>
          <p:nvPr/>
        </p:nvSpPr>
        <p:spPr>
          <a:xfrm>
            <a:off x="2620645" y="4689872"/>
            <a:ext cx="23368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PV</a:t>
            </a:r>
            <a:endParaRPr lang="en-US" sz="1200" dirty="0"/>
          </a:p>
        </p:txBody>
      </p:sp>
      <p:sp>
        <p:nvSpPr>
          <p:cNvPr id="9" name="Text 7"/>
          <p:cNvSpPr/>
          <p:nvPr/>
        </p:nvSpPr>
        <p:spPr>
          <a:xfrm>
            <a:off x="2341457" y="4915991"/>
            <a:ext cx="913447"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6890"/>
                </a:solidFill>
                <a:latin typeface="IBM Plex Sans" pitchFamily="34" charset="0"/>
                <a:ea typeface="IBM Plex Sans" pitchFamily="34" charset="-122"/>
                <a:cs typeface="IBM Plex Sans" pitchFamily="34" charset="-120"/>
              </a:rPr>
              <a:t>créé à la main</a:t>
            </a:r>
            <a:endParaRPr lang="en-US" sz="1000" dirty="0"/>
          </a:p>
        </p:txBody>
      </p:sp>
      <p:sp>
        <p:nvSpPr>
          <p:cNvPr id="10" name="Text 8"/>
          <p:cNvSpPr/>
          <p:nvPr/>
        </p:nvSpPr>
        <p:spPr>
          <a:xfrm>
            <a:off x="3369204" y="4758432"/>
            <a:ext cx="3200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6A3C6"/>
                </a:solidFill>
                <a:latin typeface="IBM Plex Sans" pitchFamily="34" charset="0"/>
                <a:ea typeface="IBM Plex Sans" pitchFamily="34" charset="-122"/>
                <a:cs typeface="IBM Plex Sans" pitchFamily="34" charset="-120"/>
              </a:rPr>
              <a:t>⟷</a:t>
            </a:r>
            <a:endParaRPr lang="en-US" sz="1500" dirty="0"/>
          </a:p>
        </p:txBody>
      </p:sp>
      <p:sp>
        <p:nvSpPr>
          <p:cNvPr id="11" name="Shape 9"/>
          <p:cNvSpPr/>
          <p:nvPr/>
        </p:nvSpPr>
        <p:spPr>
          <a:xfrm>
            <a:off x="3737504" y="4600972"/>
            <a:ext cx="894821" cy="581660"/>
          </a:xfrm>
          <a:prstGeom prst="roundRect">
            <a:avLst>
              <a:gd name="adj" fmla="val 15284"/>
            </a:avLst>
          </a:prstGeom>
          <a:solidFill>
            <a:srgbClr val="0B0748"/>
          </a:solidFill>
          <a:ln/>
        </p:spPr>
      </p:sp>
      <p:sp>
        <p:nvSpPr>
          <p:cNvPr id="12" name="Text 10"/>
          <p:cNvSpPr/>
          <p:nvPr/>
        </p:nvSpPr>
        <p:spPr>
          <a:xfrm>
            <a:off x="4020270" y="4689872"/>
            <a:ext cx="32918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5F4F9"/>
                </a:solidFill>
                <a:latin typeface="JetBrains Mono" pitchFamily="49" charset="0"/>
                <a:ea typeface="JetBrains Mono" pitchFamily="49" charset="-122"/>
                <a:cs typeface="JetBrains Mono" pitchFamily="49" charset="-120"/>
              </a:rPr>
              <a:t>PVC</a:t>
            </a:r>
            <a:endParaRPr lang="en-US" sz="1200" dirty="0"/>
          </a:p>
        </p:txBody>
      </p:sp>
      <p:sp>
        <p:nvSpPr>
          <p:cNvPr id="13" name="Text 11"/>
          <p:cNvSpPr/>
          <p:nvPr/>
        </p:nvSpPr>
        <p:spPr>
          <a:xfrm>
            <a:off x="3864504" y="4915991"/>
            <a:ext cx="767821"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FFB08F"/>
                </a:solidFill>
                <a:latin typeface="IBM Plex Sans" pitchFamily="34" charset="0"/>
                <a:ea typeface="IBM Plex Sans" pitchFamily="34" charset="-122"/>
                <a:cs typeface="IBM Plex Sans" pitchFamily="34" charset="-120"/>
              </a:rPr>
              <a:t>compatible</a:t>
            </a:r>
            <a:endParaRPr lang="en-US" sz="1000" dirty="0"/>
          </a:p>
        </p:txBody>
      </p:sp>
      <p:sp>
        <p:nvSpPr>
          <p:cNvPr id="14" name="Text 12"/>
          <p:cNvSpPr/>
          <p:nvPr/>
        </p:nvSpPr>
        <p:spPr>
          <a:xfrm>
            <a:off x="1048491" y="5304135"/>
            <a:ext cx="2154978" cy="314960"/>
          </a:xfrm>
          <a:prstGeom prst="roundRect">
            <a:avLst>
              <a:gd name="adj" fmla="val 50000"/>
            </a:avLst>
          </a:prstGeom>
          <a:solidFill>
            <a:srgbClr val="FCE6DC"/>
          </a:solidFill>
          <a:ln/>
        </p:spPr>
        <p:txBody>
          <a:bodyPr wrap="none" lIns="0" tIns="0" rIns="0" bIns="0" rtlCol="0" anchor="ctr">
            <a:normAutofit/>
          </a:bodyPr>
          <a:lstStyle/>
          <a:p>
            <a:pPr algn="ctr" indent="0" marL="0">
              <a:lnSpc>
                <a:spcPts val="1680"/>
              </a:lnSpc>
              <a:buNone/>
            </a:pPr>
            <a:r>
              <a:rPr lang="en-US" sz="1200" b="1" dirty="0">
                <a:solidFill>
                  <a:srgbClr val="B8421A"/>
                </a:solidFill>
                <a:latin typeface="IBM Plex Sans" pitchFamily="34" charset="0"/>
                <a:ea typeface="IBM Plex Sans" pitchFamily="34" charset="-122"/>
                <a:cs typeface="IBM Plex Sans" pitchFamily="34" charset="-120"/>
              </a:rPr>
              <a:t>Ce que vous faites au TP12</a:t>
            </a:r>
            <a:endParaRPr lang="en-US" sz="1200" dirty="0"/>
          </a:p>
        </p:txBody>
      </p:sp>
      <p:sp>
        <p:nvSpPr>
          <p:cNvPr id="15" name="Shape 13"/>
          <p:cNvSpPr/>
          <p:nvPr/>
        </p:nvSpPr>
        <p:spPr>
          <a:xfrm>
            <a:off x="6179291" y="1569740"/>
            <a:ext cx="5199909" cy="4272280"/>
          </a:xfrm>
          <a:prstGeom prst="roundRect">
            <a:avLst>
              <a:gd name="adj" fmla="val 2973"/>
            </a:avLst>
          </a:prstGeom>
          <a:solidFill>
            <a:srgbClr val="0B0748"/>
          </a:solidFill>
          <a:ln/>
        </p:spPr>
      </p:sp>
      <p:sp>
        <p:nvSpPr>
          <p:cNvPr id="16" name="Text 14"/>
          <p:cNvSpPr/>
          <p:nvPr/>
        </p:nvSpPr>
        <p:spPr>
          <a:xfrm>
            <a:off x="6407891" y="1785640"/>
            <a:ext cx="4884990"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F8F66"/>
                </a:solidFill>
                <a:latin typeface="Sora" pitchFamily="34" charset="0"/>
                <a:ea typeface="Sora" pitchFamily="34" charset="-122"/>
                <a:cs typeface="Sora" pitchFamily="34" charset="-120"/>
              </a:rPr>
              <a:t>Dynamique</a:t>
            </a:r>
            <a:endParaRPr lang="en-US" sz="1800" dirty="0"/>
          </a:p>
        </p:txBody>
      </p:sp>
      <p:sp>
        <p:nvSpPr>
          <p:cNvPr id="17" name="Text 15"/>
          <p:cNvSpPr/>
          <p:nvPr/>
        </p:nvSpPr>
        <p:spPr>
          <a:xfrm>
            <a:off x="6407891" y="2185690"/>
            <a:ext cx="4884990" cy="512233"/>
          </a:xfrm>
          <a:prstGeom prst="rect">
            <a:avLst/>
          </a:prstGeom>
          <a:noFill/>
          <a:ln/>
        </p:spPr>
        <p:txBody>
          <a:bodyPr wrap="square" lIns="0" tIns="0" rIns="0" bIns="0" rtlCol="0" anchor="t">
            <a:normAutofit/>
          </a:bodyPr>
          <a:lstStyle/>
          <a:p>
            <a:pPr algn="l" indent="0" marL="0">
              <a:lnSpc>
                <a:spcPts val="1917"/>
              </a:lnSpc>
              <a:buNone/>
            </a:pPr>
            <a:r>
              <a:rPr lang="en-US" sz="1350" dirty="0">
                <a:solidFill>
                  <a:srgbClr val="ECEAFF"/>
                </a:solidFill>
                <a:latin typeface="IBM Plex Sans" pitchFamily="34" charset="0"/>
                <a:ea typeface="IBM Plex Sans" pitchFamily="34" charset="-122"/>
                <a:cs typeface="IBM Plex Sans" pitchFamily="34" charset="-120"/>
              </a:rPr>
              <a:t>Le PVC nomme une StorageClass ; son provisionneur crée un disque et le PV correspondant, à la volée.</a:t>
            </a:r>
            <a:endParaRPr lang="en-US" sz="1350" dirty="0"/>
          </a:p>
        </p:txBody>
      </p:sp>
      <p:sp>
        <p:nvSpPr>
          <p:cNvPr id="18" name="Shape 16"/>
          <p:cNvSpPr/>
          <p:nvPr/>
        </p:nvSpPr>
        <p:spPr>
          <a:xfrm>
            <a:off x="6416887" y="4607322"/>
            <a:ext cx="1323234" cy="583142"/>
          </a:xfrm>
          <a:prstGeom prst="roundRect">
            <a:avLst>
              <a:gd name="adj" fmla="val 14156"/>
            </a:avLst>
          </a:prstGeom>
          <a:solidFill>
            <a:srgbClr val="FDFDFF"/>
          </a:solidFill>
          <a:ln w="12700">
            <a:solidFill>
              <a:srgbClr val="0B0748"/>
            </a:solidFill>
            <a:prstDash val="solid"/>
          </a:ln>
        </p:spPr>
      </p:sp>
      <p:sp>
        <p:nvSpPr>
          <p:cNvPr id="19" name="Text 17"/>
          <p:cNvSpPr/>
          <p:nvPr/>
        </p:nvSpPr>
        <p:spPr>
          <a:xfrm>
            <a:off x="6913859" y="4697115"/>
            <a:ext cx="32918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PVC</a:t>
            </a:r>
            <a:endParaRPr lang="en-US" sz="1200" dirty="0"/>
          </a:p>
        </p:txBody>
      </p:sp>
      <p:sp>
        <p:nvSpPr>
          <p:cNvPr id="20" name="Text 18"/>
          <p:cNvSpPr/>
          <p:nvPr/>
        </p:nvSpPr>
        <p:spPr>
          <a:xfrm>
            <a:off x="6544628" y="4923135"/>
            <a:ext cx="1189143"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6890"/>
                </a:solidFill>
                <a:latin typeface="IBM Plex Sans" pitchFamily="34" charset="0"/>
                <a:ea typeface="IBM Plex Sans" pitchFamily="34" charset="-122"/>
                <a:cs typeface="IBM Plex Sans" pitchFamily="34" charset="-120"/>
              </a:rPr>
              <a:t>nomme une classe</a:t>
            </a:r>
            <a:endParaRPr lang="en-US" sz="1000" dirty="0"/>
          </a:p>
        </p:txBody>
      </p:sp>
      <p:pic>
        <p:nvPicPr>
          <p:cNvPr id="21" name="Image 0" descr="arrow-right">    </p:cNvPr>
          <p:cNvPicPr>
            <a:picLocks noChangeAspect="1"/>
          </p:cNvPicPr>
          <p:nvPr/>
        </p:nvPicPr>
        <p:blipFill>
          <a:blip r:embed="rId1"/>
          <a:srcRect l="0" r="0" t="0" b="0"/>
          <a:stretch/>
        </p:blipFill>
        <p:spPr>
          <a:xfrm>
            <a:off x="7822671" y="4835525"/>
            <a:ext cx="228600" cy="127000"/>
          </a:xfrm>
          <a:prstGeom prst="rect">
            <a:avLst/>
          </a:prstGeom>
        </p:spPr>
      </p:pic>
      <p:sp>
        <p:nvSpPr>
          <p:cNvPr id="22" name="Shape 19"/>
          <p:cNvSpPr/>
          <p:nvPr/>
        </p:nvSpPr>
        <p:spPr>
          <a:xfrm>
            <a:off x="8133821" y="4607322"/>
            <a:ext cx="1352762" cy="583142"/>
          </a:xfrm>
          <a:prstGeom prst="roundRect">
            <a:avLst>
              <a:gd name="adj" fmla="val 14156"/>
            </a:avLst>
          </a:prstGeom>
          <a:solidFill>
            <a:srgbClr val="FDFDFF"/>
          </a:solidFill>
          <a:ln w="12700">
            <a:solidFill>
              <a:srgbClr val="0B0748"/>
            </a:solidFill>
            <a:prstDash val="solid"/>
          </a:ln>
        </p:spPr>
      </p:sp>
      <p:sp>
        <p:nvSpPr>
          <p:cNvPr id="23" name="Text 20"/>
          <p:cNvSpPr/>
          <p:nvPr/>
        </p:nvSpPr>
        <p:spPr>
          <a:xfrm>
            <a:off x="8261562" y="4697115"/>
            <a:ext cx="12186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StorageClass</a:t>
            </a:r>
            <a:endParaRPr lang="en-US" sz="1200" dirty="0"/>
          </a:p>
        </p:txBody>
      </p:sp>
      <p:sp>
        <p:nvSpPr>
          <p:cNvPr id="24" name="Text 21"/>
          <p:cNvSpPr/>
          <p:nvPr/>
        </p:nvSpPr>
        <p:spPr>
          <a:xfrm>
            <a:off x="8341328" y="4923135"/>
            <a:ext cx="937641"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6B6890"/>
                </a:solidFill>
                <a:latin typeface="IBM Plex Sans" pitchFamily="34" charset="0"/>
                <a:ea typeface="IBM Plex Sans" pitchFamily="34" charset="-122"/>
                <a:cs typeface="IBM Plex Sans" pitchFamily="34" charset="-120"/>
              </a:rPr>
              <a:t>provisionneur</a:t>
            </a:r>
            <a:endParaRPr lang="en-US" sz="1000" dirty="0"/>
          </a:p>
        </p:txBody>
      </p:sp>
      <p:pic>
        <p:nvPicPr>
          <p:cNvPr id="25" name="Image 1" descr="arrow-right">    </p:cNvPr>
          <p:cNvPicPr>
            <a:picLocks noChangeAspect="1"/>
          </p:cNvPicPr>
          <p:nvPr/>
        </p:nvPicPr>
        <p:blipFill>
          <a:blip r:embed="rId2"/>
          <a:srcRect l="0" r="0" t="0" b="0"/>
          <a:stretch/>
        </p:blipFill>
        <p:spPr>
          <a:xfrm>
            <a:off x="9569132" y="4835525"/>
            <a:ext cx="228600" cy="127000"/>
          </a:xfrm>
          <a:prstGeom prst="rect">
            <a:avLst/>
          </a:prstGeom>
        </p:spPr>
      </p:pic>
      <p:sp>
        <p:nvSpPr>
          <p:cNvPr id="26" name="Shape 22"/>
          <p:cNvSpPr/>
          <p:nvPr/>
        </p:nvSpPr>
        <p:spPr>
          <a:xfrm>
            <a:off x="9880282" y="4607322"/>
            <a:ext cx="1261322" cy="583142"/>
          </a:xfrm>
          <a:prstGeom prst="roundRect">
            <a:avLst>
              <a:gd name="adj" fmla="val 14156"/>
            </a:avLst>
          </a:prstGeom>
          <a:solidFill>
            <a:srgbClr val="FDFDFF"/>
          </a:solidFill>
          <a:ln w="12700">
            <a:solidFill>
              <a:srgbClr val="0B0748"/>
            </a:solidFill>
            <a:prstDash val="solid"/>
          </a:ln>
        </p:spPr>
      </p:sp>
      <p:sp>
        <p:nvSpPr>
          <p:cNvPr id="27" name="Text 23"/>
          <p:cNvSpPr/>
          <p:nvPr/>
        </p:nvSpPr>
        <p:spPr>
          <a:xfrm>
            <a:off x="10008023" y="4697115"/>
            <a:ext cx="112723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disque + PV</a:t>
            </a:r>
            <a:endParaRPr lang="en-US" sz="1200" dirty="0"/>
          </a:p>
        </p:txBody>
      </p:sp>
      <p:sp>
        <p:nvSpPr>
          <p:cNvPr id="28" name="Text 24"/>
          <p:cNvSpPr/>
          <p:nvPr/>
        </p:nvSpPr>
        <p:spPr>
          <a:xfrm>
            <a:off x="10324253" y="4923135"/>
            <a:ext cx="37338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6B6890"/>
                </a:solidFill>
                <a:latin typeface="IBM Plex Sans" pitchFamily="34" charset="0"/>
                <a:ea typeface="IBM Plex Sans" pitchFamily="34" charset="-122"/>
                <a:cs typeface="IBM Plex Sans" pitchFamily="34" charset="-120"/>
              </a:rPr>
              <a:t>créés</a:t>
            </a:r>
            <a:endParaRPr lang="en-US" sz="1000" dirty="0"/>
          </a:p>
        </p:txBody>
      </p:sp>
      <p:sp>
        <p:nvSpPr>
          <p:cNvPr id="29" name="Text 25"/>
          <p:cNvSpPr/>
          <p:nvPr/>
        </p:nvSpPr>
        <p:spPr>
          <a:xfrm>
            <a:off x="6407891" y="5311180"/>
            <a:ext cx="3129174" cy="314960"/>
          </a:xfrm>
          <a:prstGeom prst="roundRect">
            <a:avLst>
              <a:gd name="adj" fmla="val 50000"/>
            </a:avLst>
          </a:prstGeom>
          <a:solidFill>
            <a:srgbClr val="FF8F66"/>
          </a:solidFill>
          <a:ln/>
        </p:spPr>
        <p:txBody>
          <a:bodyPr wrap="none" lIns="0" tIns="0" rIns="0" bIns="0" rtlCol="0" anchor="ctr">
            <a:normAutofit/>
          </a:bodyPr>
          <a:lstStyle/>
          <a:p>
            <a:pPr algn="ctr" indent="0" marL="0">
              <a:lnSpc>
                <a:spcPts val="1680"/>
              </a:lnSpc>
              <a:buNone/>
            </a:pPr>
            <a:r>
              <a:rPr lang="en-US" sz="1200" b="1" dirty="0">
                <a:solidFill>
                  <a:srgbClr val="0B0748"/>
                </a:solidFill>
                <a:latin typeface="IBM Plex Sans" pitchFamily="34" charset="0"/>
                <a:ea typeface="IBM Plex Sans" pitchFamily="34" charset="-122"/>
                <a:cs typeface="IBM Plex Sans" pitchFamily="34" charset="-120"/>
              </a:rPr>
              <a:t>Le fonctionnement normal en production</a:t>
            </a:r>
            <a:endParaRPr lang="en-US" sz="1200" dirty="0"/>
          </a:p>
        </p:txBody>
      </p:sp>
      <p:pic>
        <p:nvPicPr>
          <p:cNvPr id="30" name="Image 2" descr="preencoded.png">    </p:cNvPr>
          <p:cNvPicPr>
            <a:picLocks noChangeAspect="1"/>
          </p:cNvPicPr>
          <p:nvPr/>
        </p:nvPicPr>
        <p:blipFill>
          <a:blip r:embed="rId3"/>
          <a:srcRect l="0" r="0" t="-35" b="-35"/>
          <a:stretch/>
        </p:blipFill>
        <p:spPr>
          <a:xfrm>
            <a:off x="812800" y="6299200"/>
            <a:ext cx="152400" cy="152506"/>
          </a:xfrm>
          <a:prstGeom prst="rect">
            <a:avLst/>
          </a:prstGeom>
        </p:spPr>
      </p:pic>
      <p:sp>
        <p:nvSpPr>
          <p:cNvPr id="31" name="Text 26"/>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2" name="Image 3" descr="Parcours : module 16 sur 16">    </p:cNvPr>
          <p:cNvPicPr>
            <a:picLocks noChangeAspect="1"/>
          </p:cNvPicPr>
          <p:nvPr/>
        </p:nvPicPr>
        <p:blipFill>
          <a:blip r:embed="rId4"/>
          <a:srcRect l="0" r="0" t="-35" b="-35"/>
          <a:stretch/>
        </p:blipFill>
        <p:spPr>
          <a:xfrm>
            <a:off x="9207500" y="6299200"/>
            <a:ext cx="2171700" cy="152506"/>
          </a:xfrm>
          <a:prstGeom prst="rect">
            <a:avLst/>
          </a:prstGeom>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VOLUMES ET DONNÉES PERSISTANTES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modes d'accès</a:t>
            </a:r>
            <a:endParaRPr lang="en-US" sz="2800" dirty="0"/>
          </a:p>
        </p:txBody>
      </p:sp>
      <p:sp>
        <p:nvSpPr>
          <p:cNvPr id="4" name="Shape 2"/>
          <p:cNvSpPr/>
          <p:nvPr/>
        </p:nvSpPr>
        <p:spPr>
          <a:xfrm>
            <a:off x="815975" y="1547515"/>
            <a:ext cx="2530475" cy="3529330"/>
          </a:xfrm>
          <a:prstGeom prst="roundRect">
            <a:avLst>
              <a:gd name="adj" fmla="val 4893"/>
            </a:avLst>
          </a:prstGeom>
          <a:solidFill>
            <a:srgbClr val="FDFDFF"/>
          </a:solidFill>
          <a:ln w="6350">
            <a:solidFill>
              <a:srgbClr val="E1DFEE"/>
            </a:solidFill>
            <a:prstDash val="solid"/>
          </a:ln>
        </p:spPr>
      </p:sp>
      <p:sp>
        <p:nvSpPr>
          <p:cNvPr id="5" name="Text 3"/>
          <p:cNvSpPr/>
          <p:nvPr/>
        </p:nvSpPr>
        <p:spPr>
          <a:xfrm>
            <a:off x="1010391" y="1741984"/>
            <a:ext cx="128803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25A2C"/>
                </a:solidFill>
                <a:latin typeface="Sora" pitchFamily="34" charset="0"/>
                <a:ea typeface="Sora" pitchFamily="34" charset="-122"/>
                <a:cs typeface="Sora" pitchFamily="34" charset="-120"/>
              </a:rPr>
              <a:t>RWO</a:t>
            </a:r>
            <a:endParaRPr lang="en-US" sz="3200" dirty="0"/>
          </a:p>
        </p:txBody>
      </p:sp>
      <p:sp>
        <p:nvSpPr>
          <p:cNvPr id="6" name="Text 4"/>
          <p:cNvSpPr/>
          <p:nvPr/>
        </p:nvSpPr>
        <p:spPr>
          <a:xfrm>
            <a:off x="1010391" y="2237284"/>
            <a:ext cx="220589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ReadWriteOnce</a:t>
            </a:r>
            <a:endParaRPr lang="en-US" sz="1200" dirty="0"/>
          </a:p>
        </p:txBody>
      </p:sp>
      <p:sp>
        <p:nvSpPr>
          <p:cNvPr id="7" name="Text 5"/>
          <p:cNvSpPr/>
          <p:nvPr/>
        </p:nvSpPr>
        <p:spPr>
          <a:xfrm>
            <a:off x="1010391" y="2539603"/>
            <a:ext cx="220589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Lecture-écriture par </a:t>
            </a:r>
            <a:r>
              <a:rPr lang="en-US" sz="1300" b="1" dirty="0">
                <a:solidFill>
                  <a:srgbClr val="3F3C6B"/>
                </a:solidFill>
                <a:latin typeface="IBM Plex Sans" pitchFamily="34" charset="0"/>
                <a:ea typeface="IBM Plex Sans" pitchFamily="34" charset="-122"/>
                <a:cs typeface="IBM Plex Sans" pitchFamily="34" charset="-120"/>
              </a:rPr>
              <a:t>un seul nœud</a:t>
            </a:r>
            <a:r>
              <a:rPr lang="en-US" sz="1300" dirty="0">
                <a:solidFill>
                  <a:srgbClr val="3F3C6B"/>
                </a:solidFill>
                <a:latin typeface="IBM Plex Sans" pitchFamily="34" charset="0"/>
                <a:ea typeface="IBM Plex Sans" pitchFamily="34" charset="-122"/>
                <a:cs typeface="IBM Plex Sans" pitchFamily="34" charset="-120"/>
              </a:rPr>
              <a:t> : plusieurs pods de ce nœud peuvent l'utiliser.</a:t>
            </a:r>
            <a:endParaRPr lang="en-US" sz="1300" dirty="0"/>
          </a:p>
        </p:txBody>
      </p:sp>
      <p:sp>
        <p:nvSpPr>
          <p:cNvPr id="8" name="Shape 6"/>
          <p:cNvSpPr/>
          <p:nvPr/>
        </p:nvSpPr>
        <p:spPr>
          <a:xfrm>
            <a:off x="3492500" y="1547515"/>
            <a:ext cx="2530475" cy="3529330"/>
          </a:xfrm>
          <a:prstGeom prst="roundRect">
            <a:avLst>
              <a:gd name="adj" fmla="val 4893"/>
            </a:avLst>
          </a:prstGeom>
          <a:solidFill>
            <a:srgbClr val="FDFDFF"/>
          </a:solidFill>
          <a:ln w="6350">
            <a:solidFill>
              <a:srgbClr val="E1DFEE"/>
            </a:solidFill>
            <a:prstDash val="solid"/>
          </a:ln>
        </p:spPr>
      </p:sp>
      <p:sp>
        <p:nvSpPr>
          <p:cNvPr id="9" name="Text 7"/>
          <p:cNvSpPr/>
          <p:nvPr/>
        </p:nvSpPr>
        <p:spPr>
          <a:xfrm>
            <a:off x="3686916" y="1741984"/>
            <a:ext cx="161328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25A2C"/>
                </a:solidFill>
                <a:latin typeface="Sora" pitchFamily="34" charset="0"/>
                <a:ea typeface="Sora" pitchFamily="34" charset="-122"/>
                <a:cs typeface="Sora" pitchFamily="34" charset="-120"/>
              </a:rPr>
              <a:t>RWOP</a:t>
            </a:r>
            <a:endParaRPr lang="en-US" sz="3200" dirty="0"/>
          </a:p>
        </p:txBody>
      </p:sp>
      <p:sp>
        <p:nvSpPr>
          <p:cNvPr id="10" name="Text 8"/>
          <p:cNvSpPr/>
          <p:nvPr/>
        </p:nvSpPr>
        <p:spPr>
          <a:xfrm>
            <a:off x="3686916" y="2237284"/>
            <a:ext cx="220589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ReadWriteOncePod</a:t>
            </a:r>
            <a:endParaRPr lang="en-US" sz="1200" dirty="0"/>
          </a:p>
        </p:txBody>
      </p:sp>
      <p:sp>
        <p:nvSpPr>
          <p:cNvPr id="11" name="Text 9"/>
          <p:cNvSpPr/>
          <p:nvPr/>
        </p:nvSpPr>
        <p:spPr>
          <a:xfrm>
            <a:off x="3686916" y="2539603"/>
            <a:ext cx="220589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Lecture-écriture par un seul pod dans tout le cluster.</a:t>
            </a:r>
            <a:endParaRPr lang="en-US" sz="1300" dirty="0"/>
          </a:p>
        </p:txBody>
      </p:sp>
      <p:sp>
        <p:nvSpPr>
          <p:cNvPr id="12" name="Shape 10"/>
          <p:cNvSpPr/>
          <p:nvPr/>
        </p:nvSpPr>
        <p:spPr>
          <a:xfrm>
            <a:off x="6169025" y="1547515"/>
            <a:ext cx="2530475" cy="3529330"/>
          </a:xfrm>
          <a:prstGeom prst="roundRect">
            <a:avLst>
              <a:gd name="adj" fmla="val 4893"/>
            </a:avLst>
          </a:prstGeom>
          <a:solidFill>
            <a:srgbClr val="FDFDFF"/>
          </a:solidFill>
          <a:ln w="6350">
            <a:solidFill>
              <a:srgbClr val="E1DFEE"/>
            </a:solidFill>
            <a:prstDash val="solid"/>
          </a:ln>
        </p:spPr>
      </p:sp>
      <p:sp>
        <p:nvSpPr>
          <p:cNvPr id="13" name="Text 11"/>
          <p:cNvSpPr/>
          <p:nvPr/>
        </p:nvSpPr>
        <p:spPr>
          <a:xfrm>
            <a:off x="6363441" y="1741984"/>
            <a:ext cx="111061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25A2C"/>
                </a:solidFill>
                <a:latin typeface="Sora" pitchFamily="34" charset="0"/>
                <a:ea typeface="Sora" pitchFamily="34" charset="-122"/>
                <a:cs typeface="Sora" pitchFamily="34" charset="-120"/>
              </a:rPr>
              <a:t>ROX</a:t>
            </a:r>
            <a:endParaRPr lang="en-US" sz="3200" dirty="0"/>
          </a:p>
        </p:txBody>
      </p:sp>
      <p:sp>
        <p:nvSpPr>
          <p:cNvPr id="14" name="Text 12"/>
          <p:cNvSpPr/>
          <p:nvPr/>
        </p:nvSpPr>
        <p:spPr>
          <a:xfrm>
            <a:off x="6363441" y="2237284"/>
            <a:ext cx="220589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ReadOnlyMany</a:t>
            </a:r>
            <a:endParaRPr lang="en-US" sz="1200" dirty="0"/>
          </a:p>
        </p:txBody>
      </p:sp>
      <p:sp>
        <p:nvSpPr>
          <p:cNvPr id="15" name="Text 13"/>
          <p:cNvSpPr/>
          <p:nvPr/>
        </p:nvSpPr>
        <p:spPr>
          <a:xfrm>
            <a:off x="6363441" y="2539603"/>
            <a:ext cx="220589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Lecture seule par plusieurs nœuds.</a:t>
            </a:r>
            <a:endParaRPr lang="en-US" sz="1300" dirty="0"/>
          </a:p>
        </p:txBody>
      </p:sp>
      <p:sp>
        <p:nvSpPr>
          <p:cNvPr id="16" name="Shape 14"/>
          <p:cNvSpPr/>
          <p:nvPr/>
        </p:nvSpPr>
        <p:spPr>
          <a:xfrm>
            <a:off x="8845550" y="1547515"/>
            <a:ext cx="2530475" cy="3529330"/>
          </a:xfrm>
          <a:prstGeom prst="roundRect">
            <a:avLst>
              <a:gd name="adj" fmla="val 4893"/>
            </a:avLst>
          </a:prstGeom>
          <a:solidFill>
            <a:srgbClr val="FDFDFF"/>
          </a:solidFill>
          <a:ln w="6350">
            <a:solidFill>
              <a:srgbClr val="E1DFEE"/>
            </a:solidFill>
            <a:prstDash val="solid"/>
          </a:ln>
        </p:spPr>
      </p:sp>
      <p:sp>
        <p:nvSpPr>
          <p:cNvPr id="17" name="Text 15"/>
          <p:cNvSpPr/>
          <p:nvPr/>
        </p:nvSpPr>
        <p:spPr>
          <a:xfrm>
            <a:off x="9039966" y="1741984"/>
            <a:ext cx="122618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25A2C"/>
                </a:solidFill>
                <a:latin typeface="Sora" pitchFamily="34" charset="0"/>
                <a:ea typeface="Sora" pitchFamily="34" charset="-122"/>
                <a:cs typeface="Sora" pitchFamily="34" charset="-120"/>
              </a:rPr>
              <a:t>RWX</a:t>
            </a:r>
            <a:endParaRPr lang="en-US" sz="3200" dirty="0"/>
          </a:p>
        </p:txBody>
      </p:sp>
      <p:sp>
        <p:nvSpPr>
          <p:cNvPr id="18" name="Text 16"/>
          <p:cNvSpPr/>
          <p:nvPr/>
        </p:nvSpPr>
        <p:spPr>
          <a:xfrm>
            <a:off x="9039966" y="2237284"/>
            <a:ext cx="220589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ReadWriteMany</a:t>
            </a:r>
            <a:endParaRPr lang="en-US" sz="1200" dirty="0"/>
          </a:p>
        </p:txBody>
      </p:sp>
      <p:sp>
        <p:nvSpPr>
          <p:cNvPr id="19" name="Text 17"/>
          <p:cNvSpPr/>
          <p:nvPr/>
        </p:nvSpPr>
        <p:spPr>
          <a:xfrm>
            <a:off x="9039966" y="2539603"/>
            <a:ext cx="2205893"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Lecture-écriture par plusieurs nœuds : stockage de fichiers partagé (NFS, CephFS).</a:t>
            </a:r>
            <a:endParaRPr lang="en-US" sz="1300" dirty="0"/>
          </a:p>
        </p:txBody>
      </p:sp>
      <p:sp>
        <p:nvSpPr>
          <p:cNvPr id="20" name="Shape 18"/>
          <p:cNvSpPr/>
          <p:nvPr/>
        </p:nvSpPr>
        <p:spPr>
          <a:xfrm>
            <a:off x="812800" y="5283200"/>
            <a:ext cx="10566400" cy="558800"/>
          </a:xfrm>
          <a:prstGeom prst="roundRect">
            <a:avLst>
              <a:gd name="adj" fmla="val 22727"/>
            </a:avLst>
          </a:prstGeom>
          <a:solidFill>
            <a:srgbClr val="0B0748"/>
          </a:solidFill>
          <a:ln/>
        </p:spPr>
      </p:sp>
      <p:pic>
        <p:nvPicPr>
          <p:cNvPr id="21" name="Image 0" descr="Warning">    </p:cNvPr>
          <p:cNvPicPr>
            <a:picLocks noChangeAspect="1"/>
          </p:cNvPicPr>
          <p:nvPr/>
        </p:nvPicPr>
        <p:blipFill>
          <a:blip r:embed="rId1"/>
          <a:srcRect l="0" r="0" t="0" b="0"/>
          <a:stretch/>
        </p:blipFill>
        <p:spPr>
          <a:xfrm>
            <a:off x="1016000" y="5435600"/>
            <a:ext cx="254000" cy="254000"/>
          </a:xfrm>
          <a:prstGeom prst="rect">
            <a:avLst/>
          </a:prstGeom>
        </p:spPr>
      </p:pic>
      <p:sp>
        <p:nvSpPr>
          <p:cNvPr id="22" name="Text 19"/>
          <p:cNvSpPr/>
          <p:nvPr/>
        </p:nvSpPr>
        <p:spPr>
          <a:xfrm>
            <a:off x="1422400" y="5442545"/>
            <a:ext cx="10046208"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F5F4F9"/>
                </a:solidFill>
                <a:latin typeface="IBM Plex Sans" pitchFamily="34" charset="0"/>
                <a:ea typeface="IBM Plex Sans" pitchFamily="34" charset="-122"/>
                <a:cs typeface="IBM Plex Sans" pitchFamily="34" charset="-120"/>
              </a:rPr>
              <a:t>Un disque bloc (disque Cloud, Ceph RBD) n'offre que RWO ou RWOP : il faut un système de fichiers réseau pour RWX.</a:t>
            </a:r>
            <a:endParaRPr lang="en-US" sz="1350" dirty="0"/>
          </a:p>
        </p:txBody>
      </p:sp>
      <p:pic>
        <p:nvPicPr>
          <p:cNvPr id="23" name="Image 1" descr="preencoded.png">    </p:cNvPr>
          <p:cNvPicPr>
            <a:picLocks noChangeAspect="1"/>
          </p:cNvPicPr>
          <p:nvPr/>
        </p:nvPicPr>
        <p:blipFill>
          <a:blip r:embed="rId2"/>
          <a:srcRect l="0" r="0" t="-35" b="-35"/>
          <a:stretch/>
        </p:blipFill>
        <p:spPr>
          <a:xfrm>
            <a:off x="812800" y="6299200"/>
            <a:ext cx="152400" cy="152506"/>
          </a:xfrm>
          <a:prstGeom prst="rect">
            <a:avLst/>
          </a:prstGeom>
        </p:spPr>
      </p:pic>
      <p:sp>
        <p:nvSpPr>
          <p:cNvPr id="24" name="Text 2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5" name="Image 2" descr="Parcours : module 16 sur 16">    </p:cNvPr>
          <p:cNvPicPr>
            <a:picLocks noChangeAspect="1"/>
          </p:cNvPicPr>
          <p:nvPr/>
        </p:nvPicPr>
        <p:blipFill>
          <a:blip r:embed="rId3"/>
          <a:srcRect l="0" r="0" t="-35" b="-35"/>
          <a:stretch/>
        </p:blipFill>
        <p:spPr>
          <a:xfrm>
            <a:off x="9207500" y="6299200"/>
            <a:ext cx="2171700" cy="152506"/>
          </a:xfrm>
          <a:prstGeom prst="rect">
            <a:avLst/>
          </a:prstGeom>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VOLUMES ET DONNÉES PERSISTANTES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Autres paramètres</a:t>
            </a:r>
            <a:endParaRPr lang="en-US" sz="2800" dirty="0"/>
          </a:p>
        </p:txBody>
      </p:sp>
      <p:sp>
        <p:nvSpPr>
          <p:cNvPr id="4" name="Shape 2"/>
          <p:cNvSpPr/>
          <p:nvPr/>
        </p:nvSpPr>
        <p:spPr>
          <a:xfrm>
            <a:off x="815975" y="1547515"/>
            <a:ext cx="3422650" cy="3138170"/>
          </a:xfrm>
          <a:prstGeom prst="roundRect">
            <a:avLst>
              <a:gd name="adj" fmla="val 3946"/>
            </a:avLst>
          </a:prstGeom>
          <a:solidFill>
            <a:srgbClr val="FDFDFF"/>
          </a:solidFill>
          <a:ln w="6350">
            <a:solidFill>
              <a:srgbClr val="E1DFEE"/>
            </a:solidFill>
            <a:prstDash val="solid"/>
          </a:ln>
        </p:spPr>
      </p:sp>
      <p:sp>
        <p:nvSpPr>
          <p:cNvPr id="5" name="Text 3"/>
          <p:cNvSpPr/>
          <p:nvPr/>
        </p:nvSpPr>
        <p:spPr>
          <a:xfrm>
            <a:off x="997691" y="1716584"/>
            <a:ext cx="315099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persistentVolumeReclaimPolicy</a:t>
            </a:r>
            <a:endParaRPr lang="en-US" sz="1200" dirty="0"/>
          </a:p>
        </p:txBody>
      </p:sp>
      <p:sp>
        <p:nvSpPr>
          <p:cNvPr id="6" name="Text 4"/>
          <p:cNvSpPr/>
          <p:nvPr/>
        </p:nvSpPr>
        <p:spPr>
          <a:xfrm>
            <a:off x="997691" y="2018903"/>
            <a:ext cx="315099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Delete</a:t>
            </a:r>
            <a:endParaRPr lang="en-US" sz="1200" dirty="0"/>
          </a:p>
        </p:txBody>
      </p:sp>
      <p:sp>
        <p:nvSpPr>
          <p:cNvPr id="7" name="Text 5"/>
          <p:cNvSpPr/>
          <p:nvPr/>
        </p:nvSpPr>
        <p:spPr>
          <a:xfrm>
            <a:off x="997691" y="2244923"/>
            <a:ext cx="3150995" cy="445982"/>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le disque est détruit avec le PVC ; défaut du provisionnement dynamique</a:t>
            </a:r>
            <a:endParaRPr lang="en-US" sz="1200" dirty="0"/>
          </a:p>
        </p:txBody>
      </p:sp>
      <p:sp>
        <p:nvSpPr>
          <p:cNvPr id="8" name="Text 6"/>
          <p:cNvSpPr/>
          <p:nvPr/>
        </p:nvSpPr>
        <p:spPr>
          <a:xfrm>
            <a:off x="997691" y="2754412"/>
            <a:ext cx="315099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Retain</a:t>
            </a:r>
            <a:endParaRPr lang="en-US" sz="1200" dirty="0"/>
          </a:p>
        </p:txBody>
      </p:sp>
      <p:sp>
        <p:nvSpPr>
          <p:cNvPr id="9" name="Text 7"/>
          <p:cNvSpPr/>
          <p:nvPr/>
        </p:nvSpPr>
        <p:spPr>
          <a:xfrm>
            <a:off x="997691" y="2980432"/>
            <a:ext cx="3150995" cy="445982"/>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le PV passe Released et garde ses données jusqu'à intervention</a:t>
            </a:r>
            <a:endParaRPr lang="en-US" sz="1200" dirty="0"/>
          </a:p>
        </p:txBody>
      </p:sp>
      <p:sp>
        <p:nvSpPr>
          <p:cNvPr id="10" name="Shape 8"/>
          <p:cNvSpPr/>
          <p:nvPr/>
        </p:nvSpPr>
        <p:spPr>
          <a:xfrm>
            <a:off x="4384675" y="1547515"/>
            <a:ext cx="3422650" cy="3138170"/>
          </a:xfrm>
          <a:prstGeom prst="roundRect">
            <a:avLst>
              <a:gd name="adj" fmla="val 3946"/>
            </a:avLst>
          </a:prstGeom>
          <a:solidFill>
            <a:srgbClr val="FDFDFF"/>
          </a:solidFill>
          <a:ln w="6350">
            <a:solidFill>
              <a:srgbClr val="E1DFEE"/>
            </a:solidFill>
            <a:prstDash val="solid"/>
          </a:ln>
        </p:spPr>
      </p:sp>
      <p:sp>
        <p:nvSpPr>
          <p:cNvPr id="11" name="Text 9"/>
          <p:cNvSpPr/>
          <p:nvPr/>
        </p:nvSpPr>
        <p:spPr>
          <a:xfrm>
            <a:off x="4566391" y="1716584"/>
            <a:ext cx="315099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volumeBindingMode</a:t>
            </a:r>
            <a:endParaRPr lang="en-US" sz="1200" dirty="0"/>
          </a:p>
        </p:txBody>
      </p:sp>
      <p:sp>
        <p:nvSpPr>
          <p:cNvPr id="12" name="Text 10"/>
          <p:cNvSpPr/>
          <p:nvPr/>
        </p:nvSpPr>
        <p:spPr>
          <a:xfrm>
            <a:off x="4566391" y="2018903"/>
            <a:ext cx="315099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Immediate</a:t>
            </a:r>
            <a:endParaRPr lang="en-US" sz="1200" dirty="0"/>
          </a:p>
        </p:txBody>
      </p:sp>
      <p:sp>
        <p:nvSpPr>
          <p:cNvPr id="13" name="Text 11"/>
          <p:cNvSpPr/>
          <p:nvPr/>
        </p:nvSpPr>
        <p:spPr>
          <a:xfrm>
            <a:off x="4566391" y="2244923"/>
            <a:ext cx="3150995" cy="235691"/>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le volume est choisi dès la création du PVC</a:t>
            </a:r>
            <a:endParaRPr lang="en-US" sz="1200" dirty="0"/>
          </a:p>
        </p:txBody>
      </p:sp>
      <p:sp>
        <p:nvSpPr>
          <p:cNvPr id="14" name="Text 12"/>
          <p:cNvSpPr/>
          <p:nvPr/>
        </p:nvSpPr>
        <p:spPr>
          <a:xfrm>
            <a:off x="4566391" y="2544068"/>
            <a:ext cx="315099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WaitForFirstConsumer</a:t>
            </a:r>
            <a:endParaRPr lang="en-US" sz="1200" dirty="0"/>
          </a:p>
        </p:txBody>
      </p:sp>
      <p:sp>
        <p:nvSpPr>
          <p:cNvPr id="15" name="Text 13"/>
          <p:cNvSpPr/>
          <p:nvPr/>
        </p:nvSpPr>
        <p:spPr>
          <a:xfrm>
            <a:off x="4566391" y="2770088"/>
            <a:ext cx="3150995" cy="656272"/>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attend le placement du pod, pour choisir un volume accessible depuis son nœud ou sa zone</a:t>
            </a:r>
            <a:endParaRPr lang="en-US" sz="1200" dirty="0"/>
          </a:p>
        </p:txBody>
      </p:sp>
      <p:sp>
        <p:nvSpPr>
          <p:cNvPr id="16" name="Shape 14"/>
          <p:cNvSpPr/>
          <p:nvPr/>
        </p:nvSpPr>
        <p:spPr>
          <a:xfrm>
            <a:off x="7953375" y="1547515"/>
            <a:ext cx="3422650" cy="3138170"/>
          </a:xfrm>
          <a:prstGeom prst="roundRect">
            <a:avLst>
              <a:gd name="adj" fmla="val 3946"/>
            </a:avLst>
          </a:prstGeom>
          <a:solidFill>
            <a:srgbClr val="FDFDFF"/>
          </a:solidFill>
          <a:ln w="6350">
            <a:solidFill>
              <a:srgbClr val="E1DFEE"/>
            </a:solidFill>
            <a:prstDash val="solid"/>
          </a:ln>
        </p:spPr>
      </p:sp>
      <p:sp>
        <p:nvSpPr>
          <p:cNvPr id="17" name="Text 15"/>
          <p:cNvSpPr/>
          <p:nvPr/>
        </p:nvSpPr>
        <p:spPr>
          <a:xfrm>
            <a:off x="8135091" y="1716584"/>
            <a:ext cx="315099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748"/>
                </a:solidFill>
                <a:latin typeface="JetBrains Mono" pitchFamily="49" charset="0"/>
                <a:ea typeface="JetBrains Mono" pitchFamily="49" charset="-122"/>
                <a:cs typeface="JetBrains Mono" pitchFamily="49" charset="-120"/>
              </a:rPr>
              <a:t>allowVolumeExpansion: true</a:t>
            </a:r>
            <a:endParaRPr lang="en-US" sz="1200" dirty="0"/>
          </a:p>
        </p:txBody>
      </p:sp>
      <p:sp>
        <p:nvSpPr>
          <p:cNvPr id="18" name="Text 16"/>
          <p:cNvSpPr/>
          <p:nvPr/>
        </p:nvSpPr>
        <p:spPr>
          <a:xfrm>
            <a:off x="8135091" y="2018903"/>
            <a:ext cx="3150995" cy="445982"/>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3F3C6B"/>
                </a:solidFill>
                <a:latin typeface="IBM Plex Sans" pitchFamily="34" charset="0"/>
                <a:ea typeface="IBM Plex Sans" pitchFamily="34" charset="-122"/>
                <a:cs typeface="IBM Plex Sans" pitchFamily="34" charset="-120"/>
              </a:rPr>
              <a:t>un PVC peut ensuite être agrandi en modifiant sa taille demandée</a:t>
            </a:r>
            <a:endParaRPr lang="en-US" sz="1200" dirty="0"/>
          </a:p>
        </p:txBody>
      </p:sp>
      <p:sp>
        <p:nvSpPr>
          <p:cNvPr id="19" name="Text 17"/>
          <p:cNvSpPr/>
          <p:nvPr/>
        </p:nvSpPr>
        <p:spPr>
          <a:xfrm>
            <a:off x="812800" y="489208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ÉTATS D'UN PV</a:t>
            </a:r>
            <a:endParaRPr lang="en-US" sz="1200" dirty="0"/>
          </a:p>
        </p:txBody>
      </p:sp>
      <p:sp>
        <p:nvSpPr>
          <p:cNvPr id="20" name="Shape 18"/>
          <p:cNvSpPr/>
          <p:nvPr/>
        </p:nvSpPr>
        <p:spPr>
          <a:xfrm>
            <a:off x="812800" y="5181600"/>
            <a:ext cx="1264920" cy="660400"/>
          </a:xfrm>
          <a:prstGeom prst="roundRect">
            <a:avLst>
              <a:gd name="adj" fmla="val 15385"/>
            </a:avLst>
          </a:prstGeom>
          <a:solidFill>
            <a:srgbClr val="ECEAF6"/>
          </a:solidFill>
          <a:ln/>
        </p:spPr>
      </p:sp>
      <p:sp>
        <p:nvSpPr>
          <p:cNvPr id="21" name="Text 19"/>
          <p:cNvSpPr/>
          <p:nvPr/>
        </p:nvSpPr>
        <p:spPr>
          <a:xfrm>
            <a:off x="965200" y="5283200"/>
            <a:ext cx="11125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JetBrains Mono" pitchFamily="49" charset="0"/>
                <a:ea typeface="JetBrains Mono" pitchFamily="49" charset="-122"/>
                <a:cs typeface="JetBrains Mono" pitchFamily="49" charset="-120"/>
              </a:rPr>
              <a:t>Available</a:t>
            </a:r>
            <a:endParaRPr lang="en-US" sz="1400" dirty="0"/>
          </a:p>
        </p:txBody>
      </p:sp>
      <p:sp>
        <p:nvSpPr>
          <p:cNvPr id="22" name="Text 20"/>
          <p:cNvSpPr/>
          <p:nvPr/>
        </p:nvSpPr>
        <p:spPr>
          <a:xfrm>
            <a:off x="965200" y="5544840"/>
            <a:ext cx="101092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libre</a:t>
            </a:r>
            <a:endParaRPr lang="en-US" sz="1100" dirty="0"/>
          </a:p>
        </p:txBody>
      </p:sp>
      <p:pic>
        <p:nvPicPr>
          <p:cNvPr id="23" name="Image 0" descr="arrow-right">    </p:cNvPr>
          <p:cNvPicPr>
            <a:picLocks noChangeAspect="1"/>
          </p:cNvPicPr>
          <p:nvPr/>
        </p:nvPicPr>
        <p:blipFill>
          <a:blip r:embed="rId1"/>
          <a:srcRect l="0" r="0" t="0" b="0"/>
          <a:stretch/>
        </p:blipFill>
        <p:spPr>
          <a:xfrm>
            <a:off x="2179320" y="5441950"/>
            <a:ext cx="254000" cy="139700"/>
          </a:xfrm>
          <a:prstGeom prst="rect">
            <a:avLst/>
          </a:prstGeom>
        </p:spPr>
      </p:pic>
      <p:sp>
        <p:nvSpPr>
          <p:cNvPr id="24" name="Shape 21"/>
          <p:cNvSpPr/>
          <p:nvPr/>
        </p:nvSpPr>
        <p:spPr>
          <a:xfrm>
            <a:off x="2534920" y="5181600"/>
            <a:ext cx="838200" cy="660400"/>
          </a:xfrm>
          <a:prstGeom prst="roundRect">
            <a:avLst>
              <a:gd name="adj" fmla="val 15385"/>
            </a:avLst>
          </a:prstGeom>
          <a:solidFill>
            <a:srgbClr val="0B0748"/>
          </a:solidFill>
          <a:ln/>
        </p:spPr>
      </p:sp>
      <p:sp>
        <p:nvSpPr>
          <p:cNvPr id="25" name="Text 22"/>
          <p:cNvSpPr/>
          <p:nvPr/>
        </p:nvSpPr>
        <p:spPr>
          <a:xfrm>
            <a:off x="2687320" y="5283200"/>
            <a:ext cx="6400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4F9"/>
                </a:solidFill>
                <a:latin typeface="JetBrains Mono" pitchFamily="49" charset="0"/>
                <a:ea typeface="JetBrains Mono" pitchFamily="49" charset="-122"/>
                <a:cs typeface="JetBrains Mono" pitchFamily="49" charset="-120"/>
              </a:rPr>
              <a:t>Bound</a:t>
            </a:r>
            <a:endParaRPr lang="en-US" sz="1400" dirty="0"/>
          </a:p>
        </p:txBody>
      </p:sp>
      <p:sp>
        <p:nvSpPr>
          <p:cNvPr id="26" name="Text 23"/>
          <p:cNvSpPr/>
          <p:nvPr/>
        </p:nvSpPr>
        <p:spPr>
          <a:xfrm>
            <a:off x="2687320" y="5544840"/>
            <a:ext cx="58420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B9B6E8"/>
                </a:solidFill>
                <a:latin typeface="IBM Plex Sans" pitchFamily="34" charset="0"/>
                <a:ea typeface="IBM Plex Sans" pitchFamily="34" charset="-122"/>
                <a:cs typeface="IBM Plex Sans" pitchFamily="34" charset="-120"/>
              </a:rPr>
              <a:t>lié</a:t>
            </a:r>
            <a:endParaRPr lang="en-US" sz="1100" dirty="0"/>
          </a:p>
        </p:txBody>
      </p:sp>
      <p:pic>
        <p:nvPicPr>
          <p:cNvPr id="27" name="Image 1" descr="arrow-right">    </p:cNvPr>
          <p:cNvPicPr>
            <a:picLocks noChangeAspect="1"/>
          </p:cNvPicPr>
          <p:nvPr/>
        </p:nvPicPr>
        <p:blipFill>
          <a:blip r:embed="rId2"/>
          <a:srcRect l="0" r="0" t="0" b="0"/>
          <a:stretch/>
        </p:blipFill>
        <p:spPr>
          <a:xfrm>
            <a:off x="3474720" y="5441950"/>
            <a:ext cx="254000" cy="139700"/>
          </a:xfrm>
          <a:prstGeom prst="rect">
            <a:avLst/>
          </a:prstGeom>
        </p:spPr>
      </p:pic>
      <p:sp>
        <p:nvSpPr>
          <p:cNvPr id="28" name="Shape 24"/>
          <p:cNvSpPr/>
          <p:nvPr/>
        </p:nvSpPr>
        <p:spPr>
          <a:xfrm>
            <a:off x="3830320" y="5181600"/>
            <a:ext cx="2541376" cy="660400"/>
          </a:xfrm>
          <a:prstGeom prst="roundRect">
            <a:avLst>
              <a:gd name="adj" fmla="val 15385"/>
            </a:avLst>
          </a:prstGeom>
          <a:solidFill>
            <a:srgbClr val="FCE6DC"/>
          </a:solidFill>
          <a:ln/>
        </p:spPr>
      </p:sp>
      <p:sp>
        <p:nvSpPr>
          <p:cNvPr id="29" name="Text 25"/>
          <p:cNvSpPr/>
          <p:nvPr/>
        </p:nvSpPr>
        <p:spPr>
          <a:xfrm>
            <a:off x="3982720" y="5283200"/>
            <a:ext cx="230367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0748"/>
                </a:solidFill>
                <a:latin typeface="JetBrains Mono" pitchFamily="49" charset="0"/>
                <a:ea typeface="JetBrains Mono" pitchFamily="49" charset="-122"/>
                <a:cs typeface="JetBrains Mono" pitchFamily="49" charset="-120"/>
              </a:rPr>
              <a:t>Released</a:t>
            </a:r>
            <a:endParaRPr lang="en-US" sz="1400" dirty="0"/>
          </a:p>
        </p:txBody>
      </p:sp>
      <p:sp>
        <p:nvSpPr>
          <p:cNvPr id="30" name="Text 26"/>
          <p:cNvSpPr/>
          <p:nvPr/>
        </p:nvSpPr>
        <p:spPr>
          <a:xfrm>
            <a:off x="3982720" y="5544840"/>
            <a:ext cx="2388976"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90"/>
                </a:solidFill>
                <a:latin typeface="IBM Plex Sans" pitchFamily="34" charset="0"/>
                <a:ea typeface="IBM Plex Sans" pitchFamily="34" charset="-122"/>
                <a:cs typeface="IBM Plex Sans" pitchFamily="34" charset="-120"/>
              </a:rPr>
              <a:t>PVC supprimé, données conservées</a:t>
            </a:r>
            <a:endParaRPr lang="en-US" sz="1100" dirty="0"/>
          </a:p>
        </p:txBody>
      </p:sp>
      <p:sp>
        <p:nvSpPr>
          <p:cNvPr id="31" name="Text 27"/>
          <p:cNvSpPr/>
          <p:nvPr/>
        </p:nvSpPr>
        <p:spPr>
          <a:xfrm>
            <a:off x="10426488" y="5187950"/>
            <a:ext cx="946362" cy="647700"/>
          </a:xfrm>
          <a:prstGeom prst="roundRect">
            <a:avLst>
              <a:gd name="adj" fmla="val 14706"/>
            </a:avLst>
          </a:prstGeom>
          <a:noFill/>
          <a:ln w="12700">
            <a:solidFill>
              <a:srgbClr val="A6A3C6"/>
            </a:solidFill>
            <a:prstDash val="dash"/>
          </a:ln>
        </p:spPr>
        <p:txBody>
          <a:bodyPr wrap="none" lIns="0" tIns="74443" rIns="0" bIns="74443" rtlCol="0" anchor="t">
            <a:normAutofit/>
          </a:bodyPr>
          <a:lstStyle/>
          <a:p>
            <a:pPr algn="ctr" indent="0" marL="0">
              <a:lnSpc>
                <a:spcPts val="1960"/>
              </a:lnSpc>
              <a:buNone/>
            </a:pPr>
            <a:r>
              <a:rPr lang="en-US" sz="1400" b="1" dirty="0">
                <a:solidFill>
                  <a:srgbClr val="6B6890"/>
                </a:solidFill>
                <a:latin typeface="JetBrains Mono" pitchFamily="49" charset="0"/>
                <a:ea typeface="JetBrains Mono" pitchFamily="49" charset="-122"/>
                <a:cs typeface="JetBrains Mono" pitchFamily="49" charset="-120"/>
              </a:rPr>
              <a:t>Failed</a:t>
            </a:r>
            <a:endParaRPr lang="en-US" sz="1400" dirty="0"/>
          </a:p>
        </p:txBody>
      </p:sp>
      <p:pic>
        <p:nvPicPr>
          <p:cNvPr id="32" name="Image 2" descr="preencoded.png">    </p:cNvPr>
          <p:cNvPicPr>
            <a:picLocks noChangeAspect="1"/>
          </p:cNvPicPr>
          <p:nvPr/>
        </p:nvPicPr>
        <p:blipFill>
          <a:blip r:embed="rId3"/>
          <a:srcRect l="0" r="0" t="-35" b="-35"/>
          <a:stretch/>
        </p:blipFill>
        <p:spPr>
          <a:xfrm>
            <a:off x="812800" y="6299200"/>
            <a:ext cx="152400" cy="152506"/>
          </a:xfrm>
          <a:prstGeom prst="rect">
            <a:avLst/>
          </a:prstGeom>
        </p:spPr>
      </p:pic>
      <p:sp>
        <p:nvSpPr>
          <p:cNvPr id="33" name="Text 28"/>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34" name="Image 3" descr="Parcours : module 16 sur 16">    </p:cNvPr>
          <p:cNvPicPr>
            <a:picLocks noChangeAspect="1"/>
          </p:cNvPicPr>
          <p:nvPr/>
        </p:nvPicPr>
        <p:blipFill>
          <a:blip r:embed="rId4"/>
          <a:srcRect l="0" r="0" t="-35" b="-35"/>
          <a:stretch/>
        </p:blipFill>
        <p:spPr>
          <a:xfrm>
            <a:off x="9207500" y="6299200"/>
            <a:ext cx="2171700" cy="152506"/>
          </a:xfrm>
          <a:prstGeom prst="rect">
            <a:avLst/>
          </a:prstGeom>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VOLUMES ET DONNÉES PERSISTANTES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Les pilotes CSI</a:t>
            </a:r>
            <a:endParaRPr lang="en-US" sz="2800" dirty="0"/>
          </a:p>
        </p:txBody>
      </p:sp>
      <p:sp>
        <p:nvSpPr>
          <p:cNvPr id="4" name="Text 2"/>
          <p:cNvSpPr/>
          <p:nvPr/>
        </p:nvSpPr>
        <p:spPr>
          <a:xfrm>
            <a:off x="812800" y="1544340"/>
            <a:ext cx="5258562" cy="512233"/>
          </a:xfrm>
          <a:prstGeom prst="rect">
            <a:avLst/>
          </a:prstGeom>
          <a:noFill/>
          <a:ln/>
        </p:spPr>
        <p:txBody>
          <a:bodyPr wrap="square" lIns="0" tIns="0" rIns="0" bIns="0" rtlCol="0" anchor="t">
            <a:normAutofit/>
          </a:bodyPr>
          <a:lstStyle/>
          <a:p>
            <a:pPr algn="l" indent="0" marL="0">
              <a:lnSpc>
                <a:spcPts val="1917"/>
              </a:lnSpc>
              <a:buNone/>
            </a:pPr>
            <a:r>
              <a:rPr lang="en-US" sz="1350" dirty="0">
                <a:solidFill>
                  <a:srgbClr val="0B0748"/>
                </a:solidFill>
                <a:latin typeface="IBM Plex Sans" pitchFamily="34" charset="0"/>
                <a:ea typeface="IBM Plex Sans" pitchFamily="34" charset="-122"/>
                <a:cs typeface="IBM Plex Sans" pitchFamily="34" charset="-120"/>
              </a:rPr>
              <a:t>Le stockage passe par des pilotes </a:t>
            </a:r>
            <a:r>
              <a:rPr lang="en-US" sz="1350" b="1" dirty="0">
                <a:solidFill>
                  <a:srgbClr val="0B0748"/>
                </a:solidFill>
                <a:latin typeface="IBM Plex Sans" pitchFamily="34" charset="0"/>
                <a:ea typeface="IBM Plex Sans" pitchFamily="34" charset="-122"/>
                <a:cs typeface="IBM Plex Sans" pitchFamily="34" charset="-120"/>
              </a:rPr>
              <a:t>CSI</a:t>
            </a:r>
            <a:r>
              <a:rPr lang="en-US" sz="1350" dirty="0">
                <a:solidFill>
                  <a:srgbClr val="0B0748"/>
                </a:solidFill>
                <a:latin typeface="IBM Plex Sans" pitchFamily="34" charset="0"/>
                <a:ea typeface="IBM Plex Sans" pitchFamily="34" charset="-122"/>
                <a:cs typeface="IBM Plex Sans" pitchFamily="34" charset="-120"/>
              </a:rPr>
              <a:t> (Container Storage Interface), fournis par chaque solution :</a:t>
            </a:r>
            <a:endParaRPr lang="en-US" sz="1350" dirty="0"/>
          </a:p>
        </p:txBody>
      </p:sp>
      <p:sp>
        <p:nvSpPr>
          <p:cNvPr id="5" name="Text 3"/>
          <p:cNvSpPr/>
          <p:nvPr/>
        </p:nvSpPr>
        <p:spPr>
          <a:xfrm>
            <a:off x="812800" y="2145407"/>
            <a:ext cx="2016760" cy="306176"/>
          </a:xfrm>
          <a:prstGeom prst="roundRect">
            <a:avLst>
              <a:gd name="adj" fmla="val 50000"/>
            </a:avLst>
          </a:prstGeom>
          <a:solidFill>
            <a:srgbClr val="ECEAF6"/>
          </a:solidFill>
          <a:ln/>
        </p:spPr>
        <p:txBody>
          <a:bodyPr wrap="none" lIns="0" tIns="0" rIns="0" bIns="0" rtlCol="0" anchor="ctr">
            <a:normAutofit/>
          </a:bodyPr>
          <a:lstStyle/>
          <a:p>
            <a:pPr algn="ctr" indent="0" marL="0">
              <a:lnSpc>
                <a:spcPts val="1610"/>
              </a:lnSpc>
              <a:buNone/>
            </a:pPr>
            <a:r>
              <a:rPr lang="en-US" sz="1150" dirty="0">
                <a:solidFill>
                  <a:srgbClr val="0B0748"/>
                </a:solidFill>
                <a:latin typeface="IBM Plex Sans" pitchFamily="34" charset="0"/>
                <a:ea typeface="IBM Plex Sans" pitchFamily="34" charset="-122"/>
                <a:cs typeface="IBM Plex Sans" pitchFamily="34" charset="-120"/>
              </a:rPr>
              <a:t>Disques des Clouds publics</a:t>
            </a:r>
            <a:endParaRPr lang="en-US" sz="1150" dirty="0"/>
          </a:p>
        </p:txBody>
      </p:sp>
      <p:sp>
        <p:nvSpPr>
          <p:cNvPr id="6" name="Text 4"/>
          <p:cNvSpPr/>
          <p:nvPr/>
        </p:nvSpPr>
        <p:spPr>
          <a:xfrm>
            <a:off x="2893060" y="2145407"/>
            <a:ext cx="1505267" cy="306176"/>
          </a:xfrm>
          <a:prstGeom prst="roundRect">
            <a:avLst>
              <a:gd name="adj" fmla="val 50000"/>
            </a:avLst>
          </a:prstGeom>
          <a:solidFill>
            <a:srgbClr val="ECEAF6"/>
          </a:solidFill>
          <a:ln/>
        </p:spPr>
        <p:txBody>
          <a:bodyPr wrap="none" lIns="0" tIns="0" rIns="0" bIns="0" rtlCol="0" anchor="ctr">
            <a:normAutofit/>
          </a:bodyPr>
          <a:lstStyle/>
          <a:p>
            <a:pPr algn="ctr" indent="0" marL="0">
              <a:lnSpc>
                <a:spcPts val="1610"/>
              </a:lnSpc>
              <a:buNone/>
            </a:pPr>
            <a:r>
              <a:rPr lang="en-US" sz="1150" dirty="0">
                <a:solidFill>
                  <a:srgbClr val="0B0748"/>
                </a:solidFill>
                <a:latin typeface="IBM Plex Sans" pitchFamily="34" charset="0"/>
                <a:ea typeface="IBM Plex Sans" pitchFamily="34" charset="-122"/>
                <a:cs typeface="IBM Plex Sans" pitchFamily="34" charset="-120"/>
              </a:rPr>
              <a:t>Cinder (OpenStack)</a:t>
            </a:r>
            <a:endParaRPr lang="en-US" sz="1150" dirty="0"/>
          </a:p>
        </p:txBody>
      </p:sp>
      <p:sp>
        <p:nvSpPr>
          <p:cNvPr id="7" name="Text 5"/>
          <p:cNvSpPr/>
          <p:nvPr/>
        </p:nvSpPr>
        <p:spPr>
          <a:xfrm>
            <a:off x="4461828" y="2145407"/>
            <a:ext cx="766339" cy="306176"/>
          </a:xfrm>
          <a:prstGeom prst="roundRect">
            <a:avLst>
              <a:gd name="adj" fmla="val 50000"/>
            </a:avLst>
          </a:prstGeom>
          <a:solidFill>
            <a:srgbClr val="ECEAF6"/>
          </a:solidFill>
          <a:ln/>
        </p:spPr>
        <p:txBody>
          <a:bodyPr wrap="none" lIns="0" tIns="0" rIns="0" bIns="0" rtlCol="0" anchor="ctr">
            <a:normAutofit/>
          </a:bodyPr>
          <a:lstStyle/>
          <a:p>
            <a:pPr algn="ctr" indent="0" marL="0">
              <a:lnSpc>
                <a:spcPts val="1610"/>
              </a:lnSpc>
              <a:buNone/>
            </a:pPr>
            <a:r>
              <a:rPr lang="en-US" sz="1150" dirty="0">
                <a:solidFill>
                  <a:srgbClr val="0B0748"/>
                </a:solidFill>
                <a:latin typeface="IBM Plex Sans" pitchFamily="34" charset="0"/>
                <a:ea typeface="IBM Plex Sans" pitchFamily="34" charset="-122"/>
                <a:cs typeface="IBM Plex Sans" pitchFamily="34" charset="-120"/>
              </a:rPr>
              <a:t>vSphere</a:t>
            </a:r>
            <a:endParaRPr lang="en-US" sz="1150" dirty="0"/>
          </a:p>
        </p:txBody>
      </p:sp>
      <p:sp>
        <p:nvSpPr>
          <p:cNvPr id="8" name="Text 6"/>
          <p:cNvSpPr/>
          <p:nvPr/>
        </p:nvSpPr>
        <p:spPr>
          <a:xfrm>
            <a:off x="812800" y="2514997"/>
            <a:ext cx="1154324" cy="306176"/>
          </a:xfrm>
          <a:prstGeom prst="roundRect">
            <a:avLst>
              <a:gd name="adj" fmla="val 50000"/>
            </a:avLst>
          </a:prstGeom>
          <a:solidFill>
            <a:srgbClr val="ECEAF6"/>
          </a:solidFill>
          <a:ln/>
        </p:spPr>
        <p:txBody>
          <a:bodyPr wrap="none" lIns="0" tIns="0" rIns="0" bIns="0" rtlCol="0" anchor="ctr">
            <a:normAutofit/>
          </a:bodyPr>
          <a:lstStyle/>
          <a:p>
            <a:pPr algn="ctr" indent="0" marL="0">
              <a:lnSpc>
                <a:spcPts val="1610"/>
              </a:lnSpc>
              <a:buNone/>
            </a:pPr>
            <a:r>
              <a:rPr lang="en-US" sz="1150" dirty="0">
                <a:solidFill>
                  <a:srgbClr val="0B0748"/>
                </a:solidFill>
                <a:latin typeface="IBM Plex Sans" pitchFamily="34" charset="0"/>
                <a:ea typeface="IBM Plex Sans" pitchFamily="34" charset="-122"/>
                <a:cs typeface="IBM Plex Sans" pitchFamily="34" charset="-120"/>
              </a:rPr>
              <a:t>Ceph via Rook</a:t>
            </a:r>
            <a:endParaRPr lang="en-US" sz="1150" dirty="0"/>
          </a:p>
        </p:txBody>
      </p:sp>
      <p:sp>
        <p:nvSpPr>
          <p:cNvPr id="9" name="Text 7"/>
          <p:cNvSpPr/>
          <p:nvPr/>
        </p:nvSpPr>
        <p:spPr>
          <a:xfrm>
            <a:off x="2030624" y="2514997"/>
            <a:ext cx="1507490" cy="306176"/>
          </a:xfrm>
          <a:prstGeom prst="roundRect">
            <a:avLst>
              <a:gd name="adj" fmla="val 50000"/>
            </a:avLst>
          </a:prstGeom>
          <a:solidFill>
            <a:srgbClr val="ECEAF6"/>
          </a:solidFill>
          <a:ln/>
        </p:spPr>
        <p:txBody>
          <a:bodyPr wrap="none" lIns="0" tIns="0" rIns="0" bIns="0" rtlCol="0" anchor="ctr">
            <a:normAutofit/>
          </a:bodyPr>
          <a:lstStyle/>
          <a:p>
            <a:pPr algn="ctr" indent="0" marL="0">
              <a:lnSpc>
                <a:spcPts val="1610"/>
              </a:lnSpc>
              <a:buNone/>
            </a:pPr>
            <a:r>
              <a:rPr lang="en-US" sz="1150" dirty="0">
                <a:solidFill>
                  <a:srgbClr val="0B0748"/>
                </a:solidFill>
                <a:latin typeface="IBM Plex Sans" pitchFamily="34" charset="0"/>
                <a:ea typeface="IBM Plex Sans" pitchFamily="34" charset="-122"/>
                <a:cs typeface="IBM Plex Sans" pitchFamily="34" charset="-120"/>
              </a:rPr>
              <a:t>NFS (csi-driver-nfs)</a:t>
            </a:r>
            <a:endParaRPr lang="en-US" sz="1150" dirty="0"/>
          </a:p>
        </p:txBody>
      </p:sp>
      <p:sp>
        <p:nvSpPr>
          <p:cNvPr id="10" name="Text 8"/>
          <p:cNvSpPr/>
          <p:nvPr/>
        </p:nvSpPr>
        <p:spPr>
          <a:xfrm>
            <a:off x="3601614" y="2514997"/>
            <a:ext cx="1122998" cy="306176"/>
          </a:xfrm>
          <a:prstGeom prst="roundRect">
            <a:avLst>
              <a:gd name="adj" fmla="val 50000"/>
            </a:avLst>
          </a:prstGeom>
          <a:solidFill>
            <a:srgbClr val="ECEAF6"/>
          </a:solidFill>
          <a:ln/>
        </p:spPr>
        <p:txBody>
          <a:bodyPr wrap="none" lIns="0" tIns="0" rIns="0" bIns="0" rtlCol="0" anchor="ctr">
            <a:normAutofit/>
          </a:bodyPr>
          <a:lstStyle/>
          <a:p>
            <a:pPr algn="ctr" indent="0" marL="0">
              <a:lnSpc>
                <a:spcPts val="1610"/>
              </a:lnSpc>
              <a:buNone/>
            </a:pPr>
            <a:r>
              <a:rPr lang="en-US" sz="1150" dirty="0">
                <a:solidFill>
                  <a:srgbClr val="0B0748"/>
                </a:solidFill>
                <a:latin typeface="IBM Plex Sans" pitchFamily="34" charset="0"/>
                <a:ea typeface="IBM Plex Sans" pitchFamily="34" charset="-122"/>
                <a:cs typeface="IBM Plex Sans" pitchFamily="34" charset="-120"/>
              </a:rPr>
              <a:t>Baies NetApp</a:t>
            </a:r>
            <a:endParaRPr lang="en-US" sz="1150" dirty="0"/>
          </a:p>
        </p:txBody>
      </p:sp>
      <p:sp>
        <p:nvSpPr>
          <p:cNvPr id="11" name="Text 9"/>
          <p:cNvSpPr/>
          <p:nvPr/>
        </p:nvSpPr>
        <p:spPr>
          <a:xfrm>
            <a:off x="4788112" y="2514997"/>
            <a:ext cx="843597" cy="306176"/>
          </a:xfrm>
          <a:prstGeom prst="roundRect">
            <a:avLst>
              <a:gd name="adj" fmla="val 50000"/>
            </a:avLst>
          </a:prstGeom>
          <a:solidFill>
            <a:srgbClr val="ECEAF6"/>
          </a:solidFill>
          <a:ln/>
        </p:spPr>
        <p:txBody>
          <a:bodyPr wrap="none" lIns="0" tIns="0" rIns="0" bIns="0" rtlCol="0" anchor="ctr">
            <a:normAutofit/>
          </a:bodyPr>
          <a:lstStyle/>
          <a:p>
            <a:pPr algn="ctr" indent="0" marL="0">
              <a:lnSpc>
                <a:spcPts val="1610"/>
              </a:lnSpc>
              <a:buNone/>
            </a:pPr>
            <a:r>
              <a:rPr lang="en-US" sz="1150" dirty="0">
                <a:solidFill>
                  <a:srgbClr val="0B0748"/>
                </a:solidFill>
                <a:latin typeface="IBM Plex Sans" pitchFamily="34" charset="0"/>
                <a:ea typeface="IBM Plex Sans" pitchFamily="34" charset="-122"/>
                <a:cs typeface="IBM Plex Sans" pitchFamily="34" charset="-120"/>
              </a:rPr>
              <a:t>Longhorn</a:t>
            </a:r>
            <a:endParaRPr lang="en-US" sz="1150" dirty="0"/>
          </a:p>
        </p:txBody>
      </p:sp>
      <p:sp>
        <p:nvSpPr>
          <p:cNvPr id="12" name="Text 10"/>
          <p:cNvSpPr/>
          <p:nvPr/>
        </p:nvSpPr>
        <p:spPr>
          <a:xfrm>
            <a:off x="812800" y="2935387"/>
            <a:ext cx="5258562" cy="701675"/>
          </a:xfrm>
          <a:prstGeom prst="rect">
            <a:avLst/>
          </a:prstGeom>
          <a:noFill/>
          <a:ln/>
        </p:spPr>
        <p:txBody>
          <a:bodyPr wrap="square" lIns="0" tIns="0" rIns="0" bIns="0" rtlCol="0" anchor="t">
            <a:normAutofit/>
          </a:bodyPr>
          <a:lstStyle/>
          <a:p>
            <a:pPr algn="l" indent="0" marL="0">
              <a:lnSpc>
                <a:spcPts val="1775"/>
              </a:lnSpc>
              <a:buNone/>
            </a:pPr>
            <a:r>
              <a:rPr lang="en-US" sz="1250" dirty="0">
                <a:solidFill>
                  <a:srgbClr val="3F3C6B"/>
                </a:solidFill>
                <a:latin typeface="IBM Plex Sans" pitchFamily="34" charset="0"/>
                <a:ea typeface="IBM Plex Sans" pitchFamily="34" charset="-122"/>
                <a:cs typeface="IBM Plex Sans" pitchFamily="34" charset="-120"/>
              </a:rPr>
              <a:t>Un PVC qui ne précise pas de classe reçoit la </a:t>
            </a:r>
            <a:r>
              <a:rPr lang="en-US" sz="1250" b="1" dirty="0">
                <a:solidFill>
                  <a:srgbClr val="3F3C6B"/>
                </a:solidFill>
                <a:latin typeface="IBM Plex Sans" pitchFamily="34" charset="0"/>
                <a:ea typeface="IBM Plex Sans" pitchFamily="34" charset="-122"/>
                <a:cs typeface="IBM Plex Sans" pitchFamily="34" charset="-120"/>
              </a:rPr>
              <a:t>classe par défaut</a:t>
            </a:r>
            <a:r>
              <a:rPr lang="en-US" sz="1250" dirty="0">
                <a:solidFill>
                  <a:srgbClr val="3F3C6B"/>
                </a:solidFill>
                <a:latin typeface="IBM Plex Sans" pitchFamily="34" charset="0"/>
                <a:ea typeface="IBM Plex Sans" pitchFamily="34" charset="-122"/>
                <a:cs typeface="IBM Plex Sans" pitchFamily="34" charset="-120"/>
              </a:rPr>
              <a:t>. Beaucoup de pilotes savent aussi prendre des instantanés (VolumeSnapshot).</a:t>
            </a:r>
            <a:endParaRPr lang="en-US" sz="1250" dirty="0"/>
          </a:p>
        </p:txBody>
      </p:sp>
      <p:sp>
        <p:nvSpPr>
          <p:cNvPr id="13" name="Text 11"/>
          <p:cNvSpPr/>
          <p:nvPr/>
        </p:nvSpPr>
        <p:spPr>
          <a:xfrm>
            <a:off x="812800" y="4845447"/>
            <a:ext cx="5105400" cy="996527"/>
          </a:xfrm>
          <a:prstGeom prst="roundRect">
            <a:avLst>
              <a:gd name="adj" fmla="val 10195"/>
            </a:avLst>
          </a:prstGeom>
          <a:solidFill>
            <a:srgbClr val="ECEAF6"/>
          </a:solidFill>
          <a:ln/>
        </p:spPr>
        <p:txBody>
          <a:bodyPr wrap="none" lIns="122642" tIns="59142" rIns="0" bIns="59142" rtlCol="0" anchor="ctr">
            <a:normAutofit/>
          </a:bodyPr>
          <a:lstStyle/>
          <a:p>
            <a:pPr algn="l" indent="0" marL="0">
              <a:lnSpc>
                <a:spcPts val="1562"/>
              </a:lnSpc>
              <a:buNone/>
            </a:pPr>
            <a:r>
              <a:rPr lang="en-US" sz="1100" dirty="0">
                <a:solidFill>
                  <a:srgbClr val="0B0748"/>
                </a:solidFill>
                <a:latin typeface="JetBrains Mono" pitchFamily="49" charset="0"/>
                <a:ea typeface="JetBrains Mono" pitchFamily="49" charset="-122"/>
                <a:cs typeface="JetBrains Mono" pitchFamily="49" charset="-120"/>
              </a:rPr>
              <a:t>kubectl get storageclass</a:t>
            </a:r>
            <a:endParaRPr lang="en-US" sz="1100" dirty="0"/>
          </a:p>
          <a:p>
            <a:pPr algn="l" indent="0" marL="0">
              <a:lnSpc>
                <a:spcPts val="1562"/>
              </a:lnSpc>
              <a:buNone/>
            </a:pPr>
            <a:r>
              <a:rPr lang="en-US" sz="1100" dirty="0">
                <a:solidFill>
                  <a:srgbClr val="0B0748"/>
                </a:solidFill>
                <a:latin typeface="JetBrains Mono" pitchFamily="49" charset="0"/>
                <a:ea typeface="JetBrains Mono" pitchFamily="49" charset="-122"/>
                <a:cs typeface="JetBrains Mono" pitchFamily="49" charset="-120"/>
              </a:rPr>
              <a:t>kubectl get pv,pvc -A</a:t>
            </a:r>
            <a:endParaRPr lang="en-US" sz="1100" dirty="0"/>
          </a:p>
          <a:p>
            <a:pPr algn="l" indent="0" marL="0">
              <a:lnSpc>
                <a:spcPts val="1562"/>
              </a:lnSpc>
              <a:buNone/>
            </a:pPr>
            <a:r>
              <a:rPr lang="en-US" sz="1100" dirty="0">
                <a:solidFill>
                  <a:srgbClr val="0B0748"/>
                </a:solidFill>
                <a:latin typeface="JetBrains Mono" pitchFamily="49" charset="0"/>
                <a:ea typeface="JetBrains Mono" pitchFamily="49" charset="-122"/>
                <a:cs typeface="JetBrains Mono" pitchFamily="49" charset="-120"/>
              </a:rPr>
              <a:t>kubectl describe pvc redis-data -n fil-rouge</a:t>
            </a:r>
            <a:endParaRPr lang="en-US" sz="1100" dirty="0"/>
          </a:p>
          <a:p>
            <a:pPr algn="l" indent="0" marL="0">
              <a:lnSpc>
                <a:spcPts val="1562"/>
              </a:lnSpc>
              <a:buNone/>
            </a:pPr>
            <a:r>
              <a:rPr lang="en-US" sz="1100" dirty="0">
                <a:solidFill>
                  <a:srgbClr val="6B6890"/>
                </a:solidFill>
                <a:latin typeface="JetBrains Mono" pitchFamily="49" charset="0"/>
                <a:ea typeface="JetBrains Mono" pitchFamily="49" charset="-122"/>
                <a:cs typeface="JetBrains Mono" pitchFamily="49" charset="-120"/>
              </a:rPr>
              <a:t># événements de liaison et de provisionnement</a:t>
            </a:r>
            <a:endParaRPr lang="en-US" sz="1100" dirty="0"/>
          </a:p>
        </p:txBody>
      </p:sp>
      <p:sp>
        <p:nvSpPr>
          <p:cNvPr id="14" name="Text 12"/>
          <p:cNvSpPr/>
          <p:nvPr/>
        </p:nvSpPr>
        <p:spPr>
          <a:xfrm>
            <a:off x="6172200" y="1544340"/>
            <a:ext cx="53632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UNE STORAGECLASS NFS, CLASSE PAR DÉFAUT</a:t>
            </a:r>
            <a:endParaRPr lang="en-US" sz="1200" dirty="0"/>
          </a:p>
        </p:txBody>
      </p:sp>
      <p:sp>
        <p:nvSpPr>
          <p:cNvPr id="15" name="Text 13"/>
          <p:cNvSpPr/>
          <p:nvPr/>
        </p:nvSpPr>
        <p:spPr>
          <a:xfrm>
            <a:off x="6172200" y="1833860"/>
            <a:ext cx="5207000" cy="2796540"/>
          </a:xfrm>
          <a:prstGeom prst="roundRect">
            <a:avLst>
              <a:gd name="adj" fmla="val 3633"/>
            </a:avLst>
          </a:prstGeom>
          <a:solidFill>
            <a:srgbClr val="0B0748"/>
          </a:solidFill>
          <a:ln/>
        </p:spPr>
        <p:txBody>
          <a:bodyPr wrap="none" lIns="148042" tIns="84542" rIns="2500" bIns="84542" rtlCol="0" anchor="ctr">
            <a:normAutofit/>
          </a:bodyPr>
          <a:lstStyle/>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apiVersion: storage.k8s.io/v1</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kind: </a:t>
            </a:r>
            <a:r>
              <a:rPr lang="en-US" sz="1100" dirty="0">
                <a:solidFill>
                  <a:srgbClr val="FFB08F"/>
                </a:solidFill>
                <a:latin typeface="JetBrains Mono" pitchFamily="49" charset="0"/>
                <a:ea typeface="JetBrains Mono" pitchFamily="49" charset="-122"/>
                <a:cs typeface="JetBrains Mono" pitchFamily="49" charset="-120"/>
              </a:rPr>
              <a:t>StorageClass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name: nfs-partage</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annotations: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storageclass.kubernetes.io/is-default-class: "true"</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provisioner: nfs.csi.k8s.io</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parameters: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server: nfs.exemple.fr</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  share: /exports/kubernetes</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reclaimPolicy: Delete</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volumeBindingMode: Immediate</a:t>
            </a:r>
            <a:endParaRPr lang="en-US" sz="1100" dirty="0"/>
          </a:p>
          <a:p>
            <a:pPr algn="l" indent="0" marL="0">
              <a:lnSpc>
                <a:spcPts val="1540"/>
              </a:lnSpc>
              <a:buNone/>
            </a:pPr>
            <a:r>
              <a:rPr lang="en-US" sz="1100" dirty="0">
                <a:solidFill>
                  <a:srgbClr val="ECEAFF"/>
                </a:solidFill>
                <a:latin typeface="JetBrains Mono" pitchFamily="49" charset="0"/>
                <a:ea typeface="JetBrains Mono" pitchFamily="49" charset="-122"/>
                <a:cs typeface="JetBrains Mono" pitchFamily="49" charset="-120"/>
              </a:rPr>
              <a:t>allowVolumeExpansion: true</a:t>
            </a:r>
            <a:endParaRPr lang="en-US" sz="1100" dirty="0"/>
          </a:p>
        </p:txBody>
      </p:sp>
      <p:pic>
        <p:nvPicPr>
          <p:cNvPr id="16"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7" name="Text 14"/>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1" descr="Parcours : module 16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LE TP12</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StorageClass, PV et PVC locaux</a:t>
            </a:r>
            <a:endParaRPr lang="en-US" sz="2800" dirty="0"/>
          </a:p>
        </p:txBody>
      </p:sp>
      <p:sp>
        <p:nvSpPr>
          <p:cNvPr id="4" name="Text 2"/>
          <p:cNvSpPr/>
          <p:nvPr/>
        </p:nvSpPr>
        <p:spPr>
          <a:xfrm>
            <a:off x="812800" y="1518940"/>
            <a:ext cx="10883392"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F3C6B"/>
                </a:solidFill>
                <a:latin typeface="IBM Plex Sans" pitchFamily="34" charset="0"/>
                <a:ea typeface="IBM Plex Sans" pitchFamily="34" charset="-122"/>
                <a:cs typeface="IBM Plex Sans" pitchFamily="34" charset="-120"/>
              </a:rPr>
              <a:t>Sans stockage réseau, le TP utilise un </a:t>
            </a:r>
            <a:r>
              <a:rPr lang="en-US" sz="1350" b="1" dirty="0">
                <a:solidFill>
                  <a:srgbClr val="3F3C6B"/>
                </a:solidFill>
                <a:latin typeface="IBM Plex Sans" pitchFamily="34" charset="0"/>
                <a:ea typeface="IBM Plex Sans" pitchFamily="34" charset="-122"/>
                <a:cs typeface="IBM Plex Sans" pitchFamily="34" charset="-120"/>
              </a:rPr>
              <a:t>volume local</a:t>
            </a:r>
            <a:r>
              <a:rPr lang="en-US" sz="1350" dirty="0">
                <a:solidFill>
                  <a:srgbClr val="3F3C6B"/>
                </a:solidFill>
                <a:latin typeface="IBM Plex Sans" pitchFamily="34" charset="0"/>
                <a:ea typeface="IBM Plex Sans" pitchFamily="34" charset="-122"/>
                <a:cs typeface="IBM Plex Sans" pitchFamily="34" charset="-120"/>
              </a:rPr>
              <a:t> : un répertoire de k8s-w1, déclaré à la main.</a:t>
            </a:r>
            <a:endParaRPr lang="en-US" sz="1350" dirty="0"/>
          </a:p>
        </p:txBody>
      </p:sp>
      <p:sp>
        <p:nvSpPr>
          <p:cNvPr id="5" name="Text 3"/>
          <p:cNvSpPr/>
          <p:nvPr/>
        </p:nvSpPr>
        <p:spPr>
          <a:xfrm>
            <a:off x="812800" y="1936750"/>
            <a:ext cx="3445933" cy="3905250"/>
          </a:xfrm>
          <a:prstGeom prst="roundRect">
            <a:avLst>
              <a:gd name="adj" fmla="val 2948"/>
            </a:avLst>
          </a:prstGeom>
          <a:solidFill>
            <a:srgbClr val="0B0748"/>
          </a:solidFill>
          <a:ln/>
        </p:spPr>
        <p:txBody>
          <a:bodyPr wrap="none" lIns="122642" tIns="71842" rIns="28408" bIns="71842" rtlCol="0" anchor="ctr">
            <a:normAutofit/>
          </a:bodyPr>
          <a:lstStyle/>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apiVersion: storage.k8s.io/v1</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kind: </a:t>
            </a:r>
            <a:r>
              <a:rPr lang="en-US" sz="1000" dirty="0">
                <a:solidFill>
                  <a:srgbClr val="FFB08F"/>
                </a:solidFill>
                <a:latin typeface="JetBrains Mono" pitchFamily="49" charset="0"/>
                <a:ea typeface="JetBrains Mono" pitchFamily="49" charset="-122"/>
                <a:cs typeface="JetBrains Mono" pitchFamily="49" charset="-120"/>
              </a:rPr>
              <a:t>StorageClass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metadata:</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name: local-storage</a:t>
            </a:r>
            <a:endParaRPr lang="en-US" sz="1000" dirty="0"/>
          </a:p>
          <a:p>
            <a:pPr algn="l" indent="0" marL="0">
              <a:lnSpc>
                <a:spcPts val="1300"/>
              </a:lnSpc>
              <a:buNone/>
            </a:pPr>
            <a:r>
              <a:rPr lang="en-US" sz="1000" dirty="0">
                <a:solidFill>
                  <a:srgbClr val="9A96D0"/>
                </a:solidFill>
                <a:latin typeface="JetBrains Mono" pitchFamily="49" charset="0"/>
                <a:ea typeface="JetBrains Mono" pitchFamily="49" charset="-122"/>
                <a:cs typeface="JetBrains Mono" pitchFamily="49" charset="-120"/>
              </a:rPr>
              <a:t># pas de création automatique :</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provisioner: kubernetes.io/no-provisioner</a:t>
            </a:r>
            <a:endParaRPr lang="en-US" sz="1000" dirty="0"/>
          </a:p>
          <a:p>
            <a:pPr algn="l" indent="0" marL="0">
              <a:lnSpc>
                <a:spcPts val="1300"/>
              </a:lnSpc>
              <a:buNone/>
            </a:pPr>
            <a:r>
              <a:rPr lang="en-US" sz="1000" dirty="0">
                <a:solidFill>
                  <a:srgbClr val="FFB08F"/>
                </a:solidFill>
                <a:latin typeface="JetBrains Mono" pitchFamily="49" charset="0"/>
                <a:ea typeface="JetBrains Mono" pitchFamily="49" charset="-122"/>
                <a:cs typeface="JetBrains Mono" pitchFamily="49" charset="-120"/>
              </a:rPr>
              <a:t>volumeBindingMode: WaitForFirstConsumer</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a:t>
            </a:r>
            <a:endParaRPr lang="en-US" sz="1000" dirty="0"/>
          </a:p>
        </p:txBody>
      </p:sp>
      <p:sp>
        <p:nvSpPr>
          <p:cNvPr id="6" name="Text 4"/>
          <p:cNvSpPr/>
          <p:nvPr/>
        </p:nvSpPr>
        <p:spPr>
          <a:xfrm>
            <a:off x="4373033" y="1936750"/>
            <a:ext cx="3445933" cy="3905250"/>
          </a:xfrm>
          <a:prstGeom prst="roundRect">
            <a:avLst>
              <a:gd name="adj" fmla="val 2948"/>
            </a:avLst>
          </a:prstGeom>
          <a:solidFill>
            <a:srgbClr val="0B0748"/>
          </a:solidFill>
          <a:ln/>
        </p:spPr>
        <p:txBody>
          <a:bodyPr wrap="none" lIns="122642" tIns="71842" rIns="28408" bIns="71842" rtlCol="0" anchor="ctr">
            <a:normAutofit/>
          </a:bodyPr>
          <a:lstStyle/>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apiVersion: v1</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kind: </a:t>
            </a:r>
            <a:r>
              <a:rPr lang="en-US" sz="1000" dirty="0">
                <a:solidFill>
                  <a:srgbClr val="FFB08F"/>
                </a:solidFill>
                <a:latin typeface="JetBrains Mono" pitchFamily="49" charset="0"/>
                <a:ea typeface="JetBrains Mono" pitchFamily="49" charset="-122"/>
                <a:cs typeface="JetBrains Mono" pitchFamily="49" charset="-120"/>
              </a:rPr>
              <a:t>PersistentVolume</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metadata:</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name: redis-pv</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spec:</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capacity:</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storage: 1Gi</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accessModes: ["ReadWriteOnce"]</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persistentVolumeReclaimPolicy: Retain</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storageClassName: local-storage</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local:</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a:t>
            </a:r>
            <a:r>
              <a:rPr lang="en-US" sz="1000" dirty="0">
                <a:solidFill>
                  <a:srgbClr val="FFB08F"/>
                </a:solidFill>
                <a:latin typeface="JetBrains Mono" pitchFamily="49" charset="0"/>
                <a:ea typeface="JetBrains Mono" pitchFamily="49" charset="-122"/>
                <a:cs typeface="JetBrains Mono" pitchFamily="49" charset="-120"/>
              </a:rPr>
              <a:t>path: /mnt/data/redis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nodeAffinity:</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required:</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nodeSelectorTerms: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 matchExpressions: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 key: kubernetes.io/hostname</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operator: In</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a:t>
            </a:r>
            <a:r>
              <a:rPr lang="en-US" sz="1000" dirty="0">
                <a:solidFill>
                  <a:srgbClr val="FFB08F"/>
                </a:solidFill>
                <a:latin typeface="JetBrains Mono" pitchFamily="49" charset="0"/>
                <a:ea typeface="JetBrains Mono" pitchFamily="49" charset="-122"/>
                <a:cs typeface="JetBrains Mono" pitchFamily="49" charset="-120"/>
              </a:rPr>
              <a:t>values: ["k8s-w1"]</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a:t>
            </a:r>
            <a:endParaRPr lang="en-US" sz="1000" dirty="0"/>
          </a:p>
        </p:txBody>
      </p:sp>
      <p:sp>
        <p:nvSpPr>
          <p:cNvPr id="7" name="Text 5"/>
          <p:cNvSpPr/>
          <p:nvPr/>
        </p:nvSpPr>
        <p:spPr>
          <a:xfrm>
            <a:off x="7933267" y="1936750"/>
            <a:ext cx="3445933" cy="3905250"/>
          </a:xfrm>
          <a:prstGeom prst="roundRect">
            <a:avLst>
              <a:gd name="adj" fmla="val 2948"/>
            </a:avLst>
          </a:prstGeom>
          <a:solidFill>
            <a:srgbClr val="0B0748"/>
          </a:solidFill>
          <a:ln/>
        </p:spPr>
        <p:txBody>
          <a:bodyPr wrap="none" lIns="122642" tIns="71842" rIns="28408" bIns="71842" rtlCol="0" anchor="ctr">
            <a:normAutofit/>
          </a:bodyPr>
          <a:lstStyle/>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apiVersion: v1</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kind: </a:t>
            </a:r>
            <a:r>
              <a:rPr lang="en-US" sz="1000" dirty="0">
                <a:solidFill>
                  <a:srgbClr val="FFB08F"/>
                </a:solidFill>
                <a:latin typeface="JetBrains Mono" pitchFamily="49" charset="0"/>
                <a:ea typeface="JetBrains Mono" pitchFamily="49" charset="-122"/>
                <a:cs typeface="JetBrains Mono" pitchFamily="49" charset="-120"/>
              </a:rPr>
              <a:t>PersistentVolumeClaim</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metadata:</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name: redis-data</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namespace: fil-rouge</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spec:</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storageClassName: local-storage</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accessModes: ["ReadWriteOnce"]</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resources: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requests: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storage: 1Gi</a:t>
            </a:r>
            <a:endParaRPr lang="en-US" sz="1000" dirty="0"/>
          </a:p>
        </p:txBody>
      </p:sp>
      <p:pic>
        <p:nvPicPr>
          <p:cNvPr id="8"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9" name="Text 6"/>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0" name="Image 1" descr="Parcours : module 16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LE TP12</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Redis sur un volume local</a:t>
            </a:r>
            <a:endParaRPr lang="en-US" sz="2800" dirty="0"/>
          </a:p>
        </p:txBody>
      </p:sp>
      <p:sp>
        <p:nvSpPr>
          <p:cNvPr id="4" name="Shape 2"/>
          <p:cNvSpPr/>
          <p:nvPr/>
        </p:nvSpPr>
        <p:spPr>
          <a:xfrm>
            <a:off x="819150" y="1576090"/>
            <a:ext cx="3543300" cy="4259580"/>
          </a:xfrm>
          <a:prstGeom prst="roundRect">
            <a:avLst>
              <a:gd name="adj" fmla="val 4122"/>
            </a:avLst>
          </a:prstGeom>
          <a:solidFill>
            <a:srgbClr val="FDFDFF"/>
          </a:solidFill>
          <a:ln w="12700">
            <a:solidFill>
              <a:srgbClr val="0B0748"/>
            </a:solidFill>
            <a:prstDash val="solid"/>
          </a:ln>
        </p:spPr>
      </p:sp>
      <p:sp>
        <p:nvSpPr>
          <p:cNvPr id="5" name="Text 3"/>
          <p:cNvSpPr/>
          <p:nvPr/>
        </p:nvSpPr>
        <p:spPr>
          <a:xfrm>
            <a:off x="997691" y="1807666"/>
            <a:ext cx="532130" cy="203200"/>
          </a:xfrm>
          <a:prstGeom prst="rect">
            <a:avLst/>
          </a:prstGeom>
          <a:noFill/>
          <a:ln/>
        </p:spPr>
        <p:txBody>
          <a:bodyPr wrap="square" lIns="0" tIns="0" rIns="0" bIns="0" rtlCol="0" anchor="t">
            <a:normAutofit/>
          </a:bodyPr>
          <a:lstStyle/>
          <a:p>
            <a:pPr algn="l" indent="0" marL="0">
              <a:lnSpc>
                <a:spcPts val="1400"/>
              </a:lnSpc>
              <a:buNone/>
            </a:pPr>
            <a:r>
              <a:rPr lang="en-US" sz="1000" b="1" spc="100" kern="0" dirty="0">
                <a:solidFill>
                  <a:srgbClr val="6B6890"/>
                </a:solidFill>
                <a:latin typeface="IBM Plex Sans" pitchFamily="34" charset="0"/>
                <a:ea typeface="IBM Plex Sans" pitchFamily="34" charset="-122"/>
                <a:cs typeface="IBM Plex Sans" pitchFamily="34" charset="-120"/>
              </a:rPr>
              <a:t>NŒUD</a:t>
            </a:r>
            <a:endParaRPr lang="en-US" sz="1000" dirty="0"/>
          </a:p>
        </p:txBody>
      </p:sp>
      <p:sp>
        <p:nvSpPr>
          <p:cNvPr id="6" name="Text 4"/>
          <p:cNvSpPr/>
          <p:nvPr/>
        </p:nvSpPr>
        <p:spPr>
          <a:xfrm>
            <a:off x="1530032" y="1741785"/>
            <a:ext cx="8229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JetBrains Mono" pitchFamily="49" charset="0"/>
                <a:ea typeface="JetBrains Mono" pitchFamily="49" charset="-122"/>
                <a:cs typeface="JetBrains Mono" pitchFamily="49" charset="-120"/>
              </a:rPr>
              <a:t>k8s-w1</a:t>
            </a:r>
            <a:endParaRPr lang="en-US" sz="1500" dirty="0"/>
          </a:p>
        </p:txBody>
      </p:sp>
      <p:sp>
        <p:nvSpPr>
          <p:cNvPr id="7" name="Shape 5"/>
          <p:cNvSpPr/>
          <p:nvPr/>
        </p:nvSpPr>
        <p:spPr>
          <a:xfrm>
            <a:off x="997691" y="2110284"/>
            <a:ext cx="3186218" cy="657860"/>
          </a:xfrm>
          <a:prstGeom prst="roundRect">
            <a:avLst>
              <a:gd name="adj" fmla="val 15444"/>
            </a:avLst>
          </a:prstGeom>
          <a:solidFill>
            <a:srgbClr val="0B0748"/>
          </a:solidFill>
          <a:ln/>
        </p:spPr>
      </p:sp>
      <p:sp>
        <p:nvSpPr>
          <p:cNvPr id="8" name="Text 6"/>
          <p:cNvSpPr/>
          <p:nvPr/>
        </p:nvSpPr>
        <p:spPr>
          <a:xfrm>
            <a:off x="1137391" y="2224584"/>
            <a:ext cx="299402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4F9"/>
                </a:solidFill>
                <a:latin typeface="JetBrains Mono" pitchFamily="49" charset="0"/>
                <a:ea typeface="JetBrains Mono" pitchFamily="49" charset="-122"/>
                <a:cs typeface="JetBrains Mono" pitchFamily="49" charset="-120"/>
              </a:rPr>
              <a:t>pod Redis</a:t>
            </a:r>
            <a:endParaRPr lang="en-US" sz="1200" dirty="0"/>
          </a:p>
        </p:txBody>
      </p:sp>
      <p:sp>
        <p:nvSpPr>
          <p:cNvPr id="9" name="Text 7"/>
          <p:cNvSpPr/>
          <p:nvPr/>
        </p:nvSpPr>
        <p:spPr>
          <a:xfrm>
            <a:off x="1137391" y="2476103"/>
            <a:ext cx="2994023"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FFB08F"/>
                </a:solidFill>
                <a:latin typeface="JetBrains Mono" pitchFamily="49" charset="0"/>
                <a:ea typeface="JetBrains Mono" pitchFamily="49" charset="-122"/>
                <a:cs typeface="JetBrains Mono" pitchFamily="49" charset="-120"/>
              </a:rPr>
              <a:t>--appendonly yes · /data</a:t>
            </a:r>
            <a:endParaRPr lang="en-US" sz="1000" dirty="0"/>
          </a:p>
        </p:txBody>
      </p:sp>
      <p:pic>
        <p:nvPicPr>
          <p:cNvPr id="10" name="Image 0" descr="arrow-down">    </p:cNvPr>
          <p:cNvPicPr>
            <a:picLocks noChangeAspect="1"/>
          </p:cNvPicPr>
          <p:nvPr/>
        </p:nvPicPr>
        <p:blipFill>
          <a:blip r:embed="rId1"/>
          <a:srcRect l="0" r="0" t="0" b="0"/>
          <a:stretch/>
        </p:blipFill>
        <p:spPr>
          <a:xfrm>
            <a:off x="2520950" y="2869803"/>
            <a:ext cx="139700" cy="203200"/>
          </a:xfrm>
          <a:prstGeom prst="rect">
            <a:avLst/>
          </a:prstGeom>
        </p:spPr>
      </p:pic>
      <p:sp>
        <p:nvSpPr>
          <p:cNvPr id="11" name="Shape 8"/>
          <p:cNvSpPr/>
          <p:nvPr/>
        </p:nvSpPr>
        <p:spPr>
          <a:xfrm>
            <a:off x="1004041" y="3180953"/>
            <a:ext cx="3173518" cy="621242"/>
          </a:xfrm>
          <a:prstGeom prst="roundRect">
            <a:avLst>
              <a:gd name="adj" fmla="val 15332"/>
            </a:avLst>
          </a:prstGeom>
          <a:noFill/>
          <a:ln w="12700">
            <a:solidFill>
              <a:srgbClr val="E25A2C"/>
            </a:solidFill>
            <a:prstDash val="dash"/>
          </a:ln>
        </p:spPr>
      </p:sp>
      <p:sp>
        <p:nvSpPr>
          <p:cNvPr id="12" name="Text 9"/>
          <p:cNvSpPr/>
          <p:nvPr/>
        </p:nvSpPr>
        <p:spPr>
          <a:xfrm>
            <a:off x="1144482" y="3283148"/>
            <a:ext cx="297941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JetBrains Mono" pitchFamily="49" charset="0"/>
                <a:ea typeface="JetBrains Mono" pitchFamily="49" charset="-122"/>
                <a:cs typeface="JetBrains Mono" pitchFamily="49" charset="-120"/>
              </a:rPr>
              <a:t>/mnt/data/redis</a:t>
            </a:r>
            <a:endParaRPr lang="en-US" sz="1200" dirty="0"/>
          </a:p>
        </p:txBody>
      </p:sp>
      <p:sp>
        <p:nvSpPr>
          <p:cNvPr id="13" name="Text 10"/>
          <p:cNvSpPr/>
          <p:nvPr/>
        </p:nvSpPr>
        <p:spPr>
          <a:xfrm>
            <a:off x="1144482" y="3521968"/>
            <a:ext cx="2979416"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6890"/>
                </a:solidFill>
                <a:latin typeface="IBM Plex Sans" pitchFamily="34" charset="0"/>
                <a:ea typeface="IBM Plex Sans" pitchFamily="34" charset="-122"/>
                <a:cs typeface="IBM Plex Sans" pitchFamily="34" charset="-120"/>
              </a:rPr>
              <a:t>le PV redis-pv, 1 Gi</a:t>
            </a:r>
            <a:endParaRPr lang="en-US" sz="1000" dirty="0"/>
          </a:p>
        </p:txBody>
      </p:sp>
      <p:sp>
        <p:nvSpPr>
          <p:cNvPr id="14" name="Shape 11"/>
          <p:cNvSpPr/>
          <p:nvPr/>
        </p:nvSpPr>
        <p:spPr>
          <a:xfrm>
            <a:off x="4660900" y="1569740"/>
            <a:ext cx="0" cy="591820"/>
          </a:xfrm>
          <a:prstGeom prst="line">
            <a:avLst/>
          </a:prstGeom>
          <a:noFill/>
          <a:ln w="25400">
            <a:solidFill>
              <a:srgbClr val="E25A2C"/>
            </a:solidFill>
            <a:prstDash val="solid"/>
          </a:ln>
        </p:spPr>
      </p:sp>
      <p:sp>
        <p:nvSpPr>
          <p:cNvPr id="15" name="Text 12"/>
          <p:cNvSpPr/>
          <p:nvPr/>
        </p:nvSpPr>
        <p:spPr>
          <a:xfrm>
            <a:off x="4809172" y="1595140"/>
            <a:ext cx="676712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Une affinité de nœud</a:t>
            </a:r>
            <a:endParaRPr lang="en-US" sz="1600" dirty="0"/>
          </a:p>
        </p:txBody>
      </p:sp>
      <p:sp>
        <p:nvSpPr>
          <p:cNvPr id="16" name="Text 13"/>
          <p:cNvSpPr/>
          <p:nvPr/>
        </p:nvSpPr>
        <p:spPr>
          <a:xfrm>
            <a:off x="4809172" y="1887240"/>
            <a:ext cx="676712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Le PV porte une affinité : tout pod qui l'utilise sera placé sur k8s-w1.</a:t>
            </a:r>
            <a:endParaRPr lang="en-US" sz="1400" dirty="0"/>
          </a:p>
        </p:txBody>
      </p:sp>
      <p:sp>
        <p:nvSpPr>
          <p:cNvPr id="17" name="Shape 14"/>
          <p:cNvSpPr/>
          <p:nvPr/>
        </p:nvSpPr>
        <p:spPr>
          <a:xfrm>
            <a:off x="4660900" y="2352080"/>
            <a:ext cx="0" cy="840740"/>
          </a:xfrm>
          <a:prstGeom prst="line">
            <a:avLst/>
          </a:prstGeom>
          <a:noFill/>
          <a:ln w="25400">
            <a:solidFill>
              <a:srgbClr val="E25A2C"/>
            </a:solidFill>
            <a:prstDash val="solid"/>
          </a:ln>
        </p:spPr>
      </p:sp>
      <p:sp>
        <p:nvSpPr>
          <p:cNvPr id="18" name="Text 15"/>
          <p:cNvSpPr/>
          <p:nvPr/>
        </p:nvSpPr>
        <p:spPr>
          <a:xfrm>
            <a:off x="4809172" y="2377480"/>
            <a:ext cx="676712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Redis persistant</a:t>
            </a:r>
            <a:endParaRPr lang="en-US" sz="1600" dirty="0"/>
          </a:p>
        </p:txBody>
      </p:sp>
      <p:sp>
        <p:nvSpPr>
          <p:cNvPr id="19" name="Text 16"/>
          <p:cNvSpPr/>
          <p:nvPr/>
        </p:nvSpPr>
        <p:spPr>
          <a:xfrm>
            <a:off x="4809172" y="2669580"/>
            <a:ext cx="676712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Le Deployment monte le PVC sur /data et active la persistance de Redis (--appendonly yes).</a:t>
            </a:r>
            <a:endParaRPr lang="en-US" sz="1400" dirty="0"/>
          </a:p>
        </p:txBody>
      </p:sp>
      <p:sp>
        <p:nvSpPr>
          <p:cNvPr id="20" name="Shape 17"/>
          <p:cNvSpPr/>
          <p:nvPr/>
        </p:nvSpPr>
        <p:spPr>
          <a:xfrm>
            <a:off x="4660900" y="3383260"/>
            <a:ext cx="0" cy="591820"/>
          </a:xfrm>
          <a:prstGeom prst="line">
            <a:avLst/>
          </a:prstGeom>
          <a:noFill/>
          <a:ln w="25400">
            <a:solidFill>
              <a:srgbClr val="E25A2C"/>
            </a:solidFill>
            <a:prstDash val="solid"/>
          </a:ln>
        </p:spPr>
      </p:sp>
      <p:sp>
        <p:nvSpPr>
          <p:cNvPr id="21" name="Text 18"/>
          <p:cNvSpPr/>
          <p:nvPr/>
        </p:nvSpPr>
        <p:spPr>
          <a:xfrm>
            <a:off x="4809172" y="3408660"/>
            <a:ext cx="676712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Stratégie Recreate</a:t>
            </a:r>
            <a:endParaRPr lang="en-US" sz="1600" dirty="0"/>
          </a:p>
        </p:txBody>
      </p:sp>
      <p:sp>
        <p:nvSpPr>
          <p:cNvPr id="22" name="Text 19"/>
          <p:cNvSpPr/>
          <p:nvPr/>
        </p:nvSpPr>
        <p:spPr>
          <a:xfrm>
            <a:off x="4809172" y="3700760"/>
            <a:ext cx="676712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Deux instances Redis ne doivent jamais écrire les mêmes fichiers en même temps.</a:t>
            </a:r>
            <a:endParaRPr lang="en-US" sz="1400" dirty="0"/>
          </a:p>
        </p:txBody>
      </p:sp>
      <p:sp>
        <p:nvSpPr>
          <p:cNvPr id="23" name="Shape 20"/>
          <p:cNvSpPr/>
          <p:nvPr/>
        </p:nvSpPr>
        <p:spPr>
          <a:xfrm>
            <a:off x="4648200" y="4869160"/>
            <a:ext cx="6731000" cy="972820"/>
          </a:xfrm>
          <a:prstGeom prst="roundRect">
            <a:avLst>
              <a:gd name="adj" fmla="val 11749"/>
            </a:avLst>
          </a:prstGeom>
          <a:solidFill>
            <a:srgbClr val="FCE6DC"/>
          </a:solidFill>
          <a:ln/>
        </p:spPr>
      </p:sp>
      <p:pic>
        <p:nvPicPr>
          <p:cNvPr id="24" name="Image 1" descr="Warning">    </p:cNvPr>
          <p:cNvPicPr>
            <a:picLocks noChangeAspect="1"/>
          </p:cNvPicPr>
          <p:nvPr/>
        </p:nvPicPr>
        <p:blipFill>
          <a:blip r:embed="rId2"/>
          <a:srcRect l="0" r="0" t="0" b="0"/>
          <a:stretch/>
        </p:blipFill>
        <p:spPr>
          <a:xfrm>
            <a:off x="4813300" y="5008860"/>
            <a:ext cx="228600" cy="228600"/>
          </a:xfrm>
          <a:prstGeom prst="rect">
            <a:avLst/>
          </a:prstGeom>
        </p:spPr>
      </p:pic>
      <p:sp>
        <p:nvSpPr>
          <p:cNvPr id="25" name="Text 21"/>
          <p:cNvSpPr/>
          <p:nvPr/>
        </p:nvSpPr>
        <p:spPr>
          <a:xfrm>
            <a:off x="5143500" y="5008860"/>
            <a:ext cx="6252718"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0748"/>
                </a:solidFill>
                <a:latin typeface="IBM Plex Sans" pitchFamily="34" charset="0"/>
                <a:ea typeface="IBM Plex Sans" pitchFamily="34" charset="-122"/>
                <a:cs typeface="IBM Plex Sans" pitchFamily="34" charset="-120"/>
              </a:rPr>
              <a:t>Limite :</a:t>
            </a:r>
            <a:r>
              <a:rPr lang="en-US" sz="1300" dirty="0">
                <a:solidFill>
                  <a:srgbClr val="0B0748"/>
                </a:solidFill>
                <a:latin typeface="IBM Plex Sans" pitchFamily="34" charset="0"/>
                <a:ea typeface="IBM Plex Sans" pitchFamily="34" charset="-122"/>
                <a:cs typeface="IBM Plex Sans" pitchFamily="34" charset="-120"/>
              </a:rPr>
              <a:t> si k8s-w1 tombe, Redis ne peut redémarrer nulle part. Un volume local convient aux tests, ou aux bases qui répliquent elles-mêmes leurs données ; en production, on préfère un stockage réseau.</a:t>
            </a:r>
            <a:endParaRPr lang="en-US" sz="1300" dirty="0"/>
          </a:p>
        </p:txBody>
      </p:sp>
      <p:pic>
        <p:nvPicPr>
          <p:cNvPr id="26" name="Image 2" descr="preencoded.png">    </p:cNvPr>
          <p:cNvPicPr>
            <a:picLocks noChangeAspect="1"/>
          </p:cNvPicPr>
          <p:nvPr/>
        </p:nvPicPr>
        <p:blipFill>
          <a:blip r:embed="rId3"/>
          <a:srcRect l="0" r="0" t="-35" b="-35"/>
          <a:stretch/>
        </p:blipFill>
        <p:spPr>
          <a:xfrm>
            <a:off x="812800" y="6299200"/>
            <a:ext cx="152400" cy="152506"/>
          </a:xfrm>
          <a:prstGeom prst="rect">
            <a:avLst/>
          </a:prstGeom>
        </p:spPr>
      </p:pic>
      <p:sp>
        <p:nvSpPr>
          <p:cNvPr id="27" name="Text 22"/>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8" name="Image 3" descr="Parcours : module 16 sur 16">    </p:cNvPr>
          <p:cNvPicPr>
            <a:picLocks noChangeAspect="1"/>
          </p:cNvPicPr>
          <p:nvPr/>
        </p:nvPicPr>
        <p:blipFill>
          <a:blip r:embed="rId4"/>
          <a:srcRect l="0" r="0" t="-35" b="-35"/>
          <a:stretch/>
        </p:blipFill>
        <p:spPr>
          <a:xfrm>
            <a:off x="9207500" y="6299200"/>
            <a:ext cx="2171700" cy="152506"/>
          </a:xfrm>
          <a:prstGeom prst="rect">
            <a:avLst/>
          </a:prstGeom>
        </p:spPr>
      </p:pic>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VOLUMES ET DONNÉES PERSISTANTES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StatefulSet</a:t>
            </a:r>
            <a:endParaRPr lang="en-US" sz="2800" dirty="0"/>
          </a:p>
        </p:txBody>
      </p:sp>
      <p:sp>
        <p:nvSpPr>
          <p:cNvPr id="4" name="Text 2"/>
          <p:cNvSpPr/>
          <p:nvPr/>
        </p:nvSpPr>
        <p:spPr>
          <a:xfrm>
            <a:off x="812800" y="15316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Un Deployment traite ses pods comme interchangeables. Une base de données a besoin de plus :</a:t>
            </a:r>
            <a:endParaRPr lang="en-US" sz="1400" dirty="0"/>
          </a:p>
        </p:txBody>
      </p:sp>
      <p:sp>
        <p:nvSpPr>
          <p:cNvPr id="5" name="Shape 3"/>
          <p:cNvSpPr/>
          <p:nvPr/>
        </p:nvSpPr>
        <p:spPr>
          <a:xfrm>
            <a:off x="812800" y="1971080"/>
            <a:ext cx="7607300" cy="2469515"/>
          </a:xfrm>
          <a:prstGeom prst="rect">
            <a:avLst/>
          </a:prstGeom>
          <a:solidFill>
            <a:srgbClr val="FDFD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9891" y="1978171"/>
          <a:ext cx="7600209" cy="2462742"/>
        </p:xfrm>
        <a:graphic>
          <a:graphicData uri="http://schemas.openxmlformats.org/drawingml/2006/table">
            <a:tbl>
              <a:tblPr/>
              <a:tblGrid>
                <a:gridCol w="1976054"/>
                <a:gridCol w="2280063"/>
                <a:gridCol w="3344092"/>
              </a:tblGrid>
              <a:tr h="353801">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Garantie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Deployment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c>
                  <a:txBody>
                    <a:bodyPr/>
                    <a:lstStyle/>
                    <a:p>
                      <a:pPr indent="0" marL="0">
                        <a:lnSpc>
                          <a:spcPts val="1820"/>
                        </a:lnSpc>
                        <a:buNone/>
                      </a:pPr>
                      <a:r>
                        <a:rPr lang="en-US" sz="1300" b="1" dirty="0">
                          <a:solidFill>
                            <a:srgbClr val="F5F4F9"/>
                          </a:solidFill>
                          <a:latin typeface="IBM Plex Sans" pitchFamily="34" charset="0"/>
                          <a:ea typeface="IBM Plex Sans" pitchFamily="34" charset="-122"/>
                          <a:cs typeface="IBM Plex Sans" pitchFamily="34" charset="-120"/>
                        </a:rPr>
                        <a:t>StatefulSet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0A3C"/>
                      </a:solidFill>
                      <a:prstDash val="solid"/>
                      <a:round/>
                      <a:headEnd type="none" w="med" len="med"/>
                      <a:tailEnd type="none" w="med" len="med"/>
                    </a:lnL>
                    <a:lnR w="12700" cap="flat" cmpd="sng" algn="ctr">
                      <a:solidFill>
                        <a:srgbClr val="0D0A3C"/>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0D0A3C"/>
                      </a:solidFill>
                      <a:prstDash val="solid"/>
                      <a:round/>
                      <a:headEnd type="none" w="med" len="med"/>
                      <a:tailEnd type="none" w="med" len="med"/>
                    </a:lnB>
                    <a:solidFill>
                      <a:srgbClr val="0B0748"/>
                    </a:solidFill>
                  </a:tcPr>
                </a:tc>
              </a:tr>
              <a:tr h="585047">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Nom des pods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Aléatoire (redis-6c9f8-x2x7k)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Stable et ordonné (redis-0, redis-1)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0D0A3C"/>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353801">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Nom DNS par pod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Non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Oui, via un Service headless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r h="585047">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Volume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Partagé par tous les pods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Un PVC par pod, créé depuis volumeClaimTemplates, qui suit le pod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ACACB"/>
                      </a:solidFill>
                      <a:prstDash val="solid"/>
                      <a:round/>
                      <a:headEnd type="none" w="med" len="med"/>
                      <a:tailEnd type="none" w="med" len="med"/>
                    </a:lnR>
                    <a:lnT w="12700" cap="flat" cmpd="sng" algn="ctr">
                      <a:solidFill>
                        <a:srgbClr val="C0BFC5"/>
                      </a:solidFill>
                      <a:prstDash val="solid"/>
                      <a:round/>
                      <a:headEnd type="none" w="med" len="med"/>
                      <a:tailEnd type="none" w="med" len="med"/>
                    </a:lnT>
                    <a:lnB w="12700" cap="flat" cmpd="sng" algn="ctr">
                      <a:solidFill>
                        <a:srgbClr val="CACACB"/>
                      </a:solidFill>
                      <a:prstDash val="solid"/>
                      <a:round/>
                      <a:headEnd type="none" w="med" len="med"/>
                      <a:tailEnd type="none" w="med" len="med"/>
                    </a:lnB>
                  </a:tcPr>
                </a:tc>
              </a:tr>
              <a:tr h="585047">
                <a:tc>
                  <a:txBody>
                    <a:bodyPr/>
                    <a:lstStyle/>
                    <a:p>
                      <a:pPr indent="0" marL="0">
                        <a:lnSpc>
                          <a:spcPts val="1820"/>
                        </a:lnSpc>
                        <a:buNone/>
                      </a:pPr>
                      <a:r>
                        <a:rPr lang="en-US" sz="1300" dirty="0">
                          <a:solidFill>
                            <a:srgbClr val="0B0748"/>
                          </a:solidFill>
                          <a:latin typeface="IBM Plex Sans" pitchFamily="34" charset="0"/>
                          <a:ea typeface="IBM Plex Sans" pitchFamily="34" charset="-122"/>
                          <a:cs typeface="IBM Plex Sans" pitchFamily="34" charset="-120"/>
                        </a:rPr>
                        <a:t>Ordre de démarrage et d'arrêt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B"/>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Aucun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c>
                  <a:txBody>
                    <a:bodyPr/>
                    <a:lstStyle/>
                    <a:p>
                      <a:pPr indent="0" marL="0">
                        <a:lnSpc>
                          <a:spcPts val="1820"/>
                        </a:lnSpc>
                        <a:buNone/>
                      </a:pPr>
                      <a:r>
                        <a:rPr lang="en-US" sz="1300" dirty="0">
                          <a:solidFill>
                            <a:srgbClr val="3F3C6B"/>
                          </a:solidFill>
                          <a:latin typeface="IBM Plex Sans" pitchFamily="34" charset="0"/>
                          <a:ea typeface="IBM Plex Sans" pitchFamily="34" charset="-122"/>
                          <a:cs typeface="IBM Plex Sans" pitchFamily="34" charset="-120"/>
                        </a:rPr>
                        <a:t>-0, puis -1… ; arrêt en ordre inverse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C5"/>
                      </a:solidFill>
                      <a:prstDash val="solid"/>
                      <a:round/>
                      <a:headEnd type="none" w="med" len="med"/>
                      <a:tailEnd type="none" w="med" len="med"/>
                    </a:lnL>
                    <a:lnR w="12700" cap="flat" cmpd="sng" algn="ctr">
                      <a:solidFill>
                        <a:srgbClr val="C0BFC5"/>
                      </a:solidFill>
                      <a:prstDash val="solid"/>
                      <a:round/>
                      <a:headEnd type="none" w="med" len="med"/>
                      <a:tailEnd type="none" w="med" len="med"/>
                    </a:lnR>
                    <a:lnT w="12700" cap="flat" cmpd="sng" algn="ctr">
                      <a:solidFill>
                        <a:srgbClr val="CACACB"/>
                      </a:solidFill>
                      <a:prstDash val="solid"/>
                      <a:round/>
                      <a:headEnd type="none" w="med" len="med"/>
                      <a:tailEnd type="none" w="med" len="med"/>
                    </a:lnT>
                    <a:lnB w="12700" cap="flat" cmpd="sng" algn="ctr">
                      <a:solidFill>
                        <a:srgbClr val="C0BFC5"/>
                      </a:solidFill>
                      <a:prstDash val="solid"/>
                      <a:round/>
                      <a:headEnd type="none" w="med" len="med"/>
                      <a:tailEnd type="none" w="med" len="med"/>
                    </a:lnB>
                    <a:solidFill>
                      <a:srgbClr val="F0EFF7"/>
                    </a:solidFill>
                  </a:tcPr>
                </a:tc>
              </a:tr>
            </a:tbl>
          </a:graphicData>
        </a:graphic>
      </p:graphicFrame>
      <p:sp>
        <p:nvSpPr>
          <p:cNvPr id="7" name="Text 4"/>
          <p:cNvSpPr/>
          <p:nvPr/>
        </p:nvSpPr>
        <p:spPr>
          <a:xfrm>
            <a:off x="8648700" y="1971080"/>
            <a:ext cx="2812415"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UN VOLUME PAR RÉPLICA</a:t>
            </a:r>
            <a:endParaRPr lang="en-US" sz="1100" dirty="0"/>
          </a:p>
        </p:txBody>
      </p:sp>
      <p:sp>
        <p:nvSpPr>
          <p:cNvPr id="8" name="Text 5"/>
          <p:cNvSpPr/>
          <p:nvPr/>
        </p:nvSpPr>
        <p:spPr>
          <a:xfrm>
            <a:off x="8648700" y="2255540"/>
            <a:ext cx="1308100" cy="408940"/>
          </a:xfrm>
          <a:prstGeom prst="roundRect">
            <a:avLst>
              <a:gd name="adj" fmla="val 21739"/>
            </a:avLst>
          </a:prstGeom>
          <a:solidFill>
            <a:srgbClr val="0B0748"/>
          </a:solidFill>
          <a:ln/>
        </p:spPr>
        <p:txBody>
          <a:bodyPr wrap="square" lIns="62862" tIns="62862" rIns="62862" bIns="37462" rtlCol="0" anchor="t">
            <a:normAutofit/>
          </a:bodyPr>
          <a:lstStyle/>
          <a:p>
            <a:pPr algn="ctr" indent="0" marL="0">
              <a:lnSpc>
                <a:spcPts val="1820"/>
              </a:lnSpc>
              <a:buNone/>
            </a:pPr>
            <a:r>
              <a:rPr lang="en-US" sz="1300" b="1" dirty="0">
                <a:solidFill>
                  <a:srgbClr val="F5F4F9"/>
                </a:solidFill>
                <a:latin typeface="JetBrains Mono" pitchFamily="49" charset="0"/>
                <a:ea typeface="JetBrains Mono" pitchFamily="49" charset="-122"/>
                <a:cs typeface="JetBrains Mono" pitchFamily="49" charset="-120"/>
              </a:rPr>
              <a:t>redis-0</a:t>
            </a:r>
            <a:endParaRPr lang="en-US" sz="1300" dirty="0"/>
          </a:p>
        </p:txBody>
      </p:sp>
      <p:pic>
        <p:nvPicPr>
          <p:cNvPr id="9" name="Image 0" descr="arrow-down">    </p:cNvPr>
          <p:cNvPicPr>
            <a:picLocks noChangeAspect="1"/>
          </p:cNvPicPr>
          <p:nvPr/>
        </p:nvPicPr>
        <p:blipFill>
          <a:blip r:embed="rId1"/>
          <a:srcRect l="0" r="0" t="-35" b="-35"/>
          <a:stretch/>
        </p:blipFill>
        <p:spPr>
          <a:xfrm>
            <a:off x="9245600" y="2727920"/>
            <a:ext cx="114300" cy="152506"/>
          </a:xfrm>
          <a:prstGeom prst="rect">
            <a:avLst/>
          </a:prstGeom>
        </p:spPr>
      </p:pic>
      <p:sp>
        <p:nvSpPr>
          <p:cNvPr id="10" name="Text 6"/>
          <p:cNvSpPr/>
          <p:nvPr/>
        </p:nvSpPr>
        <p:spPr>
          <a:xfrm>
            <a:off x="8655050" y="2950170"/>
            <a:ext cx="1295400" cy="349462"/>
          </a:xfrm>
          <a:prstGeom prst="roundRect">
            <a:avLst>
              <a:gd name="adj" fmla="val 23622"/>
            </a:avLst>
          </a:prstGeom>
          <a:noFill/>
          <a:ln w="12700">
            <a:solidFill>
              <a:srgbClr val="E25A2C"/>
            </a:solidFill>
            <a:prstDash val="dash"/>
          </a:ln>
        </p:spPr>
        <p:txBody>
          <a:bodyPr wrap="square" lIns="65463" tIns="52763" rIns="65463" bIns="27363" rtlCol="0" anchor="t">
            <a:normAutofit/>
          </a:bodyPr>
          <a:lstStyle/>
          <a:p>
            <a:pPr algn="ctr" indent="0" marL="0">
              <a:lnSpc>
                <a:spcPts val="1540"/>
              </a:lnSpc>
              <a:buNone/>
            </a:pPr>
            <a:r>
              <a:rPr lang="en-US" sz="1100" dirty="0">
                <a:solidFill>
                  <a:srgbClr val="B8421A"/>
                </a:solidFill>
                <a:latin typeface="JetBrains Mono" pitchFamily="49" charset="0"/>
                <a:ea typeface="JetBrains Mono" pitchFamily="49" charset="-122"/>
                <a:cs typeface="JetBrains Mono" pitchFamily="49" charset="-120"/>
              </a:rPr>
              <a:t>data-redis-0</a:t>
            </a:r>
            <a:endParaRPr lang="en-US" sz="1100" dirty="0"/>
          </a:p>
        </p:txBody>
      </p:sp>
      <p:sp>
        <p:nvSpPr>
          <p:cNvPr id="11" name="Text 7"/>
          <p:cNvSpPr/>
          <p:nvPr/>
        </p:nvSpPr>
        <p:spPr>
          <a:xfrm>
            <a:off x="10071100" y="2255540"/>
            <a:ext cx="1308100" cy="408940"/>
          </a:xfrm>
          <a:prstGeom prst="roundRect">
            <a:avLst>
              <a:gd name="adj" fmla="val 21739"/>
            </a:avLst>
          </a:prstGeom>
          <a:solidFill>
            <a:srgbClr val="0B0748"/>
          </a:solidFill>
          <a:ln/>
        </p:spPr>
        <p:txBody>
          <a:bodyPr wrap="square" lIns="62862" tIns="62862" rIns="62862" bIns="37462" rtlCol="0" anchor="t">
            <a:normAutofit/>
          </a:bodyPr>
          <a:lstStyle/>
          <a:p>
            <a:pPr algn="ctr" indent="0" marL="0">
              <a:lnSpc>
                <a:spcPts val="1820"/>
              </a:lnSpc>
              <a:buNone/>
            </a:pPr>
            <a:r>
              <a:rPr lang="en-US" sz="1300" b="1" dirty="0">
                <a:solidFill>
                  <a:srgbClr val="F5F4F9"/>
                </a:solidFill>
                <a:latin typeface="JetBrains Mono" pitchFamily="49" charset="0"/>
                <a:ea typeface="JetBrains Mono" pitchFamily="49" charset="-122"/>
                <a:cs typeface="JetBrains Mono" pitchFamily="49" charset="-120"/>
              </a:rPr>
              <a:t>redis-1</a:t>
            </a:r>
            <a:endParaRPr lang="en-US" sz="1300" dirty="0"/>
          </a:p>
        </p:txBody>
      </p:sp>
      <p:pic>
        <p:nvPicPr>
          <p:cNvPr id="12" name="Image 1" descr="arrow-down">    </p:cNvPr>
          <p:cNvPicPr>
            <a:picLocks noChangeAspect="1"/>
          </p:cNvPicPr>
          <p:nvPr/>
        </p:nvPicPr>
        <p:blipFill>
          <a:blip r:embed="rId2"/>
          <a:srcRect l="0" r="0" t="-35" b="-35"/>
          <a:stretch/>
        </p:blipFill>
        <p:spPr>
          <a:xfrm>
            <a:off x="10668000" y="2727920"/>
            <a:ext cx="114300" cy="152506"/>
          </a:xfrm>
          <a:prstGeom prst="rect">
            <a:avLst/>
          </a:prstGeom>
        </p:spPr>
      </p:pic>
      <p:sp>
        <p:nvSpPr>
          <p:cNvPr id="13" name="Text 8"/>
          <p:cNvSpPr/>
          <p:nvPr/>
        </p:nvSpPr>
        <p:spPr>
          <a:xfrm>
            <a:off x="10077450" y="2950170"/>
            <a:ext cx="1295400" cy="349462"/>
          </a:xfrm>
          <a:prstGeom prst="roundRect">
            <a:avLst>
              <a:gd name="adj" fmla="val 23622"/>
            </a:avLst>
          </a:prstGeom>
          <a:noFill/>
          <a:ln w="12700">
            <a:solidFill>
              <a:srgbClr val="E25A2C"/>
            </a:solidFill>
            <a:prstDash val="dash"/>
          </a:ln>
        </p:spPr>
        <p:txBody>
          <a:bodyPr wrap="square" lIns="65463" tIns="52763" rIns="65463" bIns="27363" rtlCol="0" anchor="t">
            <a:normAutofit/>
          </a:bodyPr>
          <a:lstStyle/>
          <a:p>
            <a:pPr algn="ctr" indent="0" marL="0">
              <a:lnSpc>
                <a:spcPts val="1540"/>
              </a:lnSpc>
              <a:buNone/>
            </a:pPr>
            <a:r>
              <a:rPr lang="en-US" sz="1100" dirty="0">
                <a:solidFill>
                  <a:srgbClr val="B8421A"/>
                </a:solidFill>
                <a:latin typeface="JetBrains Mono" pitchFamily="49" charset="0"/>
                <a:ea typeface="JetBrains Mono" pitchFamily="49" charset="-122"/>
                <a:cs typeface="JetBrains Mono" pitchFamily="49" charset="-120"/>
              </a:rPr>
              <a:t>data-redis-1</a:t>
            </a:r>
            <a:endParaRPr lang="en-US" sz="1100" dirty="0"/>
          </a:p>
        </p:txBody>
      </p:sp>
      <p:sp>
        <p:nvSpPr>
          <p:cNvPr id="14" name="Text 9"/>
          <p:cNvSpPr/>
          <p:nvPr/>
        </p:nvSpPr>
        <p:spPr>
          <a:xfrm>
            <a:off x="8648700" y="3394968"/>
            <a:ext cx="2812415"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6890"/>
                </a:solidFill>
                <a:latin typeface="JetBrains Mono" pitchFamily="49" charset="0"/>
                <a:ea typeface="JetBrains Mono" pitchFamily="49" charset="-122"/>
                <a:cs typeface="JetBrains Mono" pitchFamily="49" charset="-120"/>
              </a:rPr>
              <a:t>redis-0.redis.fil-rouge</a:t>
            </a:r>
            <a:endParaRPr lang="en-US" sz="1000" dirty="0"/>
          </a:p>
          <a:p>
            <a:pPr algn="l" indent="0" marL="0">
              <a:lnSpc>
                <a:spcPts val="1400"/>
              </a:lnSpc>
              <a:buNone/>
            </a:pPr>
            <a:r>
              <a:rPr lang="en-US" sz="1000" dirty="0">
                <a:solidFill>
                  <a:srgbClr val="6B6890"/>
                </a:solidFill>
                <a:latin typeface="JetBrains Mono" pitchFamily="49" charset="0"/>
                <a:ea typeface="JetBrains Mono" pitchFamily="49" charset="-122"/>
                <a:cs typeface="JetBrains Mono" pitchFamily="49" charset="-120"/>
              </a:rPr>
              <a:t>.svc.cluster.local</a:t>
            </a:r>
            <a:endParaRPr lang="en-US" sz="1000" dirty="0"/>
          </a:p>
        </p:txBody>
      </p:sp>
      <p:pic>
        <p:nvPicPr>
          <p:cNvPr id="15" name="Image 2" descr="preencoded.png">    </p:cNvPr>
          <p:cNvPicPr>
            <a:picLocks noChangeAspect="1"/>
          </p:cNvPicPr>
          <p:nvPr/>
        </p:nvPicPr>
        <p:blipFill>
          <a:blip r:embed="rId3"/>
          <a:srcRect l="0" r="0" t="-35" b="-35"/>
          <a:stretch/>
        </p:blipFill>
        <p:spPr>
          <a:xfrm>
            <a:off x="812800" y="6299200"/>
            <a:ext cx="152400" cy="152506"/>
          </a:xfrm>
          <a:prstGeom prst="rect">
            <a:avLst/>
          </a:prstGeom>
        </p:spPr>
      </p:pic>
      <p:sp>
        <p:nvSpPr>
          <p:cNvPr id="16" name="Text 1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7" name="Image 3" descr="Parcours : module 16 sur 16">    </p:cNvPr>
          <p:cNvPicPr>
            <a:picLocks noChangeAspect="1"/>
          </p:cNvPicPr>
          <p:nvPr/>
        </p:nvPicPr>
        <p:blipFill>
          <a:blip r:embed="rId4"/>
          <a:srcRect l="0" r="0" t="-35" b="-35"/>
          <a:stretch/>
        </p:blipFill>
        <p:spPr>
          <a:xfrm>
            <a:off x="9207500" y="6299200"/>
            <a:ext cx="2171700" cy="152506"/>
          </a:xfrm>
          <a:prstGeom prst="rect">
            <a:avLst/>
          </a:prstGeom>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VOLUMES ET DONNÉES PERSISTANTES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Redis en StatefulSet</a:t>
            </a:r>
            <a:endParaRPr lang="en-US" sz="2800" dirty="0"/>
          </a:p>
        </p:txBody>
      </p:sp>
      <p:sp>
        <p:nvSpPr>
          <p:cNvPr id="4" name="Text 2"/>
          <p:cNvSpPr/>
          <p:nvPr/>
        </p:nvSpPr>
        <p:spPr>
          <a:xfrm>
            <a:off x="812800" y="1531640"/>
            <a:ext cx="2984500" cy="2019300"/>
          </a:xfrm>
          <a:prstGeom prst="roundRect">
            <a:avLst>
              <a:gd name="adj" fmla="val 5031"/>
            </a:avLst>
          </a:prstGeom>
          <a:solidFill>
            <a:srgbClr val="0B0748"/>
          </a:solidFill>
          <a:ln/>
        </p:spPr>
        <p:txBody>
          <a:bodyPr wrap="none" lIns="122642" tIns="59142" rIns="42251" bIns="59142" rtlCol="0" anchor="ctr">
            <a:normAutofit/>
          </a:bodyPr>
          <a:lstStyle/>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apiVersion: v1</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kind: </a:t>
            </a:r>
            <a:r>
              <a:rPr lang="en-US" sz="1000" dirty="0">
                <a:solidFill>
                  <a:srgbClr val="FFB08F"/>
                </a:solidFill>
                <a:latin typeface="JetBrains Mono" pitchFamily="49" charset="0"/>
                <a:ea typeface="JetBrains Mono" pitchFamily="49" charset="-122"/>
                <a:cs typeface="JetBrains Mono" pitchFamily="49" charset="-120"/>
              </a:rPr>
              <a:t>Service</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metadata:</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name: redis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spec:</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clusterIP: None </a:t>
            </a:r>
            <a:r>
              <a:rPr lang="en-US" sz="1000" dirty="0">
                <a:solidFill>
                  <a:srgbClr val="9A96D0"/>
                </a:solidFill>
                <a:latin typeface="JetBrains Mono" pitchFamily="49" charset="0"/>
                <a:ea typeface="JetBrains Mono" pitchFamily="49" charset="-122"/>
                <a:cs typeface="JetBrains Mono" pitchFamily="49" charset="-120"/>
              </a:rPr>
              <a:t># headless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selector:</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app: redis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ports: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 port: 6379</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a:t>
            </a:r>
            <a:endParaRPr lang="en-US" sz="1000" dirty="0"/>
          </a:p>
        </p:txBody>
      </p:sp>
      <p:sp>
        <p:nvSpPr>
          <p:cNvPr id="5" name="Text 3"/>
          <p:cNvSpPr/>
          <p:nvPr/>
        </p:nvSpPr>
        <p:spPr>
          <a:xfrm>
            <a:off x="812800" y="3639840"/>
            <a:ext cx="2984500" cy="2202180"/>
          </a:xfrm>
          <a:prstGeom prst="roundRect">
            <a:avLst>
              <a:gd name="adj" fmla="val 4614"/>
            </a:avLst>
          </a:prstGeom>
          <a:solidFill>
            <a:srgbClr val="0B0748"/>
          </a:solidFill>
          <a:ln/>
        </p:spPr>
        <p:txBody>
          <a:bodyPr wrap="none" lIns="122642" tIns="71842" rIns="42251" bIns="71842" rtlCol="0" anchor="ctr">
            <a:normAutofit/>
          </a:bodyPr>
          <a:lstStyle/>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apiVersion: apps/v1</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kind: </a:t>
            </a:r>
            <a:r>
              <a:rPr lang="en-US" sz="1000" dirty="0">
                <a:solidFill>
                  <a:srgbClr val="FFB08F"/>
                </a:solidFill>
                <a:latin typeface="JetBrains Mono" pitchFamily="49" charset="0"/>
                <a:ea typeface="JetBrains Mono" pitchFamily="49" charset="-122"/>
                <a:cs typeface="JetBrains Mono" pitchFamily="49" charset="-120"/>
              </a:rPr>
              <a:t>StatefulSet</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metadata:</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name: redis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spec:</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a:t>
            </a:r>
            <a:r>
              <a:rPr lang="en-US" sz="1000" dirty="0">
                <a:solidFill>
                  <a:srgbClr val="FFB08F"/>
                </a:solidFill>
                <a:latin typeface="JetBrains Mono" pitchFamily="49" charset="0"/>
                <a:ea typeface="JetBrains Mono" pitchFamily="49" charset="-122"/>
                <a:cs typeface="JetBrains Mono" pitchFamily="49" charset="-120"/>
              </a:rPr>
              <a:t>serviceName: redis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replicas: 1</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selector:</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matchLabels: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app: redis</a:t>
            </a:r>
            <a:endParaRPr lang="en-US" sz="1000" dirty="0"/>
          </a:p>
        </p:txBody>
      </p:sp>
      <p:sp>
        <p:nvSpPr>
          <p:cNvPr id="6" name="Text 4"/>
          <p:cNvSpPr/>
          <p:nvPr/>
        </p:nvSpPr>
        <p:spPr>
          <a:xfrm>
            <a:off x="3924300" y="1531640"/>
            <a:ext cx="4533900" cy="4310380"/>
          </a:xfrm>
          <a:prstGeom prst="roundRect">
            <a:avLst>
              <a:gd name="adj" fmla="val 2357"/>
            </a:avLst>
          </a:prstGeom>
          <a:solidFill>
            <a:srgbClr val="0B0748"/>
          </a:solidFill>
          <a:ln/>
        </p:spPr>
        <p:txBody>
          <a:bodyPr wrap="none" lIns="122642" tIns="71842" rIns="0" bIns="71842" rtlCol="0" anchor="ctr">
            <a:normAutofit/>
          </a:bodyPr>
          <a:lstStyle/>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template:</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metadata:</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labels: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app: redis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spec:</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containers: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 name: redis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image: mirror.gcr.io/library/redis:7-alpine</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args: ["--appendonly", "yes"]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volumeMounts: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 name: data</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mountPath: /data</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a:t>
            </a:r>
            <a:r>
              <a:rPr lang="en-US" sz="1000" dirty="0">
                <a:solidFill>
                  <a:srgbClr val="FFB08F"/>
                </a:solidFill>
                <a:latin typeface="JetBrains Mono" pitchFamily="49" charset="0"/>
                <a:ea typeface="JetBrains Mono" pitchFamily="49" charset="-122"/>
                <a:cs typeface="JetBrains Mono" pitchFamily="49" charset="-120"/>
              </a:rPr>
              <a:t>volumeClaimTemplates: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 metadata:</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name: data</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spec:</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accessModes: ["ReadWriteOnce"]</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resources: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requests:</a:t>
            </a:r>
            <a:endParaRPr lang="en-US" sz="1000" dirty="0"/>
          </a:p>
          <a:p>
            <a:pPr algn="l" indent="0" marL="0">
              <a:lnSpc>
                <a:spcPts val="1300"/>
              </a:lnSpc>
              <a:buNone/>
            </a:pPr>
            <a:r>
              <a:rPr lang="en-US" sz="1000" dirty="0">
                <a:solidFill>
                  <a:srgbClr val="ECEAFF"/>
                </a:solidFill>
                <a:latin typeface="JetBrains Mono" pitchFamily="49" charset="0"/>
                <a:ea typeface="JetBrains Mono" pitchFamily="49" charset="-122"/>
                <a:cs typeface="JetBrains Mono" pitchFamily="49" charset="-120"/>
              </a:rPr>
              <a:t>          storage: 1Gi</a:t>
            </a:r>
            <a:endParaRPr lang="en-US" sz="1000" dirty="0"/>
          </a:p>
        </p:txBody>
      </p:sp>
      <p:sp>
        <p:nvSpPr>
          <p:cNvPr id="7" name="Shape 5"/>
          <p:cNvSpPr/>
          <p:nvPr/>
        </p:nvSpPr>
        <p:spPr>
          <a:xfrm>
            <a:off x="8588375" y="1534815"/>
            <a:ext cx="2787650" cy="1404832"/>
          </a:xfrm>
          <a:prstGeom prst="roundRect">
            <a:avLst>
              <a:gd name="adj" fmla="val 8814"/>
            </a:avLst>
          </a:prstGeom>
          <a:solidFill>
            <a:srgbClr val="FDFDFF"/>
          </a:solidFill>
          <a:ln w="6350">
            <a:solidFill>
              <a:srgbClr val="E1DFEE"/>
            </a:solidFill>
            <a:prstDash val="solid"/>
          </a:ln>
        </p:spPr>
      </p:sp>
      <p:sp>
        <p:nvSpPr>
          <p:cNvPr id="8" name="Text 6"/>
          <p:cNvSpPr/>
          <p:nvPr/>
        </p:nvSpPr>
        <p:spPr>
          <a:xfrm>
            <a:off x="8757391" y="1678484"/>
            <a:ext cx="25231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PVC CONSERVÉS</a:t>
            </a:r>
            <a:endParaRPr lang="en-US" sz="1200" dirty="0"/>
          </a:p>
        </p:txBody>
      </p:sp>
      <p:sp>
        <p:nvSpPr>
          <p:cNvPr id="9" name="Text 7"/>
          <p:cNvSpPr/>
          <p:nvPr/>
        </p:nvSpPr>
        <p:spPr>
          <a:xfrm>
            <a:off x="8757391" y="1942703"/>
            <a:ext cx="252310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0748"/>
                </a:solidFill>
                <a:latin typeface="IBM Plex Sans" pitchFamily="34" charset="0"/>
                <a:ea typeface="IBM Plex Sans" pitchFamily="34" charset="-122"/>
                <a:cs typeface="IBM Plex Sans" pitchFamily="34" charset="-120"/>
              </a:rPr>
              <a:t>Quand on réduit ou supprime un StatefulSet, ses PVC restent : les données ne disparaissent pas par erreur.</a:t>
            </a:r>
            <a:endParaRPr lang="en-US" sz="1200" dirty="0"/>
          </a:p>
        </p:txBody>
      </p:sp>
      <p:sp>
        <p:nvSpPr>
          <p:cNvPr id="10" name="Shape 8"/>
          <p:cNvSpPr/>
          <p:nvPr/>
        </p:nvSpPr>
        <p:spPr>
          <a:xfrm>
            <a:off x="8585200" y="3057128"/>
            <a:ext cx="2794000" cy="2784898"/>
          </a:xfrm>
          <a:prstGeom prst="roundRect">
            <a:avLst>
              <a:gd name="adj" fmla="val 4560"/>
            </a:avLst>
          </a:prstGeom>
          <a:solidFill>
            <a:srgbClr val="0B0748"/>
          </a:solidFill>
          <a:ln/>
        </p:spPr>
      </p:sp>
      <p:sp>
        <p:nvSpPr>
          <p:cNvPr id="11" name="Text 9"/>
          <p:cNvSpPr/>
          <p:nvPr/>
        </p:nvSpPr>
        <p:spPr>
          <a:xfrm>
            <a:off x="8750300" y="3196828"/>
            <a:ext cx="253771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PAS DE RÉPLICATION</a:t>
            </a:r>
            <a:endParaRPr lang="en-US" sz="1200" dirty="0"/>
          </a:p>
        </p:txBody>
      </p:sp>
      <p:sp>
        <p:nvSpPr>
          <p:cNvPr id="12" name="Text 10"/>
          <p:cNvSpPr/>
          <p:nvPr/>
        </p:nvSpPr>
        <p:spPr>
          <a:xfrm>
            <a:off x="8750300" y="3460948"/>
            <a:ext cx="2537714"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F"/>
                </a:solidFill>
                <a:latin typeface="IBM Plex Sans" pitchFamily="34" charset="0"/>
                <a:ea typeface="IBM Plex Sans" pitchFamily="34" charset="-122"/>
                <a:cs typeface="IBM Plex Sans" pitchFamily="34" charset="-120"/>
              </a:rPr>
              <a:t>Un StatefulSet ne réplique pas les données : c'est à la base de le faire. D'où les opérateurs comme CloudNativePG (module 13).</a:t>
            </a:r>
            <a:endParaRPr lang="en-US" sz="1200" dirty="0"/>
          </a:p>
        </p:txBody>
      </p:sp>
      <p:pic>
        <p:nvPicPr>
          <p:cNvPr id="13"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4" name="Text 11"/>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5" name="Image 1" descr="Parcours : module 16 sur 16">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VOLUMES ET DONNÉES PERSISTANTES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Sauvegarder</a:t>
            </a:r>
            <a:endParaRPr lang="en-US" sz="2800" dirty="0"/>
          </a:p>
        </p:txBody>
      </p:sp>
      <p:sp>
        <p:nvSpPr>
          <p:cNvPr id="4" name="Shape 2"/>
          <p:cNvSpPr/>
          <p:nvPr/>
        </p:nvSpPr>
        <p:spPr>
          <a:xfrm>
            <a:off x="815975" y="1547515"/>
            <a:ext cx="3414183" cy="3402330"/>
          </a:xfrm>
          <a:prstGeom prst="roundRect">
            <a:avLst>
              <a:gd name="adj" fmla="val 3639"/>
            </a:avLst>
          </a:prstGeom>
          <a:solidFill>
            <a:srgbClr val="FDFDFF"/>
          </a:solidFill>
          <a:ln w="6350">
            <a:solidFill>
              <a:srgbClr val="E1DFEE"/>
            </a:solidFill>
            <a:prstDash val="solid"/>
          </a:ln>
        </p:spPr>
      </p:sp>
      <p:pic>
        <p:nvPicPr>
          <p:cNvPr id="5" name="Image 0" descr="Database">    </p:cNvPr>
          <p:cNvPicPr>
            <a:picLocks noChangeAspect="1"/>
          </p:cNvPicPr>
          <p:nvPr/>
        </p:nvPicPr>
        <p:blipFill>
          <a:blip r:embed="rId1"/>
          <a:srcRect l="0" r="0" t="0" b="0"/>
          <a:stretch/>
        </p:blipFill>
        <p:spPr>
          <a:xfrm>
            <a:off x="1035791" y="1754684"/>
            <a:ext cx="304800" cy="304800"/>
          </a:xfrm>
          <a:prstGeom prst="rect">
            <a:avLst/>
          </a:prstGeom>
        </p:spPr>
      </p:pic>
      <p:sp>
        <p:nvSpPr>
          <p:cNvPr id="6" name="Text 3"/>
          <p:cNvSpPr/>
          <p:nvPr/>
        </p:nvSpPr>
        <p:spPr>
          <a:xfrm>
            <a:off x="1035791" y="2161084"/>
            <a:ext cx="306378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Instantanés de volumes</a:t>
            </a:r>
            <a:endParaRPr lang="en-US" sz="1600" dirty="0"/>
          </a:p>
        </p:txBody>
      </p:sp>
      <p:sp>
        <p:nvSpPr>
          <p:cNvPr id="7" name="Text 4"/>
          <p:cNvSpPr/>
          <p:nvPr/>
        </p:nvSpPr>
        <p:spPr>
          <a:xfrm>
            <a:off x="1035791" y="2516684"/>
            <a:ext cx="3063788" cy="494242"/>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F3C6B"/>
                </a:solidFill>
                <a:latin typeface="IBM Plex Sans" pitchFamily="34" charset="0"/>
                <a:ea typeface="IBM Plex Sans" pitchFamily="34" charset="-122"/>
                <a:cs typeface="IBM Plex Sans" pitchFamily="34" charset="-120"/>
              </a:rPr>
              <a:t>VolumeSnapshot : rapides, mais liés au système de stockage.</a:t>
            </a:r>
            <a:endParaRPr lang="en-US" sz="1300" dirty="0"/>
          </a:p>
        </p:txBody>
      </p:sp>
      <p:sp>
        <p:nvSpPr>
          <p:cNvPr id="8" name="Shape 5"/>
          <p:cNvSpPr/>
          <p:nvPr/>
        </p:nvSpPr>
        <p:spPr>
          <a:xfrm>
            <a:off x="4388908" y="1547515"/>
            <a:ext cx="3414183" cy="3402330"/>
          </a:xfrm>
          <a:prstGeom prst="roundRect">
            <a:avLst>
              <a:gd name="adj" fmla="val 3639"/>
            </a:avLst>
          </a:prstGeom>
          <a:solidFill>
            <a:srgbClr val="FDFDFF"/>
          </a:solidFill>
          <a:ln w="6350">
            <a:solidFill>
              <a:srgbClr val="E1DFEE"/>
            </a:solidFill>
            <a:prstDash val="solid"/>
          </a:ln>
        </p:spPr>
      </p:sp>
      <p:pic>
        <p:nvPicPr>
          <p:cNvPr id="9" name="Image 1" descr="Cloud">    </p:cNvPr>
          <p:cNvPicPr>
            <a:picLocks noChangeAspect="1"/>
          </p:cNvPicPr>
          <p:nvPr/>
        </p:nvPicPr>
        <p:blipFill>
          <a:blip r:embed="rId2"/>
          <a:srcRect l="0" r="0" t="0" b="0"/>
          <a:stretch/>
        </p:blipFill>
        <p:spPr>
          <a:xfrm>
            <a:off x="4608724" y="1754684"/>
            <a:ext cx="304800" cy="304800"/>
          </a:xfrm>
          <a:prstGeom prst="rect">
            <a:avLst/>
          </a:prstGeom>
        </p:spPr>
      </p:pic>
      <p:sp>
        <p:nvSpPr>
          <p:cNvPr id="10" name="Text 6"/>
          <p:cNvSpPr/>
          <p:nvPr/>
        </p:nvSpPr>
        <p:spPr>
          <a:xfrm>
            <a:off x="4608724" y="2161084"/>
            <a:ext cx="306378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Velero</a:t>
            </a:r>
            <a:endParaRPr lang="en-US" sz="1600" dirty="0"/>
          </a:p>
        </p:txBody>
      </p:sp>
      <p:sp>
        <p:nvSpPr>
          <p:cNvPr id="11" name="Text 7"/>
          <p:cNvSpPr/>
          <p:nvPr/>
        </p:nvSpPr>
        <p:spPr>
          <a:xfrm>
            <a:off x="4608724" y="2516684"/>
            <a:ext cx="3063788" cy="963083"/>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F3C6B"/>
                </a:solidFill>
                <a:latin typeface="IBM Plex Sans" pitchFamily="34" charset="0"/>
                <a:ea typeface="IBM Plex Sans" pitchFamily="34" charset="-122"/>
                <a:cs typeface="IBM Plex Sans" pitchFamily="34" charset="-120"/>
              </a:rPr>
              <a:t>Sauvegarde les objets Kubernetes et le contenu des volumes vers un stockage objet ; restaure un namespace ou un cluster entier.</a:t>
            </a:r>
            <a:endParaRPr lang="en-US" sz="1300" dirty="0"/>
          </a:p>
        </p:txBody>
      </p:sp>
      <p:sp>
        <p:nvSpPr>
          <p:cNvPr id="12" name="Shape 8"/>
          <p:cNvSpPr/>
          <p:nvPr/>
        </p:nvSpPr>
        <p:spPr>
          <a:xfrm>
            <a:off x="7961842" y="1547515"/>
            <a:ext cx="3414183" cy="3402330"/>
          </a:xfrm>
          <a:prstGeom prst="roundRect">
            <a:avLst>
              <a:gd name="adj" fmla="val 3639"/>
            </a:avLst>
          </a:prstGeom>
          <a:solidFill>
            <a:srgbClr val="FDFDFF"/>
          </a:solidFill>
          <a:ln w="6350">
            <a:solidFill>
              <a:srgbClr val="E1DFEE"/>
            </a:solidFill>
            <a:prstDash val="solid"/>
          </a:ln>
        </p:spPr>
      </p:sp>
      <p:pic>
        <p:nvPicPr>
          <p:cNvPr id="13" name="Image 2" descr="Settings">    </p:cNvPr>
          <p:cNvPicPr>
            <a:picLocks noChangeAspect="1"/>
          </p:cNvPicPr>
          <p:nvPr/>
        </p:nvPicPr>
        <p:blipFill>
          <a:blip r:embed="rId3"/>
          <a:srcRect l="0" r="0" t="0" b="0"/>
          <a:stretch/>
        </p:blipFill>
        <p:spPr>
          <a:xfrm>
            <a:off x="8181657" y="1754684"/>
            <a:ext cx="304800" cy="304800"/>
          </a:xfrm>
          <a:prstGeom prst="rect">
            <a:avLst/>
          </a:prstGeom>
        </p:spPr>
      </p:pic>
      <p:sp>
        <p:nvSpPr>
          <p:cNvPr id="14" name="Text 9"/>
          <p:cNvSpPr/>
          <p:nvPr/>
        </p:nvSpPr>
        <p:spPr>
          <a:xfrm>
            <a:off x="8181657" y="2161084"/>
            <a:ext cx="306378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B0748"/>
                </a:solidFill>
                <a:latin typeface="Sora" pitchFamily="34" charset="0"/>
                <a:ea typeface="Sora" pitchFamily="34" charset="-122"/>
                <a:cs typeface="Sora" pitchFamily="34" charset="-120"/>
              </a:rPr>
              <a:t>Sauvegardes natives</a:t>
            </a:r>
            <a:endParaRPr lang="en-US" sz="1600" dirty="0"/>
          </a:p>
        </p:txBody>
      </p:sp>
      <p:sp>
        <p:nvSpPr>
          <p:cNvPr id="15" name="Text 10"/>
          <p:cNvSpPr/>
          <p:nvPr/>
        </p:nvSpPr>
        <p:spPr>
          <a:xfrm>
            <a:off x="8181657" y="2516684"/>
            <a:ext cx="3063788" cy="728663"/>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F3C6B"/>
                </a:solidFill>
                <a:latin typeface="IBM Plex Sans" pitchFamily="34" charset="0"/>
                <a:ea typeface="IBM Plex Sans" pitchFamily="34" charset="-122"/>
                <a:cs typeface="IBM Plex Sans" pitchFamily="34" charset="-120"/>
              </a:rPr>
              <a:t>Des bases de données (dump, archivage des journaux), souvent pilotées par leur opérateur.</a:t>
            </a:r>
            <a:endParaRPr lang="en-US" sz="1300" dirty="0"/>
          </a:p>
        </p:txBody>
      </p:sp>
      <p:sp>
        <p:nvSpPr>
          <p:cNvPr id="16" name="Shape 11"/>
          <p:cNvSpPr/>
          <p:nvPr/>
        </p:nvSpPr>
        <p:spPr>
          <a:xfrm>
            <a:off x="812800" y="5156200"/>
            <a:ext cx="10566400" cy="685800"/>
          </a:xfrm>
          <a:prstGeom prst="roundRect">
            <a:avLst>
              <a:gd name="adj" fmla="val 20370"/>
            </a:avLst>
          </a:prstGeom>
          <a:solidFill>
            <a:srgbClr val="EE6A3C"/>
          </a:solidFill>
          <a:ln/>
        </p:spPr>
      </p:sp>
      <p:pic>
        <p:nvPicPr>
          <p:cNvPr id="17" name="Image 3" descr="Warning">    </p:cNvPr>
          <p:cNvPicPr>
            <a:picLocks noChangeAspect="1"/>
          </p:cNvPicPr>
          <p:nvPr/>
        </p:nvPicPr>
        <p:blipFill>
          <a:blip r:embed="rId4"/>
          <a:srcRect l="0" r="0" t="0" b="0"/>
          <a:stretch/>
        </p:blipFill>
        <p:spPr>
          <a:xfrm>
            <a:off x="1054100" y="5346700"/>
            <a:ext cx="304800" cy="304800"/>
          </a:xfrm>
          <a:prstGeom prst="rect">
            <a:avLst/>
          </a:prstGeom>
        </p:spPr>
      </p:pic>
      <p:sp>
        <p:nvSpPr>
          <p:cNvPr id="18" name="Text 12"/>
          <p:cNvSpPr/>
          <p:nvPr/>
        </p:nvSpPr>
        <p:spPr>
          <a:xfrm>
            <a:off x="1511300" y="5356225"/>
            <a:ext cx="9480550"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0B0748"/>
                </a:solidFill>
                <a:latin typeface="Sora" pitchFamily="34" charset="0"/>
                <a:ea typeface="Sora" pitchFamily="34" charset="-122"/>
                <a:cs typeface="Sora" pitchFamily="34" charset="-120"/>
              </a:rPr>
              <a:t>Une sauvegarde n'existe vraiment que si la restauration a été testée.</a:t>
            </a:r>
            <a:endParaRPr lang="en-US" sz="1800" dirty="0"/>
          </a:p>
        </p:txBody>
      </p:sp>
      <p:pic>
        <p:nvPicPr>
          <p:cNvPr id="19" name="Image 4" descr="preencoded.png">    </p:cNvPr>
          <p:cNvPicPr>
            <a:picLocks noChangeAspect="1"/>
          </p:cNvPicPr>
          <p:nvPr/>
        </p:nvPicPr>
        <p:blipFill>
          <a:blip r:embed="rId5"/>
          <a:srcRect l="0" r="0" t="-35" b="-35"/>
          <a:stretch/>
        </p:blipFill>
        <p:spPr>
          <a:xfrm>
            <a:off x="812800" y="6299200"/>
            <a:ext cx="152400" cy="152506"/>
          </a:xfrm>
          <a:prstGeom prst="rect">
            <a:avLst/>
          </a:prstGeom>
        </p:spPr>
      </p:pic>
      <p:sp>
        <p:nvSpPr>
          <p:cNvPr id="20" name="Text 13"/>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1" name="Image 5" descr="Parcours : module 16 sur 16">    </p:cNvPr>
          <p:cNvPicPr>
            <a:picLocks noChangeAspect="1"/>
          </p:cNvPicPr>
          <p:nvPr/>
        </p:nvPicPr>
        <p:blipFill>
          <a:blip r:embed="rId6"/>
          <a:srcRect l="0" r="0" t="-35" b="-35"/>
          <a:stretch/>
        </p:blipFill>
        <p:spPr>
          <a:xfrm>
            <a:off x="9207500" y="6299200"/>
            <a:ext cx="2171700" cy="152506"/>
          </a:xfrm>
          <a:prstGeom prst="rect">
            <a:avLst/>
          </a:prstGeom>
        </p:spPr>
      </p:pic>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BF0E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TRAVAUX PRATIQUES · À FAIRE MAINTENANT</a:t>
            </a:r>
            <a:endParaRPr lang="en-US" sz="1200" dirty="0"/>
          </a:p>
        </p:txBody>
      </p:sp>
      <p:sp>
        <p:nvSpPr>
          <p:cNvPr id="3" name="Text 1"/>
          <p:cNvSpPr/>
          <p:nvPr/>
        </p:nvSpPr>
        <p:spPr>
          <a:xfrm>
            <a:off x="812800" y="1127720"/>
            <a:ext cx="3008630" cy="1054100"/>
          </a:xfrm>
          <a:prstGeom prst="rect">
            <a:avLst/>
          </a:prstGeom>
          <a:noFill/>
          <a:ln/>
        </p:spPr>
        <p:txBody>
          <a:bodyPr wrap="square" lIns="0" tIns="0" rIns="0" bIns="0" rtlCol="0" anchor="t">
            <a:normAutofit/>
          </a:bodyPr>
          <a:lstStyle/>
          <a:p>
            <a:pPr algn="l" indent="0" marL="0">
              <a:lnSpc>
                <a:spcPts val="8100"/>
              </a:lnSpc>
              <a:buNone/>
            </a:pPr>
            <a:r>
              <a:rPr lang="en-US" sz="9000" b="1" spc="-300" kern="0" dirty="0">
                <a:solidFill>
                  <a:srgbClr val="E25A2C"/>
                </a:solidFill>
                <a:latin typeface="Sora" pitchFamily="34" charset="0"/>
                <a:ea typeface="Sora" pitchFamily="34" charset="-122"/>
                <a:cs typeface="Sora" pitchFamily="34" charset="-120"/>
              </a:rPr>
              <a:t>TP12</a:t>
            </a:r>
            <a:endParaRPr lang="en-US" sz="9000" dirty="0"/>
          </a:p>
        </p:txBody>
      </p:sp>
      <p:pic>
        <p:nvPicPr>
          <p:cNvPr id="4" name="Image 0" descr="Clock">    </p:cNvPr>
          <p:cNvPicPr>
            <a:picLocks noChangeAspect="1"/>
          </p:cNvPicPr>
          <p:nvPr/>
        </p:nvPicPr>
        <p:blipFill>
          <a:blip r:embed="rId1"/>
          <a:srcRect l="0" r="0" t="0" b="0"/>
          <a:stretch/>
        </p:blipFill>
        <p:spPr>
          <a:xfrm>
            <a:off x="812800" y="2467570"/>
            <a:ext cx="254000" cy="254000"/>
          </a:xfrm>
          <a:prstGeom prst="rect">
            <a:avLst/>
          </a:prstGeom>
        </p:spPr>
      </p:pic>
      <p:sp>
        <p:nvSpPr>
          <p:cNvPr id="5" name="Text 2"/>
          <p:cNvSpPr/>
          <p:nvPr/>
        </p:nvSpPr>
        <p:spPr>
          <a:xfrm>
            <a:off x="1181100" y="2461220"/>
            <a:ext cx="1477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Jour 3 · 14:15</a:t>
            </a:r>
            <a:endParaRPr lang="en-US" sz="1500" dirty="0"/>
          </a:p>
        </p:txBody>
      </p:sp>
      <p:pic>
        <p:nvPicPr>
          <p:cNvPr id="6" name="Image 1" descr="Activity">    </p:cNvPr>
          <p:cNvPicPr>
            <a:picLocks noChangeAspect="1"/>
          </p:cNvPicPr>
          <p:nvPr/>
        </p:nvPicPr>
        <p:blipFill>
          <a:blip r:embed="rId2"/>
          <a:srcRect l="0" r="0" t="0" b="0"/>
          <a:stretch/>
        </p:blipFill>
        <p:spPr>
          <a:xfrm>
            <a:off x="812800" y="2835870"/>
            <a:ext cx="254000" cy="254000"/>
          </a:xfrm>
          <a:prstGeom prst="rect">
            <a:avLst/>
          </a:prstGeom>
        </p:spPr>
      </p:pic>
      <p:sp>
        <p:nvSpPr>
          <p:cNvPr id="7" name="Text 3"/>
          <p:cNvSpPr/>
          <p:nvPr/>
        </p:nvSpPr>
        <p:spPr>
          <a:xfrm>
            <a:off x="1181100" y="2829520"/>
            <a:ext cx="11889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45 minutes</a:t>
            </a:r>
            <a:endParaRPr lang="en-US" sz="1500" dirty="0"/>
          </a:p>
        </p:txBody>
      </p:sp>
      <p:pic>
        <p:nvPicPr>
          <p:cNvPr id="8" name="Image 2" descr="Book">    </p:cNvPr>
          <p:cNvPicPr>
            <a:picLocks noChangeAspect="1"/>
          </p:cNvPicPr>
          <p:nvPr/>
        </p:nvPicPr>
        <p:blipFill>
          <a:blip r:embed="rId3"/>
          <a:srcRect l="0" r="0" t="0" b="0"/>
          <a:stretch/>
        </p:blipFill>
        <p:spPr>
          <a:xfrm>
            <a:off x="812800" y="3197820"/>
            <a:ext cx="254000" cy="254000"/>
          </a:xfrm>
          <a:prstGeom prst="rect">
            <a:avLst/>
          </a:prstGeom>
        </p:spPr>
      </p:pic>
      <p:sp>
        <p:nvSpPr>
          <p:cNvPr id="9" name="Text 4"/>
          <p:cNvSpPr/>
          <p:nvPr/>
        </p:nvSpPr>
        <p:spPr>
          <a:xfrm>
            <a:off x="1181100" y="3200400"/>
            <a:ext cx="20482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Sections 16.3 et 16.5</a:t>
            </a:r>
            <a:endParaRPr lang="en-US" sz="1400" dirty="0"/>
          </a:p>
        </p:txBody>
      </p:sp>
      <p:sp>
        <p:nvSpPr>
          <p:cNvPr id="10" name="Text 5"/>
          <p:cNvSpPr/>
          <p:nvPr>
            <p:ph type="title"/>
          </p:nvPr>
        </p:nvSpPr>
        <p:spPr>
          <a:xfrm>
            <a:off x="4191000" y="1127720"/>
            <a:ext cx="7403846"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Persistance</a:t>
            </a:r>
            <a:endParaRPr lang="en-US" sz="2800" dirty="0"/>
          </a:p>
        </p:txBody>
      </p:sp>
      <p:sp>
        <p:nvSpPr>
          <p:cNvPr id="11" name="Text 6"/>
          <p:cNvSpPr/>
          <p:nvPr/>
        </p:nvSpPr>
        <p:spPr>
          <a:xfrm>
            <a:off x="4191000" y="1722140"/>
            <a:ext cx="7403846"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F3C6B"/>
                </a:solidFill>
                <a:latin typeface="IBM Plex Sans" pitchFamily="34" charset="0"/>
                <a:ea typeface="IBM Plex Sans" pitchFamily="34" charset="-122"/>
                <a:cs typeface="IBM Plex Sans" pitchFamily="34" charset="-120"/>
              </a:rPr>
              <a:t>Constater la perte des données de Redis, puis les rendre persistantes avec une StorageClass locale, un PV et un PVC.</a:t>
            </a:r>
            <a:endParaRPr lang="en-US" sz="1600" dirty="0"/>
          </a:p>
        </p:txBody>
      </p:sp>
      <p:sp>
        <p:nvSpPr>
          <p:cNvPr id="12" name="Shape 7"/>
          <p:cNvSpPr/>
          <p:nvPr/>
        </p:nvSpPr>
        <p:spPr>
          <a:xfrm>
            <a:off x="4194175" y="4893766"/>
            <a:ext cx="7181850" cy="945092"/>
          </a:xfrm>
          <a:prstGeom prst="roundRect">
            <a:avLst>
              <a:gd name="adj" fmla="val 13102"/>
            </a:avLst>
          </a:prstGeom>
          <a:solidFill>
            <a:srgbClr val="FDFDFF"/>
          </a:solidFill>
          <a:ln w="6350">
            <a:solidFill>
              <a:srgbClr val="EBDDD2"/>
            </a:solidFill>
            <a:prstDash val="solid"/>
          </a:ln>
        </p:spPr>
      </p:sp>
      <p:pic>
        <p:nvPicPr>
          <p:cNvPr id="13" name="Image 3" descr="CheckCircle">    </p:cNvPr>
          <p:cNvPicPr>
            <a:picLocks noChangeAspect="1"/>
          </p:cNvPicPr>
          <p:nvPr/>
        </p:nvPicPr>
        <p:blipFill>
          <a:blip r:embed="rId4"/>
          <a:srcRect l="0" r="0" t="0" b="0"/>
          <a:stretch/>
        </p:blipFill>
        <p:spPr>
          <a:xfrm>
            <a:off x="4452091" y="5100935"/>
            <a:ext cx="355600" cy="355600"/>
          </a:xfrm>
          <a:prstGeom prst="rect">
            <a:avLst/>
          </a:prstGeom>
        </p:spPr>
      </p:pic>
      <p:sp>
        <p:nvSpPr>
          <p:cNvPr id="14" name="Text 8"/>
          <p:cNvSpPr/>
          <p:nvPr/>
        </p:nvSpPr>
        <p:spPr>
          <a:xfrm>
            <a:off x="4985491" y="5100935"/>
            <a:ext cx="63165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POINT DE CONTRÔLE</a:t>
            </a:r>
            <a:endParaRPr lang="en-US" sz="1200" dirty="0"/>
          </a:p>
        </p:txBody>
      </p:sp>
      <p:sp>
        <p:nvSpPr>
          <p:cNvPr id="15" name="Text 9"/>
          <p:cNvSpPr/>
          <p:nvPr/>
        </p:nvSpPr>
        <p:spPr>
          <a:xfrm>
            <a:off x="4985491" y="5365155"/>
            <a:ext cx="631659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La clé écrite dans Redis survit à la suppression de son pod.</a:t>
            </a:r>
            <a:endParaRPr lang="en-US" sz="1500" dirty="0"/>
          </a:p>
        </p:txBody>
      </p:sp>
      <p:pic>
        <p:nvPicPr>
          <p:cNvPr id="16" name="Image 4" descr="preencoded.png">    </p:cNvPr>
          <p:cNvPicPr>
            <a:picLocks noChangeAspect="1"/>
          </p:cNvPicPr>
          <p:nvPr/>
        </p:nvPicPr>
        <p:blipFill>
          <a:blip r:embed="rId5"/>
          <a:srcRect l="0" r="0" t="-35" b="-35"/>
          <a:stretch/>
        </p:blipFill>
        <p:spPr>
          <a:xfrm>
            <a:off x="812800" y="6299200"/>
            <a:ext cx="152400" cy="152506"/>
          </a:xfrm>
          <a:prstGeom prst="rect">
            <a:avLst/>
          </a:prstGeom>
        </p:spPr>
      </p:pic>
      <p:sp>
        <p:nvSpPr>
          <p:cNvPr id="17" name="Text 1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5" descr="Parcours : module 16 sur 16">    </p:cNvPr>
          <p:cNvPicPr>
            <a:picLocks noChangeAspect="1"/>
          </p:cNvPicPr>
          <p:nvPr/>
        </p:nvPicPr>
        <p:blipFill>
          <a:blip r:embed="rId6"/>
          <a:srcRect l="0" r="0" t="-35" b="-35"/>
          <a:stretch/>
        </p:blipFill>
        <p:spPr>
          <a:xfrm>
            <a:off x="9207500" y="6299200"/>
            <a:ext cx="2171700" cy="152506"/>
          </a:xfrm>
          <a:prstGeom prst="rect">
            <a:avLst/>
          </a:prstGeom>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MODULE 16 · BILAN</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À retenir</a:t>
            </a:r>
            <a:endParaRPr lang="en-US" sz="2800" dirty="0"/>
          </a:p>
        </p:txBody>
      </p:sp>
      <p:sp>
        <p:nvSpPr>
          <p:cNvPr id="4" name="Shape 2"/>
          <p:cNvSpPr/>
          <p:nvPr/>
        </p:nvSpPr>
        <p:spPr>
          <a:xfrm>
            <a:off x="812800" y="1595140"/>
            <a:ext cx="5225309" cy="4246880"/>
          </a:xfrm>
          <a:prstGeom prst="roundRect">
            <a:avLst>
              <a:gd name="adj" fmla="val 3589"/>
            </a:avLst>
          </a:prstGeom>
          <a:solidFill>
            <a:srgbClr val="0B0748"/>
          </a:solidFill>
          <a:ln/>
        </p:spPr>
      </p:sp>
      <p:pic>
        <p:nvPicPr>
          <p:cNvPr id="5" name="Image 0" descr="Check">    </p:cNvPr>
          <p:cNvPicPr>
            <a:picLocks noChangeAspect="1"/>
          </p:cNvPicPr>
          <p:nvPr/>
        </p:nvPicPr>
        <p:blipFill>
          <a:blip r:embed="rId1"/>
          <a:srcRect l="0" r="0" t="0" b="0"/>
          <a:stretch/>
        </p:blipFill>
        <p:spPr>
          <a:xfrm>
            <a:off x="1143000" y="1874540"/>
            <a:ext cx="228600" cy="228600"/>
          </a:xfrm>
          <a:prstGeom prst="rect">
            <a:avLst/>
          </a:prstGeom>
        </p:spPr>
      </p:pic>
      <p:sp>
        <p:nvSpPr>
          <p:cNvPr id="6" name="Text 3"/>
          <p:cNvSpPr/>
          <p:nvPr/>
        </p:nvSpPr>
        <p:spPr>
          <a:xfrm>
            <a:off x="1511300" y="1874540"/>
            <a:ext cx="4322507"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Le pod demande (PVC), l'administrateur ou la StorageClass fournit (PV) ; le manifeste reste portable.</a:t>
            </a:r>
            <a:endParaRPr lang="en-US" sz="1350" dirty="0"/>
          </a:p>
        </p:txBody>
      </p:sp>
      <p:pic>
        <p:nvPicPr>
          <p:cNvPr id="7" name="Image 1" descr="Check">    </p:cNvPr>
          <p:cNvPicPr>
            <a:picLocks noChangeAspect="1"/>
          </p:cNvPicPr>
          <p:nvPr/>
        </p:nvPicPr>
        <p:blipFill>
          <a:blip r:embed="rId2"/>
          <a:srcRect l="0" r="0" t="0" b="0"/>
          <a:stretch/>
        </p:blipFill>
        <p:spPr>
          <a:xfrm>
            <a:off x="1143000" y="2494260"/>
            <a:ext cx="228600" cy="228600"/>
          </a:xfrm>
          <a:prstGeom prst="rect">
            <a:avLst/>
          </a:prstGeom>
        </p:spPr>
      </p:pic>
      <p:sp>
        <p:nvSpPr>
          <p:cNvPr id="8" name="Text 4"/>
          <p:cNvSpPr/>
          <p:nvPr/>
        </p:nvSpPr>
        <p:spPr>
          <a:xfrm>
            <a:off x="1511300" y="2494260"/>
            <a:ext cx="4322507"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RWO = un seul nœud, pas un seul pod ; RWX exige un stockage de fichiers partagé.</a:t>
            </a:r>
            <a:endParaRPr lang="en-US" sz="1350" dirty="0"/>
          </a:p>
        </p:txBody>
      </p:sp>
      <p:pic>
        <p:nvPicPr>
          <p:cNvPr id="9" name="Image 2" descr="Check">    </p:cNvPr>
          <p:cNvPicPr>
            <a:picLocks noChangeAspect="1"/>
          </p:cNvPicPr>
          <p:nvPr/>
        </p:nvPicPr>
        <p:blipFill>
          <a:blip r:embed="rId3"/>
          <a:srcRect l="0" r="0" t="0" b="0"/>
          <a:stretch/>
        </p:blipFill>
        <p:spPr>
          <a:xfrm>
            <a:off x="1143000" y="3114278"/>
            <a:ext cx="228600" cy="228600"/>
          </a:xfrm>
          <a:prstGeom prst="rect">
            <a:avLst/>
          </a:prstGeom>
        </p:spPr>
      </p:pic>
      <p:sp>
        <p:nvSpPr>
          <p:cNvPr id="10" name="Text 5"/>
          <p:cNvSpPr/>
          <p:nvPr/>
        </p:nvSpPr>
        <p:spPr>
          <a:xfrm>
            <a:off x="1511300" y="3114278"/>
            <a:ext cx="4322507"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WaitForFirstConsumer choisit le volume après le placement du pod.</a:t>
            </a:r>
            <a:endParaRPr lang="en-US" sz="1350" dirty="0"/>
          </a:p>
        </p:txBody>
      </p:sp>
      <p:pic>
        <p:nvPicPr>
          <p:cNvPr id="11" name="Image 3" descr="Check">    </p:cNvPr>
          <p:cNvPicPr>
            <a:picLocks noChangeAspect="1"/>
          </p:cNvPicPr>
          <p:nvPr/>
        </p:nvPicPr>
        <p:blipFill>
          <a:blip r:embed="rId4"/>
          <a:srcRect l="0" r="0" t="0" b="0"/>
          <a:stretch/>
        </p:blipFill>
        <p:spPr>
          <a:xfrm>
            <a:off x="1143000" y="3733800"/>
            <a:ext cx="228600" cy="228600"/>
          </a:xfrm>
          <a:prstGeom prst="rect">
            <a:avLst/>
          </a:prstGeom>
        </p:spPr>
      </p:pic>
      <p:sp>
        <p:nvSpPr>
          <p:cNvPr id="12" name="Text 6"/>
          <p:cNvSpPr/>
          <p:nvPr/>
        </p:nvSpPr>
        <p:spPr>
          <a:xfrm>
            <a:off x="1511300" y="3733800"/>
            <a:ext cx="4322507"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StatefulSet = noms stables, DNS par pod, un volume par réplica ; la réplication reste l'affaire de l'application.</a:t>
            </a:r>
            <a:endParaRPr lang="en-US" sz="1350" dirty="0"/>
          </a:p>
        </p:txBody>
      </p:sp>
      <p:pic>
        <p:nvPicPr>
          <p:cNvPr id="13" name="Image 4" descr="Check">    </p:cNvPr>
          <p:cNvPicPr>
            <a:picLocks noChangeAspect="1"/>
          </p:cNvPicPr>
          <p:nvPr/>
        </p:nvPicPr>
        <p:blipFill>
          <a:blip r:embed="rId5"/>
          <a:srcRect l="0" r="0" t="0" b="0"/>
          <a:stretch/>
        </p:blipFill>
        <p:spPr>
          <a:xfrm>
            <a:off x="1143000" y="4593630"/>
            <a:ext cx="228600" cy="228600"/>
          </a:xfrm>
          <a:prstGeom prst="rect">
            <a:avLst/>
          </a:prstGeom>
        </p:spPr>
      </p:pic>
      <p:sp>
        <p:nvSpPr>
          <p:cNvPr id="14" name="Text 7"/>
          <p:cNvSpPr/>
          <p:nvPr/>
        </p:nvSpPr>
        <p:spPr>
          <a:xfrm>
            <a:off x="1511300" y="4593630"/>
            <a:ext cx="4322507"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Pas de données persistantes sans plan de sauvegarde et de restauration testé.</a:t>
            </a:r>
            <a:endParaRPr lang="en-US" sz="1350" dirty="0"/>
          </a:p>
        </p:txBody>
      </p:sp>
      <p:sp>
        <p:nvSpPr>
          <p:cNvPr id="15" name="Shape 8"/>
          <p:cNvSpPr/>
          <p:nvPr/>
        </p:nvSpPr>
        <p:spPr>
          <a:xfrm>
            <a:off x="6244484" y="1598315"/>
            <a:ext cx="5131541" cy="4240530"/>
          </a:xfrm>
          <a:prstGeom prst="roundRect">
            <a:avLst>
              <a:gd name="adj" fmla="val 3519"/>
            </a:avLst>
          </a:prstGeom>
          <a:solidFill>
            <a:srgbClr val="FDFDFF"/>
          </a:solidFill>
          <a:ln w="6350">
            <a:solidFill>
              <a:srgbClr val="E1DFEE"/>
            </a:solidFill>
            <a:prstDash val="solid"/>
          </a:ln>
        </p:spPr>
      </p:sp>
      <p:sp>
        <p:nvSpPr>
          <p:cNvPr id="16" name="Text 9"/>
          <p:cNvSpPr/>
          <p:nvPr/>
        </p:nvSpPr>
        <p:spPr>
          <a:xfrm>
            <a:off x="6527800" y="1856284"/>
            <a:ext cx="470185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QUESTIONS DE RÉVISION</a:t>
            </a:r>
            <a:endParaRPr lang="en-US" sz="1200" dirty="0"/>
          </a:p>
        </p:txBody>
      </p:sp>
      <p:sp>
        <p:nvSpPr>
          <p:cNvPr id="17" name="Text 10"/>
          <p:cNvSpPr/>
          <p:nvPr/>
        </p:nvSpPr>
        <p:spPr>
          <a:xfrm>
            <a:off x="6527800" y="2196703"/>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1</a:t>
            </a:r>
            <a:endParaRPr lang="en-US" sz="1250" dirty="0"/>
          </a:p>
        </p:txBody>
      </p:sp>
      <p:sp>
        <p:nvSpPr>
          <p:cNvPr id="18" name="Text 11"/>
          <p:cNvSpPr/>
          <p:nvPr/>
        </p:nvSpPr>
        <p:spPr>
          <a:xfrm>
            <a:off x="6807200" y="2196703"/>
            <a:ext cx="441407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Un PVC reste Pending. Citez deux causes possibles avec le provisionnement statique.</a:t>
            </a:r>
            <a:endParaRPr lang="en-US" sz="1250" dirty="0"/>
          </a:p>
        </p:txBody>
      </p:sp>
      <p:sp>
        <p:nvSpPr>
          <p:cNvPr id="19" name="Text 12"/>
          <p:cNvSpPr/>
          <p:nvPr/>
        </p:nvSpPr>
        <p:spPr>
          <a:xfrm>
            <a:off x="6527800" y="2768203"/>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2</a:t>
            </a:r>
            <a:endParaRPr lang="en-US" sz="1250" dirty="0"/>
          </a:p>
        </p:txBody>
      </p:sp>
      <p:sp>
        <p:nvSpPr>
          <p:cNvPr id="20" name="Text 13"/>
          <p:cNvSpPr/>
          <p:nvPr/>
        </p:nvSpPr>
        <p:spPr>
          <a:xfrm>
            <a:off x="6807200" y="2768203"/>
            <a:ext cx="441407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Pourquoi le pod Redis du TP12 est-il toujours placé sur k8s-w1 ?</a:t>
            </a:r>
            <a:endParaRPr lang="en-US" sz="1250" dirty="0"/>
          </a:p>
        </p:txBody>
      </p:sp>
      <p:sp>
        <p:nvSpPr>
          <p:cNvPr id="21" name="Text 14"/>
          <p:cNvSpPr/>
          <p:nvPr/>
        </p:nvSpPr>
        <p:spPr>
          <a:xfrm>
            <a:off x="6527800" y="3339703"/>
            <a:ext cx="228600" cy="6921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3</a:t>
            </a:r>
            <a:endParaRPr lang="en-US" sz="1250" dirty="0"/>
          </a:p>
        </p:txBody>
      </p:sp>
      <p:sp>
        <p:nvSpPr>
          <p:cNvPr id="22" name="Text 15"/>
          <p:cNvSpPr/>
          <p:nvPr/>
        </p:nvSpPr>
        <p:spPr>
          <a:xfrm>
            <a:off x="6807200" y="3339703"/>
            <a:ext cx="4414074"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Deux pods sur deux nœuds différents doivent écrire dans le même volume. Quel mode d'accès, et quel type de stockage ?</a:t>
            </a:r>
            <a:endParaRPr lang="en-US" sz="1250" dirty="0"/>
          </a:p>
        </p:txBody>
      </p:sp>
      <p:sp>
        <p:nvSpPr>
          <p:cNvPr id="23" name="Text 16"/>
          <p:cNvSpPr/>
          <p:nvPr/>
        </p:nvSpPr>
        <p:spPr>
          <a:xfrm>
            <a:off x="6527800" y="4133453"/>
            <a:ext cx="228600"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8421A"/>
                </a:solidFill>
                <a:latin typeface="Sora" pitchFamily="34" charset="0"/>
                <a:ea typeface="Sora" pitchFamily="34" charset="-122"/>
                <a:cs typeface="Sora" pitchFamily="34" charset="-120"/>
              </a:rPr>
              <a:t>4</a:t>
            </a:r>
            <a:endParaRPr lang="en-US" sz="1250" dirty="0"/>
          </a:p>
        </p:txBody>
      </p:sp>
      <p:sp>
        <p:nvSpPr>
          <p:cNvPr id="24" name="Text 17"/>
          <p:cNvSpPr/>
          <p:nvPr/>
        </p:nvSpPr>
        <p:spPr>
          <a:xfrm>
            <a:off x="6807200" y="4133453"/>
            <a:ext cx="441407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F3C6B"/>
                </a:solidFill>
                <a:latin typeface="IBM Plex Sans" pitchFamily="34" charset="0"/>
                <a:ea typeface="IBM Plex Sans" pitchFamily="34" charset="-122"/>
                <a:cs typeface="IBM Plex Sans" pitchFamily="34" charset="-120"/>
              </a:rPr>
              <a:t>Qu'apporte un StatefulSet par rapport à un Deployment pour une base de données ?</a:t>
            </a:r>
            <a:endParaRPr lang="en-US" sz="1250" dirty="0"/>
          </a:p>
        </p:txBody>
      </p:sp>
      <p:pic>
        <p:nvPicPr>
          <p:cNvPr id="25" name="Image 5" descr="preencoded.png">    </p:cNvPr>
          <p:cNvPicPr>
            <a:picLocks noChangeAspect="1"/>
          </p:cNvPicPr>
          <p:nvPr/>
        </p:nvPicPr>
        <p:blipFill>
          <a:blip r:embed="rId6"/>
          <a:srcRect l="0" r="0" t="-35" b="-35"/>
          <a:stretch/>
        </p:blipFill>
        <p:spPr>
          <a:xfrm>
            <a:off x="812800" y="6299200"/>
            <a:ext cx="152400" cy="152506"/>
          </a:xfrm>
          <a:prstGeom prst="rect">
            <a:avLst/>
          </a:prstGeom>
        </p:spPr>
      </p:pic>
      <p:sp>
        <p:nvSpPr>
          <p:cNvPr id="26" name="Text 18"/>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7" name="Image 6" descr="Parcours : module 16 sur 16">    </p:cNvPr>
          <p:cNvPicPr>
            <a:picLocks noChangeAspect="1"/>
          </p:cNvPicPr>
          <p:nvPr/>
        </p:nvPicPr>
        <p:blipFill>
          <a:blip r:embed="rId7"/>
          <a:srcRect l="0" r="0" t="-35" b="-35"/>
          <a:stretch/>
        </p:blipFill>
        <p:spPr>
          <a:xfrm>
            <a:off x="9207500" y="6299200"/>
            <a:ext cx="2171700" cy="152506"/>
          </a:xfrm>
          <a:prstGeom prst="rect">
            <a:avLst/>
          </a:prstGeom>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0B0748"/>
        </a:solidFill>
      </p:bgPr>
    </p:bg>
    <p:spTree>
      <p:nvGrpSpPr>
        <p:cNvPr id="1" name=""/>
        <p:cNvGrpSpPr/>
        <p:nvPr/>
      </p:nvGrpSpPr>
      <p:grpSpPr>
        <a:xfrm>
          <a:off x="0" y="0"/>
          <a:ext cx="0" cy="0"/>
          <a:chOff x="0" y="0"/>
          <a:chExt cx="0" cy="0"/>
        </a:xfrm>
      </p:grpSpPr>
      <p:sp>
        <p:nvSpPr>
          <p:cNvPr id="2" name="Text 0"/>
          <p:cNvSpPr/>
          <p:nvPr/>
        </p:nvSpPr>
        <p:spPr>
          <a:xfrm>
            <a:off x="812800" y="66020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8F66"/>
                </a:solidFill>
                <a:latin typeface="IBM Plex Sans" pitchFamily="34" charset="0"/>
                <a:ea typeface="IBM Plex Sans" pitchFamily="34" charset="-122"/>
                <a:cs typeface="IBM Plex Sans" pitchFamily="34" charset="-120"/>
              </a:rPr>
              <a:t>JOUR 3 · ENCADRER, SÉCURISER, FAIRE GRANDIR</a:t>
            </a:r>
            <a:endParaRPr lang="en-US" sz="1200" dirty="0"/>
          </a:p>
        </p:txBody>
      </p:sp>
      <p:sp>
        <p:nvSpPr>
          <p:cNvPr id="3" name="Text 1"/>
          <p:cNvSpPr/>
          <p:nvPr>
            <p:ph type="title"/>
          </p:nvPr>
        </p:nvSpPr>
        <p:spPr>
          <a:xfrm>
            <a:off x="812800" y="1127522"/>
            <a:ext cx="10883392" cy="985520"/>
          </a:xfrm>
          <a:prstGeom prst="rect">
            <a:avLst/>
          </a:prstGeom>
          <a:noFill/>
          <a:ln/>
        </p:spPr>
        <p:txBody>
          <a:bodyPr wrap="square" lIns="0" tIns="0" rIns="0" bIns="0" rtlCol="0" anchor="t">
            <a:normAutofit/>
          </a:bodyPr>
          <a:lstStyle/>
          <a:p>
            <a:pPr algn="l" indent="0" marL="0">
              <a:lnSpc>
                <a:spcPts val="3780"/>
              </a:lnSpc>
              <a:buNone/>
            </a:pPr>
            <a:r>
              <a:rPr lang="en-US" sz="3600" b="1" i="0" spc="-100" kern="0" dirty="0">
                <a:solidFill>
                  <a:srgbClr val="F5F4F9"/>
                </a:solidFill>
                <a:latin typeface="Sora" pitchFamily="34" charset="0"/>
                <a:ea typeface="Sora" pitchFamily="34" charset="-122"/>
                <a:cs typeface="Sora" pitchFamily="34" charset="-120"/>
              </a:rPr>
              <a:t>Atelier de synthèse : migrer une application de VM vers Kubernetes</a:t>
            </a:r>
            <a:endParaRPr lang="en-US" sz="3600" dirty="0"/>
          </a:p>
        </p:txBody>
      </p:sp>
      <p:sp>
        <p:nvSpPr>
          <p:cNvPr id="4" name="Text 2"/>
          <p:cNvSpPr/>
          <p:nvPr/>
        </p:nvSpPr>
        <p:spPr>
          <a:xfrm>
            <a:off x="812800" y="2240062"/>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6E8"/>
                </a:solidFill>
                <a:latin typeface="IBM Plex Sans" pitchFamily="34" charset="0"/>
                <a:ea typeface="IBM Plex Sans" pitchFamily="34" charset="-122"/>
                <a:cs typeface="IBM Plex Sans" pitchFamily="34" charset="-120"/>
              </a:rPr>
              <a:t>Migrer une application revient à répondre à onze questions ; chaque réponse désigne un objet Kubernetes vu pendant la formation.</a:t>
            </a:r>
            <a:endParaRPr lang="en-US" sz="1500" dirty="0"/>
          </a:p>
        </p:txBody>
      </p:sp>
      <p:sp>
        <p:nvSpPr>
          <p:cNvPr id="5" name="Text 3"/>
          <p:cNvSpPr/>
          <p:nvPr/>
        </p:nvSpPr>
        <p:spPr>
          <a:xfrm>
            <a:off x="812800" y="2925862"/>
            <a:ext cx="2923011" cy="340360"/>
          </a:xfrm>
          <a:prstGeom prst="roundRect">
            <a:avLst>
              <a:gd name="adj" fmla="val 50000"/>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FB08F"/>
                </a:solidFill>
                <a:latin typeface="IBM Plex Sans" pitchFamily="34" charset="0"/>
                <a:ea typeface="IBM Plex Sans" pitchFamily="34" charset="-122"/>
                <a:cs typeface="IBM Plex Sans" pitchFamily="34" charset="-120"/>
              </a:rPr>
              <a:t>TP13 · Atelier de migration · J3 15:00</a:t>
            </a:r>
            <a:endParaRPr lang="en-US" sz="1200" dirty="0"/>
          </a:p>
        </p:txBody>
      </p:sp>
      <p:pic>
        <p:nvPicPr>
          <p:cNvPr id="6" name="Image 0" descr="Parcours de la formation : atelier de synthèse">    </p:cNvPr>
          <p:cNvPicPr>
            <a:picLocks noChangeAspect="1"/>
          </p:cNvPicPr>
          <p:nvPr/>
        </p:nvPicPr>
        <p:blipFill>
          <a:blip r:embed="rId1"/>
          <a:srcRect l="0" r="0" t="0" b="0"/>
          <a:stretch/>
        </p:blipFill>
        <p:spPr>
          <a:xfrm>
            <a:off x="812800" y="4165402"/>
            <a:ext cx="10566400" cy="1981200"/>
          </a:xfrm>
          <a:prstGeom prst="rect">
            <a:avLst/>
          </a:prstGeom>
        </p:spPr>
      </p:pic>
      <p:sp>
        <p:nvSpPr>
          <p:cNvPr id="7" name="Text 4"/>
          <p:cNvSpPr/>
          <p:nvPr/>
        </p:nvSpPr>
        <p:spPr>
          <a:xfrm>
            <a:off x="838200" y="534650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01</a:t>
            </a:r>
            <a:endParaRPr lang="en-US" sz="1200" dirty="0"/>
          </a:p>
        </p:txBody>
      </p:sp>
      <p:sp>
        <p:nvSpPr>
          <p:cNvPr id="8" name="Text 5"/>
          <p:cNvSpPr/>
          <p:nvPr/>
        </p:nvSpPr>
        <p:spPr>
          <a:xfrm>
            <a:off x="1409700" y="527665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02</a:t>
            </a:r>
            <a:endParaRPr lang="en-US" sz="1200" dirty="0"/>
          </a:p>
        </p:txBody>
      </p:sp>
      <p:sp>
        <p:nvSpPr>
          <p:cNvPr id="9" name="Text 6"/>
          <p:cNvSpPr/>
          <p:nvPr/>
        </p:nvSpPr>
        <p:spPr>
          <a:xfrm>
            <a:off x="1981200" y="520680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03</a:t>
            </a:r>
            <a:endParaRPr lang="en-US" sz="1200" dirty="0"/>
          </a:p>
        </p:txBody>
      </p:sp>
      <p:sp>
        <p:nvSpPr>
          <p:cNvPr id="10" name="Text 7"/>
          <p:cNvSpPr/>
          <p:nvPr/>
        </p:nvSpPr>
        <p:spPr>
          <a:xfrm>
            <a:off x="2552700" y="514330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04</a:t>
            </a:r>
            <a:endParaRPr lang="en-US" sz="1200" dirty="0"/>
          </a:p>
        </p:txBody>
      </p:sp>
      <p:sp>
        <p:nvSpPr>
          <p:cNvPr id="11" name="Text 8"/>
          <p:cNvSpPr/>
          <p:nvPr/>
        </p:nvSpPr>
        <p:spPr>
          <a:xfrm>
            <a:off x="3124200" y="507345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05</a:t>
            </a:r>
            <a:endParaRPr lang="en-US" sz="1200" dirty="0"/>
          </a:p>
        </p:txBody>
      </p:sp>
      <p:sp>
        <p:nvSpPr>
          <p:cNvPr id="12" name="Text 9"/>
          <p:cNvSpPr/>
          <p:nvPr/>
        </p:nvSpPr>
        <p:spPr>
          <a:xfrm>
            <a:off x="4000500" y="496550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06</a:t>
            </a:r>
            <a:endParaRPr lang="en-US" sz="1200" dirty="0"/>
          </a:p>
        </p:txBody>
      </p:sp>
      <p:sp>
        <p:nvSpPr>
          <p:cNvPr id="13" name="Text 10"/>
          <p:cNvSpPr/>
          <p:nvPr/>
        </p:nvSpPr>
        <p:spPr>
          <a:xfrm>
            <a:off x="4572000" y="489565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07</a:t>
            </a:r>
            <a:endParaRPr lang="en-US" sz="1200" dirty="0"/>
          </a:p>
        </p:txBody>
      </p:sp>
      <p:sp>
        <p:nvSpPr>
          <p:cNvPr id="14" name="Text 11"/>
          <p:cNvSpPr/>
          <p:nvPr/>
        </p:nvSpPr>
        <p:spPr>
          <a:xfrm>
            <a:off x="5143500" y="483215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08</a:t>
            </a:r>
            <a:endParaRPr lang="en-US" sz="1200" dirty="0"/>
          </a:p>
        </p:txBody>
      </p:sp>
      <p:sp>
        <p:nvSpPr>
          <p:cNvPr id="15" name="Text 12"/>
          <p:cNvSpPr/>
          <p:nvPr/>
        </p:nvSpPr>
        <p:spPr>
          <a:xfrm>
            <a:off x="5715000" y="476230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09</a:t>
            </a:r>
            <a:endParaRPr lang="en-US" sz="1200" dirty="0"/>
          </a:p>
        </p:txBody>
      </p:sp>
      <p:sp>
        <p:nvSpPr>
          <p:cNvPr id="16" name="Text 13"/>
          <p:cNvSpPr/>
          <p:nvPr/>
        </p:nvSpPr>
        <p:spPr>
          <a:xfrm>
            <a:off x="6286500" y="469245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10</a:t>
            </a:r>
            <a:endParaRPr lang="en-US" sz="1200" dirty="0"/>
          </a:p>
        </p:txBody>
      </p:sp>
      <p:sp>
        <p:nvSpPr>
          <p:cNvPr id="17" name="Text 14"/>
          <p:cNvSpPr/>
          <p:nvPr/>
        </p:nvSpPr>
        <p:spPr>
          <a:xfrm>
            <a:off x="7162800" y="459085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11</a:t>
            </a:r>
            <a:endParaRPr lang="en-US" sz="1200" dirty="0"/>
          </a:p>
        </p:txBody>
      </p:sp>
      <p:sp>
        <p:nvSpPr>
          <p:cNvPr id="18" name="Text 15"/>
          <p:cNvSpPr/>
          <p:nvPr/>
        </p:nvSpPr>
        <p:spPr>
          <a:xfrm>
            <a:off x="7734300" y="452100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12</a:t>
            </a:r>
            <a:endParaRPr lang="en-US" sz="1200" dirty="0"/>
          </a:p>
        </p:txBody>
      </p:sp>
      <p:sp>
        <p:nvSpPr>
          <p:cNvPr id="19" name="Text 16"/>
          <p:cNvSpPr/>
          <p:nvPr/>
        </p:nvSpPr>
        <p:spPr>
          <a:xfrm>
            <a:off x="8305800" y="445115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13</a:t>
            </a:r>
            <a:endParaRPr lang="en-US" sz="1200" dirty="0"/>
          </a:p>
        </p:txBody>
      </p:sp>
      <p:sp>
        <p:nvSpPr>
          <p:cNvPr id="20" name="Text 17"/>
          <p:cNvSpPr/>
          <p:nvPr/>
        </p:nvSpPr>
        <p:spPr>
          <a:xfrm>
            <a:off x="8877300" y="438130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14</a:t>
            </a:r>
            <a:endParaRPr lang="en-US" sz="1200" dirty="0"/>
          </a:p>
        </p:txBody>
      </p:sp>
      <p:sp>
        <p:nvSpPr>
          <p:cNvPr id="21" name="Text 18"/>
          <p:cNvSpPr/>
          <p:nvPr/>
        </p:nvSpPr>
        <p:spPr>
          <a:xfrm>
            <a:off x="9448800" y="431145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15</a:t>
            </a:r>
            <a:endParaRPr lang="en-US" sz="1200" dirty="0"/>
          </a:p>
        </p:txBody>
      </p:sp>
      <p:sp>
        <p:nvSpPr>
          <p:cNvPr id="22" name="Text 19"/>
          <p:cNvSpPr/>
          <p:nvPr/>
        </p:nvSpPr>
        <p:spPr>
          <a:xfrm>
            <a:off x="10020300" y="4247952"/>
            <a:ext cx="457200" cy="241829"/>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B9B6E8"/>
                </a:solidFill>
                <a:latin typeface="IBM Plex Sans" pitchFamily="34" charset="0"/>
                <a:ea typeface="IBM Plex Sans" pitchFamily="34" charset="-122"/>
                <a:cs typeface="IBM Plex Sans" pitchFamily="34" charset="-120"/>
              </a:rPr>
              <a:t>16</a:t>
            </a:r>
            <a:endParaRPr lang="en-US" sz="1200" dirty="0"/>
          </a:p>
        </p:txBody>
      </p:sp>
      <p:sp>
        <p:nvSpPr>
          <p:cNvPr id="23" name="Text 20"/>
          <p:cNvSpPr/>
          <p:nvPr/>
        </p:nvSpPr>
        <p:spPr>
          <a:xfrm>
            <a:off x="10718800" y="4749602"/>
            <a:ext cx="812800" cy="241829"/>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FF8F66"/>
                </a:solidFill>
                <a:latin typeface="IBM Plex Sans" pitchFamily="34" charset="0"/>
                <a:ea typeface="IBM Plex Sans" pitchFamily="34" charset="-122"/>
                <a:cs typeface="IBM Plex Sans" pitchFamily="34" charset="-120"/>
              </a:rPr>
              <a:t>Atelier</a:t>
            </a:r>
            <a:endParaRPr lang="en-US" sz="1200" dirty="0"/>
          </a:p>
        </p:txBody>
      </p:sp>
      <p:sp>
        <p:nvSpPr>
          <p:cNvPr id="24" name="Text 21"/>
          <p:cNvSpPr/>
          <p:nvPr/>
        </p:nvSpPr>
        <p:spPr>
          <a:xfrm>
            <a:off x="1066800" y="5918002"/>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1</a:t>
            </a:r>
            <a:endParaRPr lang="en-US" sz="1200" dirty="0"/>
          </a:p>
        </p:txBody>
      </p:sp>
      <p:sp>
        <p:nvSpPr>
          <p:cNvPr id="25" name="Text 22"/>
          <p:cNvSpPr/>
          <p:nvPr/>
        </p:nvSpPr>
        <p:spPr>
          <a:xfrm>
            <a:off x="3949700" y="5918002"/>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B6E8"/>
                </a:solidFill>
                <a:latin typeface="IBM Plex Sans" pitchFamily="34" charset="0"/>
                <a:ea typeface="IBM Plex Sans" pitchFamily="34" charset="-122"/>
                <a:cs typeface="IBM Plex Sans" pitchFamily="34" charset="-120"/>
              </a:rPr>
              <a:t>JOUR 2</a:t>
            </a:r>
            <a:endParaRPr lang="en-US" sz="1200" dirty="0"/>
          </a:p>
        </p:txBody>
      </p:sp>
      <p:sp>
        <p:nvSpPr>
          <p:cNvPr id="26" name="Text 23"/>
          <p:cNvSpPr/>
          <p:nvPr/>
        </p:nvSpPr>
        <p:spPr>
          <a:xfrm>
            <a:off x="7112000" y="5918002"/>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JOUR 3</a:t>
            </a:r>
            <a:endParaRPr lang="en-US" sz="12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ATELIER DE SYNTHÈSE · MIGRER DE VM VERS KUBERNETES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La grille de migration · questions 1 à 6</a:t>
            </a:r>
            <a:endParaRPr lang="en-US" sz="2800" dirty="0"/>
          </a:p>
        </p:txBody>
      </p:sp>
      <p:sp>
        <p:nvSpPr>
          <p:cNvPr id="4" name="Shape 2"/>
          <p:cNvSpPr/>
          <p:nvPr/>
        </p:nvSpPr>
        <p:spPr>
          <a:xfrm>
            <a:off x="812800" y="1731877"/>
            <a:ext cx="10566400" cy="0"/>
          </a:xfrm>
          <a:prstGeom prst="line">
            <a:avLst/>
          </a:prstGeom>
          <a:noFill/>
          <a:ln w="19050">
            <a:solidFill>
              <a:srgbClr val="0B0748"/>
            </a:solidFill>
            <a:prstDash val="solid"/>
          </a:ln>
        </p:spPr>
      </p:sp>
      <p:sp>
        <p:nvSpPr>
          <p:cNvPr id="5" name="Text 3"/>
          <p:cNvSpPr/>
          <p:nvPr/>
        </p:nvSpPr>
        <p:spPr>
          <a:xfrm>
            <a:off x="939800" y="1468140"/>
            <a:ext cx="3401060"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QUESTION</a:t>
            </a:r>
            <a:endParaRPr lang="en-US" sz="1100" dirty="0"/>
          </a:p>
        </p:txBody>
      </p:sp>
      <p:sp>
        <p:nvSpPr>
          <p:cNvPr id="6" name="Text 4"/>
          <p:cNvSpPr/>
          <p:nvPr/>
        </p:nvSpPr>
        <p:spPr>
          <a:xfrm>
            <a:off x="4394200" y="1468140"/>
            <a:ext cx="2747010"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À REGARDER SUR LA VM</a:t>
            </a:r>
            <a:endParaRPr lang="en-US" sz="1100" dirty="0"/>
          </a:p>
        </p:txBody>
      </p:sp>
      <p:sp>
        <p:nvSpPr>
          <p:cNvPr id="7" name="Text 5"/>
          <p:cNvSpPr/>
          <p:nvPr/>
        </p:nvSpPr>
        <p:spPr>
          <a:xfrm>
            <a:off x="7213600" y="1468140"/>
            <a:ext cx="328333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RÉPONSE KUBERNETES</a:t>
            </a:r>
            <a:endParaRPr lang="en-US" sz="1100" dirty="0"/>
          </a:p>
        </p:txBody>
      </p:sp>
      <p:sp>
        <p:nvSpPr>
          <p:cNvPr id="8" name="Text 6"/>
          <p:cNvSpPr/>
          <p:nvPr/>
        </p:nvSpPr>
        <p:spPr>
          <a:xfrm>
            <a:off x="10553700" y="1468140"/>
            <a:ext cx="749300"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MODULE</a:t>
            </a:r>
            <a:endParaRPr lang="en-US" sz="1100" dirty="0"/>
          </a:p>
        </p:txBody>
      </p:sp>
      <p:sp>
        <p:nvSpPr>
          <p:cNvPr id="9" name="Shape 7"/>
          <p:cNvSpPr/>
          <p:nvPr/>
        </p:nvSpPr>
        <p:spPr>
          <a:xfrm>
            <a:off x="812800" y="1868388"/>
            <a:ext cx="10566400" cy="662199"/>
          </a:xfrm>
          <a:prstGeom prst="rect">
            <a:avLst/>
          </a:prstGeom>
          <a:solidFill>
            <a:srgbClr val="FDFDFF"/>
          </a:solidFill>
          <a:ln/>
        </p:spPr>
      </p:sp>
      <p:sp>
        <p:nvSpPr>
          <p:cNvPr id="10" name="Shape 8"/>
          <p:cNvSpPr/>
          <p:nvPr/>
        </p:nvSpPr>
        <p:spPr>
          <a:xfrm>
            <a:off x="812800" y="2527412"/>
            <a:ext cx="10566400" cy="0"/>
          </a:xfrm>
          <a:prstGeom prst="line">
            <a:avLst/>
          </a:prstGeom>
          <a:noFill/>
          <a:ln w="6350">
            <a:solidFill>
              <a:srgbClr val="E1DFEE"/>
            </a:solidFill>
            <a:prstDash val="solid"/>
          </a:ln>
        </p:spPr>
      </p:sp>
      <p:sp>
        <p:nvSpPr>
          <p:cNvPr id="11" name="Text 9"/>
          <p:cNvSpPr/>
          <p:nvPr/>
        </p:nvSpPr>
        <p:spPr>
          <a:xfrm>
            <a:off x="939800" y="2018209"/>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B0748"/>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Sora" pitchFamily="34" charset="0"/>
                <a:ea typeface="Sora" pitchFamily="34" charset="-122"/>
                <a:cs typeface="Sora" pitchFamily="34" charset="-120"/>
              </a:rPr>
              <a:t>1</a:t>
            </a:r>
            <a:endParaRPr lang="en-US" sz="1200" dirty="0"/>
          </a:p>
        </p:txBody>
      </p:sp>
      <p:sp>
        <p:nvSpPr>
          <p:cNvPr id="12" name="Text 10"/>
          <p:cNvSpPr/>
          <p:nvPr/>
        </p:nvSpPr>
        <p:spPr>
          <a:xfrm>
            <a:off x="1447800" y="1981398"/>
            <a:ext cx="3401060"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Sora" pitchFamily="34" charset="0"/>
                <a:ea typeface="Sora" pitchFamily="34" charset="-122"/>
                <a:cs typeface="Sora" pitchFamily="34" charset="-120"/>
              </a:rPr>
              <a:t>L'application garde-t-elle un état local ?</a:t>
            </a:r>
            <a:endParaRPr lang="en-US" sz="1300" dirty="0"/>
          </a:p>
        </p:txBody>
      </p:sp>
      <p:sp>
        <p:nvSpPr>
          <p:cNvPr id="13" name="Text 11"/>
          <p:cNvSpPr/>
          <p:nvPr/>
        </p:nvSpPr>
        <p:spPr>
          <a:xfrm>
            <a:off x="4902200" y="1990328"/>
            <a:ext cx="274701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Fichiers écrits, sessions en mémoire, base embarquée</a:t>
            </a:r>
            <a:endParaRPr lang="en-US" sz="1200" dirty="0"/>
          </a:p>
        </p:txBody>
      </p:sp>
      <p:sp>
        <p:nvSpPr>
          <p:cNvPr id="14" name="Text 12"/>
          <p:cNvSpPr/>
          <p:nvPr/>
        </p:nvSpPr>
        <p:spPr>
          <a:xfrm>
            <a:off x="7721600" y="1981597"/>
            <a:ext cx="2760091"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0B0748"/>
                </a:solidFill>
                <a:latin typeface="IBM Plex Sans" pitchFamily="34" charset="0"/>
                <a:ea typeface="IBM Plex Sans" pitchFamily="34" charset="-122"/>
                <a:cs typeface="IBM Plex Sans" pitchFamily="34" charset="-120"/>
              </a:rPr>
              <a:t>Sans état : Deployment ; avec état : StatefulSet ou opérateur</a:t>
            </a:r>
            <a:endParaRPr lang="en-US" sz="1250" dirty="0"/>
          </a:p>
        </p:txBody>
      </p:sp>
      <p:sp>
        <p:nvSpPr>
          <p:cNvPr id="15" name="Text 13"/>
          <p:cNvSpPr/>
          <p:nvPr/>
        </p:nvSpPr>
        <p:spPr>
          <a:xfrm>
            <a:off x="10553700" y="2089348"/>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7, 13, 16</a:t>
            </a:r>
            <a:endParaRPr lang="en-US" sz="1200" dirty="0"/>
          </a:p>
        </p:txBody>
      </p:sp>
      <p:sp>
        <p:nvSpPr>
          <p:cNvPr id="16" name="Shape 14"/>
          <p:cNvSpPr/>
          <p:nvPr/>
        </p:nvSpPr>
        <p:spPr>
          <a:xfrm>
            <a:off x="812800" y="3189803"/>
            <a:ext cx="10566400" cy="0"/>
          </a:xfrm>
          <a:prstGeom prst="line">
            <a:avLst/>
          </a:prstGeom>
          <a:noFill/>
          <a:ln w="6350">
            <a:solidFill>
              <a:srgbClr val="E1DFEE"/>
            </a:solidFill>
            <a:prstDash val="solid"/>
          </a:ln>
        </p:spPr>
      </p:sp>
      <p:sp>
        <p:nvSpPr>
          <p:cNvPr id="17" name="Text 15"/>
          <p:cNvSpPr/>
          <p:nvPr/>
        </p:nvSpPr>
        <p:spPr>
          <a:xfrm>
            <a:off x="939800" y="2680295"/>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B0748"/>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Sora" pitchFamily="34" charset="0"/>
                <a:ea typeface="Sora" pitchFamily="34" charset="-122"/>
                <a:cs typeface="Sora" pitchFamily="34" charset="-120"/>
              </a:rPr>
              <a:t>2</a:t>
            </a:r>
            <a:endParaRPr lang="en-US" sz="1200" dirty="0"/>
          </a:p>
        </p:txBody>
      </p:sp>
      <p:sp>
        <p:nvSpPr>
          <p:cNvPr id="18" name="Text 16"/>
          <p:cNvSpPr/>
          <p:nvPr/>
        </p:nvSpPr>
        <p:spPr>
          <a:xfrm>
            <a:off x="1447800" y="2643485"/>
            <a:ext cx="3401060"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Sora" pitchFamily="34" charset="0"/>
                <a:ea typeface="Sora" pitchFamily="34" charset="-122"/>
                <a:cs typeface="Sora" pitchFamily="34" charset="-120"/>
              </a:rPr>
              <a:t>Où vont ses données, en quelle quantité ?</a:t>
            </a:r>
            <a:endParaRPr lang="en-US" sz="1300" dirty="0"/>
          </a:p>
        </p:txBody>
      </p:sp>
      <p:sp>
        <p:nvSpPr>
          <p:cNvPr id="19" name="Text 17"/>
          <p:cNvSpPr/>
          <p:nvPr/>
        </p:nvSpPr>
        <p:spPr>
          <a:xfrm>
            <a:off x="4902200" y="2755305"/>
            <a:ext cx="274701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Volumes, taille, performances disque</a:t>
            </a:r>
            <a:endParaRPr lang="en-US" sz="1200" dirty="0"/>
          </a:p>
        </p:txBody>
      </p:sp>
      <p:sp>
        <p:nvSpPr>
          <p:cNvPr id="20" name="Text 18"/>
          <p:cNvSpPr/>
          <p:nvPr/>
        </p:nvSpPr>
        <p:spPr>
          <a:xfrm>
            <a:off x="7721600" y="2643882"/>
            <a:ext cx="2760091"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0B0748"/>
                </a:solidFill>
                <a:latin typeface="IBM Plex Sans" pitchFamily="34" charset="0"/>
                <a:ea typeface="IBM Plex Sans" pitchFamily="34" charset="-122"/>
                <a:cs typeface="IBM Plex Sans" pitchFamily="34" charset="-120"/>
              </a:rPr>
              <a:t>PVC, StorageClass, mode d'accès, sauvegarde</a:t>
            </a:r>
            <a:endParaRPr lang="en-US" sz="1250" dirty="0"/>
          </a:p>
        </p:txBody>
      </p:sp>
      <p:sp>
        <p:nvSpPr>
          <p:cNvPr id="21" name="Text 19"/>
          <p:cNvSpPr/>
          <p:nvPr/>
        </p:nvSpPr>
        <p:spPr>
          <a:xfrm>
            <a:off x="10553700" y="2751435"/>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16</a:t>
            </a:r>
            <a:endParaRPr lang="en-US" sz="1200" dirty="0"/>
          </a:p>
        </p:txBody>
      </p:sp>
      <p:sp>
        <p:nvSpPr>
          <p:cNvPr id="22" name="Shape 20"/>
          <p:cNvSpPr/>
          <p:nvPr/>
        </p:nvSpPr>
        <p:spPr>
          <a:xfrm>
            <a:off x="812800" y="3192959"/>
            <a:ext cx="10566400" cy="662199"/>
          </a:xfrm>
          <a:prstGeom prst="rect">
            <a:avLst/>
          </a:prstGeom>
          <a:solidFill>
            <a:srgbClr val="FDFDFF"/>
          </a:solidFill>
          <a:ln/>
        </p:spPr>
      </p:sp>
      <p:sp>
        <p:nvSpPr>
          <p:cNvPr id="23" name="Shape 21"/>
          <p:cNvSpPr/>
          <p:nvPr/>
        </p:nvSpPr>
        <p:spPr>
          <a:xfrm>
            <a:off x="812800" y="3851983"/>
            <a:ext cx="10566400" cy="0"/>
          </a:xfrm>
          <a:prstGeom prst="line">
            <a:avLst/>
          </a:prstGeom>
          <a:noFill/>
          <a:ln w="6350">
            <a:solidFill>
              <a:srgbClr val="E1DFEE"/>
            </a:solidFill>
            <a:prstDash val="solid"/>
          </a:ln>
        </p:spPr>
      </p:sp>
      <p:sp>
        <p:nvSpPr>
          <p:cNvPr id="24" name="Text 22"/>
          <p:cNvSpPr/>
          <p:nvPr/>
        </p:nvSpPr>
        <p:spPr>
          <a:xfrm>
            <a:off x="939800" y="334268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B0748"/>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Sora" pitchFamily="34" charset="0"/>
                <a:ea typeface="Sora" pitchFamily="34" charset="-122"/>
                <a:cs typeface="Sora" pitchFamily="34" charset="-120"/>
              </a:rPr>
              <a:t>3</a:t>
            </a:r>
            <a:endParaRPr lang="en-US" sz="1200" dirty="0"/>
          </a:p>
        </p:txBody>
      </p:sp>
      <p:sp>
        <p:nvSpPr>
          <p:cNvPr id="25" name="Text 23"/>
          <p:cNvSpPr/>
          <p:nvPr/>
        </p:nvSpPr>
        <p:spPr>
          <a:xfrm>
            <a:off x="1447800" y="3413125"/>
            <a:ext cx="3401060"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Sora" pitchFamily="34" charset="0"/>
                <a:ea typeface="Sora" pitchFamily="34" charset="-122"/>
                <a:cs typeface="Sora" pitchFamily="34" charset="-120"/>
              </a:rPr>
              <a:t>Comment est-elle configurée ?</a:t>
            </a:r>
            <a:endParaRPr lang="en-US" sz="1300" dirty="0"/>
          </a:p>
        </p:txBody>
      </p:sp>
      <p:sp>
        <p:nvSpPr>
          <p:cNvPr id="26" name="Text 24"/>
          <p:cNvSpPr/>
          <p:nvPr/>
        </p:nvSpPr>
        <p:spPr>
          <a:xfrm>
            <a:off x="4902200" y="3417590"/>
            <a:ext cx="274701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Fichiers de configuration, variables</a:t>
            </a:r>
            <a:endParaRPr lang="en-US" sz="1200" dirty="0"/>
          </a:p>
        </p:txBody>
      </p:sp>
      <p:sp>
        <p:nvSpPr>
          <p:cNvPr id="27" name="Text 25"/>
          <p:cNvSpPr/>
          <p:nvPr/>
        </p:nvSpPr>
        <p:spPr>
          <a:xfrm>
            <a:off x="7721600" y="3413323"/>
            <a:ext cx="2760091" cy="239713"/>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0B0748"/>
                </a:solidFill>
                <a:latin typeface="IBM Plex Sans" pitchFamily="34" charset="0"/>
                <a:ea typeface="IBM Plex Sans" pitchFamily="34" charset="-122"/>
                <a:cs typeface="IBM Plex Sans" pitchFamily="34" charset="-120"/>
              </a:rPr>
              <a:t>ConfigMaps, fichiers montés</a:t>
            </a:r>
            <a:endParaRPr lang="en-US" sz="1250" dirty="0"/>
          </a:p>
        </p:txBody>
      </p:sp>
      <p:sp>
        <p:nvSpPr>
          <p:cNvPr id="28" name="Text 26"/>
          <p:cNvSpPr/>
          <p:nvPr/>
        </p:nvSpPr>
        <p:spPr>
          <a:xfrm>
            <a:off x="10553700" y="3413720"/>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8</a:t>
            </a:r>
            <a:endParaRPr lang="en-US" sz="1200" dirty="0"/>
          </a:p>
        </p:txBody>
      </p:sp>
      <p:sp>
        <p:nvSpPr>
          <p:cNvPr id="29" name="Shape 27"/>
          <p:cNvSpPr/>
          <p:nvPr/>
        </p:nvSpPr>
        <p:spPr>
          <a:xfrm>
            <a:off x="812800" y="4514175"/>
            <a:ext cx="10566400" cy="0"/>
          </a:xfrm>
          <a:prstGeom prst="line">
            <a:avLst/>
          </a:prstGeom>
          <a:noFill/>
          <a:ln w="6350">
            <a:solidFill>
              <a:srgbClr val="E1DFEE"/>
            </a:solidFill>
            <a:prstDash val="solid"/>
          </a:ln>
        </p:spPr>
      </p:sp>
      <p:sp>
        <p:nvSpPr>
          <p:cNvPr id="30" name="Text 28"/>
          <p:cNvSpPr/>
          <p:nvPr/>
        </p:nvSpPr>
        <p:spPr>
          <a:xfrm>
            <a:off x="939800" y="4004965"/>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B0748"/>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Sora" pitchFamily="34" charset="0"/>
                <a:ea typeface="Sora" pitchFamily="34" charset="-122"/>
                <a:cs typeface="Sora" pitchFamily="34" charset="-120"/>
              </a:rPr>
              <a:t>4</a:t>
            </a:r>
            <a:endParaRPr lang="en-US" sz="1200" dirty="0"/>
          </a:p>
        </p:txBody>
      </p:sp>
      <p:sp>
        <p:nvSpPr>
          <p:cNvPr id="31" name="Text 29"/>
          <p:cNvSpPr/>
          <p:nvPr/>
        </p:nvSpPr>
        <p:spPr>
          <a:xfrm>
            <a:off x="1447800" y="4075410"/>
            <a:ext cx="3401060"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Sora" pitchFamily="34" charset="0"/>
                <a:ea typeface="Sora" pitchFamily="34" charset="-122"/>
                <a:cs typeface="Sora" pitchFamily="34" charset="-120"/>
              </a:rPr>
              <a:t>Quels secrets utilise-t-elle ?</a:t>
            </a:r>
            <a:endParaRPr lang="en-US" sz="1300" dirty="0"/>
          </a:p>
        </p:txBody>
      </p:sp>
      <p:sp>
        <p:nvSpPr>
          <p:cNvPr id="32" name="Text 30"/>
          <p:cNvSpPr/>
          <p:nvPr/>
        </p:nvSpPr>
        <p:spPr>
          <a:xfrm>
            <a:off x="4902200" y="4079875"/>
            <a:ext cx="274701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Mots de passe, certificats, jetons</a:t>
            </a:r>
            <a:endParaRPr lang="en-US" sz="1200" dirty="0"/>
          </a:p>
        </p:txBody>
      </p:sp>
      <p:sp>
        <p:nvSpPr>
          <p:cNvPr id="33" name="Text 31"/>
          <p:cNvSpPr/>
          <p:nvPr/>
        </p:nvSpPr>
        <p:spPr>
          <a:xfrm>
            <a:off x="7721600" y="4075609"/>
            <a:ext cx="2760091" cy="239713"/>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0B0748"/>
                </a:solidFill>
                <a:latin typeface="IBM Plex Sans" pitchFamily="34" charset="0"/>
                <a:ea typeface="IBM Plex Sans" pitchFamily="34" charset="-122"/>
                <a:cs typeface="IBM Plex Sans" pitchFamily="34" charset="-120"/>
              </a:rPr>
              <a:t>Secrets, coffre externe, RBAC</a:t>
            </a:r>
            <a:endParaRPr lang="en-US" sz="1250" dirty="0"/>
          </a:p>
        </p:txBody>
      </p:sp>
      <p:sp>
        <p:nvSpPr>
          <p:cNvPr id="34" name="Text 32"/>
          <p:cNvSpPr/>
          <p:nvPr/>
        </p:nvSpPr>
        <p:spPr>
          <a:xfrm>
            <a:off x="10553700" y="4076105"/>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8, 15</a:t>
            </a:r>
            <a:endParaRPr lang="en-US" sz="1200" dirty="0"/>
          </a:p>
        </p:txBody>
      </p:sp>
      <p:sp>
        <p:nvSpPr>
          <p:cNvPr id="35" name="Shape 33"/>
          <p:cNvSpPr/>
          <p:nvPr/>
        </p:nvSpPr>
        <p:spPr>
          <a:xfrm>
            <a:off x="812800" y="4517430"/>
            <a:ext cx="10566400" cy="662305"/>
          </a:xfrm>
          <a:prstGeom prst="rect">
            <a:avLst/>
          </a:prstGeom>
          <a:solidFill>
            <a:srgbClr val="FDFDFF"/>
          </a:solidFill>
          <a:ln/>
        </p:spPr>
      </p:sp>
      <p:sp>
        <p:nvSpPr>
          <p:cNvPr id="36" name="Shape 34"/>
          <p:cNvSpPr/>
          <p:nvPr/>
        </p:nvSpPr>
        <p:spPr>
          <a:xfrm>
            <a:off x="812800" y="5176560"/>
            <a:ext cx="10566400" cy="0"/>
          </a:xfrm>
          <a:prstGeom prst="line">
            <a:avLst/>
          </a:prstGeom>
          <a:noFill/>
          <a:ln w="6350">
            <a:solidFill>
              <a:srgbClr val="E1DFEE"/>
            </a:solidFill>
            <a:prstDash val="solid"/>
          </a:ln>
        </p:spPr>
      </p:sp>
      <p:sp>
        <p:nvSpPr>
          <p:cNvPr id="37" name="Text 35"/>
          <p:cNvSpPr/>
          <p:nvPr/>
        </p:nvSpPr>
        <p:spPr>
          <a:xfrm>
            <a:off x="939800" y="466725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B0748"/>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Sora" pitchFamily="34" charset="0"/>
                <a:ea typeface="Sora" pitchFamily="34" charset="-122"/>
                <a:cs typeface="Sora" pitchFamily="34" charset="-120"/>
              </a:rPr>
              <a:t>5</a:t>
            </a:r>
            <a:endParaRPr lang="en-US" sz="1200" dirty="0"/>
          </a:p>
        </p:txBody>
      </p:sp>
      <p:sp>
        <p:nvSpPr>
          <p:cNvPr id="38" name="Text 36"/>
          <p:cNvSpPr/>
          <p:nvPr/>
        </p:nvSpPr>
        <p:spPr>
          <a:xfrm>
            <a:off x="1447800" y="4737695"/>
            <a:ext cx="3401060"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Sora" pitchFamily="34" charset="0"/>
                <a:ea typeface="Sora" pitchFamily="34" charset="-122"/>
                <a:cs typeface="Sora" pitchFamily="34" charset="-120"/>
              </a:rPr>
              <a:t>Comment sait-on qu'elle fonctionne ?</a:t>
            </a:r>
            <a:endParaRPr lang="en-US" sz="1300" dirty="0"/>
          </a:p>
        </p:txBody>
      </p:sp>
      <p:sp>
        <p:nvSpPr>
          <p:cNvPr id="39" name="Text 37"/>
          <p:cNvSpPr/>
          <p:nvPr/>
        </p:nvSpPr>
        <p:spPr>
          <a:xfrm>
            <a:off x="4902200" y="4742160"/>
            <a:ext cx="274701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Supervision actuelle, URL de santé</a:t>
            </a:r>
            <a:endParaRPr lang="en-US" sz="1200" dirty="0"/>
          </a:p>
        </p:txBody>
      </p:sp>
      <p:sp>
        <p:nvSpPr>
          <p:cNvPr id="40" name="Text 38"/>
          <p:cNvSpPr/>
          <p:nvPr/>
        </p:nvSpPr>
        <p:spPr>
          <a:xfrm>
            <a:off x="7721600" y="4630638"/>
            <a:ext cx="2760091"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0B0748"/>
                </a:solidFill>
                <a:latin typeface="IBM Plex Sans" pitchFamily="34" charset="0"/>
                <a:ea typeface="IBM Plex Sans" pitchFamily="34" charset="-122"/>
                <a:cs typeface="IBM Plex Sans" pitchFamily="34" charset="-120"/>
              </a:rPr>
              <a:t>startupProbe, readinessProbe, livenessProbe</a:t>
            </a:r>
            <a:endParaRPr lang="en-US" sz="1250" dirty="0"/>
          </a:p>
        </p:txBody>
      </p:sp>
      <p:sp>
        <p:nvSpPr>
          <p:cNvPr id="41" name="Text 39"/>
          <p:cNvSpPr/>
          <p:nvPr/>
        </p:nvSpPr>
        <p:spPr>
          <a:xfrm>
            <a:off x="10553700" y="4738390"/>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9</a:t>
            </a:r>
            <a:endParaRPr lang="en-US" sz="1200" dirty="0"/>
          </a:p>
        </p:txBody>
      </p:sp>
      <p:sp>
        <p:nvSpPr>
          <p:cNvPr id="42" name="Shape 40"/>
          <p:cNvSpPr/>
          <p:nvPr/>
        </p:nvSpPr>
        <p:spPr>
          <a:xfrm>
            <a:off x="812800" y="5838845"/>
            <a:ext cx="10566400" cy="0"/>
          </a:xfrm>
          <a:prstGeom prst="line">
            <a:avLst/>
          </a:prstGeom>
          <a:noFill/>
          <a:ln w="6350">
            <a:solidFill>
              <a:srgbClr val="E1DFEE"/>
            </a:solidFill>
            <a:prstDash val="solid"/>
          </a:ln>
        </p:spPr>
      </p:sp>
      <p:sp>
        <p:nvSpPr>
          <p:cNvPr id="43" name="Text 41"/>
          <p:cNvSpPr/>
          <p:nvPr/>
        </p:nvSpPr>
        <p:spPr>
          <a:xfrm>
            <a:off x="939800" y="5329535"/>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B0748"/>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Sora" pitchFamily="34" charset="0"/>
                <a:ea typeface="Sora" pitchFamily="34" charset="-122"/>
                <a:cs typeface="Sora" pitchFamily="34" charset="-120"/>
              </a:rPr>
              <a:t>6</a:t>
            </a:r>
            <a:endParaRPr lang="en-US" sz="1200" dirty="0"/>
          </a:p>
        </p:txBody>
      </p:sp>
      <p:sp>
        <p:nvSpPr>
          <p:cNvPr id="44" name="Text 42"/>
          <p:cNvSpPr/>
          <p:nvPr/>
        </p:nvSpPr>
        <p:spPr>
          <a:xfrm>
            <a:off x="1447800" y="5400080"/>
            <a:ext cx="3454400"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Sora" pitchFamily="34" charset="0"/>
                <a:ea typeface="Sora" pitchFamily="34" charset="-122"/>
                <a:cs typeface="Sora" pitchFamily="34" charset="-120"/>
              </a:rPr>
              <a:t>De quelles ressources a-t-elle besoin ?</a:t>
            </a:r>
            <a:endParaRPr lang="en-US" sz="1300" dirty="0"/>
          </a:p>
        </p:txBody>
      </p:sp>
      <p:sp>
        <p:nvSpPr>
          <p:cNvPr id="45" name="Text 43"/>
          <p:cNvSpPr/>
          <p:nvPr/>
        </p:nvSpPr>
        <p:spPr>
          <a:xfrm>
            <a:off x="4902200" y="5301655"/>
            <a:ext cx="274701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CPU et mémoire réellement consommés</a:t>
            </a:r>
            <a:endParaRPr lang="en-US" sz="1200" dirty="0"/>
          </a:p>
        </p:txBody>
      </p:sp>
      <p:sp>
        <p:nvSpPr>
          <p:cNvPr id="46" name="Text 44"/>
          <p:cNvSpPr/>
          <p:nvPr/>
        </p:nvSpPr>
        <p:spPr>
          <a:xfrm>
            <a:off x="7721600" y="5400278"/>
            <a:ext cx="2760091" cy="239713"/>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0B0748"/>
                </a:solidFill>
                <a:latin typeface="IBM Plex Sans" pitchFamily="34" charset="0"/>
                <a:ea typeface="IBM Plex Sans" pitchFamily="34" charset="-122"/>
                <a:cs typeface="IBM Plex Sans" pitchFamily="34" charset="-120"/>
              </a:rPr>
              <a:t>requests, limits, classe QoS</a:t>
            </a:r>
            <a:endParaRPr lang="en-US" sz="1250" dirty="0"/>
          </a:p>
        </p:txBody>
      </p:sp>
      <p:sp>
        <p:nvSpPr>
          <p:cNvPr id="47" name="Text 45"/>
          <p:cNvSpPr/>
          <p:nvPr/>
        </p:nvSpPr>
        <p:spPr>
          <a:xfrm>
            <a:off x="10553700" y="5400675"/>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11</a:t>
            </a:r>
            <a:endParaRPr lang="en-US" sz="1200" dirty="0"/>
          </a:p>
        </p:txBody>
      </p:sp>
      <p:pic>
        <p:nvPicPr>
          <p:cNvPr id="48"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49" name="Text 46"/>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50" name="Image 1" descr="Parcours : atelier de synthèse, seize modules vus">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ATELIER DE SYNTHÈSE · MIGRER DE VM VERS KUBERNETES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La grille de migration · questions 7 à 11</a:t>
            </a:r>
            <a:endParaRPr lang="en-US" sz="2800" dirty="0"/>
          </a:p>
        </p:txBody>
      </p:sp>
      <p:sp>
        <p:nvSpPr>
          <p:cNvPr id="4" name="Shape 2"/>
          <p:cNvSpPr/>
          <p:nvPr/>
        </p:nvSpPr>
        <p:spPr>
          <a:xfrm>
            <a:off x="812800" y="1731877"/>
            <a:ext cx="10566400" cy="0"/>
          </a:xfrm>
          <a:prstGeom prst="line">
            <a:avLst/>
          </a:prstGeom>
          <a:noFill/>
          <a:ln w="19050">
            <a:solidFill>
              <a:srgbClr val="0B0748"/>
            </a:solidFill>
            <a:prstDash val="solid"/>
          </a:ln>
        </p:spPr>
      </p:sp>
      <p:sp>
        <p:nvSpPr>
          <p:cNvPr id="5" name="Text 3"/>
          <p:cNvSpPr/>
          <p:nvPr/>
        </p:nvSpPr>
        <p:spPr>
          <a:xfrm>
            <a:off x="939800" y="1468140"/>
            <a:ext cx="3401060"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QUESTION</a:t>
            </a:r>
            <a:endParaRPr lang="en-US" sz="1100" dirty="0"/>
          </a:p>
        </p:txBody>
      </p:sp>
      <p:sp>
        <p:nvSpPr>
          <p:cNvPr id="6" name="Text 4"/>
          <p:cNvSpPr/>
          <p:nvPr/>
        </p:nvSpPr>
        <p:spPr>
          <a:xfrm>
            <a:off x="4394200" y="1468140"/>
            <a:ext cx="2747010"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À REGARDER SUR LA VM</a:t>
            </a:r>
            <a:endParaRPr lang="en-US" sz="1100" dirty="0"/>
          </a:p>
        </p:txBody>
      </p:sp>
      <p:sp>
        <p:nvSpPr>
          <p:cNvPr id="7" name="Text 5"/>
          <p:cNvSpPr/>
          <p:nvPr/>
        </p:nvSpPr>
        <p:spPr>
          <a:xfrm>
            <a:off x="7213600" y="1468140"/>
            <a:ext cx="328333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RÉPONSE KUBERNETES</a:t>
            </a:r>
            <a:endParaRPr lang="en-US" sz="1100" dirty="0"/>
          </a:p>
        </p:txBody>
      </p:sp>
      <p:sp>
        <p:nvSpPr>
          <p:cNvPr id="8" name="Text 6"/>
          <p:cNvSpPr/>
          <p:nvPr/>
        </p:nvSpPr>
        <p:spPr>
          <a:xfrm>
            <a:off x="10553700" y="1468140"/>
            <a:ext cx="749300"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B8421A"/>
                </a:solidFill>
                <a:latin typeface="IBM Plex Sans" pitchFamily="34" charset="0"/>
                <a:ea typeface="IBM Plex Sans" pitchFamily="34" charset="-122"/>
                <a:cs typeface="IBM Plex Sans" pitchFamily="34" charset="-120"/>
              </a:rPr>
              <a:t>MODULE</a:t>
            </a:r>
            <a:endParaRPr lang="en-US" sz="1100" dirty="0"/>
          </a:p>
        </p:txBody>
      </p:sp>
      <p:sp>
        <p:nvSpPr>
          <p:cNvPr id="9" name="Shape 7"/>
          <p:cNvSpPr/>
          <p:nvPr/>
        </p:nvSpPr>
        <p:spPr>
          <a:xfrm>
            <a:off x="812800" y="1868388"/>
            <a:ext cx="10566400" cy="794702"/>
          </a:xfrm>
          <a:prstGeom prst="rect">
            <a:avLst/>
          </a:prstGeom>
          <a:solidFill>
            <a:srgbClr val="FDFDFF"/>
          </a:solidFill>
          <a:ln/>
        </p:spPr>
      </p:sp>
      <p:sp>
        <p:nvSpPr>
          <p:cNvPr id="10" name="Shape 8"/>
          <p:cNvSpPr/>
          <p:nvPr/>
        </p:nvSpPr>
        <p:spPr>
          <a:xfrm>
            <a:off x="812800" y="2659916"/>
            <a:ext cx="10566400" cy="0"/>
          </a:xfrm>
          <a:prstGeom prst="line">
            <a:avLst/>
          </a:prstGeom>
          <a:noFill/>
          <a:ln w="6350">
            <a:solidFill>
              <a:srgbClr val="E1DFEE"/>
            </a:solidFill>
            <a:prstDash val="solid"/>
          </a:ln>
        </p:spPr>
      </p:sp>
      <p:sp>
        <p:nvSpPr>
          <p:cNvPr id="11" name="Text 9"/>
          <p:cNvSpPr/>
          <p:nvPr/>
        </p:nvSpPr>
        <p:spPr>
          <a:xfrm>
            <a:off x="939800" y="2084487"/>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B0748"/>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Sora" pitchFamily="34" charset="0"/>
                <a:ea typeface="Sora" pitchFamily="34" charset="-122"/>
                <a:cs typeface="Sora" pitchFamily="34" charset="-120"/>
              </a:rPr>
              <a:t>7</a:t>
            </a:r>
            <a:endParaRPr lang="en-US" sz="1200" dirty="0"/>
          </a:p>
        </p:txBody>
      </p:sp>
      <p:sp>
        <p:nvSpPr>
          <p:cNvPr id="12" name="Text 10"/>
          <p:cNvSpPr/>
          <p:nvPr/>
        </p:nvSpPr>
        <p:spPr>
          <a:xfrm>
            <a:off x="1447800" y="2154932"/>
            <a:ext cx="3401060"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Sora" pitchFamily="34" charset="0"/>
                <a:ea typeface="Sora" pitchFamily="34" charset="-122"/>
                <a:cs typeface="Sora" pitchFamily="34" charset="-120"/>
              </a:rPr>
              <a:t>Qui l'appelle, qui appelle-t-elle ?</a:t>
            </a:r>
            <a:endParaRPr lang="en-US" sz="1300" dirty="0"/>
          </a:p>
        </p:txBody>
      </p:sp>
      <p:sp>
        <p:nvSpPr>
          <p:cNvPr id="13" name="Text 11"/>
          <p:cNvSpPr/>
          <p:nvPr/>
        </p:nvSpPr>
        <p:spPr>
          <a:xfrm>
            <a:off x="4902200" y="2159397"/>
            <a:ext cx="274701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Flux réseau, ports, règles de pare-feu</a:t>
            </a:r>
            <a:endParaRPr lang="en-US" sz="1200" dirty="0"/>
          </a:p>
        </p:txBody>
      </p:sp>
      <p:sp>
        <p:nvSpPr>
          <p:cNvPr id="14" name="Text 12"/>
          <p:cNvSpPr/>
          <p:nvPr/>
        </p:nvSpPr>
        <p:spPr>
          <a:xfrm>
            <a:off x="7721600" y="2047875"/>
            <a:ext cx="2760091"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0B0748"/>
                </a:solidFill>
                <a:latin typeface="IBM Plex Sans" pitchFamily="34" charset="0"/>
                <a:ea typeface="IBM Plex Sans" pitchFamily="34" charset="-122"/>
                <a:cs typeface="IBM Plex Sans" pitchFamily="34" charset="-120"/>
              </a:rPr>
              <a:t>Services, DNS, entrée HTTP, NetworkPolicies</a:t>
            </a:r>
            <a:endParaRPr lang="en-US" sz="1250" dirty="0"/>
          </a:p>
        </p:txBody>
      </p:sp>
      <p:sp>
        <p:nvSpPr>
          <p:cNvPr id="15" name="Text 13"/>
          <p:cNvSpPr/>
          <p:nvPr/>
        </p:nvSpPr>
        <p:spPr>
          <a:xfrm>
            <a:off x="10553700" y="2155627"/>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7, 15</a:t>
            </a:r>
            <a:endParaRPr lang="en-US" sz="1200" dirty="0"/>
          </a:p>
        </p:txBody>
      </p:sp>
      <p:sp>
        <p:nvSpPr>
          <p:cNvPr id="16" name="Shape 14"/>
          <p:cNvSpPr/>
          <p:nvPr/>
        </p:nvSpPr>
        <p:spPr>
          <a:xfrm>
            <a:off x="812800" y="3454863"/>
            <a:ext cx="10566400" cy="0"/>
          </a:xfrm>
          <a:prstGeom prst="line">
            <a:avLst/>
          </a:prstGeom>
          <a:noFill/>
          <a:ln w="6350">
            <a:solidFill>
              <a:srgbClr val="E1DFEE"/>
            </a:solidFill>
            <a:prstDash val="solid"/>
          </a:ln>
        </p:spPr>
      </p:sp>
      <p:sp>
        <p:nvSpPr>
          <p:cNvPr id="17" name="Text 15"/>
          <p:cNvSpPr/>
          <p:nvPr/>
        </p:nvSpPr>
        <p:spPr>
          <a:xfrm>
            <a:off x="939800" y="287913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B0748"/>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Sora" pitchFamily="34" charset="0"/>
                <a:ea typeface="Sora" pitchFamily="34" charset="-122"/>
                <a:cs typeface="Sora" pitchFamily="34" charset="-120"/>
              </a:rPr>
              <a:t>8</a:t>
            </a:r>
            <a:endParaRPr lang="en-US" sz="1200" dirty="0"/>
          </a:p>
        </p:txBody>
      </p:sp>
      <p:sp>
        <p:nvSpPr>
          <p:cNvPr id="18" name="Text 16"/>
          <p:cNvSpPr/>
          <p:nvPr/>
        </p:nvSpPr>
        <p:spPr>
          <a:xfrm>
            <a:off x="1447800" y="2842220"/>
            <a:ext cx="3401060"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Sora" pitchFamily="34" charset="0"/>
                <a:ea typeface="Sora" pitchFamily="34" charset="-122"/>
                <a:cs typeface="Sora" pitchFamily="34" charset="-120"/>
              </a:rPr>
              <a:t>Comment survit-elle à une panne, comment passe-t-elle à l'échelle ?</a:t>
            </a:r>
            <a:endParaRPr lang="en-US" sz="1300" dirty="0"/>
          </a:p>
        </p:txBody>
      </p:sp>
      <p:sp>
        <p:nvSpPr>
          <p:cNvPr id="19" name="Text 17"/>
          <p:cNvSpPr/>
          <p:nvPr/>
        </p:nvSpPr>
        <p:spPr>
          <a:xfrm>
            <a:off x="4902200" y="2954040"/>
            <a:ext cx="274701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Redondance actuelle, pics de charge</a:t>
            </a:r>
            <a:endParaRPr lang="en-US" sz="1200" dirty="0"/>
          </a:p>
        </p:txBody>
      </p:sp>
      <p:sp>
        <p:nvSpPr>
          <p:cNvPr id="20" name="Text 18"/>
          <p:cNvSpPr/>
          <p:nvPr/>
        </p:nvSpPr>
        <p:spPr>
          <a:xfrm>
            <a:off x="7721600" y="2842716"/>
            <a:ext cx="2760091"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0B0748"/>
                </a:solidFill>
                <a:latin typeface="IBM Plex Sans" pitchFamily="34" charset="0"/>
                <a:ea typeface="IBM Plex Sans" pitchFamily="34" charset="-122"/>
                <a:cs typeface="IBM Plex Sans" pitchFamily="34" charset="-120"/>
              </a:rPr>
              <a:t>Réplicas, anti-affinité, PodDisruptionBudget, HPA</a:t>
            </a:r>
            <a:endParaRPr lang="en-US" sz="1250" dirty="0"/>
          </a:p>
        </p:txBody>
      </p:sp>
      <p:sp>
        <p:nvSpPr>
          <p:cNvPr id="21" name="Text 19"/>
          <p:cNvSpPr/>
          <p:nvPr/>
        </p:nvSpPr>
        <p:spPr>
          <a:xfrm>
            <a:off x="10553700" y="2950170"/>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5, 14</a:t>
            </a:r>
            <a:endParaRPr lang="en-US" sz="1200" dirty="0"/>
          </a:p>
        </p:txBody>
      </p:sp>
      <p:sp>
        <p:nvSpPr>
          <p:cNvPr id="22" name="Shape 20"/>
          <p:cNvSpPr/>
          <p:nvPr/>
        </p:nvSpPr>
        <p:spPr>
          <a:xfrm>
            <a:off x="812800" y="3457972"/>
            <a:ext cx="10566400" cy="794702"/>
          </a:xfrm>
          <a:prstGeom prst="rect">
            <a:avLst/>
          </a:prstGeom>
          <a:solidFill>
            <a:srgbClr val="FDFDFF"/>
          </a:solidFill>
          <a:ln/>
        </p:spPr>
      </p:sp>
      <p:sp>
        <p:nvSpPr>
          <p:cNvPr id="23" name="Shape 21"/>
          <p:cNvSpPr/>
          <p:nvPr/>
        </p:nvSpPr>
        <p:spPr>
          <a:xfrm>
            <a:off x="812800" y="4249499"/>
            <a:ext cx="10566400" cy="0"/>
          </a:xfrm>
          <a:prstGeom prst="line">
            <a:avLst/>
          </a:prstGeom>
          <a:noFill/>
          <a:ln w="6350">
            <a:solidFill>
              <a:srgbClr val="E1DFEE"/>
            </a:solidFill>
            <a:prstDash val="solid"/>
          </a:ln>
        </p:spPr>
      </p:sp>
      <p:sp>
        <p:nvSpPr>
          <p:cNvPr id="24" name="Text 22"/>
          <p:cNvSpPr/>
          <p:nvPr/>
        </p:nvSpPr>
        <p:spPr>
          <a:xfrm>
            <a:off x="939800" y="3673872"/>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B0748"/>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Sora" pitchFamily="34" charset="0"/>
                <a:ea typeface="Sora" pitchFamily="34" charset="-122"/>
                <a:cs typeface="Sora" pitchFamily="34" charset="-120"/>
              </a:rPr>
              <a:t>9</a:t>
            </a:r>
            <a:endParaRPr lang="en-US" sz="1200" dirty="0"/>
          </a:p>
        </p:txBody>
      </p:sp>
      <p:sp>
        <p:nvSpPr>
          <p:cNvPr id="25" name="Text 23"/>
          <p:cNvSpPr/>
          <p:nvPr/>
        </p:nvSpPr>
        <p:spPr>
          <a:xfrm>
            <a:off x="1447800" y="3744416"/>
            <a:ext cx="3401060"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Sora" pitchFamily="34" charset="0"/>
                <a:ea typeface="Sora" pitchFamily="34" charset="-122"/>
                <a:cs typeface="Sora" pitchFamily="34" charset="-120"/>
              </a:rPr>
              <a:t>Comment l'observe-t-on ?</a:t>
            </a:r>
            <a:endParaRPr lang="en-US" sz="1300" dirty="0"/>
          </a:p>
        </p:txBody>
      </p:sp>
      <p:sp>
        <p:nvSpPr>
          <p:cNvPr id="26" name="Text 24"/>
          <p:cNvSpPr/>
          <p:nvPr/>
        </p:nvSpPr>
        <p:spPr>
          <a:xfrm>
            <a:off x="4902200" y="3748782"/>
            <a:ext cx="274701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Fichiers de logs, métriques</a:t>
            </a:r>
            <a:endParaRPr lang="en-US" sz="1200" dirty="0"/>
          </a:p>
        </p:txBody>
      </p:sp>
      <p:sp>
        <p:nvSpPr>
          <p:cNvPr id="27" name="Text 25"/>
          <p:cNvSpPr/>
          <p:nvPr/>
        </p:nvSpPr>
        <p:spPr>
          <a:xfrm>
            <a:off x="7721600" y="3637459"/>
            <a:ext cx="2760091"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0B0748"/>
                </a:solidFill>
                <a:latin typeface="IBM Plex Sans" pitchFamily="34" charset="0"/>
                <a:ea typeface="IBM Plex Sans" pitchFamily="34" charset="-122"/>
                <a:cs typeface="IBM Plex Sans" pitchFamily="34" charset="-120"/>
              </a:rPr>
              <a:t>Logs sur la sortie standard, métriques Prometheus</a:t>
            </a:r>
            <a:endParaRPr lang="en-US" sz="1250" dirty="0"/>
          </a:p>
        </p:txBody>
      </p:sp>
      <p:sp>
        <p:nvSpPr>
          <p:cNvPr id="28" name="Text 26"/>
          <p:cNvSpPr/>
          <p:nvPr/>
        </p:nvSpPr>
        <p:spPr>
          <a:xfrm>
            <a:off x="10553700" y="3745012"/>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10</a:t>
            </a:r>
            <a:endParaRPr lang="en-US" sz="1200" dirty="0"/>
          </a:p>
        </p:txBody>
      </p:sp>
      <p:sp>
        <p:nvSpPr>
          <p:cNvPr id="29" name="Shape 27"/>
          <p:cNvSpPr/>
          <p:nvPr/>
        </p:nvSpPr>
        <p:spPr>
          <a:xfrm>
            <a:off x="812800" y="5044142"/>
            <a:ext cx="10566400" cy="0"/>
          </a:xfrm>
          <a:prstGeom prst="line">
            <a:avLst/>
          </a:prstGeom>
          <a:noFill/>
          <a:ln w="6350">
            <a:solidFill>
              <a:srgbClr val="E1DFEE"/>
            </a:solidFill>
            <a:prstDash val="solid"/>
          </a:ln>
        </p:spPr>
      </p:sp>
      <p:sp>
        <p:nvSpPr>
          <p:cNvPr id="30" name="Text 28"/>
          <p:cNvSpPr/>
          <p:nvPr/>
        </p:nvSpPr>
        <p:spPr>
          <a:xfrm>
            <a:off x="939800" y="4468713"/>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B0748"/>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Sora" pitchFamily="34" charset="0"/>
                <a:ea typeface="Sora" pitchFamily="34" charset="-122"/>
                <a:cs typeface="Sora" pitchFamily="34" charset="-120"/>
              </a:rPr>
              <a:t>10</a:t>
            </a:r>
            <a:endParaRPr lang="en-US" sz="1200" dirty="0"/>
          </a:p>
        </p:txBody>
      </p:sp>
      <p:sp>
        <p:nvSpPr>
          <p:cNvPr id="31" name="Text 29"/>
          <p:cNvSpPr/>
          <p:nvPr/>
        </p:nvSpPr>
        <p:spPr>
          <a:xfrm>
            <a:off x="1447800" y="4539159"/>
            <a:ext cx="3454400"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Sora" pitchFamily="34" charset="0"/>
                <a:ea typeface="Sora" pitchFamily="34" charset="-122"/>
                <a:cs typeface="Sora" pitchFamily="34" charset="-120"/>
              </a:rPr>
              <a:t>Quels droits lui faut-il sur la machine ?</a:t>
            </a:r>
            <a:endParaRPr lang="en-US" sz="1300" dirty="0"/>
          </a:p>
        </p:txBody>
      </p:sp>
      <p:sp>
        <p:nvSpPr>
          <p:cNvPr id="32" name="Text 30"/>
          <p:cNvSpPr/>
          <p:nvPr/>
        </p:nvSpPr>
        <p:spPr>
          <a:xfrm>
            <a:off x="4902200" y="4440734"/>
            <a:ext cx="274701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Exécution en root, ports bas, accès système</a:t>
            </a:r>
            <a:endParaRPr lang="en-US" sz="1200" dirty="0"/>
          </a:p>
        </p:txBody>
      </p:sp>
      <p:sp>
        <p:nvSpPr>
          <p:cNvPr id="33" name="Text 31"/>
          <p:cNvSpPr/>
          <p:nvPr/>
        </p:nvSpPr>
        <p:spPr>
          <a:xfrm>
            <a:off x="7721600" y="4539159"/>
            <a:ext cx="2760091" cy="239713"/>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0B0748"/>
                </a:solidFill>
                <a:latin typeface="IBM Plex Sans" pitchFamily="34" charset="0"/>
                <a:ea typeface="IBM Plex Sans" pitchFamily="34" charset="-122"/>
                <a:cs typeface="IBM Plex Sans" pitchFamily="34" charset="-120"/>
              </a:rPr>
              <a:t>securityContext, Pod Security</a:t>
            </a:r>
            <a:endParaRPr lang="en-US" sz="1250" dirty="0"/>
          </a:p>
        </p:txBody>
      </p:sp>
      <p:sp>
        <p:nvSpPr>
          <p:cNvPr id="34" name="Text 32"/>
          <p:cNvSpPr/>
          <p:nvPr/>
        </p:nvSpPr>
        <p:spPr>
          <a:xfrm>
            <a:off x="10553700" y="4539853"/>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15</a:t>
            </a:r>
            <a:endParaRPr lang="en-US" sz="1200" dirty="0"/>
          </a:p>
        </p:txBody>
      </p:sp>
      <p:sp>
        <p:nvSpPr>
          <p:cNvPr id="35" name="Shape 33"/>
          <p:cNvSpPr/>
          <p:nvPr/>
        </p:nvSpPr>
        <p:spPr>
          <a:xfrm>
            <a:off x="812800" y="5047357"/>
            <a:ext cx="10566400" cy="794702"/>
          </a:xfrm>
          <a:prstGeom prst="rect">
            <a:avLst/>
          </a:prstGeom>
          <a:solidFill>
            <a:srgbClr val="FDFDFF"/>
          </a:solidFill>
          <a:ln/>
        </p:spPr>
      </p:sp>
      <p:sp>
        <p:nvSpPr>
          <p:cNvPr id="36" name="Shape 34"/>
          <p:cNvSpPr/>
          <p:nvPr/>
        </p:nvSpPr>
        <p:spPr>
          <a:xfrm>
            <a:off x="812800" y="5838884"/>
            <a:ext cx="10566400" cy="0"/>
          </a:xfrm>
          <a:prstGeom prst="line">
            <a:avLst/>
          </a:prstGeom>
          <a:noFill/>
          <a:ln w="6350">
            <a:solidFill>
              <a:srgbClr val="E1DFEE"/>
            </a:solidFill>
            <a:prstDash val="solid"/>
          </a:ln>
        </p:spPr>
      </p:sp>
      <p:sp>
        <p:nvSpPr>
          <p:cNvPr id="37" name="Text 35"/>
          <p:cNvSpPr/>
          <p:nvPr/>
        </p:nvSpPr>
        <p:spPr>
          <a:xfrm>
            <a:off x="939800" y="5263257"/>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B0748"/>
          </a:solidFill>
          <a:ln/>
        </p:spPr>
        <p:txBody>
          <a:bodyPr wrap="square" lIns="0" tIns="0" rIns="0" bIns="0" rtlCol="0" anchor="t">
            <a:normAutofit/>
          </a:bodyPr>
          <a:lstStyle/>
          <a:p>
            <a:pPr algn="ctr" indent="0" marL="0">
              <a:lnSpc>
                <a:spcPts val="2796"/>
              </a:lnSpc>
              <a:buNone/>
            </a:pPr>
            <a:r>
              <a:rPr lang="en-US" sz="1200" b="1" dirty="0">
                <a:solidFill>
                  <a:srgbClr val="FDFDFF"/>
                </a:solidFill>
                <a:latin typeface="Sora" pitchFamily="34" charset="0"/>
                <a:ea typeface="Sora" pitchFamily="34" charset="-122"/>
                <a:cs typeface="Sora" pitchFamily="34" charset="-120"/>
              </a:rPr>
              <a:t>11</a:t>
            </a:r>
            <a:endParaRPr lang="en-US" sz="1200" dirty="0"/>
          </a:p>
        </p:txBody>
      </p:sp>
      <p:sp>
        <p:nvSpPr>
          <p:cNvPr id="38" name="Text 36"/>
          <p:cNvSpPr/>
          <p:nvPr/>
        </p:nvSpPr>
        <p:spPr>
          <a:xfrm>
            <a:off x="1447800" y="5333802"/>
            <a:ext cx="3401060"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B0748"/>
                </a:solidFill>
                <a:latin typeface="Sora" pitchFamily="34" charset="0"/>
                <a:ea typeface="Sora" pitchFamily="34" charset="-122"/>
                <a:cs typeface="Sora" pitchFamily="34" charset="-120"/>
              </a:rPr>
              <a:t>Comment est-elle livrée ?</a:t>
            </a:r>
            <a:endParaRPr lang="en-US" sz="1300" dirty="0"/>
          </a:p>
        </p:txBody>
      </p:sp>
      <p:sp>
        <p:nvSpPr>
          <p:cNvPr id="39" name="Text 37"/>
          <p:cNvSpPr/>
          <p:nvPr/>
        </p:nvSpPr>
        <p:spPr>
          <a:xfrm>
            <a:off x="4902200" y="5338266"/>
            <a:ext cx="274701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3C6B"/>
                </a:solidFill>
                <a:latin typeface="IBM Plex Sans" pitchFamily="34" charset="0"/>
                <a:ea typeface="IBM Plex Sans" pitchFamily="34" charset="-122"/>
                <a:cs typeface="IBM Plex Sans" pitchFamily="34" charset="-120"/>
              </a:rPr>
              <a:t>Paquets, scripts d'installation</a:t>
            </a:r>
            <a:endParaRPr lang="en-US" sz="1200" dirty="0"/>
          </a:p>
        </p:txBody>
      </p:sp>
      <p:sp>
        <p:nvSpPr>
          <p:cNvPr id="40" name="Text 38"/>
          <p:cNvSpPr/>
          <p:nvPr/>
        </p:nvSpPr>
        <p:spPr>
          <a:xfrm>
            <a:off x="7721600" y="5226943"/>
            <a:ext cx="2760091"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0B0748"/>
                </a:solidFill>
                <a:latin typeface="IBM Plex Sans" pitchFamily="34" charset="0"/>
                <a:ea typeface="IBM Plex Sans" pitchFamily="34" charset="-122"/>
                <a:cs typeface="IBM Plex Sans" pitchFamily="34" charset="-120"/>
              </a:rPr>
              <a:t>Image versionnée, Helm ou Kustomize, GitOps</a:t>
            </a:r>
            <a:endParaRPr lang="en-US" sz="1250" dirty="0"/>
          </a:p>
        </p:txBody>
      </p:sp>
      <p:sp>
        <p:nvSpPr>
          <p:cNvPr id="41" name="Text 39"/>
          <p:cNvSpPr/>
          <p:nvPr/>
        </p:nvSpPr>
        <p:spPr>
          <a:xfrm>
            <a:off x="10553700" y="5334397"/>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1A"/>
                </a:solidFill>
                <a:latin typeface="Sora" pitchFamily="34" charset="0"/>
                <a:ea typeface="Sora" pitchFamily="34" charset="-122"/>
                <a:cs typeface="Sora" pitchFamily="34" charset="-120"/>
              </a:rPr>
              <a:t>6, 13</a:t>
            </a:r>
            <a:endParaRPr lang="en-US" sz="1200" dirty="0"/>
          </a:p>
        </p:txBody>
      </p:sp>
      <p:pic>
        <p:nvPicPr>
          <p:cNvPr id="42"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43" name="Text 4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44" name="Image 1" descr="Parcours : atelier de synthèse, seize modules vus">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ATELIER DE SYNTHÈSE · MIGRER DE VM VERS KUBERNETES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Exemple : un cluster Elasticsearch</a:t>
            </a:r>
            <a:endParaRPr lang="en-US" sz="2800" dirty="0"/>
          </a:p>
        </p:txBody>
      </p:sp>
      <p:sp>
        <p:nvSpPr>
          <p:cNvPr id="4" name="Text 2"/>
          <p:cNvSpPr/>
          <p:nvPr/>
        </p:nvSpPr>
        <p:spPr>
          <a:xfrm>
            <a:off x="812800" y="1544340"/>
            <a:ext cx="60434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Elasticsearch a un </a:t>
            </a:r>
            <a:r>
              <a:rPr lang="en-US" sz="1500" b="1" dirty="0">
                <a:solidFill>
                  <a:srgbClr val="0B0748"/>
                </a:solidFill>
                <a:latin typeface="IBM Plex Sans" pitchFamily="34" charset="0"/>
                <a:ea typeface="IBM Plex Sans" pitchFamily="34" charset="-122"/>
                <a:cs typeface="IBM Plex Sans" pitchFamily="34" charset="-120"/>
              </a:rPr>
              <a:t>état</a:t>
            </a:r>
            <a:r>
              <a:rPr lang="en-US" sz="1500" dirty="0">
                <a:solidFill>
                  <a:srgbClr val="0B0748"/>
                </a:solidFill>
                <a:latin typeface="IBM Plex Sans" pitchFamily="34" charset="0"/>
                <a:ea typeface="IBM Plex Sans" pitchFamily="34" charset="-122"/>
                <a:cs typeface="IBM Plex Sans" pitchFamily="34" charset="-120"/>
              </a:rPr>
              <a:t> (ses index), des </a:t>
            </a:r>
            <a:r>
              <a:rPr lang="en-US" sz="1500" b="1" dirty="0">
                <a:solidFill>
                  <a:srgbClr val="0B0748"/>
                </a:solidFill>
                <a:latin typeface="IBM Plex Sans" pitchFamily="34" charset="0"/>
                <a:ea typeface="IBM Plex Sans" pitchFamily="34" charset="-122"/>
                <a:cs typeface="IBM Plex Sans" pitchFamily="34" charset="-120"/>
              </a:rPr>
              <a:t>besoins mémoire élevés</a:t>
            </a:r>
            <a:r>
              <a:rPr lang="en-US" sz="1500" dirty="0">
                <a:solidFill>
                  <a:srgbClr val="0B0748"/>
                </a:solidFill>
                <a:latin typeface="IBM Plex Sans" pitchFamily="34" charset="0"/>
                <a:ea typeface="IBM Plex Sans" pitchFamily="34" charset="-122"/>
                <a:cs typeface="IBM Plex Sans" pitchFamily="34" charset="-120"/>
              </a:rPr>
              <a:t> et une </a:t>
            </a:r>
            <a:r>
              <a:rPr lang="en-US" sz="1500" b="1" dirty="0">
                <a:solidFill>
                  <a:srgbClr val="0B0748"/>
                </a:solidFill>
                <a:latin typeface="IBM Plex Sans" pitchFamily="34" charset="0"/>
                <a:ea typeface="IBM Plex Sans" pitchFamily="34" charset="-122"/>
                <a:cs typeface="IBM Plex Sans" pitchFamily="34" charset="-120"/>
              </a:rPr>
              <a:t>topologie</a:t>
            </a:r>
            <a:r>
              <a:rPr lang="en-US" sz="1500" dirty="0">
                <a:solidFill>
                  <a:srgbClr val="0B0748"/>
                </a:solidFill>
                <a:latin typeface="IBM Plex Sans" pitchFamily="34" charset="0"/>
                <a:ea typeface="IBM Plex Sans" pitchFamily="34" charset="-122"/>
                <a:cs typeface="IBM Plex Sans" pitchFamily="34" charset="-120"/>
              </a:rPr>
              <a:t> à respecter.</a:t>
            </a:r>
            <a:endParaRPr lang="en-US" sz="1500" dirty="0"/>
          </a:p>
        </p:txBody>
      </p:sp>
      <p:sp>
        <p:nvSpPr>
          <p:cNvPr id="5" name="Text 3"/>
          <p:cNvSpPr/>
          <p:nvPr/>
        </p:nvSpPr>
        <p:spPr>
          <a:xfrm>
            <a:off x="812800" y="2204740"/>
            <a:ext cx="6043422" cy="771207"/>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3F3C6B"/>
                </a:solidFill>
                <a:latin typeface="IBM Plex Sans" pitchFamily="34" charset="0"/>
                <a:ea typeface="IBM Plex Sans" pitchFamily="34" charset="-122"/>
                <a:cs typeface="IBM Plex Sans" pitchFamily="34" charset="-120"/>
              </a:rPr>
              <a:t>C'est le cas typique où un opérateur fait mieux qu'un StatefulSet écrit à la main. Elastic publie le sien : </a:t>
            </a:r>
            <a:r>
              <a:rPr lang="en-US" sz="1350" b="1" dirty="0">
                <a:solidFill>
                  <a:srgbClr val="3F3C6B"/>
                </a:solidFill>
                <a:latin typeface="IBM Plex Sans" pitchFamily="34" charset="0"/>
                <a:ea typeface="IBM Plex Sans" pitchFamily="34" charset="-122"/>
                <a:cs typeface="IBM Plex Sans" pitchFamily="34" charset="-120"/>
              </a:rPr>
              <a:t>ECK</a:t>
            </a:r>
            <a:r>
              <a:rPr lang="en-US" sz="1350" dirty="0">
                <a:solidFill>
                  <a:srgbClr val="3F3C6B"/>
                </a:solidFill>
                <a:latin typeface="IBM Plex Sans" pitchFamily="34" charset="0"/>
                <a:ea typeface="IBM Plex Sans" pitchFamily="34" charset="-122"/>
                <a:cs typeface="IBM Plex Sans" pitchFamily="34" charset="-120"/>
              </a:rPr>
              <a:t> (Elastic Cloud on Kubernetes), qui s'installe avec Helm.</a:t>
            </a:r>
            <a:endParaRPr lang="en-US" sz="1350" dirty="0"/>
          </a:p>
        </p:txBody>
      </p:sp>
      <p:sp>
        <p:nvSpPr>
          <p:cNvPr id="6" name="Shape 4"/>
          <p:cNvSpPr/>
          <p:nvPr/>
        </p:nvSpPr>
        <p:spPr>
          <a:xfrm>
            <a:off x="6934200" y="1544340"/>
            <a:ext cx="4445000" cy="3154680"/>
          </a:xfrm>
          <a:prstGeom prst="roundRect">
            <a:avLst>
              <a:gd name="adj" fmla="val 4831"/>
            </a:avLst>
          </a:prstGeom>
          <a:solidFill>
            <a:srgbClr val="0B0748"/>
          </a:solidFill>
          <a:ln/>
        </p:spPr>
      </p:sp>
      <p:sp>
        <p:nvSpPr>
          <p:cNvPr id="7" name="Text 5"/>
          <p:cNvSpPr/>
          <p:nvPr/>
        </p:nvSpPr>
        <p:spPr>
          <a:xfrm>
            <a:off x="7162800" y="1747540"/>
            <a:ext cx="4107434" cy="4521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F66"/>
                </a:solidFill>
                <a:latin typeface="IBM Plex Sans" pitchFamily="34" charset="0"/>
                <a:ea typeface="IBM Plex Sans" pitchFamily="34" charset="-122"/>
                <a:cs typeface="IBM Plex Sans" pitchFamily="34" charset="-120"/>
              </a:rPr>
              <a:t>DÉCRIRE LE CLUSTER VOULU, L'OPÉRATEUR CRÉE :</a:t>
            </a:r>
            <a:endParaRPr lang="en-US" sz="1200" dirty="0"/>
          </a:p>
        </p:txBody>
      </p:sp>
      <p:sp>
        <p:nvSpPr>
          <p:cNvPr id="8" name="Text 6"/>
          <p:cNvSpPr/>
          <p:nvPr/>
        </p:nvSpPr>
        <p:spPr>
          <a:xfrm>
            <a:off x="7162800" y="2288580"/>
            <a:ext cx="1325880" cy="340360"/>
          </a:xfrm>
          <a:prstGeom prst="roundRect">
            <a:avLst>
              <a:gd name="adj" fmla="val 22388"/>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5F4F9"/>
                </a:solidFill>
                <a:latin typeface="JetBrains Mono" pitchFamily="49" charset="0"/>
                <a:ea typeface="JetBrains Mono" pitchFamily="49" charset="-122"/>
                <a:cs typeface="JetBrains Mono" pitchFamily="49" charset="-120"/>
              </a:rPr>
              <a:t>StatefulSets</a:t>
            </a:r>
            <a:endParaRPr lang="en-US" sz="1200" dirty="0"/>
          </a:p>
        </p:txBody>
      </p:sp>
      <p:sp>
        <p:nvSpPr>
          <p:cNvPr id="9" name="Text 7"/>
          <p:cNvSpPr/>
          <p:nvPr/>
        </p:nvSpPr>
        <p:spPr>
          <a:xfrm>
            <a:off x="8564880" y="2288580"/>
            <a:ext cx="960120" cy="340360"/>
          </a:xfrm>
          <a:prstGeom prst="roundRect">
            <a:avLst>
              <a:gd name="adj" fmla="val 22388"/>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5F4F9"/>
                </a:solidFill>
                <a:latin typeface="JetBrains Mono" pitchFamily="49" charset="0"/>
                <a:ea typeface="JetBrains Mono" pitchFamily="49" charset="-122"/>
                <a:cs typeface="JetBrains Mono" pitchFamily="49" charset="-120"/>
              </a:rPr>
              <a:t>Services</a:t>
            </a:r>
            <a:endParaRPr lang="en-US" sz="1200" dirty="0"/>
          </a:p>
        </p:txBody>
      </p:sp>
      <p:sp>
        <p:nvSpPr>
          <p:cNvPr id="10" name="Text 8"/>
          <p:cNvSpPr/>
          <p:nvPr/>
        </p:nvSpPr>
        <p:spPr>
          <a:xfrm>
            <a:off x="9601200" y="2288580"/>
            <a:ext cx="868680" cy="340360"/>
          </a:xfrm>
          <a:prstGeom prst="roundRect">
            <a:avLst>
              <a:gd name="adj" fmla="val 22388"/>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5F4F9"/>
                </a:solidFill>
                <a:latin typeface="JetBrains Mono" pitchFamily="49" charset="0"/>
                <a:ea typeface="JetBrains Mono" pitchFamily="49" charset="-122"/>
                <a:cs typeface="JetBrains Mono" pitchFamily="49" charset="-120"/>
              </a:rPr>
              <a:t>Secrets</a:t>
            </a:r>
            <a:endParaRPr lang="en-US" sz="1200" dirty="0"/>
          </a:p>
        </p:txBody>
      </p:sp>
      <p:sp>
        <p:nvSpPr>
          <p:cNvPr id="11" name="Text 9"/>
          <p:cNvSpPr/>
          <p:nvPr/>
        </p:nvSpPr>
        <p:spPr>
          <a:xfrm>
            <a:off x="7162800" y="2705100"/>
            <a:ext cx="1234440" cy="340360"/>
          </a:xfrm>
          <a:prstGeom prst="roundRect">
            <a:avLst>
              <a:gd name="adj" fmla="val 22388"/>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5F4F9"/>
                </a:solidFill>
                <a:latin typeface="JetBrains Mono" pitchFamily="49" charset="0"/>
                <a:ea typeface="JetBrains Mono" pitchFamily="49" charset="-122"/>
                <a:cs typeface="JetBrains Mono" pitchFamily="49" charset="-120"/>
              </a:rPr>
              <a:t>Certificats</a:t>
            </a:r>
            <a:endParaRPr lang="en-US" sz="1200" dirty="0"/>
          </a:p>
        </p:txBody>
      </p:sp>
      <p:sp>
        <p:nvSpPr>
          <p:cNvPr id="12" name="Text 10"/>
          <p:cNvSpPr/>
          <p:nvPr/>
        </p:nvSpPr>
        <p:spPr>
          <a:xfrm>
            <a:off x="8473440" y="2705100"/>
            <a:ext cx="1965960" cy="340360"/>
          </a:xfrm>
          <a:prstGeom prst="roundRect">
            <a:avLst>
              <a:gd name="adj" fmla="val 22388"/>
            </a:avLst>
          </a:prstGeom>
          <a:solidFill>
            <a:srgbClr val="1D1870"/>
          </a:solidFill>
          <a:ln/>
        </p:spPr>
        <p:txBody>
          <a:bodyPr wrap="none" lIns="0" tIns="0" rIns="0" bIns="0" rtlCol="0" anchor="ctr">
            <a:normAutofit/>
          </a:bodyPr>
          <a:lstStyle/>
          <a:p>
            <a:pPr algn="ctr" indent="0" marL="0">
              <a:lnSpc>
                <a:spcPts val="1680"/>
              </a:lnSpc>
              <a:buNone/>
            </a:pPr>
            <a:r>
              <a:rPr lang="en-US" sz="1200" b="1" dirty="0">
                <a:solidFill>
                  <a:srgbClr val="F5F4F9"/>
                </a:solidFill>
                <a:latin typeface="JetBrains Mono" pitchFamily="49" charset="0"/>
                <a:ea typeface="JetBrains Mono" pitchFamily="49" charset="-122"/>
                <a:cs typeface="JetBrains Mono" pitchFamily="49" charset="-120"/>
              </a:rPr>
              <a:t>PodDisruptionBudget</a:t>
            </a:r>
            <a:endParaRPr lang="en-US" sz="1200" dirty="0"/>
          </a:p>
        </p:txBody>
      </p:sp>
      <p:sp>
        <p:nvSpPr>
          <p:cNvPr id="13" name="Text 11"/>
          <p:cNvSpPr/>
          <p:nvPr/>
        </p:nvSpPr>
        <p:spPr>
          <a:xfrm>
            <a:off x="7162800" y="3159720"/>
            <a:ext cx="4107434"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CEAFF"/>
                </a:solidFill>
                <a:latin typeface="IBM Plex Sans" pitchFamily="34" charset="0"/>
                <a:ea typeface="IBM Plex Sans" pitchFamily="34" charset="-122"/>
                <a:cs typeface="IBM Plex Sans" pitchFamily="34" charset="-120"/>
              </a:rPr>
              <a:t>puis gère les mises à jour nœud par nœud.</a:t>
            </a:r>
            <a:endParaRPr lang="en-US" sz="1350" dirty="0"/>
          </a:p>
        </p:txBody>
      </p:sp>
      <p:sp>
        <p:nvSpPr>
          <p:cNvPr id="14" name="Text 12"/>
          <p:cNvSpPr/>
          <p:nvPr/>
        </p:nvSpPr>
        <p:spPr>
          <a:xfrm>
            <a:off x="812800" y="4902200"/>
            <a:ext cx="10566400" cy="939800"/>
          </a:xfrm>
          <a:prstGeom prst="roundRect">
            <a:avLst>
              <a:gd name="adj" fmla="val 10811"/>
            </a:avLst>
          </a:prstGeom>
          <a:solidFill>
            <a:srgbClr val="0B0748"/>
          </a:solidFill>
          <a:ln/>
        </p:spPr>
        <p:txBody>
          <a:bodyPr wrap="none" lIns="160742" tIns="84542" rIns="0" bIns="84542" rtlCol="0" anchor="ctr">
            <a:normAutofit/>
          </a:bodyPr>
          <a:lstStyle/>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helm repo add elastic https://helm.elastic.co</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helm repo update</a:t>
            </a:r>
            <a:endParaRPr lang="en-US" sz="1200" dirty="0"/>
          </a:p>
          <a:p>
            <a:pPr algn="l" indent="0" marL="0">
              <a:lnSpc>
                <a:spcPts val="1800"/>
              </a:lnSpc>
              <a:buNone/>
            </a:pPr>
            <a:r>
              <a:rPr lang="en-US" sz="1200" dirty="0">
                <a:solidFill>
                  <a:srgbClr val="ECEAFF"/>
                </a:solidFill>
                <a:latin typeface="JetBrains Mono" pitchFamily="49" charset="0"/>
                <a:ea typeface="JetBrains Mono" pitchFamily="49" charset="-122"/>
                <a:cs typeface="JetBrains Mono" pitchFamily="49" charset="-120"/>
              </a:rPr>
              <a:t>helm install elastic-operator elastic/eck-operator -n elastic-system --create-namespace</a:t>
            </a:r>
            <a:endParaRPr lang="en-US" sz="1200" dirty="0"/>
          </a:p>
        </p:txBody>
      </p:sp>
      <p:pic>
        <p:nvPicPr>
          <p:cNvPr id="15"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6" name="Text 13"/>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7" name="Image 1" descr="Parcours : atelier de synthèse, seize modules vus">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ATELIER DE SYNTHÈSE · MIGRER DE VM VERS KUBERNETES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Le cluster voulu, décrit pour ECK</a:t>
            </a:r>
            <a:endParaRPr lang="en-US" sz="2800" dirty="0"/>
          </a:p>
        </p:txBody>
      </p:sp>
      <p:sp>
        <p:nvSpPr>
          <p:cNvPr id="4" name="Text 2"/>
          <p:cNvSpPr/>
          <p:nvPr/>
        </p:nvSpPr>
        <p:spPr>
          <a:xfrm>
            <a:off x="812800" y="1544340"/>
            <a:ext cx="4445000" cy="4297680"/>
          </a:xfrm>
          <a:prstGeom prst="roundRect">
            <a:avLst>
              <a:gd name="adj" fmla="val 2364"/>
            </a:avLst>
          </a:prstGeom>
          <a:solidFill>
            <a:srgbClr val="0B0748"/>
          </a:solidFill>
          <a:ln/>
        </p:spPr>
        <p:txBody>
          <a:bodyPr wrap="none" lIns="148042" tIns="97242" rIns="25360" bIns="97242" rtlCol="0" anchor="t">
            <a:normAutofit/>
          </a:bodyPr>
          <a:lstStyle/>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apiVersion: elasticsearch.k8s.elastic.co/v1</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kind: </a:t>
            </a:r>
            <a:r>
              <a:rPr lang="en-US" sz="1100" dirty="0">
                <a:solidFill>
                  <a:srgbClr val="FFB08F"/>
                </a:solidFill>
                <a:latin typeface="JetBrains Mono" pitchFamily="49" charset="0"/>
                <a:ea typeface="JetBrains Mono" pitchFamily="49" charset="-122"/>
                <a:cs typeface="JetBrains Mono" pitchFamily="49" charset="-120"/>
              </a:rPr>
              <a:t>Elasticsearch</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metadata:</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name: logs</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namespace: observabilite</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spec:</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version: &lt;version d'Elasticsearch cible&gt;</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nodeSets:</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 name: donnees</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count: 3</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podTemplate:</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spec:</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containers:</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 name: elasticsearch</a:t>
            </a:r>
            <a:endParaRPr lang="en-US" sz="1100" dirty="0"/>
          </a:p>
        </p:txBody>
      </p:sp>
      <p:sp>
        <p:nvSpPr>
          <p:cNvPr id="5" name="Text 3"/>
          <p:cNvSpPr/>
          <p:nvPr/>
        </p:nvSpPr>
        <p:spPr>
          <a:xfrm>
            <a:off x="5410200" y="1544340"/>
            <a:ext cx="5969000" cy="4297680"/>
          </a:xfrm>
          <a:prstGeom prst="roundRect">
            <a:avLst>
              <a:gd name="adj" fmla="val 2364"/>
            </a:avLst>
          </a:prstGeom>
          <a:solidFill>
            <a:srgbClr val="0B0748"/>
          </a:solidFill>
          <a:ln/>
        </p:spPr>
        <p:txBody>
          <a:bodyPr wrap="none" lIns="148042" tIns="97242" rIns="0" bIns="97242" rtlCol="0" anchor="ctr">
            <a:normAutofit/>
          </a:bodyPr>
          <a:lstStyle/>
          <a:p>
            <a:pPr algn="l" indent="0" marL="0">
              <a:lnSpc>
                <a:spcPts val="1518"/>
              </a:lnSpc>
              <a:buNone/>
            </a:pPr>
            <a:r>
              <a:rPr lang="en-US" sz="1100" dirty="0">
                <a:solidFill>
                  <a:srgbClr val="9A96D0"/>
                </a:solidFill>
                <a:latin typeface="JetBrains Mono" pitchFamily="49" charset="0"/>
                <a:ea typeface="JetBrains Mono" pitchFamily="49" charset="-122"/>
                <a:cs typeface="JetBrains Mono" pitchFamily="49" charset="-120"/>
              </a:rPr>
              <a:t># … suite du conteneur elasticsearch</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resources:</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requests:</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cpu: "1"</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memory: 4Gi</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limits:</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cpu: "1"</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9A96D0"/>
                </a:solidFill>
                <a:latin typeface="JetBrains Mono" pitchFamily="49" charset="0"/>
                <a:ea typeface="JetBrains Mono" pitchFamily="49" charset="-122"/>
                <a:cs typeface="JetBrains Mono" pitchFamily="49" charset="-120"/>
              </a:rPr>
              <a:t># le heap Java est dimensionné à partir de cette limite :</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FFB08F"/>
                </a:solidFill>
                <a:latin typeface="JetBrains Mono" pitchFamily="49" charset="0"/>
                <a:ea typeface="JetBrains Mono" pitchFamily="49" charset="-122"/>
                <a:cs typeface="JetBrains Mono" pitchFamily="49" charset="-120"/>
              </a:rPr>
              <a:t>memory: 4Gi</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volumeClaimTemplates:</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 metadata:</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a:t>
            </a:r>
            <a:r>
              <a:rPr lang="en-US" sz="1100" dirty="0">
                <a:solidFill>
                  <a:srgbClr val="9A96D0"/>
                </a:solidFill>
                <a:latin typeface="JetBrains Mono" pitchFamily="49" charset="0"/>
                <a:ea typeface="JetBrains Mono" pitchFamily="49" charset="-122"/>
                <a:cs typeface="JetBrains Mono" pitchFamily="49" charset="-120"/>
              </a:rPr>
              <a:t># nom attendu par ECK pour le dossier des données :</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name: elasticsearch-data</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spec:</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accessModes: ["ReadWriteOnce"]</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storageClassName: &lt;classe de stockage rapide&gt;</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resources:</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requests:</a:t>
            </a:r>
            <a:endParaRPr lang="en-US" sz="1100" dirty="0"/>
          </a:p>
          <a:p>
            <a:pPr algn="l" indent="0" marL="0">
              <a:lnSpc>
                <a:spcPts val="1518"/>
              </a:lnSpc>
              <a:buNone/>
            </a:pPr>
            <a:r>
              <a:rPr lang="en-US" sz="1100" dirty="0">
                <a:solidFill>
                  <a:srgbClr val="ECEAFF"/>
                </a:solidFill>
                <a:latin typeface="JetBrains Mono" pitchFamily="49" charset="0"/>
                <a:ea typeface="JetBrains Mono" pitchFamily="49" charset="-122"/>
                <a:cs typeface="JetBrains Mono" pitchFamily="49" charset="-120"/>
              </a:rPr>
              <a:t>            storage: 100Gi</a:t>
            </a:r>
            <a:endParaRPr lang="en-US" sz="1100" dirty="0"/>
          </a:p>
        </p:txBody>
      </p:sp>
      <p:pic>
        <p:nvPicPr>
          <p:cNvPr id="6"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7" name="Text 4"/>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8" name="Image 1" descr="Parcours : atelier de synthèse, seize modules vus">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ATELIER DE SYNTHÈSE · MIGRER DE VM VERS KUBERNETES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Points d'attention pour cette migration</a:t>
            </a:r>
            <a:endParaRPr lang="en-US" sz="2800" dirty="0"/>
          </a:p>
        </p:txBody>
      </p:sp>
      <p:sp>
        <p:nvSpPr>
          <p:cNvPr id="4" name="Shape 2"/>
          <p:cNvSpPr/>
          <p:nvPr/>
        </p:nvSpPr>
        <p:spPr>
          <a:xfrm>
            <a:off x="815975" y="1496715"/>
            <a:ext cx="3422650" cy="2091690"/>
          </a:xfrm>
          <a:prstGeom prst="roundRect">
            <a:avLst>
              <a:gd name="adj" fmla="val 5920"/>
            </a:avLst>
          </a:prstGeom>
          <a:solidFill>
            <a:srgbClr val="FDFDFF"/>
          </a:solidFill>
          <a:ln w="6350">
            <a:solidFill>
              <a:srgbClr val="E1DFEE"/>
            </a:solidFill>
            <a:prstDash val="solid"/>
          </a:ln>
        </p:spPr>
      </p:sp>
      <p:pic>
        <p:nvPicPr>
          <p:cNvPr id="5" name="Image 0" descr="Settings">    </p:cNvPr>
          <p:cNvPicPr>
            <a:picLocks noChangeAspect="1"/>
          </p:cNvPicPr>
          <p:nvPr/>
        </p:nvPicPr>
        <p:blipFill>
          <a:blip r:embed="rId1"/>
          <a:srcRect l="0" r="0" t="-286" b="-286"/>
          <a:stretch/>
        </p:blipFill>
        <p:spPr>
          <a:xfrm>
            <a:off x="1010391" y="1678484"/>
            <a:ext cx="254000" cy="223520"/>
          </a:xfrm>
          <a:prstGeom prst="rect">
            <a:avLst/>
          </a:prstGeom>
        </p:spPr>
      </p:pic>
      <p:sp>
        <p:nvSpPr>
          <p:cNvPr id="6" name="Text 3"/>
          <p:cNvSpPr/>
          <p:nvPr/>
        </p:nvSpPr>
        <p:spPr>
          <a:xfrm>
            <a:off x="1010391" y="1978223"/>
            <a:ext cx="3124833" cy="234950"/>
          </a:xfrm>
          <a:prstGeom prst="rect">
            <a:avLst/>
          </a:prstGeom>
          <a:noFill/>
          <a:ln/>
        </p:spPr>
        <p:txBody>
          <a:bodyPr wrap="square" lIns="0" tIns="0" rIns="0" bIns="0" rtlCol="0" anchor="t">
            <a:normAutofit/>
          </a:bodyPr>
          <a:lstStyle/>
          <a:p>
            <a:pPr algn="l" indent="0" marL="0">
              <a:lnSpc>
                <a:spcPts val="1670"/>
              </a:lnSpc>
              <a:buNone/>
            </a:pPr>
            <a:r>
              <a:rPr lang="en-US" sz="1336" b="1" dirty="0">
                <a:solidFill>
                  <a:srgbClr val="0B0748"/>
                </a:solidFill>
                <a:latin typeface="Sora" pitchFamily="34" charset="0"/>
                <a:ea typeface="Sora" pitchFamily="34" charset="-122"/>
                <a:cs typeface="Sora" pitchFamily="34" charset="-120"/>
              </a:rPr>
              <a:t>Paramètre noyau</a:t>
            </a:r>
            <a:endParaRPr lang="en-US" sz="1336" dirty="0"/>
          </a:p>
        </p:txBody>
      </p:sp>
      <p:sp>
        <p:nvSpPr>
          <p:cNvPr id="7" name="Text 4"/>
          <p:cNvSpPr/>
          <p:nvPr/>
        </p:nvSpPr>
        <p:spPr>
          <a:xfrm>
            <a:off x="1010391" y="2263973"/>
            <a:ext cx="3124833" cy="1168294"/>
          </a:xfrm>
          <a:prstGeom prst="rect">
            <a:avLst/>
          </a:prstGeom>
          <a:noFill/>
          <a:ln/>
        </p:spPr>
        <p:txBody>
          <a:bodyPr wrap="square" lIns="0" tIns="0" rIns="0" bIns="0" rtlCol="0" anchor="t">
            <a:normAutofit/>
          </a:bodyPr>
          <a:lstStyle/>
          <a:p>
            <a:pPr algn="l" indent="0" marL="0">
              <a:lnSpc>
                <a:spcPts val="1502"/>
              </a:lnSpc>
              <a:buNone/>
            </a:pPr>
            <a:r>
              <a:rPr lang="en-US" sz="1058" dirty="0">
                <a:solidFill>
                  <a:srgbClr val="3F3C6B"/>
                </a:solidFill>
                <a:latin typeface="IBM Plex Sans" pitchFamily="34" charset="0"/>
                <a:ea typeface="IBM Plex Sans" pitchFamily="34" charset="-122"/>
                <a:cs typeface="IBM Plex Sans" pitchFamily="34" charset="-120"/>
              </a:rPr>
              <a:t>En production, Elasticsearch exige vm.max_map_count à 262144 au moins sur chaque nœud : réglé sur les nœuds, ou par un conteneur d'initialisation privilégié. node.store.allow_mmap: false le contourne pour des tests.</a:t>
            </a:r>
            <a:endParaRPr lang="en-US" sz="1058" dirty="0"/>
          </a:p>
        </p:txBody>
      </p:sp>
      <p:sp>
        <p:nvSpPr>
          <p:cNvPr id="8" name="Shape 5"/>
          <p:cNvSpPr/>
          <p:nvPr/>
        </p:nvSpPr>
        <p:spPr>
          <a:xfrm>
            <a:off x="4384675" y="1496715"/>
            <a:ext cx="3422650" cy="2091690"/>
          </a:xfrm>
          <a:prstGeom prst="roundRect">
            <a:avLst>
              <a:gd name="adj" fmla="val 5920"/>
            </a:avLst>
          </a:prstGeom>
          <a:solidFill>
            <a:srgbClr val="FDFDFF"/>
          </a:solidFill>
          <a:ln w="6350">
            <a:solidFill>
              <a:srgbClr val="E1DFEE"/>
            </a:solidFill>
            <a:prstDash val="solid"/>
          </a:ln>
        </p:spPr>
      </p:sp>
      <p:pic>
        <p:nvPicPr>
          <p:cNvPr id="9" name="Image 1" descr="Activity">    </p:cNvPr>
          <p:cNvPicPr>
            <a:picLocks noChangeAspect="1"/>
          </p:cNvPicPr>
          <p:nvPr/>
        </p:nvPicPr>
        <p:blipFill>
          <a:blip r:embed="rId2"/>
          <a:srcRect l="0" r="0" t="0" b="0"/>
          <a:stretch/>
        </p:blipFill>
        <p:spPr>
          <a:xfrm>
            <a:off x="4579091" y="1678484"/>
            <a:ext cx="254000" cy="254000"/>
          </a:xfrm>
          <a:prstGeom prst="rect">
            <a:avLst/>
          </a:prstGeom>
        </p:spPr>
      </p:pic>
      <p:sp>
        <p:nvSpPr>
          <p:cNvPr id="10" name="Text 6"/>
          <p:cNvSpPr/>
          <p:nvPr/>
        </p:nvSpPr>
        <p:spPr>
          <a:xfrm>
            <a:off x="4579091" y="2008684"/>
            <a:ext cx="312483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B0748"/>
                </a:solidFill>
                <a:latin typeface="Sora" pitchFamily="34" charset="0"/>
                <a:ea typeface="Sora" pitchFamily="34" charset="-122"/>
                <a:cs typeface="Sora" pitchFamily="34" charset="-120"/>
              </a:rPr>
              <a:t>Mémoire</a:t>
            </a:r>
            <a:endParaRPr lang="en-US" sz="1500" dirty="0"/>
          </a:p>
        </p:txBody>
      </p:sp>
      <p:sp>
        <p:nvSpPr>
          <p:cNvPr id="11" name="Text 7"/>
          <p:cNvSpPr/>
          <p:nvPr/>
        </p:nvSpPr>
        <p:spPr>
          <a:xfrm>
            <a:off x="4579091" y="2323009"/>
            <a:ext cx="3124833" cy="891117"/>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3F3C6B"/>
                </a:solidFill>
                <a:latin typeface="IBM Plex Sans" pitchFamily="34" charset="0"/>
                <a:ea typeface="IBM Plex Sans" pitchFamily="34" charset="-122"/>
                <a:cs typeface="IBM Plex Sans" pitchFamily="34" charset="-120"/>
              </a:rPr>
              <a:t>La limite mémoire du conteneur fixe la taille du heap Java. Requests égales aux limits, pour le CPU comme pour la mémoire : classe QoS Guaranteed.</a:t>
            </a:r>
            <a:endParaRPr lang="en-US" sz="1200" dirty="0"/>
          </a:p>
        </p:txBody>
      </p:sp>
      <p:sp>
        <p:nvSpPr>
          <p:cNvPr id="12" name="Shape 8"/>
          <p:cNvSpPr/>
          <p:nvPr/>
        </p:nvSpPr>
        <p:spPr>
          <a:xfrm>
            <a:off x="7953375" y="1496715"/>
            <a:ext cx="3422650" cy="2091690"/>
          </a:xfrm>
          <a:prstGeom prst="roundRect">
            <a:avLst>
              <a:gd name="adj" fmla="val 5920"/>
            </a:avLst>
          </a:prstGeom>
          <a:solidFill>
            <a:srgbClr val="FDFDFF"/>
          </a:solidFill>
          <a:ln w="6350">
            <a:solidFill>
              <a:srgbClr val="E1DFEE"/>
            </a:solidFill>
            <a:prstDash val="solid"/>
          </a:ln>
        </p:spPr>
      </p:sp>
      <p:pic>
        <p:nvPicPr>
          <p:cNvPr id="13" name="Image 2" descr="Database">    </p:cNvPr>
          <p:cNvPicPr>
            <a:picLocks noChangeAspect="1"/>
          </p:cNvPicPr>
          <p:nvPr/>
        </p:nvPicPr>
        <p:blipFill>
          <a:blip r:embed="rId3"/>
          <a:srcRect l="0" r="0" t="0" b="0"/>
          <a:stretch/>
        </p:blipFill>
        <p:spPr>
          <a:xfrm>
            <a:off x="8147791" y="1678484"/>
            <a:ext cx="254000" cy="254000"/>
          </a:xfrm>
          <a:prstGeom prst="rect">
            <a:avLst/>
          </a:prstGeom>
        </p:spPr>
      </p:pic>
      <p:sp>
        <p:nvSpPr>
          <p:cNvPr id="14" name="Text 9"/>
          <p:cNvSpPr/>
          <p:nvPr/>
        </p:nvSpPr>
        <p:spPr>
          <a:xfrm>
            <a:off x="8147791" y="2008684"/>
            <a:ext cx="312483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B0748"/>
                </a:solidFill>
                <a:latin typeface="Sora" pitchFamily="34" charset="0"/>
                <a:ea typeface="Sora" pitchFamily="34" charset="-122"/>
                <a:cs typeface="Sora" pitchFamily="34" charset="-120"/>
              </a:rPr>
              <a:t>Stockage</a:t>
            </a:r>
            <a:endParaRPr lang="en-US" sz="1500" dirty="0"/>
          </a:p>
        </p:txBody>
      </p:sp>
      <p:sp>
        <p:nvSpPr>
          <p:cNvPr id="15" name="Text 10"/>
          <p:cNvSpPr/>
          <p:nvPr/>
        </p:nvSpPr>
        <p:spPr>
          <a:xfrm>
            <a:off x="8147791" y="2323009"/>
            <a:ext cx="3124833" cy="674688"/>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3F3C6B"/>
                </a:solidFill>
                <a:latin typeface="IBM Plex Sans" pitchFamily="34" charset="0"/>
                <a:ea typeface="IBM Plex Sans" pitchFamily="34" charset="-122"/>
                <a:cs typeface="IBM Plex Sans" pitchFamily="34" charset="-120"/>
              </a:rPr>
              <a:t>Un volume par nœud Elasticsearch, sur une classe performante. Prévoyez la capacité et les snapshots vers un stockage objet.</a:t>
            </a:r>
            <a:endParaRPr lang="en-US" sz="1200" dirty="0"/>
          </a:p>
        </p:txBody>
      </p:sp>
      <p:sp>
        <p:nvSpPr>
          <p:cNvPr id="16" name="Shape 11"/>
          <p:cNvSpPr/>
          <p:nvPr/>
        </p:nvSpPr>
        <p:spPr>
          <a:xfrm>
            <a:off x="815975" y="3747095"/>
            <a:ext cx="5207000" cy="2091690"/>
          </a:xfrm>
          <a:prstGeom prst="roundRect">
            <a:avLst>
              <a:gd name="adj" fmla="val 5920"/>
            </a:avLst>
          </a:prstGeom>
          <a:solidFill>
            <a:srgbClr val="FDFDFF"/>
          </a:solidFill>
          <a:ln w="6350">
            <a:solidFill>
              <a:srgbClr val="E1DFEE"/>
            </a:solidFill>
            <a:prstDash val="solid"/>
          </a:ln>
        </p:spPr>
      </p:sp>
      <p:pic>
        <p:nvPicPr>
          <p:cNvPr id="17" name="Image 3" descr="Globe">    </p:cNvPr>
          <p:cNvPicPr>
            <a:picLocks noChangeAspect="1"/>
          </p:cNvPicPr>
          <p:nvPr/>
        </p:nvPicPr>
        <p:blipFill>
          <a:blip r:embed="rId4"/>
          <a:srcRect l="0" r="0" t="0" b="0"/>
          <a:stretch/>
        </p:blipFill>
        <p:spPr>
          <a:xfrm>
            <a:off x="1010391" y="3928963"/>
            <a:ext cx="254000" cy="254000"/>
          </a:xfrm>
          <a:prstGeom prst="rect">
            <a:avLst/>
          </a:prstGeom>
        </p:spPr>
      </p:pic>
      <p:sp>
        <p:nvSpPr>
          <p:cNvPr id="18" name="Text 12"/>
          <p:cNvSpPr/>
          <p:nvPr/>
        </p:nvSpPr>
        <p:spPr>
          <a:xfrm>
            <a:off x="1010391" y="4259163"/>
            <a:ext cx="496271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B0748"/>
                </a:solidFill>
                <a:latin typeface="Sora" pitchFamily="34" charset="0"/>
                <a:ea typeface="Sora" pitchFamily="34" charset="-122"/>
                <a:cs typeface="Sora" pitchFamily="34" charset="-120"/>
              </a:rPr>
              <a:t>Répartition</a:t>
            </a:r>
            <a:endParaRPr lang="en-US" sz="1500" dirty="0"/>
          </a:p>
        </p:txBody>
      </p:sp>
      <p:sp>
        <p:nvSpPr>
          <p:cNvPr id="19" name="Text 13"/>
          <p:cNvSpPr/>
          <p:nvPr/>
        </p:nvSpPr>
        <p:spPr>
          <a:xfrm>
            <a:off x="1010391" y="4573488"/>
            <a:ext cx="4962713" cy="674688"/>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3F3C6B"/>
                </a:solidFill>
                <a:latin typeface="IBM Plex Sans" pitchFamily="34" charset="0"/>
                <a:ea typeface="IBM Plex Sans" pitchFamily="34" charset="-122"/>
                <a:cs typeface="IBM Plex Sans" pitchFamily="34" charset="-120"/>
              </a:rPr>
              <a:t>Les nœuds Elasticsearch doivent tourner sur des nœuds Kubernetes différents : ECK pose une anti-affinité préférée, à rendre obligatoire si besoin.</a:t>
            </a:r>
            <a:endParaRPr lang="en-US" sz="1200" dirty="0"/>
          </a:p>
        </p:txBody>
      </p:sp>
      <p:sp>
        <p:nvSpPr>
          <p:cNvPr id="20" name="Shape 14"/>
          <p:cNvSpPr/>
          <p:nvPr/>
        </p:nvSpPr>
        <p:spPr>
          <a:xfrm>
            <a:off x="6169025" y="3747095"/>
            <a:ext cx="5207000" cy="2091690"/>
          </a:xfrm>
          <a:prstGeom prst="roundRect">
            <a:avLst>
              <a:gd name="adj" fmla="val 5920"/>
            </a:avLst>
          </a:prstGeom>
          <a:solidFill>
            <a:srgbClr val="FDFDFF"/>
          </a:solidFill>
          <a:ln w="6350">
            <a:solidFill>
              <a:srgbClr val="E1DFEE"/>
            </a:solidFill>
            <a:prstDash val="solid"/>
          </a:ln>
        </p:spPr>
      </p:sp>
      <p:pic>
        <p:nvPicPr>
          <p:cNvPr id="21" name="Image 4" descr="Link">    </p:cNvPr>
          <p:cNvPicPr>
            <a:picLocks noChangeAspect="1"/>
          </p:cNvPicPr>
          <p:nvPr/>
        </p:nvPicPr>
        <p:blipFill>
          <a:blip r:embed="rId5"/>
          <a:srcRect l="0" r="0" t="0" b="0"/>
          <a:stretch/>
        </p:blipFill>
        <p:spPr>
          <a:xfrm>
            <a:off x="6363441" y="3928963"/>
            <a:ext cx="254000" cy="254000"/>
          </a:xfrm>
          <a:prstGeom prst="rect">
            <a:avLst/>
          </a:prstGeom>
        </p:spPr>
      </p:pic>
      <p:sp>
        <p:nvSpPr>
          <p:cNvPr id="22" name="Text 15"/>
          <p:cNvSpPr/>
          <p:nvPr/>
        </p:nvSpPr>
        <p:spPr>
          <a:xfrm>
            <a:off x="6363441" y="4259163"/>
            <a:ext cx="496271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0B0748"/>
                </a:solidFill>
                <a:latin typeface="Sora" pitchFamily="34" charset="0"/>
                <a:ea typeface="Sora" pitchFamily="34" charset="-122"/>
                <a:cs typeface="Sora" pitchFamily="34" charset="-120"/>
              </a:rPr>
              <a:t>Bascule</a:t>
            </a:r>
            <a:endParaRPr lang="en-US" sz="1500" dirty="0"/>
          </a:p>
        </p:txBody>
      </p:sp>
      <p:sp>
        <p:nvSpPr>
          <p:cNvPr id="23" name="Text 16"/>
          <p:cNvSpPr/>
          <p:nvPr/>
        </p:nvSpPr>
        <p:spPr>
          <a:xfrm>
            <a:off x="6363441" y="4573488"/>
            <a:ext cx="4962713" cy="458258"/>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3F3C6B"/>
                </a:solidFill>
                <a:latin typeface="IBM Plex Sans" pitchFamily="34" charset="0"/>
                <a:ea typeface="IBM Plex Sans" pitchFamily="34" charset="-122"/>
                <a:cs typeface="IBM Plex Sans" pitchFamily="34" charset="-120"/>
              </a:rPr>
              <a:t>Migrez par snapshot et restauration, ou par réindexation, pendant que l'ancien cluster sur VM continue de servir.</a:t>
            </a:r>
            <a:endParaRPr lang="en-US" sz="1200" dirty="0"/>
          </a:p>
        </p:txBody>
      </p:sp>
      <p:pic>
        <p:nvPicPr>
          <p:cNvPr id="24" name="Image 5" descr="preencoded.png">    </p:cNvPr>
          <p:cNvPicPr>
            <a:picLocks noChangeAspect="1"/>
          </p:cNvPicPr>
          <p:nvPr/>
        </p:nvPicPr>
        <p:blipFill>
          <a:blip r:embed="rId6"/>
          <a:srcRect l="0" r="0" t="-35" b="-35"/>
          <a:stretch/>
        </p:blipFill>
        <p:spPr>
          <a:xfrm>
            <a:off x="812800" y="6299200"/>
            <a:ext cx="152400" cy="152506"/>
          </a:xfrm>
          <a:prstGeom prst="rect">
            <a:avLst/>
          </a:prstGeom>
        </p:spPr>
      </p:pic>
      <p:sp>
        <p:nvSpPr>
          <p:cNvPr id="25" name="Text 17"/>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26" name="Image 6" descr="Parcours : atelier de synthèse, seize modules vus">    </p:cNvPr>
          <p:cNvPicPr>
            <a:picLocks noChangeAspect="1"/>
          </p:cNvPicPr>
          <p:nvPr/>
        </p:nvPicPr>
        <p:blipFill>
          <a:blip r:embed="rId7"/>
          <a:srcRect l="0" r="0" t="-35" b="-35"/>
          <a:stretch/>
        </p:blipFill>
        <p:spPr>
          <a:xfrm>
            <a:off x="9207500" y="6299200"/>
            <a:ext cx="2171700" cy="152506"/>
          </a:xfrm>
          <a:prstGeom prst="rect">
            <a:avLst/>
          </a:prstGeom>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BF0E8"/>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TRAVAUX PRATIQUES · À FAIRE MAINTENANT</a:t>
            </a:r>
            <a:endParaRPr lang="en-US" sz="1200" dirty="0"/>
          </a:p>
        </p:txBody>
      </p:sp>
      <p:sp>
        <p:nvSpPr>
          <p:cNvPr id="3" name="Text 1"/>
          <p:cNvSpPr/>
          <p:nvPr/>
        </p:nvSpPr>
        <p:spPr>
          <a:xfrm>
            <a:off x="812800" y="1127720"/>
            <a:ext cx="3008630" cy="1008380"/>
          </a:xfrm>
          <a:prstGeom prst="rect">
            <a:avLst/>
          </a:prstGeom>
          <a:noFill/>
          <a:ln/>
        </p:spPr>
        <p:txBody>
          <a:bodyPr wrap="square" lIns="0" tIns="0" rIns="0" bIns="0" rtlCol="0" anchor="t">
            <a:normAutofit/>
          </a:bodyPr>
          <a:lstStyle/>
          <a:p>
            <a:pPr algn="l" indent="0" marL="0">
              <a:lnSpc>
                <a:spcPts val="7740"/>
              </a:lnSpc>
              <a:buNone/>
            </a:pPr>
            <a:r>
              <a:rPr lang="en-US" sz="8600" b="1" spc="-350" kern="0" dirty="0">
                <a:solidFill>
                  <a:srgbClr val="E25A2C"/>
                </a:solidFill>
                <a:latin typeface="Sora" pitchFamily="34" charset="0"/>
                <a:ea typeface="Sora" pitchFamily="34" charset="-122"/>
                <a:cs typeface="Sora" pitchFamily="34" charset="-120"/>
              </a:rPr>
              <a:t>TP13</a:t>
            </a:r>
            <a:endParaRPr lang="en-US" sz="8600" dirty="0"/>
          </a:p>
        </p:txBody>
      </p:sp>
      <p:pic>
        <p:nvPicPr>
          <p:cNvPr id="4" name="Image 0" descr="Clock">    </p:cNvPr>
          <p:cNvPicPr>
            <a:picLocks noChangeAspect="1"/>
          </p:cNvPicPr>
          <p:nvPr/>
        </p:nvPicPr>
        <p:blipFill>
          <a:blip r:embed="rId1"/>
          <a:srcRect l="0" r="0" t="0" b="0"/>
          <a:stretch/>
        </p:blipFill>
        <p:spPr>
          <a:xfrm>
            <a:off x="812800" y="2421930"/>
            <a:ext cx="254000" cy="254000"/>
          </a:xfrm>
          <a:prstGeom prst="rect">
            <a:avLst/>
          </a:prstGeom>
        </p:spPr>
      </p:pic>
      <p:sp>
        <p:nvSpPr>
          <p:cNvPr id="5" name="Text 2"/>
          <p:cNvSpPr/>
          <p:nvPr/>
        </p:nvSpPr>
        <p:spPr>
          <a:xfrm>
            <a:off x="1181100" y="2415580"/>
            <a:ext cx="1477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Jour 3 · 15:00</a:t>
            </a:r>
            <a:endParaRPr lang="en-US" sz="1500" dirty="0"/>
          </a:p>
        </p:txBody>
      </p:sp>
      <p:pic>
        <p:nvPicPr>
          <p:cNvPr id="6" name="Image 1" descr="Activity">    </p:cNvPr>
          <p:cNvPicPr>
            <a:picLocks noChangeAspect="1"/>
          </p:cNvPicPr>
          <p:nvPr/>
        </p:nvPicPr>
        <p:blipFill>
          <a:blip r:embed="rId2"/>
          <a:srcRect l="0" r="0" t="0" b="0"/>
          <a:stretch/>
        </p:blipFill>
        <p:spPr>
          <a:xfrm>
            <a:off x="812800" y="2790230"/>
            <a:ext cx="254000" cy="254000"/>
          </a:xfrm>
          <a:prstGeom prst="rect">
            <a:avLst/>
          </a:prstGeom>
        </p:spPr>
      </p:pic>
      <p:sp>
        <p:nvSpPr>
          <p:cNvPr id="7" name="Text 3"/>
          <p:cNvSpPr/>
          <p:nvPr/>
        </p:nvSpPr>
        <p:spPr>
          <a:xfrm>
            <a:off x="1181100" y="2783880"/>
            <a:ext cx="11889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0748"/>
                </a:solidFill>
                <a:latin typeface="IBM Plex Sans" pitchFamily="34" charset="0"/>
                <a:ea typeface="IBM Plex Sans" pitchFamily="34" charset="-122"/>
                <a:cs typeface="IBM Plex Sans" pitchFamily="34" charset="-120"/>
              </a:rPr>
              <a:t>30 minutes</a:t>
            </a:r>
            <a:endParaRPr lang="en-US" sz="1500" dirty="0"/>
          </a:p>
        </p:txBody>
      </p:sp>
      <p:pic>
        <p:nvPicPr>
          <p:cNvPr id="8" name="Image 2" descr="Book">    </p:cNvPr>
          <p:cNvPicPr>
            <a:picLocks noChangeAspect="1"/>
          </p:cNvPicPr>
          <p:nvPr/>
        </p:nvPicPr>
        <p:blipFill>
          <a:blip r:embed="rId3"/>
          <a:srcRect l="0" r="0" t="0" b="0"/>
          <a:stretch/>
        </p:blipFill>
        <p:spPr>
          <a:xfrm>
            <a:off x="812800" y="3152180"/>
            <a:ext cx="254000" cy="254000"/>
          </a:xfrm>
          <a:prstGeom prst="rect">
            <a:avLst/>
          </a:prstGeom>
        </p:spPr>
      </p:pic>
      <p:sp>
        <p:nvSpPr>
          <p:cNvPr id="9" name="Text 4"/>
          <p:cNvSpPr/>
          <p:nvPr/>
        </p:nvSpPr>
        <p:spPr>
          <a:xfrm>
            <a:off x="1181100" y="3154660"/>
            <a:ext cx="20013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C6B"/>
                </a:solidFill>
                <a:latin typeface="IBM Plex Sans" pitchFamily="34" charset="0"/>
                <a:ea typeface="IBM Plex Sans" pitchFamily="34" charset="-122"/>
                <a:cs typeface="IBM Plex Sans" pitchFamily="34" charset="-120"/>
              </a:rPr>
              <a:t>La grille de migration</a:t>
            </a:r>
            <a:endParaRPr lang="en-US" sz="1400" dirty="0"/>
          </a:p>
        </p:txBody>
      </p:sp>
      <p:sp>
        <p:nvSpPr>
          <p:cNvPr id="10" name="Text 5"/>
          <p:cNvSpPr/>
          <p:nvPr>
            <p:ph type="title"/>
          </p:nvPr>
        </p:nvSpPr>
        <p:spPr>
          <a:xfrm>
            <a:off x="4191000" y="1127720"/>
            <a:ext cx="7403846"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Atelier de migration</a:t>
            </a:r>
            <a:endParaRPr lang="en-US" sz="2800" dirty="0"/>
          </a:p>
        </p:txBody>
      </p:sp>
      <p:sp>
        <p:nvSpPr>
          <p:cNvPr id="11" name="Text 6"/>
          <p:cNvSpPr/>
          <p:nvPr/>
        </p:nvSpPr>
        <p:spPr>
          <a:xfrm>
            <a:off x="4191000" y="1722140"/>
            <a:ext cx="7403846" cy="1093470"/>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3F3C6B"/>
                </a:solidFill>
                <a:latin typeface="IBM Plex Sans" pitchFamily="34" charset="0"/>
                <a:ea typeface="IBM Plex Sans" pitchFamily="34" charset="-122"/>
                <a:cs typeface="IBM Plex Sans" pitchFamily="34" charset="-120"/>
              </a:rPr>
              <a:t>Par équipe, remplir la grille pour votre propre application (15 min) : le cluster Elastic de l'équipe Observabilité, un service de l'équipe Secrets, une application de l'assistance utilisateurs. Puis la présenter en 3 minutes : les objets retenus et le point le plus délicat.</a:t>
            </a:r>
            <a:endParaRPr lang="en-US" sz="1450" dirty="0"/>
          </a:p>
        </p:txBody>
      </p:sp>
      <p:sp>
        <p:nvSpPr>
          <p:cNvPr id="12" name="Shape 7"/>
          <p:cNvSpPr/>
          <p:nvPr/>
        </p:nvSpPr>
        <p:spPr>
          <a:xfrm>
            <a:off x="4194175" y="4893766"/>
            <a:ext cx="7181850" cy="945092"/>
          </a:xfrm>
          <a:prstGeom prst="roundRect">
            <a:avLst>
              <a:gd name="adj" fmla="val 13102"/>
            </a:avLst>
          </a:prstGeom>
          <a:solidFill>
            <a:srgbClr val="FDFDFF"/>
          </a:solidFill>
          <a:ln w="6350">
            <a:solidFill>
              <a:srgbClr val="EBDDD2"/>
            </a:solidFill>
            <a:prstDash val="solid"/>
          </a:ln>
        </p:spPr>
      </p:sp>
      <p:pic>
        <p:nvPicPr>
          <p:cNvPr id="13" name="Image 3" descr="Star">    </p:cNvPr>
          <p:cNvPicPr>
            <a:picLocks noChangeAspect="1"/>
          </p:cNvPicPr>
          <p:nvPr/>
        </p:nvPicPr>
        <p:blipFill>
          <a:blip r:embed="rId4"/>
          <a:srcRect l="0" r="0" t="0" b="0"/>
          <a:stretch/>
        </p:blipFill>
        <p:spPr>
          <a:xfrm>
            <a:off x="4452091" y="5100737"/>
            <a:ext cx="355600" cy="355600"/>
          </a:xfrm>
          <a:prstGeom prst="rect">
            <a:avLst/>
          </a:prstGeom>
        </p:spPr>
      </p:pic>
      <p:sp>
        <p:nvSpPr>
          <p:cNvPr id="14" name="Text 8"/>
          <p:cNvSpPr/>
          <p:nvPr/>
        </p:nvSpPr>
        <p:spPr>
          <a:xfrm>
            <a:off x="4985491" y="5100737"/>
            <a:ext cx="63165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1A"/>
                </a:solidFill>
                <a:latin typeface="IBM Plex Sans" pitchFamily="34" charset="0"/>
                <a:ea typeface="IBM Plex Sans" pitchFamily="34" charset="-122"/>
                <a:cs typeface="IBM Plex Sans" pitchFamily="34" charset="-120"/>
              </a:rPr>
              <a:t>ENSUITE · 15:30</a:t>
            </a:r>
            <a:endParaRPr lang="en-US" sz="1200" dirty="0"/>
          </a:p>
        </p:txBody>
      </p:sp>
      <p:sp>
        <p:nvSpPr>
          <p:cNvPr id="15" name="Text 9"/>
          <p:cNvSpPr/>
          <p:nvPr/>
        </p:nvSpPr>
        <p:spPr>
          <a:xfrm>
            <a:off x="4985491" y="5365155"/>
            <a:ext cx="631659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0748"/>
                </a:solidFill>
                <a:latin typeface="IBM Plex Sans" pitchFamily="34" charset="0"/>
                <a:ea typeface="IBM Plex Sans" pitchFamily="34" charset="-122"/>
                <a:cs typeface="IBM Plex Sans" pitchFamily="34" charset="-120"/>
              </a:rPr>
              <a:t>QCM final, bilan et évaluation à chaud.</a:t>
            </a:r>
            <a:endParaRPr lang="en-US" sz="1500" dirty="0"/>
          </a:p>
        </p:txBody>
      </p:sp>
      <p:pic>
        <p:nvPicPr>
          <p:cNvPr id="16" name="Image 4" descr="preencoded.png">    </p:cNvPr>
          <p:cNvPicPr>
            <a:picLocks noChangeAspect="1"/>
          </p:cNvPicPr>
          <p:nvPr/>
        </p:nvPicPr>
        <p:blipFill>
          <a:blip r:embed="rId5"/>
          <a:srcRect l="0" r="0" t="-35" b="-35"/>
          <a:stretch/>
        </p:blipFill>
        <p:spPr>
          <a:xfrm>
            <a:off x="812800" y="6299200"/>
            <a:ext cx="152400" cy="152506"/>
          </a:xfrm>
          <a:prstGeom prst="rect">
            <a:avLst/>
          </a:prstGeom>
        </p:spPr>
      </p:pic>
      <p:sp>
        <p:nvSpPr>
          <p:cNvPr id="17" name="Text 10"/>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5" descr="Parcours : atelier de synthèse, seize modules vus">    </p:cNvPr>
          <p:cNvPicPr>
            <a:picLocks noChangeAspect="1"/>
          </p:cNvPicPr>
          <p:nvPr/>
        </p:nvPicPr>
        <p:blipFill>
          <a:blip r:embed="rId6"/>
          <a:srcRect l="0" r="0" t="-35" b="-35"/>
          <a:stretch/>
        </p:blipFill>
        <p:spPr>
          <a:xfrm>
            <a:off x="9207500" y="6299200"/>
            <a:ext cx="2171700" cy="152506"/>
          </a:xfrm>
          <a:prstGeom prst="rect">
            <a:avLst/>
          </a:prstGeom>
        </p:spPr>
      </p:pic>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ANNEXE · MÉMO KUBECTL</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Mémo kubectl · 1/3</a:t>
            </a:r>
            <a:endParaRPr lang="en-US" sz="2800" dirty="0"/>
          </a:p>
        </p:txBody>
      </p:sp>
      <p:sp>
        <p:nvSpPr>
          <p:cNvPr id="4" name="Text 2"/>
          <p:cNvSpPr/>
          <p:nvPr/>
        </p:nvSpPr>
        <p:spPr>
          <a:xfrm>
            <a:off x="812800" y="1480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90"/>
                </a:solidFill>
                <a:latin typeface="IBM Plex Sans" pitchFamily="34" charset="0"/>
                <a:ea typeface="IBM Plex Sans" pitchFamily="34" charset="-122"/>
                <a:cs typeface="IBM Plex Sans" pitchFamily="34" charset="-120"/>
              </a:rPr>
              <a:t>&lt;ns&gt; désigne un namespace, &lt;p&gt; un pod.</a:t>
            </a:r>
            <a:endParaRPr lang="en-US" sz="1200" dirty="0"/>
          </a:p>
        </p:txBody>
      </p:sp>
      <p:sp>
        <p:nvSpPr>
          <p:cNvPr id="5" name="Text 3"/>
          <p:cNvSpPr/>
          <p:nvPr/>
        </p:nvSpPr>
        <p:spPr>
          <a:xfrm>
            <a:off x="812800" y="1922760"/>
            <a:ext cx="196215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Contexte et découverte</a:t>
            </a:r>
            <a:endParaRPr lang="en-US" sz="1400" dirty="0"/>
          </a:p>
        </p:txBody>
      </p:sp>
      <p:sp>
        <p:nvSpPr>
          <p:cNvPr id="6" name="Text 4"/>
          <p:cNvSpPr/>
          <p:nvPr/>
        </p:nvSpPr>
        <p:spPr>
          <a:xfrm>
            <a:off x="812800" y="2405360"/>
            <a:ext cx="1962150" cy="40259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6B6890"/>
                </a:solidFill>
                <a:latin typeface="IBM Plex Sans" pitchFamily="34" charset="0"/>
                <a:ea typeface="IBM Plex Sans" pitchFamily="34" charset="-122"/>
                <a:cs typeface="IBM Plex Sans" pitchFamily="34" charset="-120"/>
              </a:rPr>
              <a:t>Où suis-je, que puis-je manipuler ?</a:t>
            </a:r>
            <a:endParaRPr lang="en-US" sz="1100" dirty="0"/>
          </a:p>
        </p:txBody>
      </p:sp>
      <p:sp>
        <p:nvSpPr>
          <p:cNvPr id="7" name="Text 5"/>
          <p:cNvSpPr/>
          <p:nvPr/>
        </p:nvSpPr>
        <p:spPr>
          <a:xfrm>
            <a:off x="2895600" y="1833860"/>
            <a:ext cx="8483600" cy="1503151"/>
          </a:xfrm>
          <a:prstGeom prst="roundRect">
            <a:avLst>
              <a:gd name="adj" fmla="val 6759"/>
            </a:avLst>
          </a:prstGeom>
          <a:solidFill>
            <a:srgbClr val="0B0748"/>
          </a:solidFill>
          <a:ln/>
        </p:spPr>
        <p:txBody>
          <a:bodyPr wrap="none" lIns="135342" tIns="46442" rIns="0" bIns="46442" rtlCol="0" anchor="ctr">
            <a:normAutofit/>
          </a:bodyPr>
          <a:lstStyle/>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config get-contexts</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config use-context &lt;contexte&gt;</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config set-context --current --namespace=&lt;ns&gt;</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cluster-info</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version</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api-resources                                     </a:t>
            </a:r>
            <a:r>
              <a:rPr lang="en-US" sz="1050" dirty="0">
                <a:solidFill>
                  <a:srgbClr val="9A96D0"/>
                </a:solidFill>
                <a:latin typeface="JetBrains Mono" pitchFamily="49" charset="0"/>
                <a:ea typeface="JetBrains Mono" pitchFamily="49" charset="-122"/>
                <a:cs typeface="JetBrains Mono" pitchFamily="49" charset="-120"/>
              </a:rPr>
              <a:t># types, noms courts, portée</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explain deployment.spec.strategy                  </a:t>
            </a:r>
            <a:r>
              <a:rPr lang="en-US" sz="1050" dirty="0">
                <a:solidFill>
                  <a:srgbClr val="9A96D0"/>
                </a:solidFill>
                <a:latin typeface="JetBrains Mono" pitchFamily="49" charset="0"/>
                <a:ea typeface="JetBrains Mono" pitchFamily="49" charset="-122"/>
                <a:cs typeface="JetBrains Mono" pitchFamily="49" charset="-120"/>
              </a:rPr>
              <a:t># documentation d'un champ</a:t>
            </a:r>
            <a:endParaRPr lang="en-US" sz="1050" dirty="0"/>
          </a:p>
        </p:txBody>
      </p:sp>
      <p:sp>
        <p:nvSpPr>
          <p:cNvPr id="8" name="Text 6"/>
          <p:cNvSpPr/>
          <p:nvPr/>
        </p:nvSpPr>
        <p:spPr>
          <a:xfrm>
            <a:off x="812800" y="3565723"/>
            <a:ext cx="19621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Lire</a:t>
            </a:r>
            <a:endParaRPr lang="en-US" sz="1400" dirty="0"/>
          </a:p>
        </p:txBody>
      </p:sp>
      <p:sp>
        <p:nvSpPr>
          <p:cNvPr id="9" name="Text 7"/>
          <p:cNvSpPr/>
          <p:nvPr/>
        </p:nvSpPr>
        <p:spPr>
          <a:xfrm>
            <a:off x="812800" y="3826073"/>
            <a:ext cx="1962150" cy="213995"/>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6B6890"/>
                </a:solidFill>
                <a:latin typeface="IBM Plex Sans" pitchFamily="34" charset="0"/>
                <a:ea typeface="IBM Plex Sans" pitchFamily="34" charset="-122"/>
                <a:cs typeface="IBM Plex Sans" pitchFamily="34" charset="-120"/>
              </a:rPr>
              <a:t>L'état du cluster et des objets</a:t>
            </a:r>
            <a:endParaRPr lang="en-US" sz="1100" dirty="0"/>
          </a:p>
        </p:txBody>
      </p:sp>
      <p:sp>
        <p:nvSpPr>
          <p:cNvPr id="10" name="Text 8"/>
          <p:cNvSpPr/>
          <p:nvPr/>
        </p:nvSpPr>
        <p:spPr>
          <a:xfrm>
            <a:off x="2895600" y="3476823"/>
            <a:ext cx="8483600" cy="1881822"/>
          </a:xfrm>
          <a:prstGeom prst="roundRect">
            <a:avLst>
              <a:gd name="adj" fmla="val 5399"/>
            </a:avLst>
          </a:prstGeom>
          <a:solidFill>
            <a:srgbClr val="0B0748"/>
          </a:solidFill>
          <a:ln/>
        </p:spPr>
        <p:txBody>
          <a:bodyPr wrap="none" lIns="135342" tIns="46442" rIns="0" bIns="46442" rtlCol="0" anchor="ctr">
            <a:normAutofit/>
          </a:bodyPr>
          <a:lstStyle/>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get pods -o wide                                  </a:t>
            </a:r>
            <a:r>
              <a:rPr lang="en-US" sz="1050" dirty="0">
                <a:solidFill>
                  <a:srgbClr val="9A96D0"/>
                </a:solidFill>
                <a:latin typeface="JetBrains Mono" pitchFamily="49" charset="0"/>
                <a:ea typeface="JetBrains Mono" pitchFamily="49" charset="-122"/>
                <a:cs typeface="JetBrains Mono" pitchFamily="49" charset="-120"/>
              </a:rPr>
              <a:t># IP et nœud</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get all -n &lt;ns&gt;                                   </a:t>
            </a:r>
            <a:r>
              <a:rPr lang="en-US" sz="1050" dirty="0">
                <a:solidFill>
                  <a:srgbClr val="9A96D0"/>
                </a:solidFill>
                <a:latin typeface="JetBrains Mono" pitchFamily="49" charset="0"/>
                <a:ea typeface="JetBrains Mono" pitchFamily="49" charset="-122"/>
                <a:cs typeface="JetBrains Mono" pitchFamily="49" charset="-120"/>
              </a:rPr>
              <a:t># principaux objets d'un namespace</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get pods -A -l app=podinfo --show-labels</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get pod &lt;p&gt; -o yaml</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get pods -o jsonpath='{.items[*].spec.nodeName}'</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get pods -o custom-columns=NOM:.metadata.name,QOS:.status.qosClass</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describe &lt;type&gt; &lt;nom&gt;                             </a:t>
            </a:r>
            <a:r>
              <a:rPr lang="en-US" sz="1050" dirty="0">
                <a:solidFill>
                  <a:srgbClr val="9A96D0"/>
                </a:solidFill>
                <a:latin typeface="JetBrains Mono" pitchFamily="49" charset="0"/>
                <a:ea typeface="JetBrains Mono" pitchFamily="49" charset="-122"/>
                <a:cs typeface="JetBrains Mono" pitchFamily="49" charset="-120"/>
              </a:rPr>
              <a:t># détail + Events</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events --types=Warning</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top nodes ; kubectl top pods -A --sort-by=memory</a:t>
            </a:r>
            <a:endParaRPr lang="en-US" sz="1050" dirty="0"/>
          </a:p>
        </p:txBody>
      </p:sp>
      <p:pic>
        <p:nvPicPr>
          <p:cNvPr id="11"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2" name="Text 9"/>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3" name="Image 1" descr="Parcours : formation terminée">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ANNEXE · MÉMO KUBECTL</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Mémo kubectl · 2/3</a:t>
            </a:r>
            <a:endParaRPr lang="en-US" sz="2800" dirty="0"/>
          </a:p>
        </p:txBody>
      </p:sp>
      <p:sp>
        <p:nvSpPr>
          <p:cNvPr id="4" name="Text 2"/>
          <p:cNvSpPr/>
          <p:nvPr/>
        </p:nvSpPr>
        <p:spPr>
          <a:xfrm>
            <a:off x="812800" y="1595140"/>
            <a:ext cx="19621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Créer et modifier</a:t>
            </a:r>
            <a:endParaRPr lang="en-US" sz="1400" dirty="0"/>
          </a:p>
        </p:txBody>
      </p:sp>
      <p:sp>
        <p:nvSpPr>
          <p:cNvPr id="5" name="Text 3"/>
          <p:cNvSpPr/>
          <p:nvPr/>
        </p:nvSpPr>
        <p:spPr>
          <a:xfrm>
            <a:off x="812800" y="1855490"/>
            <a:ext cx="1962150" cy="213995"/>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6B6890"/>
                </a:solidFill>
                <a:latin typeface="IBM Plex Sans" pitchFamily="34" charset="0"/>
                <a:ea typeface="IBM Plex Sans" pitchFamily="34" charset="-122"/>
                <a:cs typeface="IBM Plex Sans" pitchFamily="34" charset="-120"/>
              </a:rPr>
              <a:t>Appliquer, comparer, éditer</a:t>
            </a:r>
            <a:endParaRPr lang="en-US" sz="1100" dirty="0"/>
          </a:p>
        </p:txBody>
      </p:sp>
      <p:sp>
        <p:nvSpPr>
          <p:cNvPr id="6" name="Text 4"/>
          <p:cNvSpPr/>
          <p:nvPr/>
        </p:nvSpPr>
        <p:spPr>
          <a:xfrm>
            <a:off x="2895600" y="1506240"/>
            <a:ext cx="8483600" cy="1881823"/>
          </a:xfrm>
          <a:prstGeom prst="roundRect">
            <a:avLst>
              <a:gd name="adj" fmla="val 5399"/>
            </a:avLst>
          </a:prstGeom>
          <a:solidFill>
            <a:srgbClr val="0B0748"/>
          </a:solidFill>
          <a:ln/>
        </p:spPr>
        <p:txBody>
          <a:bodyPr wrap="none" lIns="135342" tIns="46442" rIns="0" bIns="46442" rtlCol="0" anchor="ctr">
            <a:normAutofit/>
          </a:bodyPr>
          <a:lstStyle/>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apply -f fichier.yaml                     </a:t>
            </a:r>
            <a:r>
              <a:rPr lang="en-US" sz="1050" dirty="0">
                <a:solidFill>
                  <a:srgbClr val="9A96D0"/>
                </a:solidFill>
                <a:latin typeface="JetBrains Mono" pitchFamily="49" charset="0"/>
                <a:ea typeface="JetBrains Mono" pitchFamily="49" charset="-122"/>
                <a:cs typeface="JetBrains Mono" pitchFamily="49" charset="-120"/>
              </a:rPr>
              <a:t># ou -f dossier/ , ou -k overlay/</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diff -f fichier.yaml</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apply -f fichier.yaml --dry-run=server</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delete -f fichier.yaml</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create deployment web --image=&lt;image&gt; --dry-run=client -o yaml &gt; web.yaml</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edit deployment web</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label pod &lt;p&gt; cle=valeur [--overwrite] ; kubectl label pod &lt;p&gt; cle-</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annotate deployment web description="..."</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patch service web -p '{"spec":{"selector":{"version":"green"}}}'</a:t>
            </a:r>
            <a:endParaRPr lang="en-US" sz="1050" dirty="0"/>
          </a:p>
        </p:txBody>
      </p:sp>
      <p:sp>
        <p:nvSpPr>
          <p:cNvPr id="7" name="Text 5"/>
          <p:cNvSpPr/>
          <p:nvPr/>
        </p:nvSpPr>
        <p:spPr>
          <a:xfrm>
            <a:off x="812800" y="3642122"/>
            <a:ext cx="19621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Déploiements</a:t>
            </a:r>
            <a:endParaRPr lang="en-US" sz="1400" dirty="0"/>
          </a:p>
        </p:txBody>
      </p:sp>
      <p:sp>
        <p:nvSpPr>
          <p:cNvPr id="8" name="Text 6"/>
          <p:cNvSpPr/>
          <p:nvPr/>
        </p:nvSpPr>
        <p:spPr>
          <a:xfrm>
            <a:off x="812800" y="3902472"/>
            <a:ext cx="1962150" cy="40259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6B6890"/>
                </a:solidFill>
                <a:latin typeface="IBM Plex Sans" pitchFamily="34" charset="0"/>
                <a:ea typeface="IBM Plex Sans" pitchFamily="34" charset="-122"/>
                <a:cs typeface="IBM Plex Sans" pitchFamily="34" charset="-120"/>
              </a:rPr>
              <a:t>Échelle, mise à jour, retour arrière</a:t>
            </a:r>
            <a:endParaRPr lang="en-US" sz="1100" dirty="0"/>
          </a:p>
        </p:txBody>
      </p:sp>
      <p:sp>
        <p:nvSpPr>
          <p:cNvPr id="9" name="Text 7"/>
          <p:cNvSpPr/>
          <p:nvPr/>
        </p:nvSpPr>
        <p:spPr>
          <a:xfrm>
            <a:off x="2895600" y="3553222"/>
            <a:ext cx="8483600" cy="1313815"/>
          </a:xfrm>
          <a:prstGeom prst="roundRect">
            <a:avLst>
              <a:gd name="adj" fmla="val 7733"/>
            </a:avLst>
          </a:prstGeom>
          <a:solidFill>
            <a:srgbClr val="0B0748"/>
          </a:solidFill>
          <a:ln/>
        </p:spPr>
        <p:txBody>
          <a:bodyPr wrap="none" lIns="135342" tIns="46442" rIns="0" bIns="46442" rtlCol="0" anchor="ctr">
            <a:normAutofit/>
          </a:bodyPr>
          <a:lstStyle/>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scale deployment web --replicas=5</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set image deployment/web web=&lt;image&gt;:&lt;tag&gt;</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rollout status deployment/web</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rollout history deployment/web</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rollout undo deployment/web [--to-revision=2]</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rollout restart deployment/web</a:t>
            </a:r>
            <a:endParaRPr lang="en-US" sz="1050" dirty="0"/>
          </a:p>
        </p:txBody>
      </p:sp>
      <p:pic>
        <p:nvPicPr>
          <p:cNvPr id="10"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1" name="Text 8"/>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2" name="Image 1" descr="Parcours : formation terminée">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ANNEXE · MÉMO KUBECTL</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Mémo kubectl · 3/3</a:t>
            </a:r>
            <a:endParaRPr lang="en-US" sz="2800" dirty="0"/>
          </a:p>
        </p:txBody>
      </p:sp>
      <p:sp>
        <p:nvSpPr>
          <p:cNvPr id="4" name="Text 2"/>
          <p:cNvSpPr/>
          <p:nvPr/>
        </p:nvSpPr>
        <p:spPr>
          <a:xfrm>
            <a:off x="812800" y="1544340"/>
            <a:ext cx="19621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Diagnostic</a:t>
            </a:r>
            <a:endParaRPr lang="en-US" sz="1400" dirty="0"/>
          </a:p>
        </p:txBody>
      </p:sp>
      <p:sp>
        <p:nvSpPr>
          <p:cNvPr id="5" name="Text 3"/>
          <p:cNvSpPr/>
          <p:nvPr/>
        </p:nvSpPr>
        <p:spPr>
          <a:xfrm>
            <a:off x="812800" y="1804690"/>
            <a:ext cx="1962150" cy="213995"/>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6B6890"/>
                </a:solidFill>
                <a:latin typeface="IBM Plex Sans" pitchFamily="34" charset="0"/>
                <a:ea typeface="IBM Plex Sans" pitchFamily="34" charset="-122"/>
                <a:cs typeface="IBM Plex Sans" pitchFamily="34" charset="-120"/>
              </a:rPr>
              <a:t>Logs, shell, réseau</a:t>
            </a:r>
            <a:endParaRPr lang="en-US" sz="1100" dirty="0"/>
          </a:p>
        </p:txBody>
      </p:sp>
      <p:sp>
        <p:nvSpPr>
          <p:cNvPr id="6" name="Text 4"/>
          <p:cNvSpPr/>
          <p:nvPr/>
        </p:nvSpPr>
        <p:spPr>
          <a:xfrm>
            <a:off x="2895600" y="1455440"/>
            <a:ext cx="8483600" cy="1313815"/>
          </a:xfrm>
          <a:prstGeom prst="roundRect">
            <a:avLst>
              <a:gd name="adj" fmla="val 7733"/>
            </a:avLst>
          </a:prstGeom>
          <a:solidFill>
            <a:srgbClr val="0B0748"/>
          </a:solidFill>
          <a:ln/>
        </p:spPr>
        <p:txBody>
          <a:bodyPr wrap="none" lIns="135342" tIns="46442" rIns="0" bIns="46442" rtlCol="0" anchor="ctr">
            <a:normAutofit/>
          </a:bodyPr>
          <a:lstStyle/>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logs &lt;p&gt; [-c &lt;conteneur&gt;] [-f] [--previous] [--since=10m]</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logs -l app=web --prefix</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exec -it &lt;p&gt; -- sh</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port-forward svc/web 8080:80</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debug -it &lt;p&gt; --image=mirror.gcr.io/library/busybox:1.36 --target=&lt;conteneur&gt;</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run tmp --image=mirror.gcr.io/library/busybox:1.36 --rm -it --restart=Never -- sh</a:t>
            </a:r>
            <a:endParaRPr lang="en-US" sz="1050" dirty="0"/>
          </a:p>
        </p:txBody>
      </p:sp>
      <p:sp>
        <p:nvSpPr>
          <p:cNvPr id="7" name="Text 5"/>
          <p:cNvSpPr/>
          <p:nvPr/>
        </p:nvSpPr>
        <p:spPr>
          <a:xfrm>
            <a:off x="812800" y="2972395"/>
            <a:ext cx="19621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Nœuds</a:t>
            </a:r>
            <a:endParaRPr lang="en-US" sz="1400" dirty="0"/>
          </a:p>
        </p:txBody>
      </p:sp>
      <p:sp>
        <p:nvSpPr>
          <p:cNvPr id="8" name="Text 6"/>
          <p:cNvSpPr/>
          <p:nvPr/>
        </p:nvSpPr>
        <p:spPr>
          <a:xfrm>
            <a:off x="812800" y="3232745"/>
            <a:ext cx="1962150" cy="213995"/>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6B6890"/>
                </a:solidFill>
                <a:latin typeface="IBM Plex Sans" pitchFamily="34" charset="0"/>
                <a:ea typeface="IBM Plex Sans" pitchFamily="34" charset="-122"/>
                <a:cs typeface="IBM Plex Sans" pitchFamily="34" charset="-120"/>
              </a:rPr>
              <a:t>Maintenance et placement</a:t>
            </a:r>
            <a:endParaRPr lang="en-US" sz="1100" dirty="0"/>
          </a:p>
        </p:txBody>
      </p:sp>
      <p:sp>
        <p:nvSpPr>
          <p:cNvPr id="9" name="Text 7"/>
          <p:cNvSpPr/>
          <p:nvPr/>
        </p:nvSpPr>
        <p:spPr>
          <a:xfrm>
            <a:off x="2895600" y="2883495"/>
            <a:ext cx="8483600" cy="745807"/>
          </a:xfrm>
          <a:prstGeom prst="roundRect">
            <a:avLst>
              <a:gd name="adj" fmla="val 13623"/>
            </a:avLst>
          </a:prstGeom>
          <a:solidFill>
            <a:srgbClr val="0B0748"/>
          </a:solidFill>
          <a:ln/>
        </p:spPr>
        <p:txBody>
          <a:bodyPr wrap="none" lIns="135342" tIns="46442" rIns="0" bIns="46442" rtlCol="0" anchor="ctr">
            <a:normAutofit/>
          </a:bodyPr>
          <a:lstStyle/>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cordon &lt;nœud&gt; ; kubectl uncordon &lt;nœud&gt;</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drain &lt;nœud&gt; --ignore-daemonsets --delete-emptydir-data</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taint nodes &lt;nœud&gt; cle=valeur:NoSchedule              </a:t>
            </a:r>
            <a:r>
              <a:rPr lang="en-US" sz="1050" dirty="0">
                <a:solidFill>
                  <a:srgbClr val="9A96D0"/>
                </a:solidFill>
                <a:latin typeface="JetBrains Mono" pitchFamily="49" charset="0"/>
                <a:ea typeface="JetBrains Mono" pitchFamily="49" charset="-122"/>
                <a:cs typeface="JetBrains Mono" pitchFamily="49" charset="-120"/>
              </a:rPr>
              <a:t># un tiret final pour retirer</a:t>
            </a:r>
            <a:endParaRPr lang="en-US" sz="1050" dirty="0"/>
          </a:p>
        </p:txBody>
      </p:sp>
      <p:sp>
        <p:nvSpPr>
          <p:cNvPr id="10" name="Text 8"/>
          <p:cNvSpPr/>
          <p:nvPr/>
        </p:nvSpPr>
        <p:spPr>
          <a:xfrm>
            <a:off x="812800" y="3832622"/>
            <a:ext cx="19621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Sécurité</a:t>
            </a:r>
            <a:endParaRPr lang="en-US" sz="1400" dirty="0"/>
          </a:p>
        </p:txBody>
      </p:sp>
      <p:sp>
        <p:nvSpPr>
          <p:cNvPr id="11" name="Text 9"/>
          <p:cNvSpPr/>
          <p:nvPr/>
        </p:nvSpPr>
        <p:spPr>
          <a:xfrm>
            <a:off x="812800" y="4092972"/>
            <a:ext cx="1962150" cy="213995"/>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6B6890"/>
                </a:solidFill>
                <a:latin typeface="IBM Plex Sans" pitchFamily="34" charset="0"/>
                <a:ea typeface="IBM Plex Sans" pitchFamily="34" charset="-122"/>
                <a:cs typeface="IBM Plex Sans" pitchFamily="34" charset="-120"/>
              </a:rPr>
              <a:t>Droits et jetons</a:t>
            </a:r>
            <a:endParaRPr lang="en-US" sz="1100" dirty="0"/>
          </a:p>
        </p:txBody>
      </p:sp>
      <p:sp>
        <p:nvSpPr>
          <p:cNvPr id="12" name="Text 10"/>
          <p:cNvSpPr/>
          <p:nvPr/>
        </p:nvSpPr>
        <p:spPr>
          <a:xfrm>
            <a:off x="2895600" y="3743722"/>
            <a:ext cx="8483600" cy="745807"/>
          </a:xfrm>
          <a:prstGeom prst="roundRect">
            <a:avLst>
              <a:gd name="adj" fmla="val 13623"/>
            </a:avLst>
          </a:prstGeom>
          <a:solidFill>
            <a:srgbClr val="0B0748"/>
          </a:solidFill>
          <a:ln/>
        </p:spPr>
        <p:txBody>
          <a:bodyPr wrap="none" lIns="135342" tIns="46442" rIns="0" bIns="46442" rtlCol="0" anchor="ctr">
            <a:normAutofit/>
          </a:bodyPr>
          <a:lstStyle/>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auth can-i delete pods -n &lt;ns&gt; --as=system:serviceaccount:&lt;ns&gt;:&lt;sa&gt;</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auth can-i --list -n &lt;ns&gt;</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kubectl create token &lt;sa&gt; -n &lt;ns&gt; --duration=1h</a:t>
            </a:r>
            <a:endParaRPr lang="en-US" sz="1050" dirty="0"/>
          </a:p>
        </p:txBody>
      </p:sp>
      <p:sp>
        <p:nvSpPr>
          <p:cNvPr id="13" name="Text 11"/>
          <p:cNvSpPr/>
          <p:nvPr/>
        </p:nvSpPr>
        <p:spPr>
          <a:xfrm>
            <a:off x="812800" y="4692650"/>
            <a:ext cx="19621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748"/>
                </a:solidFill>
                <a:latin typeface="Sora" pitchFamily="34" charset="0"/>
                <a:ea typeface="Sora" pitchFamily="34" charset="-122"/>
                <a:cs typeface="Sora" pitchFamily="34" charset="-120"/>
              </a:rPr>
              <a:t>Côté nœud</a:t>
            </a:r>
            <a:endParaRPr lang="en-US" sz="1400" dirty="0"/>
          </a:p>
        </p:txBody>
      </p:sp>
      <p:sp>
        <p:nvSpPr>
          <p:cNvPr id="14" name="Text 12"/>
          <p:cNvSpPr/>
          <p:nvPr/>
        </p:nvSpPr>
        <p:spPr>
          <a:xfrm>
            <a:off x="812800" y="4953000"/>
            <a:ext cx="1962150" cy="213995"/>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6B6890"/>
                </a:solidFill>
                <a:latin typeface="IBM Plex Sans" pitchFamily="34" charset="0"/>
                <a:ea typeface="IBM Plex Sans" pitchFamily="34" charset="-122"/>
                <a:cs typeface="IBM Plex Sans" pitchFamily="34" charset="-120"/>
              </a:rPr>
              <a:t>Sans passer par l'API</a:t>
            </a:r>
            <a:endParaRPr lang="en-US" sz="1100" dirty="0"/>
          </a:p>
        </p:txBody>
      </p:sp>
      <p:sp>
        <p:nvSpPr>
          <p:cNvPr id="15" name="Text 13"/>
          <p:cNvSpPr/>
          <p:nvPr/>
        </p:nvSpPr>
        <p:spPr>
          <a:xfrm>
            <a:off x="2895600" y="4603750"/>
            <a:ext cx="8483600" cy="745807"/>
          </a:xfrm>
          <a:prstGeom prst="roundRect">
            <a:avLst>
              <a:gd name="adj" fmla="val 13623"/>
            </a:avLst>
          </a:prstGeom>
          <a:solidFill>
            <a:srgbClr val="0B0748"/>
          </a:solidFill>
          <a:ln/>
        </p:spPr>
        <p:txBody>
          <a:bodyPr wrap="none" lIns="135342" tIns="46442" rIns="0" bIns="46442" rtlCol="0" anchor="ctr">
            <a:normAutofit/>
          </a:bodyPr>
          <a:lstStyle/>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sudo crictl ps -a ; sudo crictl logs &lt;id&gt;</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journalctl -u kubelet -f</a:t>
            </a:r>
            <a:endParaRPr lang="en-US" sz="1050" dirty="0"/>
          </a:p>
          <a:p>
            <a:pPr algn="l" indent="0" marL="0">
              <a:lnSpc>
                <a:spcPts val="1491"/>
              </a:lnSpc>
              <a:buNone/>
            </a:pPr>
            <a:r>
              <a:rPr lang="en-US" sz="1050" dirty="0">
                <a:solidFill>
                  <a:srgbClr val="ECEAFF"/>
                </a:solidFill>
                <a:latin typeface="JetBrains Mono" pitchFamily="49" charset="0"/>
                <a:ea typeface="JetBrains Mono" pitchFamily="49" charset="-122"/>
                <a:cs typeface="JetBrains Mono" pitchFamily="49" charset="-120"/>
              </a:rPr>
              <a:t>sudo kubeadm certs check-expiration</a:t>
            </a:r>
            <a:endParaRPr lang="en-US" sz="1050" dirty="0"/>
          </a:p>
        </p:txBody>
      </p:sp>
      <p:pic>
        <p:nvPicPr>
          <p:cNvPr id="16" name="Image 0" descr="preencoded.png">    </p:cNvPr>
          <p:cNvPicPr>
            <a:picLocks noChangeAspect="1"/>
          </p:cNvPicPr>
          <p:nvPr/>
        </p:nvPicPr>
        <p:blipFill>
          <a:blip r:embed="rId1"/>
          <a:srcRect l="0" r="0" t="-35" b="-35"/>
          <a:stretch/>
        </p:blipFill>
        <p:spPr>
          <a:xfrm>
            <a:off x="812800" y="6299200"/>
            <a:ext cx="152400" cy="152506"/>
          </a:xfrm>
          <a:prstGeom prst="rect">
            <a:avLst/>
          </a:prstGeom>
        </p:spPr>
      </p:pic>
      <p:sp>
        <p:nvSpPr>
          <p:cNvPr id="17" name="Text 14"/>
          <p:cNvSpPr/>
          <p:nvPr/>
        </p:nvSpPr>
        <p:spPr>
          <a:xfrm>
            <a:off x="1066800" y="6299200"/>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18" name="Image 1" descr="Parcours : formation terminée">    </p:cNvPr>
          <p:cNvPicPr>
            <a:picLocks noChangeAspect="1"/>
          </p:cNvPicPr>
          <p:nvPr/>
        </p:nvPicPr>
        <p:blipFill>
          <a:blip r:embed="rId2"/>
          <a:srcRect l="0" r="0" t="-35" b="-35"/>
          <a:stretch/>
        </p:blipFill>
        <p:spPr>
          <a:xfrm>
            <a:off x="9207500" y="6299200"/>
            <a:ext cx="2171700" cy="152506"/>
          </a:xfrm>
          <a:prstGeom prst="rect">
            <a:avLst/>
          </a:prstGeom>
        </p:spPr>
      </p:pic>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5F4F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21A"/>
                </a:solidFill>
                <a:latin typeface="IBM Plex Sans" pitchFamily="34" charset="0"/>
                <a:ea typeface="IBM Plex Sans" pitchFamily="34" charset="-122"/>
                <a:cs typeface="IBM Plex Sans" pitchFamily="34" charset="-120"/>
              </a:rPr>
              <a:t>ANNEXE · RESSOURCES</a:t>
            </a:r>
            <a:endParaRPr lang="en-US" sz="1200" dirty="0"/>
          </a:p>
        </p:txBody>
      </p:sp>
      <p:sp>
        <p:nvSpPr>
          <p:cNvPr id="3" name="Text 1"/>
          <p:cNvSpPr/>
          <p:nvPr>
            <p:ph type="title"/>
          </p:nvPr>
        </p:nvSpPr>
        <p:spPr>
          <a:xfrm>
            <a:off x="812800" y="949920"/>
            <a:ext cx="10883392" cy="41666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0B0748"/>
                </a:solidFill>
                <a:latin typeface="Sora" pitchFamily="34" charset="0"/>
                <a:ea typeface="Sora" pitchFamily="34" charset="-122"/>
                <a:cs typeface="Sora" pitchFamily="34" charset="-120"/>
              </a:rPr>
              <a:t>Pour aller plus loin</a:t>
            </a:r>
            <a:endParaRPr lang="en-US" sz="2800" dirty="0"/>
          </a:p>
        </p:txBody>
      </p:sp>
      <p:sp>
        <p:nvSpPr>
          <p:cNvPr id="4" name="Shape 2"/>
          <p:cNvSpPr/>
          <p:nvPr/>
        </p:nvSpPr>
        <p:spPr>
          <a:xfrm>
            <a:off x="815975" y="1496715"/>
            <a:ext cx="2540000" cy="2091690"/>
          </a:xfrm>
          <a:prstGeom prst="roundRect">
            <a:avLst>
              <a:gd name="adj" fmla="val 5920"/>
            </a:avLst>
          </a:prstGeom>
          <a:solidFill>
            <a:srgbClr val="FDFDFF"/>
          </a:solidFill>
          <a:ln w="6350">
            <a:solidFill>
              <a:srgbClr val="E1DFEE"/>
            </a:solidFill>
            <a:prstDash val="solid"/>
          </a:ln>
        </p:spPr>
      </p:sp>
      <p:pic>
        <p:nvPicPr>
          <p:cNvPr id="5" name="Image 0" descr="Book">    </p:cNvPr>
          <p:cNvPicPr>
            <a:picLocks noChangeAspect="1"/>
          </p:cNvPicPr>
          <p:nvPr/>
        </p:nvPicPr>
        <p:blipFill>
          <a:blip r:embed="rId1"/>
          <a:srcRect l="-198" r="-198" t="0" b="0"/>
          <a:stretch/>
        </p:blipFill>
        <p:spPr>
          <a:xfrm>
            <a:off x="984991" y="1848247"/>
            <a:ext cx="133879" cy="228600"/>
          </a:xfrm>
          <a:prstGeom prst="rect">
            <a:avLst/>
          </a:prstGeom>
        </p:spPr>
      </p:pic>
      <p:sp>
        <p:nvSpPr>
          <p:cNvPr id="6" name="Text 3"/>
          <p:cNvSpPr/>
          <p:nvPr/>
        </p:nvSpPr>
        <p:spPr>
          <a:xfrm>
            <a:off x="1207770" y="1653084"/>
            <a:ext cx="2038565" cy="64452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B0748"/>
                </a:solidFill>
                <a:latin typeface="Sora" pitchFamily="34" charset="0"/>
                <a:ea typeface="Sora" pitchFamily="34" charset="-122"/>
                <a:cs typeface="Sora" pitchFamily="34" charset="-120"/>
              </a:rPr>
              <a:t>Documentation officielle de Kubernetes</a:t>
            </a:r>
            <a:endParaRPr lang="en-US" sz="1300" dirty="0"/>
          </a:p>
        </p:txBody>
      </p:sp>
      <p:sp>
        <p:nvSpPr>
          <p:cNvPr id="7" name="Text 4"/>
          <p:cNvSpPr/>
          <p:nvPr/>
        </p:nvSpPr>
        <p:spPr>
          <a:xfrm>
            <a:off x="984991" y="2335709"/>
            <a:ext cx="2268027"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B8421A"/>
                </a:solidFill>
                <a:latin typeface="JetBrains Mono" pitchFamily="49" charset="0"/>
                <a:ea typeface="JetBrains Mono" pitchFamily="49" charset="-122"/>
                <a:cs typeface="JetBrains Mono" pitchFamily="49" charset="-120"/>
              </a:rPr>
              <a:t>kubernetes.io/docs</a:t>
            </a:r>
            <a:endParaRPr lang="en-US" sz="1000" dirty="0"/>
          </a:p>
        </p:txBody>
      </p:sp>
      <p:sp>
        <p:nvSpPr>
          <p:cNvPr id="8" name="Text 5"/>
          <p:cNvSpPr/>
          <p:nvPr/>
        </p:nvSpPr>
        <p:spPr>
          <a:xfrm>
            <a:off x="984991" y="2577009"/>
            <a:ext cx="2268027" cy="629920"/>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Concepts, tâches, référence de l'API ; une partie est traduite en français.</a:t>
            </a:r>
            <a:endParaRPr lang="en-US" sz="1150" dirty="0"/>
          </a:p>
        </p:txBody>
      </p:sp>
      <p:sp>
        <p:nvSpPr>
          <p:cNvPr id="9" name="Shape 6"/>
          <p:cNvSpPr/>
          <p:nvPr/>
        </p:nvSpPr>
        <p:spPr>
          <a:xfrm>
            <a:off x="3489325" y="1496715"/>
            <a:ext cx="2540000" cy="2091690"/>
          </a:xfrm>
          <a:prstGeom prst="roundRect">
            <a:avLst>
              <a:gd name="adj" fmla="val 5920"/>
            </a:avLst>
          </a:prstGeom>
          <a:solidFill>
            <a:srgbClr val="FDFDFF"/>
          </a:solidFill>
          <a:ln w="6350">
            <a:solidFill>
              <a:srgbClr val="E1DFEE"/>
            </a:solidFill>
            <a:prstDash val="solid"/>
          </a:ln>
        </p:spPr>
      </p:sp>
      <p:pic>
        <p:nvPicPr>
          <p:cNvPr id="10" name="Image 1" descr="Wrench">    </p:cNvPr>
          <p:cNvPicPr>
            <a:picLocks noChangeAspect="1"/>
          </p:cNvPicPr>
          <p:nvPr/>
        </p:nvPicPr>
        <p:blipFill>
          <a:blip r:embed="rId2"/>
          <a:srcRect l="-78" r="-78" t="0" b="0"/>
          <a:stretch/>
        </p:blipFill>
        <p:spPr>
          <a:xfrm>
            <a:off x="3658341" y="1745159"/>
            <a:ext cx="203518" cy="228600"/>
          </a:xfrm>
          <a:prstGeom prst="rect">
            <a:avLst/>
          </a:prstGeom>
        </p:spPr>
      </p:pic>
      <p:sp>
        <p:nvSpPr>
          <p:cNvPr id="11" name="Text 7"/>
          <p:cNvSpPr/>
          <p:nvPr/>
        </p:nvSpPr>
        <p:spPr>
          <a:xfrm>
            <a:off x="3950758" y="1653084"/>
            <a:ext cx="1966837"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B0748"/>
                </a:solidFill>
                <a:latin typeface="Sora" pitchFamily="34" charset="0"/>
                <a:ea typeface="Sora" pitchFamily="34" charset="-122"/>
                <a:cs typeface="Sora" pitchFamily="34" charset="-120"/>
              </a:rPr>
              <a:t>Kubernetes the Hard Way</a:t>
            </a:r>
            <a:endParaRPr lang="en-US" sz="1300" dirty="0"/>
          </a:p>
        </p:txBody>
      </p:sp>
      <p:sp>
        <p:nvSpPr>
          <p:cNvPr id="12" name="Text 8"/>
          <p:cNvSpPr/>
          <p:nvPr/>
        </p:nvSpPr>
        <p:spPr>
          <a:xfrm>
            <a:off x="3658341" y="2129334"/>
            <a:ext cx="2268027"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B8421A"/>
                </a:solidFill>
                <a:latin typeface="JetBrains Mono" pitchFamily="49" charset="0"/>
                <a:ea typeface="JetBrains Mono" pitchFamily="49" charset="-122"/>
                <a:cs typeface="JetBrains Mono" pitchFamily="49" charset="-120"/>
              </a:rPr>
              <a:t>github.com/kelseyhightower/kubernetes-the-hard-way</a:t>
            </a:r>
            <a:endParaRPr lang="en-US" sz="1000" dirty="0"/>
          </a:p>
        </p:txBody>
      </p:sp>
      <p:sp>
        <p:nvSpPr>
          <p:cNvPr id="13" name="Text 9"/>
          <p:cNvSpPr/>
          <p:nvPr/>
        </p:nvSpPr>
        <p:spPr>
          <a:xfrm>
            <a:off x="3658341" y="2548434"/>
            <a:ext cx="2268027" cy="428308"/>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Monter un cluster sans kubeadm, composant par composant.</a:t>
            </a:r>
            <a:endParaRPr lang="en-US" sz="1150" dirty="0"/>
          </a:p>
        </p:txBody>
      </p:sp>
      <p:sp>
        <p:nvSpPr>
          <p:cNvPr id="14" name="Shape 10"/>
          <p:cNvSpPr/>
          <p:nvPr/>
        </p:nvSpPr>
        <p:spPr>
          <a:xfrm>
            <a:off x="6162675" y="1496715"/>
            <a:ext cx="2540000" cy="2091690"/>
          </a:xfrm>
          <a:prstGeom prst="roundRect">
            <a:avLst>
              <a:gd name="adj" fmla="val 5920"/>
            </a:avLst>
          </a:prstGeom>
          <a:solidFill>
            <a:srgbClr val="FDFDFF"/>
          </a:solidFill>
          <a:ln w="6350">
            <a:solidFill>
              <a:srgbClr val="E1DFEE"/>
            </a:solidFill>
            <a:prstDash val="solid"/>
          </a:ln>
        </p:spPr>
      </p:sp>
      <p:pic>
        <p:nvPicPr>
          <p:cNvPr id="15" name="Image 2" descr="Code">    </p:cNvPr>
          <p:cNvPicPr>
            <a:picLocks noChangeAspect="1"/>
          </p:cNvPicPr>
          <p:nvPr/>
        </p:nvPicPr>
        <p:blipFill>
          <a:blip r:embed="rId3"/>
          <a:srcRect l="0" r="0" t="0" b="0"/>
          <a:stretch/>
        </p:blipFill>
        <p:spPr>
          <a:xfrm>
            <a:off x="6331691" y="1653084"/>
            <a:ext cx="228600" cy="228600"/>
          </a:xfrm>
          <a:prstGeom prst="rect">
            <a:avLst/>
          </a:prstGeom>
        </p:spPr>
      </p:pic>
      <p:sp>
        <p:nvSpPr>
          <p:cNvPr id="16" name="Text 11"/>
          <p:cNvSpPr/>
          <p:nvPr/>
        </p:nvSpPr>
        <p:spPr>
          <a:xfrm>
            <a:off x="6649191" y="1664097"/>
            <a:ext cx="104444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B0748"/>
                </a:solidFill>
                <a:latin typeface="Sora" pitchFamily="34" charset="0"/>
                <a:ea typeface="Sora" pitchFamily="34" charset="-122"/>
                <a:cs typeface="Sora" pitchFamily="34" charset="-120"/>
              </a:rPr>
              <a:t>Killercoda</a:t>
            </a:r>
            <a:endParaRPr lang="en-US" sz="1300" dirty="0"/>
          </a:p>
        </p:txBody>
      </p:sp>
      <p:sp>
        <p:nvSpPr>
          <p:cNvPr id="17" name="Text 12"/>
          <p:cNvSpPr/>
          <p:nvPr/>
        </p:nvSpPr>
        <p:spPr>
          <a:xfrm>
            <a:off x="6331691" y="1945184"/>
            <a:ext cx="2268027"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B8421A"/>
                </a:solidFill>
                <a:latin typeface="JetBrains Mono" pitchFamily="49" charset="0"/>
                <a:ea typeface="JetBrains Mono" pitchFamily="49" charset="-122"/>
                <a:cs typeface="JetBrains Mono" pitchFamily="49" charset="-120"/>
              </a:rPr>
              <a:t>killercoda.com</a:t>
            </a:r>
            <a:endParaRPr lang="en-US" sz="1000" dirty="0"/>
          </a:p>
        </p:txBody>
      </p:sp>
      <p:sp>
        <p:nvSpPr>
          <p:cNvPr id="18" name="Text 13"/>
          <p:cNvSpPr/>
          <p:nvPr/>
        </p:nvSpPr>
        <p:spPr>
          <a:xfrm>
            <a:off x="6331691" y="2186484"/>
            <a:ext cx="2268027" cy="831427"/>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Laboratoires Kubernetes gratuits dans le navigateur, dont des scénarios de préparation aux certifications.</a:t>
            </a:r>
            <a:endParaRPr lang="en-US" sz="1150" dirty="0"/>
          </a:p>
        </p:txBody>
      </p:sp>
      <p:sp>
        <p:nvSpPr>
          <p:cNvPr id="19" name="Shape 14"/>
          <p:cNvSpPr/>
          <p:nvPr/>
        </p:nvSpPr>
        <p:spPr>
          <a:xfrm>
            <a:off x="8836025" y="1496715"/>
            <a:ext cx="2540000" cy="2091690"/>
          </a:xfrm>
          <a:prstGeom prst="roundRect">
            <a:avLst>
              <a:gd name="adj" fmla="val 5920"/>
            </a:avLst>
          </a:prstGeom>
          <a:solidFill>
            <a:srgbClr val="FDFDFF"/>
          </a:solidFill>
          <a:ln w="6350">
            <a:solidFill>
              <a:srgbClr val="E1DFEE"/>
            </a:solidFill>
            <a:prstDash val="solid"/>
          </a:ln>
        </p:spPr>
      </p:sp>
      <p:pic>
        <p:nvPicPr>
          <p:cNvPr id="20" name="Image 3" descr="Globe">    </p:cNvPr>
          <p:cNvPicPr>
            <a:picLocks noChangeAspect="1"/>
          </p:cNvPicPr>
          <p:nvPr/>
        </p:nvPicPr>
        <p:blipFill>
          <a:blip r:embed="rId4"/>
          <a:srcRect l="0" r="0" t="0" b="0"/>
          <a:stretch/>
        </p:blipFill>
        <p:spPr>
          <a:xfrm>
            <a:off x="9005041" y="1653084"/>
            <a:ext cx="228600" cy="228600"/>
          </a:xfrm>
          <a:prstGeom prst="rect">
            <a:avLst/>
          </a:prstGeom>
        </p:spPr>
      </p:pic>
      <p:sp>
        <p:nvSpPr>
          <p:cNvPr id="21" name="Text 15"/>
          <p:cNvSpPr/>
          <p:nvPr/>
        </p:nvSpPr>
        <p:spPr>
          <a:xfrm>
            <a:off x="9322541" y="1664097"/>
            <a:ext cx="1742313"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B0748"/>
                </a:solidFill>
                <a:latin typeface="Sora" pitchFamily="34" charset="0"/>
                <a:ea typeface="Sora" pitchFamily="34" charset="-122"/>
                <a:cs typeface="Sora" pitchFamily="34" charset="-120"/>
              </a:rPr>
              <a:t>CNCF Landscape</a:t>
            </a:r>
            <a:endParaRPr lang="en-US" sz="1300" dirty="0"/>
          </a:p>
        </p:txBody>
      </p:sp>
      <p:sp>
        <p:nvSpPr>
          <p:cNvPr id="22" name="Text 16"/>
          <p:cNvSpPr/>
          <p:nvPr/>
        </p:nvSpPr>
        <p:spPr>
          <a:xfrm>
            <a:off x="9005041" y="1945184"/>
            <a:ext cx="2268027"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B8421A"/>
                </a:solidFill>
                <a:latin typeface="JetBrains Mono" pitchFamily="49" charset="0"/>
                <a:ea typeface="JetBrains Mono" pitchFamily="49" charset="-122"/>
                <a:cs typeface="JetBrains Mono" pitchFamily="49" charset="-120"/>
              </a:rPr>
              <a:t>landscape.cncf.io</a:t>
            </a:r>
            <a:endParaRPr lang="en-US" sz="1000" dirty="0"/>
          </a:p>
        </p:txBody>
      </p:sp>
      <p:sp>
        <p:nvSpPr>
          <p:cNvPr id="23" name="Text 17"/>
          <p:cNvSpPr/>
          <p:nvPr/>
        </p:nvSpPr>
        <p:spPr>
          <a:xfrm>
            <a:off x="9005041" y="2186484"/>
            <a:ext cx="2268027" cy="428308"/>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Carte des projets de l'écosystème.</a:t>
            </a:r>
            <a:endParaRPr lang="en-US" sz="1150" dirty="0"/>
          </a:p>
        </p:txBody>
      </p:sp>
      <p:sp>
        <p:nvSpPr>
          <p:cNvPr id="24" name="Shape 18"/>
          <p:cNvSpPr/>
          <p:nvPr/>
        </p:nvSpPr>
        <p:spPr>
          <a:xfrm>
            <a:off x="815975" y="3747095"/>
            <a:ext cx="2626042" cy="2091690"/>
          </a:xfrm>
          <a:prstGeom prst="roundRect">
            <a:avLst>
              <a:gd name="adj" fmla="val 5920"/>
            </a:avLst>
          </a:prstGeom>
          <a:solidFill>
            <a:srgbClr val="FDFDFF"/>
          </a:solidFill>
          <a:ln w="6350">
            <a:solidFill>
              <a:srgbClr val="E1DFEE"/>
            </a:solidFill>
            <a:prstDash val="solid"/>
          </a:ln>
        </p:spPr>
      </p:sp>
      <p:pic>
        <p:nvPicPr>
          <p:cNvPr id="25" name="Image 4" descr="Search">    </p:cNvPr>
          <p:cNvPicPr>
            <a:picLocks noChangeAspect="1"/>
          </p:cNvPicPr>
          <p:nvPr/>
        </p:nvPicPr>
        <p:blipFill>
          <a:blip r:embed="rId5"/>
          <a:srcRect l="0" r="0" t="-167" b="-167"/>
          <a:stretch/>
        </p:blipFill>
        <p:spPr>
          <a:xfrm>
            <a:off x="984991" y="3995638"/>
            <a:ext cx="189865" cy="228600"/>
          </a:xfrm>
          <a:prstGeom prst="rect">
            <a:avLst/>
          </a:prstGeom>
        </p:spPr>
      </p:pic>
      <p:sp>
        <p:nvSpPr>
          <p:cNvPr id="26" name="Text 19"/>
          <p:cNvSpPr/>
          <p:nvPr/>
        </p:nvSpPr>
        <p:spPr>
          <a:xfrm>
            <a:off x="1263756" y="3903563"/>
            <a:ext cx="2069523"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B0748"/>
                </a:solidFill>
                <a:latin typeface="Sora" pitchFamily="34" charset="0"/>
                <a:ea typeface="Sora" pitchFamily="34" charset="-122"/>
                <a:cs typeface="Sora" pitchFamily="34" charset="-120"/>
              </a:rPr>
              <a:t>Artifact Hub et OperatorHub</a:t>
            </a:r>
            <a:endParaRPr lang="en-US" sz="1300" dirty="0"/>
          </a:p>
        </p:txBody>
      </p:sp>
      <p:sp>
        <p:nvSpPr>
          <p:cNvPr id="27" name="Text 20"/>
          <p:cNvSpPr/>
          <p:nvPr/>
        </p:nvSpPr>
        <p:spPr>
          <a:xfrm>
            <a:off x="984991" y="4379813"/>
            <a:ext cx="2356651" cy="3810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B8421A"/>
                </a:solidFill>
                <a:latin typeface="JetBrains Mono" pitchFamily="49" charset="0"/>
                <a:ea typeface="JetBrains Mono" pitchFamily="49" charset="-122"/>
                <a:cs typeface="JetBrains Mono" pitchFamily="49" charset="-120"/>
              </a:rPr>
              <a:t>artifacthub.io · operatorhub.io</a:t>
            </a:r>
            <a:endParaRPr lang="en-US" sz="1000" dirty="0"/>
          </a:p>
        </p:txBody>
      </p:sp>
      <p:sp>
        <p:nvSpPr>
          <p:cNvPr id="28" name="Text 21"/>
          <p:cNvSpPr/>
          <p:nvPr/>
        </p:nvSpPr>
        <p:spPr>
          <a:xfrm>
            <a:off x="984991" y="4798913"/>
            <a:ext cx="2356651" cy="428307"/>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Catalogues de charts Helm et d'opérateurs.</a:t>
            </a:r>
            <a:endParaRPr lang="en-US" sz="1150" dirty="0"/>
          </a:p>
        </p:txBody>
      </p:sp>
      <p:sp>
        <p:nvSpPr>
          <p:cNvPr id="29" name="Shape 22"/>
          <p:cNvSpPr/>
          <p:nvPr/>
        </p:nvSpPr>
        <p:spPr>
          <a:xfrm>
            <a:off x="3575367" y="3747095"/>
            <a:ext cx="2626148" cy="2091690"/>
          </a:xfrm>
          <a:prstGeom prst="roundRect">
            <a:avLst>
              <a:gd name="adj" fmla="val 5920"/>
            </a:avLst>
          </a:prstGeom>
          <a:solidFill>
            <a:srgbClr val="FDFDFF"/>
          </a:solidFill>
          <a:ln w="6350">
            <a:solidFill>
              <a:srgbClr val="E1DFEE"/>
            </a:solidFill>
            <a:prstDash val="solid"/>
          </a:ln>
        </p:spPr>
      </p:sp>
      <p:pic>
        <p:nvPicPr>
          <p:cNvPr id="30" name="Image 5" descr="Activity">    </p:cNvPr>
          <p:cNvPicPr>
            <a:picLocks noChangeAspect="1"/>
          </p:cNvPicPr>
          <p:nvPr/>
        </p:nvPicPr>
        <p:blipFill>
          <a:blip r:embed="rId6"/>
          <a:srcRect l="0" r="0" t="0" b="0"/>
          <a:stretch/>
        </p:blipFill>
        <p:spPr>
          <a:xfrm>
            <a:off x="3744383" y="3903563"/>
            <a:ext cx="228600" cy="228600"/>
          </a:xfrm>
          <a:prstGeom prst="rect">
            <a:avLst/>
          </a:prstGeom>
        </p:spPr>
      </p:pic>
      <p:sp>
        <p:nvSpPr>
          <p:cNvPr id="31" name="Text 23"/>
          <p:cNvSpPr/>
          <p:nvPr/>
        </p:nvSpPr>
        <p:spPr>
          <a:xfrm>
            <a:off x="4061883" y="3914577"/>
            <a:ext cx="1045591"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B0748"/>
                </a:solidFill>
                <a:latin typeface="Sora" pitchFamily="34" charset="0"/>
                <a:ea typeface="Sora" pitchFamily="34" charset="-122"/>
                <a:cs typeface="Sora" pitchFamily="34" charset="-120"/>
              </a:rPr>
              <a:t>Headlamp</a:t>
            </a:r>
            <a:endParaRPr lang="en-US" sz="1300" dirty="0"/>
          </a:p>
        </p:txBody>
      </p:sp>
      <p:sp>
        <p:nvSpPr>
          <p:cNvPr id="32" name="Text 24"/>
          <p:cNvSpPr/>
          <p:nvPr/>
        </p:nvSpPr>
        <p:spPr>
          <a:xfrm>
            <a:off x="3744383" y="4195663"/>
            <a:ext cx="235676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B8421A"/>
                </a:solidFill>
                <a:latin typeface="JetBrains Mono" pitchFamily="49" charset="0"/>
                <a:ea typeface="JetBrains Mono" pitchFamily="49" charset="-122"/>
                <a:cs typeface="JetBrains Mono" pitchFamily="49" charset="-120"/>
              </a:rPr>
              <a:t>headlamp.dev</a:t>
            </a:r>
            <a:endParaRPr lang="en-US" sz="1000" dirty="0"/>
          </a:p>
        </p:txBody>
      </p:sp>
      <p:sp>
        <p:nvSpPr>
          <p:cNvPr id="33" name="Text 25"/>
          <p:cNvSpPr/>
          <p:nvPr/>
        </p:nvSpPr>
        <p:spPr>
          <a:xfrm>
            <a:off x="3744383" y="4436963"/>
            <a:ext cx="2356760" cy="428307"/>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L'interface web présentée en démonstration au jour 3.</a:t>
            </a:r>
            <a:endParaRPr lang="en-US" sz="1150" dirty="0"/>
          </a:p>
        </p:txBody>
      </p:sp>
      <p:sp>
        <p:nvSpPr>
          <p:cNvPr id="34" name="Shape 26"/>
          <p:cNvSpPr/>
          <p:nvPr/>
        </p:nvSpPr>
        <p:spPr>
          <a:xfrm>
            <a:off x="6334866" y="3747095"/>
            <a:ext cx="2626042" cy="2091690"/>
          </a:xfrm>
          <a:prstGeom prst="roundRect">
            <a:avLst>
              <a:gd name="adj" fmla="val 5920"/>
            </a:avLst>
          </a:prstGeom>
          <a:solidFill>
            <a:srgbClr val="FDFDFF"/>
          </a:solidFill>
          <a:ln w="6350">
            <a:solidFill>
              <a:srgbClr val="E1DFEE"/>
            </a:solidFill>
            <a:prstDash val="solid"/>
          </a:ln>
        </p:spPr>
      </p:sp>
      <p:pic>
        <p:nvPicPr>
          <p:cNvPr id="35" name="Image 6" descr="Star">    </p:cNvPr>
          <p:cNvPicPr>
            <a:picLocks noChangeAspect="1"/>
          </p:cNvPicPr>
          <p:nvPr/>
        </p:nvPicPr>
        <p:blipFill>
          <a:blip r:embed="rId7"/>
          <a:srcRect l="0" r="0" t="0" b="0"/>
          <a:stretch/>
        </p:blipFill>
        <p:spPr>
          <a:xfrm>
            <a:off x="6503882" y="3903563"/>
            <a:ext cx="228600" cy="228600"/>
          </a:xfrm>
          <a:prstGeom prst="rect">
            <a:avLst/>
          </a:prstGeom>
        </p:spPr>
      </p:pic>
      <p:sp>
        <p:nvSpPr>
          <p:cNvPr id="36" name="Text 27"/>
          <p:cNvSpPr/>
          <p:nvPr/>
        </p:nvSpPr>
        <p:spPr>
          <a:xfrm>
            <a:off x="6821382" y="3914577"/>
            <a:ext cx="707517"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B0748"/>
                </a:solidFill>
                <a:latin typeface="Sora" pitchFamily="34" charset="0"/>
                <a:ea typeface="Sora" pitchFamily="34" charset="-122"/>
                <a:cs typeface="Sora" pitchFamily="34" charset="-120"/>
              </a:rPr>
              <a:t>Onyxia</a:t>
            </a:r>
            <a:endParaRPr lang="en-US" sz="1300" dirty="0"/>
          </a:p>
        </p:txBody>
      </p:sp>
      <p:sp>
        <p:nvSpPr>
          <p:cNvPr id="37" name="Text 28"/>
          <p:cNvSpPr/>
          <p:nvPr/>
        </p:nvSpPr>
        <p:spPr>
          <a:xfrm>
            <a:off x="6503882" y="4195663"/>
            <a:ext cx="2356651"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B8421A"/>
                </a:solidFill>
                <a:latin typeface="JetBrains Mono" pitchFamily="49" charset="0"/>
                <a:ea typeface="JetBrains Mono" pitchFamily="49" charset="-122"/>
                <a:cs typeface="JetBrains Mono" pitchFamily="49" charset="-120"/>
              </a:rPr>
              <a:t>github.com/InseeFrLab/onyxia</a:t>
            </a:r>
            <a:endParaRPr lang="en-US" sz="1000" dirty="0"/>
          </a:p>
        </p:txBody>
      </p:sp>
      <p:sp>
        <p:nvSpPr>
          <p:cNvPr id="38" name="Text 29"/>
          <p:cNvSpPr/>
          <p:nvPr/>
        </p:nvSpPr>
        <p:spPr>
          <a:xfrm>
            <a:off x="6503882" y="4436963"/>
            <a:ext cx="2356651" cy="428307"/>
          </a:xfrm>
          <a:prstGeom prst="rect">
            <a:avLst/>
          </a:prstGeom>
          <a:noFill/>
          <a:ln/>
        </p:spPr>
        <p:txBody>
          <a:bodyPr wrap="square" lIns="0" tIns="0" rIns="0" bIns="0" rtlCol="0" anchor="t">
            <a:normAutofit/>
          </a:bodyPr>
          <a:lstStyle/>
          <a:p>
            <a:pPr algn="l" indent="0" marL="0">
              <a:lnSpc>
                <a:spcPts val="1587"/>
              </a:lnSpc>
              <a:buNone/>
            </a:pPr>
            <a:r>
              <a:rPr lang="en-US" sz="1150" dirty="0">
                <a:solidFill>
                  <a:srgbClr val="3F3C6B"/>
                </a:solidFill>
                <a:latin typeface="IBM Plex Sans" pitchFamily="34" charset="0"/>
                <a:ea typeface="IBM Plex Sans" pitchFamily="34" charset="-122"/>
                <a:cs typeface="IBM Plex Sans" pitchFamily="34" charset="-120"/>
              </a:rPr>
              <a:t>La plateforme de datascience de l'INSEE, bâtie sur Kubernetes.</a:t>
            </a:r>
            <a:endParaRPr lang="en-US" sz="1150" dirty="0"/>
          </a:p>
        </p:txBody>
      </p:sp>
      <p:pic>
        <p:nvPicPr>
          <p:cNvPr id="39" name="Image 7" descr="preencoded.png">    </p:cNvPr>
          <p:cNvPicPr>
            <a:picLocks noChangeAspect="1"/>
          </p:cNvPicPr>
          <p:nvPr/>
        </p:nvPicPr>
        <p:blipFill>
          <a:blip r:embed="rId8"/>
          <a:srcRect l="0" r="0" t="-35" b="-35"/>
          <a:stretch/>
        </p:blipFill>
        <p:spPr>
          <a:xfrm>
            <a:off x="812800" y="6299398"/>
            <a:ext cx="152400" cy="152506"/>
          </a:xfrm>
          <a:prstGeom prst="rect">
            <a:avLst/>
          </a:prstGeom>
        </p:spPr>
      </p:pic>
      <p:sp>
        <p:nvSpPr>
          <p:cNvPr id="40" name="Text 30"/>
          <p:cNvSpPr/>
          <p:nvPr/>
        </p:nvSpPr>
        <p:spPr>
          <a:xfrm>
            <a:off x="1066800" y="6299398"/>
            <a:ext cx="3367278" cy="1779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6B6890"/>
                </a:solidFill>
                <a:latin typeface="IBM Plex Sans" pitchFamily="34" charset="0"/>
                <a:ea typeface="IBM Plex Sans" pitchFamily="34" charset="-122"/>
                <a:cs typeface="IBM Plex Sans" pitchFamily="34" charset="-120"/>
              </a:rPr>
              <a:t>Kubernetes – Mise en œuvre · Réf. 2-072</a:t>
            </a:r>
            <a:endParaRPr lang="en-US" sz="1200" dirty="0"/>
          </a:p>
        </p:txBody>
      </p:sp>
      <p:pic>
        <p:nvPicPr>
          <p:cNvPr id="41" name="Image 8" descr="Parcours : formation terminée">    </p:cNvPr>
          <p:cNvPicPr>
            <a:picLocks noChangeAspect="1"/>
          </p:cNvPicPr>
          <p:nvPr/>
        </p:nvPicPr>
        <p:blipFill>
          <a:blip r:embed="rId9"/>
          <a:srcRect l="0" r="0" t="-35" b="-35"/>
          <a:stretch/>
        </p:blipFill>
        <p:spPr>
          <a:xfrm>
            <a:off x="9207500" y="6299398"/>
            <a:ext cx="2171700" cy="152506"/>
          </a:xfrm>
          <a:prstGeom prst="rect">
            <a:avLst/>
          </a:prstGeom>
        </p:spPr>
      </p:pic>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5F4F9"/>
        </a:solidFill>
      </p:bgPr>
    </p:bg>
    <p:spTree>
      <p:nvGrpSpPr>
        <p:cNvPr id="1" name=""/>
        <p:cNvGrpSpPr/>
        <p:nvPr/>
      </p:nvGrpSpPr>
      <p:grpSpPr>
        <a:xfrm>
          <a:off x="0" y="0"/>
          <a:ext cx="0" cy="0"/>
          <a:chOff x="0" y="0"/>
          <a:chExt cx="0" cy="0"/>
        </a:xfrm>
      </p:grpSpPr>
      <p:pic>
        <p:nvPicPr>
          <p:cNvPr id="2" name="Image 0" descr="Le sentier en lacets atteint le sommet : la formation est terminée">    </p:cNvPr>
          <p:cNvPicPr>
            <a:picLocks noChangeAspect="1"/>
          </p:cNvPicPr>
          <p:nvPr/>
        </p:nvPicPr>
        <p:blipFill>
          <a:blip r:embed="rId1"/>
          <a:srcRect l="0" r="0" t="-6" b="-6"/>
          <a:stretch/>
        </p:blipFill>
        <p:spPr>
          <a:xfrm>
            <a:off x="7467600" y="0"/>
            <a:ext cx="4724400" cy="6858105"/>
          </a:xfrm>
          <a:prstGeom prst="rect">
            <a:avLst/>
          </a:prstGeom>
        </p:spPr>
      </p:pic>
      <p:sp>
        <p:nvSpPr>
          <p:cNvPr id="3" name="Text 0"/>
          <p:cNvSpPr/>
          <p:nvPr/>
        </p:nvSpPr>
        <p:spPr>
          <a:xfrm>
            <a:off x="7975600" y="660400"/>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F66"/>
                </a:solidFill>
                <a:latin typeface="IBM Plex Sans" pitchFamily="34" charset="0"/>
                <a:ea typeface="IBM Plex Sans" pitchFamily="34" charset="-122"/>
                <a:cs typeface="IBM Plex Sans" pitchFamily="34" charset="-120"/>
              </a:rPr>
              <a:t>LE SOMMET</a:t>
            </a:r>
            <a:endParaRPr lang="en-US" sz="1200" dirty="0"/>
          </a:p>
        </p:txBody>
      </p:sp>
      <p:sp>
        <p:nvSpPr>
          <p:cNvPr id="4" name="Text 1"/>
          <p:cNvSpPr/>
          <p:nvPr/>
        </p:nvSpPr>
        <p:spPr>
          <a:xfrm>
            <a:off x="7975600" y="927100"/>
            <a:ext cx="3662680"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9B6E8"/>
                </a:solidFill>
                <a:latin typeface="IBM Plex Sans" pitchFamily="34" charset="0"/>
                <a:ea typeface="IBM Plex Sans" pitchFamily="34" charset="-122"/>
                <a:cs typeface="IBM Plex Sans" pitchFamily="34" charset="-120"/>
              </a:rPr>
              <a:t>3 jours · 16 modules</a:t>
            </a:r>
            <a:endParaRPr lang="en-US" sz="1600" dirty="0"/>
          </a:p>
          <a:p>
            <a:pPr algn="l" indent="0" marL="0">
              <a:lnSpc>
                <a:spcPts val="2160"/>
              </a:lnSpc>
              <a:buNone/>
            </a:pPr>
            <a:r>
              <a:rPr lang="en-US" sz="1600" dirty="0">
                <a:solidFill>
                  <a:srgbClr val="B9B6E8"/>
                </a:solidFill>
                <a:latin typeface="IBM Plex Sans" pitchFamily="34" charset="0"/>
                <a:ea typeface="IBM Plex Sans" pitchFamily="34" charset="-122"/>
                <a:cs typeface="IBM Plex Sans" pitchFamily="34" charset="-120"/>
              </a:rPr>
              <a:t>13 travaux pratiques</a:t>
            </a:r>
            <a:endParaRPr lang="en-US" sz="1600" dirty="0"/>
          </a:p>
        </p:txBody>
      </p:sp>
      <p:pic>
        <p:nvPicPr>
          <p:cNvPr id="5" name="Image 1" descr="Logo Ascent Formation">    </p:cNvPr>
          <p:cNvPicPr>
            <a:picLocks noChangeAspect="1"/>
          </p:cNvPicPr>
          <p:nvPr/>
        </p:nvPicPr>
        <p:blipFill>
          <a:blip r:embed="rId2"/>
          <a:srcRect l="0" r="0" t="-62" b="-62"/>
          <a:stretch/>
        </p:blipFill>
        <p:spPr>
          <a:xfrm>
            <a:off x="0" y="0"/>
            <a:ext cx="1473200" cy="1524000"/>
          </a:xfrm>
          <a:prstGeom prst="rect">
            <a:avLst/>
          </a:prstGeom>
        </p:spPr>
      </p:pic>
      <p:sp>
        <p:nvSpPr>
          <p:cNvPr id="6" name="Text 2"/>
          <p:cNvSpPr/>
          <p:nvPr>
            <p:ph type="title"/>
          </p:nvPr>
        </p:nvSpPr>
        <p:spPr>
          <a:xfrm>
            <a:off x="0" y="3137495"/>
            <a:ext cx="12557760" cy="838200"/>
          </a:xfrm>
          <a:prstGeom prst="rect">
            <a:avLst/>
          </a:prstGeom>
          <a:noFill/>
          <a:ln/>
        </p:spPr>
        <p:txBody>
          <a:bodyPr wrap="square" lIns="0" tIns="0" rIns="0" bIns="0" rtlCol="0" anchor="t">
            <a:normAutofit/>
          </a:bodyPr>
          <a:lstStyle/>
          <a:p>
            <a:pPr algn="l" indent="0" marL="0">
              <a:lnSpc>
                <a:spcPts val="6400"/>
              </a:lnSpc>
              <a:buNone/>
            </a:pPr>
            <a:r>
              <a:rPr lang="en-US" sz="6400" b="1" i="0" spc="-200" kern="0" dirty="0">
                <a:solidFill>
                  <a:srgbClr val="0B0748"/>
                </a:solidFill>
                <a:latin typeface="Sora" pitchFamily="34" charset="0"/>
                <a:ea typeface="Sora" pitchFamily="34" charset="-122"/>
                <a:cs typeface="Sora" pitchFamily="34" charset="-120"/>
              </a:rPr>
              <a:t>Merci !</a:t>
            </a:r>
            <a:endParaRPr lang="en-US" sz="6400" dirty="0"/>
          </a:p>
        </p:txBody>
      </p:sp>
      <p:sp>
        <p:nvSpPr>
          <p:cNvPr id="7" name="Text 3"/>
          <p:cNvSpPr/>
          <p:nvPr/>
        </p:nvSpPr>
        <p:spPr>
          <a:xfrm>
            <a:off x="0" y="4128095"/>
            <a:ext cx="1255776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F3C6B"/>
                </a:solidFill>
                <a:latin typeface="IBM Plex Sans" pitchFamily="34" charset="0"/>
                <a:ea typeface="IBM Plex Sans" pitchFamily="34" charset="-122"/>
                <a:cs typeface="IBM Plex Sans" pitchFamily="34" charset="-120"/>
              </a:rPr>
              <a:t>Place au QCM final, au bilan</a:t>
            </a:r>
            <a:endParaRPr lang="en-US" sz="1800" dirty="0"/>
          </a:p>
          <a:p>
            <a:pPr algn="l" indent="0" marL="0">
              <a:lnSpc>
                <a:spcPts val="2520"/>
              </a:lnSpc>
              <a:buNone/>
            </a:pPr>
            <a:r>
              <a:rPr lang="en-US" sz="1800" dirty="0">
                <a:solidFill>
                  <a:srgbClr val="3F3C6B"/>
                </a:solidFill>
                <a:latin typeface="IBM Plex Sans" pitchFamily="34" charset="0"/>
                <a:ea typeface="IBM Plex Sans" pitchFamily="34" charset="-122"/>
                <a:cs typeface="IBM Plex Sans" pitchFamily="34" charset="-120"/>
              </a:rPr>
              <a:t>et à l'évaluation à chaud.</a:t>
            </a:r>
            <a:endParaRPr lang="en-US" sz="1800" dirty="0"/>
          </a:p>
        </p:txBody>
      </p:sp>
      <p:sp>
        <p:nvSpPr>
          <p:cNvPr id="8" name="Shape 4"/>
          <p:cNvSpPr/>
          <p:nvPr/>
        </p:nvSpPr>
        <p:spPr>
          <a:xfrm>
            <a:off x="0" y="6391077"/>
            <a:ext cx="12192000" cy="0"/>
          </a:xfrm>
          <a:prstGeom prst="line">
            <a:avLst/>
          </a:prstGeom>
          <a:noFill/>
          <a:ln w="19050">
            <a:solidFill>
              <a:srgbClr val="0B0748"/>
            </a:solidFill>
            <a:prstDash val="solid"/>
          </a:ln>
        </p:spPr>
      </p:sp>
      <p:sp>
        <p:nvSpPr>
          <p:cNvPr id="9" name="Text 5"/>
          <p:cNvSpPr/>
          <p:nvPr/>
        </p:nvSpPr>
        <p:spPr>
          <a:xfrm>
            <a:off x="0" y="6573540"/>
            <a:ext cx="350621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748"/>
                </a:solidFill>
                <a:latin typeface="Sora" pitchFamily="34" charset="0"/>
                <a:ea typeface="Sora" pitchFamily="34" charset="-122"/>
                <a:cs typeface="Sora" pitchFamily="34" charset="-120"/>
              </a:rPr>
              <a:t>Kubernetes – Mise en œuvre</a:t>
            </a:r>
            <a:endParaRPr lang="en-US" sz="1600" dirty="0"/>
          </a:p>
        </p:txBody>
      </p:sp>
      <p:sp>
        <p:nvSpPr>
          <p:cNvPr id="10" name="Text 6"/>
          <p:cNvSpPr/>
          <p:nvPr/>
        </p:nvSpPr>
        <p:spPr>
          <a:xfrm>
            <a:off x="10902421" y="6607373"/>
            <a:ext cx="134037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890"/>
                </a:solidFill>
                <a:latin typeface="IBM Plex Sans" pitchFamily="34" charset="0"/>
                <a:ea typeface="IBM Plex Sans" pitchFamily="34" charset="-122"/>
                <a:cs typeface="IBM Plex Sans" pitchFamily="34" charset="-120"/>
              </a:rPr>
              <a:t>Réf. 2-072 · Lot 2</a:t>
            </a:r>
            <a:endParaRPr lang="en-US" sz="1300" dirty="0"/>
          </a:p>
        </p:txBody>
      </p:sp>
    </p:spTree>
  </p:cSld>
  <p:clrMapOvr>
    <a:masterClrMapping/>
  </p:clrMapOvr>
</p:sld>
</file>

<file path=ppt/theme/theme1.xml><?xml version="1.0" encoding="utf-8"?>
<a:theme xmlns:a="http://schemas.openxmlformats.org/drawingml/2006/main" name="Kubernetes – Mise en œuvre">
  <a:themeElements>
    <a:clrScheme name="Kubernetes – Mise en œuvre">
      <a:dk1>
        <a:srgbClr val="0B0748"/>
      </a:dk1>
      <a:lt1>
        <a:srgbClr val="F5F4F9"/>
      </a:lt1>
      <a:dk2>
        <a:srgbClr val="464274"/>
      </a:dk2>
      <a:lt2>
        <a:srgbClr val="DEDCE7"/>
      </a:lt2>
      <a:accent1>
        <a:srgbClr val="B8421A"/>
      </a:accent1>
      <a:accent2>
        <a:srgbClr val="3F3C6B"/>
      </a:accent2>
      <a:accent3>
        <a:srgbClr val="6B6890"/>
      </a:accent3>
      <a:accent4>
        <a:srgbClr val="B9B6E8"/>
      </a:accent4>
      <a:accent5>
        <a:srgbClr val="8A86C4"/>
      </a:accent5>
      <a:accent6>
        <a:srgbClr val="E25A2C"/>
      </a:accent6>
      <a:hlink>
        <a:srgbClr val="0563C1"/>
      </a:hlink>
      <a:folHlink>
        <a:srgbClr val="954F72"/>
      </a:folHlink>
    </a:clrScheme>
    <a:fontScheme name="Kubernetes – Mise en œuvre">
      <a:majorFont>
        <a:latin typeface="Sor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214</Slides>
  <Notes>214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214</vt:i4>
      </vt:variant>
    </vt:vector>
  </HeadingPairs>
  <TitlesOfParts>
    <vt:vector size="2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 Mise en œuvre</dc:title>
  <dc:subject/>
  <dc:creator/>
  <cp:lastModifiedBy/>
  <cp:revision>1</cp:revision>
  <dcterms:created xsi:type="dcterms:W3CDTF">2026-10-13T18:58:27Z</dcterms:created>
  <dcterms:modified xsi:type="dcterms:W3CDTF">2026-10-13T18:58:27Z</dcterms:modified>
</cp:coreProperties>
</file>